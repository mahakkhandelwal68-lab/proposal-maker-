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1374100" cy="30276800"/>
  <p:notesSz cx="6858000" cy="9144000"/>
  <p:embeddedFontLst>
    <p:embeddedFont>
      <p:font typeface="Georgia" charset="1" panose="02040502050405020303"/>
      <p:regular r:id="rId16"/>
    </p:embeddedFont>
    <p:embeddedFont>
      <p:font typeface="Playfair Display Bold" charset="1" panose="00000000000000000000"/>
      <p:regular r:id="rId17"/>
    </p:embeddedFont>
    <p:embeddedFont>
      <p:font typeface="Georgia Italics" charset="1" panose="02040502050405090303"/>
      <p:regular r:id="rId18"/>
    </p:embeddedFont>
    <p:embeddedFont>
      <p:font typeface="Playfair Display Bold Italics" charset="1" panose="00000000000000000000"/>
      <p:regular r:id="rId21"/>
    </p:embeddedFont>
    <p:embeddedFont>
      <p:font typeface="Georgia Bold" charset="1" panose="0204080205040502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ype="http://schemas.openxmlformats.org/officeDocument/2006/relationships/hyperlink" Target="https://proposal.lumelush.com/terms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2830116"/>
            <a:ext cx="3234414" cy="3234414"/>
            <a:chOff x="0" y="0"/>
            <a:chExt cx="4312552" cy="431255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4312539" cy="4312539"/>
            </a:xfrm>
            <a:custGeom>
              <a:avLst/>
              <a:gdLst/>
              <a:ahLst/>
              <a:cxnLst/>
              <a:rect r="r" b="b" t="t" l="l"/>
              <a:pathLst>
                <a:path h="4312539" w="4312539">
                  <a:moveTo>
                    <a:pt x="0" y="0"/>
                  </a:moveTo>
                  <a:lnTo>
                    <a:pt x="4312539" y="0"/>
                  </a:lnTo>
                  <a:lnTo>
                    <a:pt x="4312539" y="4312539"/>
                  </a:lnTo>
                  <a:lnTo>
                    <a:pt x="0" y="4312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623007" y="3001223"/>
            <a:ext cx="5946762" cy="69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2"/>
              </a:lnSpc>
            </a:pPr>
            <a:r>
              <a:rPr lang="en-US" sz="2122" spc="339">
                <a:solidFill>
                  <a:srgbClr val="24345C"/>
                </a:solidFill>
                <a:latin typeface="Georgia"/>
                <a:ea typeface="Georgia"/>
                <a:cs typeface="Georgia"/>
                <a:sym typeface="Georgia"/>
              </a:rPr>
              <a:t>DOCUMENT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23007" y="3503819"/>
            <a:ext cx="5946762" cy="72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82"/>
              </a:lnSpc>
            </a:pPr>
            <a:r>
              <a:rPr lang="en-US" sz="2334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Commercial Proposal &amp; Scope Confirmation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23007" y="4042886"/>
            <a:ext cx="5946762" cy="72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82"/>
              </a:lnSpc>
            </a:pPr>
            <a:r>
              <a:rPr lang="en-US" sz="2334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Digital Presence &amp; Trust Foundation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05883" y="6765322"/>
            <a:ext cx="17789290" cy="80858"/>
            <a:chOff x="0" y="0"/>
            <a:chExt cx="23719053" cy="107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19028" cy="107696"/>
            </a:xfrm>
            <a:custGeom>
              <a:avLst/>
              <a:gdLst/>
              <a:ahLst/>
              <a:cxnLst/>
              <a:rect r="r" b="b" t="t" l="l"/>
              <a:pathLst>
                <a:path h="107696" w="23719028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23665180" y="0"/>
                  </a:lnTo>
                  <a:cubicBezTo>
                    <a:pt x="23694898" y="0"/>
                    <a:pt x="23719028" y="24130"/>
                    <a:pt x="23719028" y="53848"/>
                  </a:cubicBezTo>
                  <a:cubicBezTo>
                    <a:pt x="23719028" y="83566"/>
                    <a:pt x="23694898" y="107696"/>
                    <a:pt x="23665180" y="107696"/>
                  </a:cubicBezTo>
                  <a:lnTo>
                    <a:pt x="53848" y="107696"/>
                  </a:lnTo>
                  <a:cubicBezTo>
                    <a:pt x="24130" y="107823"/>
                    <a:pt x="0" y="83693"/>
                    <a:pt x="0" y="5384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B57E8">
                    <a:alpha val="100000"/>
                  </a:srgbClr>
                </a:gs>
                <a:gs pos="45000">
                  <a:srgbClr val="17B3AC">
                    <a:alpha val="100000"/>
                  </a:srgbClr>
                </a:gs>
                <a:gs pos="72000">
                  <a:srgbClr val="6FBF7F">
                    <a:alpha val="100000"/>
                  </a:srgbClr>
                </a:gs>
                <a:gs pos="100000">
                  <a:srgbClr val="14563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31286" y="7861163"/>
            <a:ext cx="19517420" cy="106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7"/>
              </a:lnSpc>
            </a:pPr>
            <a:r>
              <a:rPr lang="en-US" b="true" sz="8489" spc="-84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Digital Presence &amp; Trust Foundation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31286" y="9126150"/>
            <a:ext cx="19517420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 i="true">
                <a:solidFill>
                  <a:srgbClr val="6B7488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Commercial proposal, agreed scope and implementation plan.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92405" y="10471423"/>
            <a:ext cx="17816246" cy="3665668"/>
            <a:chOff x="0" y="0"/>
            <a:chExt cx="23754994" cy="48875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7907" y="17907"/>
              <a:ext cx="23719156" cy="4851654"/>
            </a:xfrm>
            <a:custGeom>
              <a:avLst/>
              <a:gdLst/>
              <a:ahLst/>
              <a:cxnLst/>
              <a:rect r="r" b="b" t="t" l="l"/>
              <a:pathLst>
                <a:path h="4851654" w="23719156">
                  <a:moveTo>
                    <a:pt x="0" y="143764"/>
                  </a:moveTo>
                  <a:cubicBezTo>
                    <a:pt x="0" y="64389"/>
                    <a:pt x="64770" y="0"/>
                    <a:pt x="144653" y="0"/>
                  </a:cubicBezTo>
                  <a:lnTo>
                    <a:pt x="23574503" y="0"/>
                  </a:lnTo>
                  <a:cubicBezTo>
                    <a:pt x="23654386" y="0"/>
                    <a:pt x="23719156" y="64389"/>
                    <a:pt x="23719156" y="143764"/>
                  </a:cubicBezTo>
                  <a:lnTo>
                    <a:pt x="23719156" y="4707890"/>
                  </a:lnTo>
                  <a:cubicBezTo>
                    <a:pt x="23719156" y="4787265"/>
                    <a:pt x="23654386" y="4851654"/>
                    <a:pt x="23574503" y="4851654"/>
                  </a:cubicBezTo>
                  <a:lnTo>
                    <a:pt x="144653" y="4851654"/>
                  </a:lnTo>
                  <a:cubicBezTo>
                    <a:pt x="64770" y="4851654"/>
                    <a:pt x="0" y="4787265"/>
                    <a:pt x="0" y="4707890"/>
                  </a:cubicBezTo>
                  <a:close/>
                </a:path>
              </a:pathLst>
            </a:custGeom>
            <a:solidFill>
              <a:srgbClr val="E7EAF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54970" cy="4887468"/>
            </a:xfrm>
            <a:custGeom>
              <a:avLst/>
              <a:gdLst/>
              <a:ahLst/>
              <a:cxnLst/>
              <a:rect r="r" b="b" t="t" l="l"/>
              <a:pathLst>
                <a:path h="4887468" w="23754970">
                  <a:moveTo>
                    <a:pt x="0" y="161671"/>
                  </a:moveTo>
                  <a:cubicBezTo>
                    <a:pt x="0" y="72263"/>
                    <a:pt x="72898" y="0"/>
                    <a:pt x="162560" y="0"/>
                  </a:cubicBezTo>
                  <a:lnTo>
                    <a:pt x="23592410" y="0"/>
                  </a:lnTo>
                  <a:lnTo>
                    <a:pt x="23592410" y="17907"/>
                  </a:lnTo>
                  <a:lnTo>
                    <a:pt x="23592410" y="0"/>
                  </a:lnTo>
                  <a:cubicBezTo>
                    <a:pt x="23682072" y="0"/>
                    <a:pt x="23754970" y="72263"/>
                    <a:pt x="23754970" y="161671"/>
                  </a:cubicBezTo>
                  <a:lnTo>
                    <a:pt x="23737063" y="161671"/>
                  </a:lnTo>
                  <a:lnTo>
                    <a:pt x="23754970" y="161671"/>
                  </a:lnTo>
                  <a:lnTo>
                    <a:pt x="23754970" y="4725797"/>
                  </a:lnTo>
                  <a:lnTo>
                    <a:pt x="23737063" y="4725797"/>
                  </a:lnTo>
                  <a:lnTo>
                    <a:pt x="23754970" y="4725797"/>
                  </a:lnTo>
                  <a:cubicBezTo>
                    <a:pt x="23754970" y="4815205"/>
                    <a:pt x="23682072" y="4887468"/>
                    <a:pt x="23592410" y="4887468"/>
                  </a:cubicBezTo>
                  <a:lnTo>
                    <a:pt x="23592410" y="4869561"/>
                  </a:lnTo>
                  <a:lnTo>
                    <a:pt x="23592410" y="4887468"/>
                  </a:lnTo>
                  <a:lnTo>
                    <a:pt x="162560" y="4887468"/>
                  </a:lnTo>
                  <a:lnTo>
                    <a:pt x="162560" y="4869561"/>
                  </a:lnTo>
                  <a:lnTo>
                    <a:pt x="162560" y="4887468"/>
                  </a:lnTo>
                  <a:cubicBezTo>
                    <a:pt x="72898" y="4887468"/>
                    <a:pt x="0" y="4815205"/>
                    <a:pt x="0" y="4725797"/>
                  </a:cubicBezTo>
                  <a:lnTo>
                    <a:pt x="0" y="161671"/>
                  </a:lnTo>
                  <a:lnTo>
                    <a:pt x="17907" y="161671"/>
                  </a:lnTo>
                  <a:lnTo>
                    <a:pt x="0" y="161671"/>
                  </a:lnTo>
                  <a:moveTo>
                    <a:pt x="35941" y="161671"/>
                  </a:moveTo>
                  <a:lnTo>
                    <a:pt x="35941" y="4725797"/>
                  </a:lnTo>
                  <a:lnTo>
                    <a:pt x="17907" y="4725797"/>
                  </a:lnTo>
                  <a:lnTo>
                    <a:pt x="35941" y="4725797"/>
                  </a:lnTo>
                  <a:cubicBezTo>
                    <a:pt x="35941" y="4795139"/>
                    <a:pt x="92583" y="4851527"/>
                    <a:pt x="162560" y="4851527"/>
                  </a:cubicBezTo>
                  <a:lnTo>
                    <a:pt x="23592410" y="4851527"/>
                  </a:lnTo>
                  <a:cubicBezTo>
                    <a:pt x="23662387" y="4851527"/>
                    <a:pt x="23719028" y="4795139"/>
                    <a:pt x="23719028" y="4725797"/>
                  </a:cubicBezTo>
                  <a:lnTo>
                    <a:pt x="23719028" y="161671"/>
                  </a:lnTo>
                  <a:cubicBezTo>
                    <a:pt x="23719028" y="92329"/>
                    <a:pt x="23662387" y="35941"/>
                    <a:pt x="23592410" y="35941"/>
                  </a:cubicBezTo>
                  <a:lnTo>
                    <a:pt x="162560" y="35941"/>
                  </a:lnTo>
                  <a:lnTo>
                    <a:pt x="162560" y="17907"/>
                  </a:lnTo>
                  <a:lnTo>
                    <a:pt x="162560" y="35941"/>
                  </a:lnTo>
                  <a:cubicBezTo>
                    <a:pt x="92583" y="35941"/>
                    <a:pt x="35941" y="92329"/>
                    <a:pt x="35941" y="161671"/>
                  </a:cubicBez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32839" y="10511857"/>
            <a:ext cx="8854211" cy="1778927"/>
            <a:chOff x="0" y="0"/>
            <a:chExt cx="11805615" cy="2371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05666" cy="2371852"/>
            </a:xfrm>
            <a:custGeom>
              <a:avLst/>
              <a:gdLst/>
              <a:ahLst/>
              <a:cxnLst/>
              <a:rect r="r" b="b" t="t" l="l"/>
              <a:pathLst>
                <a:path h="2371852" w="11805666">
                  <a:moveTo>
                    <a:pt x="0" y="0"/>
                  </a:moveTo>
                  <a:lnTo>
                    <a:pt x="11805666" y="0"/>
                  </a:lnTo>
                  <a:lnTo>
                    <a:pt x="11805666" y="2371852"/>
                  </a:lnTo>
                  <a:lnTo>
                    <a:pt x="0" y="2371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43398" y="10958979"/>
            <a:ext cx="862147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PREPARED FOR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43398" y="11417189"/>
            <a:ext cx="8621478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[Client Name]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714006" y="10511857"/>
            <a:ext cx="8854211" cy="1778927"/>
            <a:chOff x="0" y="0"/>
            <a:chExt cx="11805615" cy="23719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05666" cy="2371852"/>
            </a:xfrm>
            <a:custGeom>
              <a:avLst/>
              <a:gdLst/>
              <a:ahLst/>
              <a:cxnLst/>
              <a:rect r="r" b="b" t="t" l="l"/>
              <a:pathLst>
                <a:path h="2371852" w="11805666">
                  <a:moveTo>
                    <a:pt x="0" y="0"/>
                  </a:moveTo>
                  <a:lnTo>
                    <a:pt x="11805666" y="0"/>
                  </a:lnTo>
                  <a:lnTo>
                    <a:pt x="11805666" y="2371852"/>
                  </a:lnTo>
                  <a:lnTo>
                    <a:pt x="0" y="2371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224565" y="10958979"/>
            <a:ext cx="862147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COMPANY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24565" y="11417189"/>
            <a:ext cx="8621478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[Company Name]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832839" y="12317740"/>
            <a:ext cx="8854211" cy="1778927"/>
            <a:chOff x="0" y="0"/>
            <a:chExt cx="11805615" cy="2371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05666" cy="2371852"/>
            </a:xfrm>
            <a:custGeom>
              <a:avLst/>
              <a:gdLst/>
              <a:ahLst/>
              <a:cxnLst/>
              <a:rect r="r" b="b" t="t" l="l"/>
              <a:pathLst>
                <a:path h="2371852" w="11805666">
                  <a:moveTo>
                    <a:pt x="0" y="0"/>
                  </a:moveTo>
                  <a:lnTo>
                    <a:pt x="11805666" y="0"/>
                  </a:lnTo>
                  <a:lnTo>
                    <a:pt x="11805666" y="2371852"/>
                  </a:lnTo>
                  <a:lnTo>
                    <a:pt x="0" y="2371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343398" y="12764862"/>
            <a:ext cx="862147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PROPOSAL DATE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43398" y="13223072"/>
            <a:ext cx="8621478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[Date]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714006" y="12317740"/>
            <a:ext cx="8854211" cy="1778927"/>
            <a:chOff x="0" y="0"/>
            <a:chExt cx="11805615" cy="23719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05666" cy="2371852"/>
            </a:xfrm>
            <a:custGeom>
              <a:avLst/>
              <a:gdLst/>
              <a:ahLst/>
              <a:cxnLst/>
              <a:rect r="r" b="b" t="t" l="l"/>
              <a:pathLst>
                <a:path h="2371852" w="11805666">
                  <a:moveTo>
                    <a:pt x="0" y="0"/>
                  </a:moveTo>
                  <a:lnTo>
                    <a:pt x="11805666" y="0"/>
                  </a:lnTo>
                  <a:lnTo>
                    <a:pt x="11805666" y="2371852"/>
                  </a:lnTo>
                  <a:lnTo>
                    <a:pt x="0" y="23718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224565" y="12764862"/>
            <a:ext cx="862147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VALID UNTIL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24565" y="13223072"/>
            <a:ext cx="8621478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[Date]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805883" y="16172078"/>
            <a:ext cx="17789290" cy="26956"/>
            <a:chOff x="0" y="0"/>
            <a:chExt cx="23719053" cy="359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831286" y="15281062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01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Engagement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31286" y="16468430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This Commercial Proposal confirms the scope, commercials and implementation plan agreed between Lumelush Studio and the Client for the Digital Presence &amp; Trust Foundation.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31286" y="18085641"/>
            <a:ext cx="18272169" cy="83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The engagement includes the one-time implementation described below.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31286" y="19055963"/>
            <a:ext cx="18272169" cy="83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An optional monthly Care &amp; Maintenance Plan is available after implementation.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601780" y="29260390"/>
            <a:ext cx="3183617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3854348"/>
            <a:ext cx="17789290" cy="26956"/>
            <a:chOff x="0" y="0"/>
            <a:chExt cx="23719053" cy="35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1286" y="2963332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 Scope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5883" y="4474274"/>
            <a:ext cx="53912" cy="6846179"/>
            <a:chOff x="0" y="0"/>
            <a:chExt cx="71882" cy="91282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882" cy="9128252"/>
            </a:xfrm>
            <a:custGeom>
              <a:avLst/>
              <a:gdLst/>
              <a:ahLst/>
              <a:cxnLst/>
              <a:rect r="r" b="b" t="t" l="l"/>
              <a:pathLst>
                <a:path h="9128252" w="71882">
                  <a:moveTo>
                    <a:pt x="0" y="0"/>
                  </a:moveTo>
                  <a:lnTo>
                    <a:pt x="71882" y="0"/>
                  </a:lnTo>
                  <a:lnTo>
                    <a:pt x="71882" y="9128252"/>
                  </a:lnTo>
                  <a:lnTo>
                    <a:pt x="0" y="9128252"/>
                  </a:lnTo>
                  <a:close/>
                </a:path>
              </a:pathLst>
            </a:custGeom>
            <a:solidFill>
              <a:srgbClr val="0B57E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62540" y="4490152"/>
            <a:ext cx="19043037" cy="63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Website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0193" y="5109877"/>
            <a:ext cx="17325203" cy="62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Professional business website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Mobile-responsive website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Business / service pages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Contact and enquiry sections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Lead capture forms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WhatsApp integration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Clear enquiry CTAs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Project / portfolio presentation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Basic website configuration and launch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05883" y="12021245"/>
            <a:ext cx="53912" cy="3476996"/>
            <a:chOff x="0" y="0"/>
            <a:chExt cx="71882" cy="46359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82" cy="4636008"/>
            </a:xfrm>
            <a:custGeom>
              <a:avLst/>
              <a:gdLst/>
              <a:ahLst/>
              <a:cxnLst/>
              <a:rect r="r" b="b" t="t" l="l"/>
              <a:pathLst>
                <a:path h="4636008" w="71882">
                  <a:moveTo>
                    <a:pt x="0" y="0"/>
                  </a:moveTo>
                  <a:lnTo>
                    <a:pt x="71882" y="0"/>
                  </a:lnTo>
                  <a:lnTo>
                    <a:pt x="71882" y="4636008"/>
                  </a:lnTo>
                  <a:lnTo>
                    <a:pt x="0" y="4636008"/>
                  </a:lnTo>
                  <a:close/>
                </a:path>
              </a:pathLst>
            </a:custGeom>
            <a:solidFill>
              <a:srgbClr val="1E7FD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262540" y="12037123"/>
            <a:ext cx="19043037" cy="63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Branding Foundation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0193" y="12656849"/>
            <a:ext cx="17325203" cy="292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Basic branding application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Consistent brand colours and typography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Consistent visual presentation across the website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Basic branding adjustments where required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05883" y="16199034"/>
            <a:ext cx="53912" cy="4824670"/>
            <a:chOff x="0" y="0"/>
            <a:chExt cx="71882" cy="64328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82" cy="6432931"/>
            </a:xfrm>
            <a:custGeom>
              <a:avLst/>
              <a:gdLst/>
              <a:ahLst/>
              <a:cxnLst/>
              <a:rect r="r" b="b" t="t" l="l"/>
              <a:pathLst>
                <a:path h="6432931" w="71882">
                  <a:moveTo>
                    <a:pt x="0" y="0"/>
                  </a:moveTo>
                  <a:lnTo>
                    <a:pt x="71882" y="0"/>
                  </a:lnTo>
                  <a:lnTo>
                    <a:pt x="71882" y="6432931"/>
                  </a:lnTo>
                  <a:lnTo>
                    <a:pt x="0" y="6432931"/>
                  </a:lnTo>
                  <a:close/>
                </a:path>
              </a:pathLst>
            </a:custGeom>
            <a:solidFill>
              <a:srgbClr val="17B3A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262540" y="16214912"/>
            <a:ext cx="19043037" cy="63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Google &amp; Local Presence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0193" y="16834637"/>
            <a:ext cx="17325203" cy="427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Google Business Profile setup, where required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Google Business Profile optimisation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Business information configuration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Service / location information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Map integration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Location / directions functionality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68928" y="29260390"/>
            <a:ext cx="321646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3854348"/>
            <a:ext cx="17789290" cy="26956"/>
            <a:chOff x="0" y="0"/>
            <a:chExt cx="23719053" cy="35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1286" y="2963332"/>
            <a:ext cx="1827216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 Scope  </a:t>
            </a:r>
            <a:r>
              <a:rPr lang="en-US" b="true" sz="4032" i="true">
                <a:solidFill>
                  <a:srgbClr val="8A93A6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continued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5883" y="4474274"/>
            <a:ext cx="53912" cy="4150833"/>
            <a:chOff x="0" y="0"/>
            <a:chExt cx="71882" cy="5534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882" cy="5534406"/>
            </a:xfrm>
            <a:custGeom>
              <a:avLst/>
              <a:gdLst/>
              <a:ahLst/>
              <a:cxnLst/>
              <a:rect r="r" b="b" t="t" l="l"/>
              <a:pathLst>
                <a:path h="5534406" w="71882">
                  <a:moveTo>
                    <a:pt x="0" y="0"/>
                  </a:moveTo>
                  <a:lnTo>
                    <a:pt x="71882" y="0"/>
                  </a:lnTo>
                  <a:lnTo>
                    <a:pt x="71882" y="5534406"/>
                  </a:lnTo>
                  <a:lnTo>
                    <a:pt x="0" y="5534406"/>
                  </a:lnTo>
                  <a:close/>
                </a:path>
              </a:pathLst>
            </a:custGeom>
            <a:solidFill>
              <a:srgbClr val="4BBF9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62540" y="4490152"/>
            <a:ext cx="19043037" cy="63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Search Foundation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0193" y="5109877"/>
            <a:ext cx="17325203" cy="359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Initial SEO setup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Local search optimisation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GEO optimisation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AEO foundation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Website search structure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05883" y="9325899"/>
            <a:ext cx="53912" cy="3476996"/>
            <a:chOff x="0" y="0"/>
            <a:chExt cx="71882" cy="46359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82" cy="4636008"/>
            </a:xfrm>
            <a:custGeom>
              <a:avLst/>
              <a:gdLst/>
              <a:ahLst/>
              <a:cxnLst/>
              <a:rect r="r" b="b" t="t" l="l"/>
              <a:pathLst>
                <a:path h="4636008" w="71882">
                  <a:moveTo>
                    <a:pt x="0" y="0"/>
                  </a:moveTo>
                  <a:lnTo>
                    <a:pt x="71882" y="0"/>
                  </a:lnTo>
                  <a:lnTo>
                    <a:pt x="71882" y="4636008"/>
                  </a:lnTo>
                  <a:lnTo>
                    <a:pt x="0" y="4636008"/>
                  </a:lnTo>
                  <a:close/>
                </a:path>
              </a:pathLst>
            </a:custGeom>
            <a:solidFill>
              <a:srgbClr val="6FBF7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262540" y="9341777"/>
            <a:ext cx="19043037" cy="63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Project &amp; Portfolio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60193" y="9961502"/>
            <a:ext cx="17325203" cy="292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Project gallery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Project images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Project information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Organisation of completed work for presentation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05883" y="13503688"/>
            <a:ext cx="53912" cy="4150833"/>
            <a:chOff x="0" y="0"/>
            <a:chExt cx="71882" cy="55344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82" cy="5534406"/>
            </a:xfrm>
            <a:custGeom>
              <a:avLst/>
              <a:gdLst/>
              <a:ahLst/>
              <a:cxnLst/>
              <a:rect r="r" b="b" t="t" l="l"/>
              <a:pathLst>
                <a:path h="5534406" w="71882">
                  <a:moveTo>
                    <a:pt x="0" y="0"/>
                  </a:moveTo>
                  <a:lnTo>
                    <a:pt x="71882" y="0"/>
                  </a:lnTo>
                  <a:lnTo>
                    <a:pt x="71882" y="5534406"/>
                  </a:lnTo>
                  <a:lnTo>
                    <a:pt x="0" y="5534406"/>
                  </a:lnTo>
                  <a:close/>
                </a:path>
              </a:pathLst>
            </a:custGeom>
            <a:solidFill>
              <a:srgbClr val="14563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262540" y="13519566"/>
            <a:ext cx="19043037" cy="63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318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Enquiry Infrastructure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0193" y="14139291"/>
            <a:ext cx="17325203" cy="359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Website enquiry forms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WhatsApp connection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Contact pathways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Enquiry capture configuration</a:t>
            </a:r>
          </a:p>
          <a:p>
            <a:pPr algn="l" marL="1014414" indent="-507207" lvl="1">
              <a:lnSpc>
                <a:spcPts val="5285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Testing of enquiry flow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05883" y="19487359"/>
            <a:ext cx="17789290" cy="26956"/>
            <a:chOff x="0" y="0"/>
            <a:chExt cx="23719053" cy="359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831286" y="18596343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 Deliverable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1286" y="19783711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At completion, the Client will receive the configured digital foundation described above, including the website, agreed integrations and digital presence setup.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31286" y="21400913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The Client will be provided with the relevant access and handover information required to manage the completed implementation.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0614" y="29260390"/>
            <a:ext cx="3214783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3854348"/>
            <a:ext cx="17789290" cy="26956"/>
            <a:chOff x="0" y="0"/>
            <a:chExt cx="23719053" cy="35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1286" y="2963332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04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 Timeline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1286" y="4150700"/>
            <a:ext cx="18272169" cy="83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Estimated implementation period: </a:t>
            </a:r>
            <a:r>
              <a:rPr lang="en-US" sz="3078" b="true">
                <a:solidFill>
                  <a:srgbClr val="1B2A4A"/>
                </a:solidFill>
                <a:latin typeface="Georgia Bold"/>
                <a:ea typeface="Georgia Bold"/>
                <a:cs typeface="Georgia Bold"/>
                <a:sym typeface="Georgia Bold"/>
              </a:rPr>
              <a:t>3–4 weeks. </a:t>
            </a: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The implementation will generally proceed through: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05883" y="5336791"/>
            <a:ext cx="2371906" cy="889464"/>
            <a:chOff x="0" y="0"/>
            <a:chExt cx="3162541" cy="1185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2554" cy="1185926"/>
            </a:xfrm>
            <a:custGeom>
              <a:avLst/>
              <a:gdLst/>
              <a:ahLst/>
              <a:cxnLst/>
              <a:rect r="r" b="b" t="t" l="l"/>
              <a:pathLst>
                <a:path h="1185926" w="3162554">
                  <a:moveTo>
                    <a:pt x="0" y="0"/>
                  </a:moveTo>
                  <a:lnTo>
                    <a:pt x="3162554" y="0"/>
                  </a:lnTo>
                  <a:lnTo>
                    <a:pt x="3162554" y="1185926"/>
                  </a:lnTo>
                  <a:lnTo>
                    <a:pt x="0" y="1185926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29323" y="5606320"/>
            <a:ext cx="1940652" cy="458210"/>
            <a:chOff x="0" y="0"/>
            <a:chExt cx="2587536" cy="610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7533" cy="610945"/>
            </a:xfrm>
            <a:custGeom>
              <a:avLst/>
              <a:gdLst/>
              <a:ahLst/>
              <a:cxnLst/>
              <a:rect r="r" b="b" t="t" l="l"/>
              <a:pathLst>
                <a:path h="610945" w="2587533">
                  <a:moveTo>
                    <a:pt x="0" y="0"/>
                  </a:moveTo>
                  <a:lnTo>
                    <a:pt x="2587533" y="0"/>
                  </a:lnTo>
                  <a:lnTo>
                    <a:pt x="2587533" y="610945"/>
                  </a:lnTo>
                  <a:lnTo>
                    <a:pt x="0" y="6109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24" r="0" b="-325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587536" cy="62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6"/>
                </a:lnSpc>
              </a:pPr>
              <a:r>
                <a:rPr lang="en-US" sz="2122" spc="33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STAGE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77789" y="5336791"/>
            <a:ext cx="15417384" cy="889464"/>
            <a:chOff x="0" y="0"/>
            <a:chExt cx="20556512" cy="1185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56474" cy="1185926"/>
            </a:xfrm>
            <a:custGeom>
              <a:avLst/>
              <a:gdLst/>
              <a:ahLst/>
              <a:cxnLst/>
              <a:rect r="r" b="b" t="t" l="l"/>
              <a:pathLst>
                <a:path h="1185926" w="20556474">
                  <a:moveTo>
                    <a:pt x="0" y="0"/>
                  </a:moveTo>
                  <a:lnTo>
                    <a:pt x="20556474" y="0"/>
                  </a:lnTo>
                  <a:lnTo>
                    <a:pt x="20556474" y="1185926"/>
                  </a:lnTo>
                  <a:lnTo>
                    <a:pt x="0" y="1185926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01229" y="5606320"/>
            <a:ext cx="15233018" cy="458210"/>
            <a:chOff x="0" y="0"/>
            <a:chExt cx="20310691" cy="6109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10697" cy="610945"/>
            </a:xfrm>
            <a:custGeom>
              <a:avLst/>
              <a:gdLst/>
              <a:ahLst/>
              <a:cxnLst/>
              <a:rect r="r" b="b" t="t" l="l"/>
              <a:pathLst>
                <a:path h="610945" w="20310697">
                  <a:moveTo>
                    <a:pt x="0" y="0"/>
                  </a:moveTo>
                  <a:lnTo>
                    <a:pt x="20310697" y="0"/>
                  </a:lnTo>
                  <a:lnTo>
                    <a:pt x="20310697" y="610945"/>
                  </a:lnTo>
                  <a:lnTo>
                    <a:pt x="0" y="6109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774" r="0" b="-5977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0310691" cy="62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6"/>
                </a:lnSpc>
              </a:pPr>
              <a:r>
                <a:rPr lang="en-US" sz="2122" spc="33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ACTIVITY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05883" y="7210054"/>
            <a:ext cx="2371906" cy="26956"/>
            <a:chOff x="0" y="0"/>
            <a:chExt cx="3162541" cy="359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2554" cy="35941"/>
            </a:xfrm>
            <a:custGeom>
              <a:avLst/>
              <a:gdLst/>
              <a:ahLst/>
              <a:cxnLst/>
              <a:rect r="r" b="b" t="t" l="l"/>
              <a:pathLst>
                <a:path h="35941" w="3162554">
                  <a:moveTo>
                    <a:pt x="0" y="0"/>
                  </a:moveTo>
                  <a:lnTo>
                    <a:pt x="3162554" y="0"/>
                  </a:lnTo>
                  <a:lnTo>
                    <a:pt x="316255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29323" y="6495783"/>
            <a:ext cx="1940652" cy="552545"/>
            <a:chOff x="0" y="0"/>
            <a:chExt cx="2587536" cy="7367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7533" cy="736730"/>
            </a:xfrm>
            <a:custGeom>
              <a:avLst/>
              <a:gdLst/>
              <a:ahLst/>
              <a:cxnLst/>
              <a:rect r="r" b="b" t="t" l="l"/>
              <a:pathLst>
                <a:path h="736730" w="2587533">
                  <a:moveTo>
                    <a:pt x="0" y="0"/>
                  </a:moveTo>
                  <a:lnTo>
                    <a:pt x="2587533" y="0"/>
                  </a:lnTo>
                  <a:lnTo>
                    <a:pt x="2587533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5" r="0" b="-184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587536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7B3AC"/>
                  </a:solidFill>
                  <a:latin typeface="Georgia"/>
                  <a:ea typeface="Georgia"/>
                  <a:cs typeface="Georgia"/>
                  <a:sym typeface="Georgia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77789" y="7210054"/>
            <a:ext cx="15417384" cy="26956"/>
            <a:chOff x="0" y="0"/>
            <a:chExt cx="20556512" cy="359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556474" cy="35941"/>
            </a:xfrm>
            <a:custGeom>
              <a:avLst/>
              <a:gdLst/>
              <a:ahLst/>
              <a:cxnLst/>
              <a:rect r="r" b="b" t="t" l="l"/>
              <a:pathLst>
                <a:path h="35941" w="20556474">
                  <a:moveTo>
                    <a:pt x="0" y="0"/>
                  </a:moveTo>
                  <a:lnTo>
                    <a:pt x="20556474" y="0"/>
                  </a:lnTo>
                  <a:lnTo>
                    <a:pt x="2055647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501229" y="6495783"/>
            <a:ext cx="15233018" cy="552545"/>
            <a:chOff x="0" y="0"/>
            <a:chExt cx="20310691" cy="7367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310697" cy="736730"/>
            </a:xfrm>
            <a:custGeom>
              <a:avLst/>
              <a:gdLst/>
              <a:ahLst/>
              <a:cxnLst/>
              <a:rect r="r" b="b" t="t" l="l"/>
              <a:pathLst>
                <a:path h="736730" w="20310697">
                  <a:moveTo>
                    <a:pt x="0" y="0"/>
                  </a:moveTo>
                  <a:lnTo>
                    <a:pt x="20310697" y="0"/>
                  </a:lnTo>
                  <a:lnTo>
                    <a:pt x="20310697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177" r="0" b="-48717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0310691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Onboarding and information collection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05883" y="8234286"/>
            <a:ext cx="2371906" cy="26956"/>
            <a:chOff x="0" y="0"/>
            <a:chExt cx="3162541" cy="359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62554" cy="35941"/>
            </a:xfrm>
            <a:custGeom>
              <a:avLst/>
              <a:gdLst/>
              <a:ahLst/>
              <a:cxnLst/>
              <a:rect r="r" b="b" t="t" l="l"/>
              <a:pathLst>
                <a:path h="35941" w="3162554">
                  <a:moveTo>
                    <a:pt x="0" y="0"/>
                  </a:moveTo>
                  <a:lnTo>
                    <a:pt x="3162554" y="0"/>
                  </a:lnTo>
                  <a:lnTo>
                    <a:pt x="316255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9323" y="7506538"/>
            <a:ext cx="1940652" cy="566023"/>
            <a:chOff x="0" y="0"/>
            <a:chExt cx="2587536" cy="7546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87533" cy="754697"/>
            </a:xfrm>
            <a:custGeom>
              <a:avLst/>
              <a:gdLst/>
              <a:ahLst/>
              <a:cxnLst/>
              <a:rect r="r" b="b" t="t" l="l"/>
              <a:pathLst>
                <a:path h="754697" w="2587533">
                  <a:moveTo>
                    <a:pt x="0" y="0"/>
                  </a:moveTo>
                  <a:lnTo>
                    <a:pt x="2587533" y="0"/>
                  </a:lnTo>
                  <a:lnTo>
                    <a:pt x="2587533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587536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7B3AC"/>
                  </a:solidFill>
                  <a:latin typeface="Georgia"/>
                  <a:ea typeface="Georgia"/>
                  <a:cs typeface="Georgia"/>
                  <a:sym typeface="Georgia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177789" y="8234286"/>
            <a:ext cx="15417384" cy="26956"/>
            <a:chOff x="0" y="0"/>
            <a:chExt cx="20556512" cy="359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556474" cy="35941"/>
            </a:xfrm>
            <a:custGeom>
              <a:avLst/>
              <a:gdLst/>
              <a:ahLst/>
              <a:cxnLst/>
              <a:rect r="r" b="b" t="t" l="l"/>
              <a:pathLst>
                <a:path h="35941" w="20556474">
                  <a:moveTo>
                    <a:pt x="0" y="0"/>
                  </a:moveTo>
                  <a:lnTo>
                    <a:pt x="20556474" y="0"/>
                  </a:lnTo>
                  <a:lnTo>
                    <a:pt x="2055647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501229" y="7506538"/>
            <a:ext cx="15233018" cy="566023"/>
            <a:chOff x="0" y="0"/>
            <a:chExt cx="20310691" cy="7546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310697" cy="754697"/>
            </a:xfrm>
            <a:custGeom>
              <a:avLst/>
              <a:gdLst/>
              <a:ahLst/>
              <a:cxnLst/>
              <a:rect r="r" b="b" t="t" l="l"/>
              <a:pathLst>
                <a:path h="754697" w="20310697">
                  <a:moveTo>
                    <a:pt x="0" y="0"/>
                  </a:moveTo>
                  <a:lnTo>
                    <a:pt x="20310697" y="0"/>
                  </a:lnTo>
                  <a:lnTo>
                    <a:pt x="20310697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388" r="0" b="-4743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0310691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Website and branding implementation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05883" y="9258519"/>
            <a:ext cx="2371906" cy="26956"/>
            <a:chOff x="0" y="0"/>
            <a:chExt cx="3162541" cy="359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2554" cy="35941"/>
            </a:xfrm>
            <a:custGeom>
              <a:avLst/>
              <a:gdLst/>
              <a:ahLst/>
              <a:cxnLst/>
              <a:rect r="r" b="b" t="t" l="l"/>
              <a:pathLst>
                <a:path h="35941" w="3162554">
                  <a:moveTo>
                    <a:pt x="0" y="0"/>
                  </a:moveTo>
                  <a:lnTo>
                    <a:pt x="3162554" y="0"/>
                  </a:lnTo>
                  <a:lnTo>
                    <a:pt x="316255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129323" y="8530771"/>
            <a:ext cx="1940652" cy="566023"/>
            <a:chOff x="0" y="0"/>
            <a:chExt cx="2587536" cy="7546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87533" cy="754697"/>
            </a:xfrm>
            <a:custGeom>
              <a:avLst/>
              <a:gdLst/>
              <a:ahLst/>
              <a:cxnLst/>
              <a:rect r="r" b="b" t="t" l="l"/>
              <a:pathLst>
                <a:path h="754697" w="2587533">
                  <a:moveTo>
                    <a:pt x="0" y="0"/>
                  </a:moveTo>
                  <a:lnTo>
                    <a:pt x="2587533" y="0"/>
                  </a:lnTo>
                  <a:lnTo>
                    <a:pt x="2587533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587536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7B3AC"/>
                  </a:solidFill>
                  <a:latin typeface="Georgia"/>
                  <a:ea typeface="Georgia"/>
                  <a:cs typeface="Georgia"/>
                  <a:sym typeface="Georgia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177789" y="9258519"/>
            <a:ext cx="15417384" cy="26956"/>
            <a:chOff x="0" y="0"/>
            <a:chExt cx="20556512" cy="3594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556474" cy="35941"/>
            </a:xfrm>
            <a:custGeom>
              <a:avLst/>
              <a:gdLst/>
              <a:ahLst/>
              <a:cxnLst/>
              <a:rect r="r" b="b" t="t" l="l"/>
              <a:pathLst>
                <a:path h="35941" w="20556474">
                  <a:moveTo>
                    <a:pt x="0" y="0"/>
                  </a:moveTo>
                  <a:lnTo>
                    <a:pt x="20556474" y="0"/>
                  </a:lnTo>
                  <a:lnTo>
                    <a:pt x="2055647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01229" y="8530771"/>
            <a:ext cx="15233018" cy="566023"/>
            <a:chOff x="0" y="0"/>
            <a:chExt cx="20310691" cy="75469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310697" cy="754697"/>
            </a:xfrm>
            <a:custGeom>
              <a:avLst/>
              <a:gdLst/>
              <a:ahLst/>
              <a:cxnLst/>
              <a:rect r="r" b="b" t="t" l="l"/>
              <a:pathLst>
                <a:path h="754697" w="20310697">
                  <a:moveTo>
                    <a:pt x="0" y="0"/>
                  </a:moveTo>
                  <a:lnTo>
                    <a:pt x="20310697" y="0"/>
                  </a:lnTo>
                  <a:lnTo>
                    <a:pt x="20310697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388" r="0" b="-4743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0310691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Google, Maps and search setup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05883" y="10282752"/>
            <a:ext cx="2371906" cy="26956"/>
            <a:chOff x="0" y="0"/>
            <a:chExt cx="3162541" cy="359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62554" cy="35941"/>
            </a:xfrm>
            <a:custGeom>
              <a:avLst/>
              <a:gdLst/>
              <a:ahLst/>
              <a:cxnLst/>
              <a:rect r="r" b="b" t="t" l="l"/>
              <a:pathLst>
                <a:path h="35941" w="3162554">
                  <a:moveTo>
                    <a:pt x="0" y="0"/>
                  </a:moveTo>
                  <a:lnTo>
                    <a:pt x="3162554" y="0"/>
                  </a:lnTo>
                  <a:lnTo>
                    <a:pt x="316255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129323" y="9555004"/>
            <a:ext cx="1940652" cy="566023"/>
            <a:chOff x="0" y="0"/>
            <a:chExt cx="2587536" cy="75469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87533" cy="754697"/>
            </a:xfrm>
            <a:custGeom>
              <a:avLst/>
              <a:gdLst/>
              <a:ahLst/>
              <a:cxnLst/>
              <a:rect r="r" b="b" t="t" l="l"/>
              <a:pathLst>
                <a:path h="754697" w="2587533">
                  <a:moveTo>
                    <a:pt x="0" y="0"/>
                  </a:moveTo>
                  <a:lnTo>
                    <a:pt x="2587533" y="0"/>
                  </a:lnTo>
                  <a:lnTo>
                    <a:pt x="2587533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587536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7B3AC"/>
                  </a:solidFill>
                  <a:latin typeface="Georgia"/>
                  <a:ea typeface="Georgia"/>
                  <a:cs typeface="Georgia"/>
                  <a:sym typeface="Georgia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177789" y="10282752"/>
            <a:ext cx="15417384" cy="26956"/>
            <a:chOff x="0" y="0"/>
            <a:chExt cx="20556512" cy="3594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556474" cy="35941"/>
            </a:xfrm>
            <a:custGeom>
              <a:avLst/>
              <a:gdLst/>
              <a:ahLst/>
              <a:cxnLst/>
              <a:rect r="r" b="b" t="t" l="l"/>
              <a:pathLst>
                <a:path h="35941" w="20556474">
                  <a:moveTo>
                    <a:pt x="0" y="0"/>
                  </a:moveTo>
                  <a:lnTo>
                    <a:pt x="20556474" y="0"/>
                  </a:lnTo>
                  <a:lnTo>
                    <a:pt x="2055647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501229" y="9555004"/>
            <a:ext cx="15233018" cy="566023"/>
            <a:chOff x="0" y="0"/>
            <a:chExt cx="20310691" cy="75469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310697" cy="754697"/>
            </a:xfrm>
            <a:custGeom>
              <a:avLst/>
              <a:gdLst/>
              <a:ahLst/>
              <a:cxnLst/>
              <a:rect r="r" b="b" t="t" l="l"/>
              <a:pathLst>
                <a:path h="754697" w="20310697">
                  <a:moveTo>
                    <a:pt x="0" y="0"/>
                  </a:moveTo>
                  <a:lnTo>
                    <a:pt x="20310697" y="0"/>
                  </a:lnTo>
                  <a:lnTo>
                    <a:pt x="20310697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388" r="0" b="-47438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0310691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Enquiry integrations and testing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805883" y="11306985"/>
            <a:ext cx="2371906" cy="26956"/>
            <a:chOff x="0" y="0"/>
            <a:chExt cx="3162541" cy="3594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62554" cy="35941"/>
            </a:xfrm>
            <a:custGeom>
              <a:avLst/>
              <a:gdLst/>
              <a:ahLst/>
              <a:cxnLst/>
              <a:rect r="r" b="b" t="t" l="l"/>
              <a:pathLst>
                <a:path h="35941" w="3162554">
                  <a:moveTo>
                    <a:pt x="0" y="0"/>
                  </a:moveTo>
                  <a:lnTo>
                    <a:pt x="3162554" y="0"/>
                  </a:lnTo>
                  <a:lnTo>
                    <a:pt x="316255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129323" y="10579237"/>
            <a:ext cx="1940652" cy="566023"/>
            <a:chOff x="0" y="0"/>
            <a:chExt cx="2587536" cy="75469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87533" cy="754697"/>
            </a:xfrm>
            <a:custGeom>
              <a:avLst/>
              <a:gdLst/>
              <a:ahLst/>
              <a:cxnLst/>
              <a:rect r="r" b="b" t="t" l="l"/>
              <a:pathLst>
                <a:path h="754697" w="2587533">
                  <a:moveTo>
                    <a:pt x="0" y="0"/>
                  </a:moveTo>
                  <a:lnTo>
                    <a:pt x="2587533" y="0"/>
                  </a:lnTo>
                  <a:lnTo>
                    <a:pt x="2587533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587536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7B3AC"/>
                  </a:solidFill>
                  <a:latin typeface="Georgia"/>
                  <a:ea typeface="Georgia"/>
                  <a:cs typeface="Georgia"/>
                  <a:sym typeface="Georgia"/>
                </a:rPr>
                <a:t>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77789" y="11306985"/>
            <a:ext cx="15417384" cy="26956"/>
            <a:chOff x="0" y="0"/>
            <a:chExt cx="20556512" cy="3594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556474" cy="35941"/>
            </a:xfrm>
            <a:custGeom>
              <a:avLst/>
              <a:gdLst/>
              <a:ahLst/>
              <a:cxnLst/>
              <a:rect r="r" b="b" t="t" l="l"/>
              <a:pathLst>
                <a:path h="35941" w="20556474">
                  <a:moveTo>
                    <a:pt x="0" y="0"/>
                  </a:moveTo>
                  <a:lnTo>
                    <a:pt x="20556474" y="0"/>
                  </a:lnTo>
                  <a:lnTo>
                    <a:pt x="20556474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501229" y="10579237"/>
            <a:ext cx="15233018" cy="566023"/>
            <a:chOff x="0" y="0"/>
            <a:chExt cx="20310691" cy="75469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310697" cy="754697"/>
            </a:xfrm>
            <a:custGeom>
              <a:avLst/>
              <a:gdLst/>
              <a:ahLst/>
              <a:cxnLst/>
              <a:rect r="r" b="b" t="t" l="l"/>
              <a:pathLst>
                <a:path h="754697" w="20310697">
                  <a:moveTo>
                    <a:pt x="0" y="0"/>
                  </a:moveTo>
                  <a:lnTo>
                    <a:pt x="20310697" y="0"/>
                  </a:lnTo>
                  <a:lnTo>
                    <a:pt x="20310697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388" r="0" b="-47438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20310691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Review, approval, launch and handover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831286" y="11607279"/>
            <a:ext cx="18272169" cy="133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2759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The timeline is dependent on timely receipt of Client information, content, approvals and required access. The detailed implementation sequence may be adjusted during onboarding.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805883" y="14851361"/>
            <a:ext cx="17789290" cy="26956"/>
            <a:chOff x="0" y="0"/>
            <a:chExt cx="23719053" cy="3594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831286" y="13960345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05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 Fee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805883" y="15363473"/>
            <a:ext cx="17789290" cy="2048466"/>
            <a:chOff x="0" y="0"/>
            <a:chExt cx="23719053" cy="27312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719028" cy="2731262"/>
            </a:xfrm>
            <a:custGeom>
              <a:avLst/>
              <a:gdLst/>
              <a:ahLst/>
              <a:cxnLst/>
              <a:rect r="r" b="b" t="t" l="l"/>
              <a:pathLst>
                <a:path h="2731262" w="23719028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23575263" y="0"/>
                  </a:lnTo>
                  <a:cubicBezTo>
                    <a:pt x="23654638" y="0"/>
                    <a:pt x="23719028" y="64389"/>
                    <a:pt x="23719028" y="143764"/>
                  </a:cubicBezTo>
                  <a:lnTo>
                    <a:pt x="23719028" y="2587498"/>
                  </a:lnTo>
                  <a:cubicBezTo>
                    <a:pt x="23719028" y="2666873"/>
                    <a:pt x="23654638" y="2731262"/>
                    <a:pt x="23575263" y="2731262"/>
                  </a:cubicBezTo>
                  <a:lnTo>
                    <a:pt x="143764" y="2731262"/>
                  </a:lnTo>
                  <a:cubicBezTo>
                    <a:pt x="64389" y="2731262"/>
                    <a:pt x="0" y="2666873"/>
                    <a:pt x="0" y="2587498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805883" y="17384982"/>
            <a:ext cx="17789290" cy="26956"/>
            <a:chOff x="0" y="0"/>
            <a:chExt cx="23719053" cy="3594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805883" y="15363473"/>
            <a:ext cx="17789290" cy="26956"/>
            <a:chOff x="0" y="0"/>
            <a:chExt cx="23719053" cy="3594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805883" y="15363473"/>
            <a:ext cx="80858" cy="2048466"/>
            <a:chOff x="0" y="0"/>
            <a:chExt cx="107810" cy="273128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7823" cy="2731262"/>
            </a:xfrm>
            <a:custGeom>
              <a:avLst/>
              <a:gdLst/>
              <a:ahLst/>
              <a:cxnLst/>
              <a:rect r="r" b="b" t="t" l="l"/>
              <a:pathLst>
                <a:path h="2731262" w="107823">
                  <a:moveTo>
                    <a:pt x="0" y="0"/>
                  </a:moveTo>
                  <a:lnTo>
                    <a:pt x="107823" y="0"/>
                  </a:lnTo>
                  <a:lnTo>
                    <a:pt x="107823" y="2731262"/>
                  </a:lnTo>
                  <a:lnTo>
                    <a:pt x="0" y="2731262"/>
                  </a:lnTo>
                  <a:close/>
                </a:path>
              </a:pathLst>
            </a:custGeom>
            <a:solidFill>
              <a:srgbClr val="0B57E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9568217" y="15363473"/>
            <a:ext cx="26956" cy="2048466"/>
            <a:chOff x="0" y="0"/>
            <a:chExt cx="35941" cy="273128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941" cy="2731262"/>
            </a:xfrm>
            <a:custGeom>
              <a:avLst/>
              <a:gdLst/>
              <a:ahLst/>
              <a:cxnLst/>
              <a:rect r="r" b="b" t="t" l="l"/>
              <a:pathLst>
                <a:path h="2731262" w="35941">
                  <a:moveTo>
                    <a:pt x="0" y="0"/>
                  </a:moveTo>
                  <a:lnTo>
                    <a:pt x="35941" y="0"/>
                  </a:lnTo>
                  <a:lnTo>
                    <a:pt x="35941" y="2731262"/>
                  </a:lnTo>
                  <a:lnTo>
                    <a:pt x="0" y="2731262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2505123" y="16173974"/>
            <a:ext cx="3521373" cy="75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7215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₹45,000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239018" y="16484441"/>
            <a:ext cx="2112216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334" spc="421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ONE-TIME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805883" y="17897104"/>
            <a:ext cx="5555361" cy="889464"/>
            <a:chOff x="0" y="0"/>
            <a:chExt cx="7407148" cy="11859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407148" cy="1185926"/>
            </a:xfrm>
            <a:custGeom>
              <a:avLst/>
              <a:gdLst/>
              <a:ahLst/>
              <a:cxnLst/>
              <a:rect r="r" b="b" t="t" l="l"/>
              <a:pathLst>
                <a:path h="1185926" w="7407148">
                  <a:moveTo>
                    <a:pt x="0" y="0"/>
                  </a:moveTo>
                  <a:lnTo>
                    <a:pt x="7407148" y="0"/>
                  </a:lnTo>
                  <a:lnTo>
                    <a:pt x="7407148" y="1185926"/>
                  </a:lnTo>
                  <a:lnTo>
                    <a:pt x="0" y="1185926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2129323" y="18166642"/>
            <a:ext cx="5124107" cy="458210"/>
            <a:chOff x="0" y="0"/>
            <a:chExt cx="6832143" cy="61094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832143" cy="610945"/>
            </a:xfrm>
            <a:custGeom>
              <a:avLst/>
              <a:gdLst/>
              <a:ahLst/>
              <a:cxnLst/>
              <a:rect r="r" b="b" t="t" l="l"/>
              <a:pathLst>
                <a:path h="610945" w="6832143">
                  <a:moveTo>
                    <a:pt x="0" y="0"/>
                  </a:moveTo>
                  <a:lnTo>
                    <a:pt x="6832143" y="0"/>
                  </a:lnTo>
                  <a:lnTo>
                    <a:pt x="6832143" y="610945"/>
                  </a:lnTo>
                  <a:lnTo>
                    <a:pt x="0" y="6109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99" r="0" b="-16789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6832143" cy="62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6"/>
                </a:lnSpc>
              </a:pPr>
              <a:r>
                <a:rPr lang="en-US" sz="2122" spc="33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PAYMENT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361244" y="17897104"/>
            <a:ext cx="3538490" cy="889464"/>
            <a:chOff x="0" y="0"/>
            <a:chExt cx="4717986" cy="118595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17923" cy="1185926"/>
            </a:xfrm>
            <a:custGeom>
              <a:avLst/>
              <a:gdLst/>
              <a:ahLst/>
              <a:cxnLst/>
              <a:rect r="r" b="b" t="t" l="l"/>
              <a:pathLst>
                <a:path h="1185926" w="4717923">
                  <a:moveTo>
                    <a:pt x="0" y="0"/>
                  </a:moveTo>
                  <a:lnTo>
                    <a:pt x="4717923" y="0"/>
                  </a:lnTo>
                  <a:lnTo>
                    <a:pt x="4717923" y="1185926"/>
                  </a:lnTo>
                  <a:lnTo>
                    <a:pt x="0" y="1185926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684684" y="18166642"/>
            <a:ext cx="3107226" cy="458210"/>
            <a:chOff x="0" y="0"/>
            <a:chExt cx="4142969" cy="61094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42973" cy="610945"/>
            </a:xfrm>
            <a:custGeom>
              <a:avLst/>
              <a:gdLst/>
              <a:ahLst/>
              <a:cxnLst/>
              <a:rect r="r" b="b" t="t" l="l"/>
              <a:pathLst>
                <a:path h="610945" w="4142973">
                  <a:moveTo>
                    <a:pt x="0" y="0"/>
                  </a:moveTo>
                  <a:lnTo>
                    <a:pt x="4142973" y="0"/>
                  </a:lnTo>
                  <a:lnTo>
                    <a:pt x="4142973" y="610945"/>
                  </a:lnTo>
                  <a:lnTo>
                    <a:pt x="0" y="6109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32" r="0" b="-8213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4142969" cy="62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6"/>
                </a:lnSpc>
              </a:pPr>
              <a:r>
                <a:rPr lang="en-US" sz="2122" spc="33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AMOUNT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899734" y="17897104"/>
            <a:ext cx="8695858" cy="889464"/>
            <a:chOff x="0" y="0"/>
            <a:chExt cx="11594478" cy="118595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594465" cy="1185926"/>
            </a:xfrm>
            <a:custGeom>
              <a:avLst/>
              <a:gdLst/>
              <a:ahLst/>
              <a:cxnLst/>
              <a:rect r="r" b="b" t="t" l="l"/>
              <a:pathLst>
                <a:path h="1185926" w="11594465">
                  <a:moveTo>
                    <a:pt x="0" y="0"/>
                  </a:moveTo>
                  <a:lnTo>
                    <a:pt x="11594465" y="0"/>
                  </a:lnTo>
                  <a:lnTo>
                    <a:pt x="11594465" y="1185926"/>
                  </a:lnTo>
                  <a:lnTo>
                    <a:pt x="0" y="1185926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223174" y="18166642"/>
            <a:ext cx="8309858" cy="458210"/>
            <a:chOff x="0" y="0"/>
            <a:chExt cx="11079810" cy="61094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079806" cy="610945"/>
            </a:xfrm>
            <a:custGeom>
              <a:avLst/>
              <a:gdLst/>
              <a:ahLst/>
              <a:cxnLst/>
              <a:rect r="r" b="b" t="t" l="l"/>
              <a:pathLst>
                <a:path h="610945" w="11079806">
                  <a:moveTo>
                    <a:pt x="0" y="0"/>
                  </a:moveTo>
                  <a:lnTo>
                    <a:pt x="11079806" y="0"/>
                  </a:lnTo>
                  <a:lnTo>
                    <a:pt x="11079806" y="610945"/>
                  </a:lnTo>
                  <a:lnTo>
                    <a:pt x="0" y="6109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371" r="0" b="-30337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11079810" cy="620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6"/>
                </a:lnSpc>
              </a:pPr>
              <a:r>
                <a:rPr lang="en-US" sz="2122" spc="33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DUE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805883" y="19770366"/>
            <a:ext cx="5555361" cy="26956"/>
            <a:chOff x="0" y="0"/>
            <a:chExt cx="7407148" cy="3594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407148" cy="35941"/>
            </a:xfrm>
            <a:custGeom>
              <a:avLst/>
              <a:gdLst/>
              <a:ahLst/>
              <a:cxnLst/>
              <a:rect r="r" b="b" t="t" l="l"/>
              <a:pathLst>
                <a:path h="35941" w="7407148">
                  <a:moveTo>
                    <a:pt x="0" y="0"/>
                  </a:moveTo>
                  <a:lnTo>
                    <a:pt x="7407148" y="0"/>
                  </a:lnTo>
                  <a:lnTo>
                    <a:pt x="740714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2129323" y="19056106"/>
            <a:ext cx="5124107" cy="552545"/>
            <a:chOff x="0" y="0"/>
            <a:chExt cx="6832143" cy="73672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832143" cy="736730"/>
            </a:xfrm>
            <a:custGeom>
              <a:avLst/>
              <a:gdLst/>
              <a:ahLst/>
              <a:cxnLst/>
              <a:rect r="r" b="b" t="t" l="l"/>
              <a:pathLst>
                <a:path h="736730" w="6832143">
                  <a:moveTo>
                    <a:pt x="0" y="0"/>
                  </a:moveTo>
                  <a:lnTo>
                    <a:pt x="6832143" y="0"/>
                  </a:lnTo>
                  <a:lnTo>
                    <a:pt x="6832143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96" r="0" b="-13069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6832143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Advance — 60%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361244" y="19770366"/>
            <a:ext cx="3538490" cy="26956"/>
            <a:chOff x="0" y="0"/>
            <a:chExt cx="4717986" cy="3594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17923" cy="35941"/>
            </a:xfrm>
            <a:custGeom>
              <a:avLst/>
              <a:gdLst/>
              <a:ahLst/>
              <a:cxnLst/>
              <a:rect r="r" b="b" t="t" l="l"/>
              <a:pathLst>
                <a:path h="35941" w="4717923">
                  <a:moveTo>
                    <a:pt x="0" y="0"/>
                  </a:moveTo>
                  <a:lnTo>
                    <a:pt x="4717923" y="0"/>
                  </a:lnTo>
                  <a:lnTo>
                    <a:pt x="471792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7684684" y="19056106"/>
            <a:ext cx="3107226" cy="552545"/>
            <a:chOff x="0" y="0"/>
            <a:chExt cx="4142969" cy="73672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142973" cy="736730"/>
            </a:xfrm>
            <a:custGeom>
              <a:avLst/>
              <a:gdLst/>
              <a:ahLst/>
              <a:cxnLst/>
              <a:rect r="r" b="b" t="t" l="l"/>
              <a:pathLst>
                <a:path h="736730" w="4142973">
                  <a:moveTo>
                    <a:pt x="0" y="0"/>
                  </a:moveTo>
                  <a:lnTo>
                    <a:pt x="4142973" y="0"/>
                  </a:lnTo>
                  <a:lnTo>
                    <a:pt x="4142973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3" r="0" b="-59573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4142969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₹</a:t>
              </a:r>
              <a:r>
                <a:rPr lang="en-US" sz="2971">
                  <a:solidFill>
                    <a:srgbClr val="1B2A4A"/>
                  </a:solidFill>
                  <a:latin typeface="Georgia"/>
                  <a:ea typeface="Georgia"/>
                  <a:cs typeface="Georgia"/>
                  <a:sym typeface="Georgia"/>
                </a:rPr>
                <a:t>27,000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899734" y="19770366"/>
            <a:ext cx="8695858" cy="26956"/>
            <a:chOff x="0" y="0"/>
            <a:chExt cx="11594478" cy="3594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594465" cy="35941"/>
            </a:xfrm>
            <a:custGeom>
              <a:avLst/>
              <a:gdLst/>
              <a:ahLst/>
              <a:cxnLst/>
              <a:rect r="r" b="b" t="t" l="l"/>
              <a:pathLst>
                <a:path h="35941" w="11594465">
                  <a:moveTo>
                    <a:pt x="0" y="0"/>
                  </a:moveTo>
                  <a:lnTo>
                    <a:pt x="11594465" y="0"/>
                  </a:lnTo>
                  <a:lnTo>
                    <a:pt x="1159446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223174" y="19056106"/>
            <a:ext cx="8309858" cy="552545"/>
            <a:chOff x="0" y="0"/>
            <a:chExt cx="11079810" cy="73672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079806" cy="736730"/>
            </a:xfrm>
            <a:custGeom>
              <a:avLst/>
              <a:gdLst/>
              <a:ahLst/>
              <a:cxnLst/>
              <a:rect r="r" b="b" t="t" l="l"/>
              <a:pathLst>
                <a:path h="736730" w="11079806">
                  <a:moveTo>
                    <a:pt x="0" y="0"/>
                  </a:moveTo>
                  <a:lnTo>
                    <a:pt x="11079806" y="0"/>
                  </a:lnTo>
                  <a:lnTo>
                    <a:pt x="11079806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039" r="0" b="-243038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11079810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At project confirmation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805883" y="20794599"/>
            <a:ext cx="5555361" cy="26956"/>
            <a:chOff x="0" y="0"/>
            <a:chExt cx="7407148" cy="3594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407148" cy="35941"/>
            </a:xfrm>
            <a:custGeom>
              <a:avLst/>
              <a:gdLst/>
              <a:ahLst/>
              <a:cxnLst/>
              <a:rect r="r" b="b" t="t" l="l"/>
              <a:pathLst>
                <a:path h="35941" w="7407148">
                  <a:moveTo>
                    <a:pt x="0" y="0"/>
                  </a:moveTo>
                  <a:lnTo>
                    <a:pt x="7407148" y="0"/>
                  </a:lnTo>
                  <a:lnTo>
                    <a:pt x="740714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2129323" y="20066860"/>
            <a:ext cx="5124107" cy="566023"/>
            <a:chOff x="0" y="0"/>
            <a:chExt cx="6832143" cy="75469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832143" cy="754697"/>
            </a:xfrm>
            <a:custGeom>
              <a:avLst/>
              <a:gdLst/>
              <a:ahLst/>
              <a:cxnLst/>
              <a:rect r="r" b="b" t="t" l="l"/>
              <a:pathLst>
                <a:path h="754697" w="6832143">
                  <a:moveTo>
                    <a:pt x="0" y="0"/>
                  </a:moveTo>
                  <a:lnTo>
                    <a:pt x="6832143" y="0"/>
                  </a:lnTo>
                  <a:lnTo>
                    <a:pt x="6832143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94" r="0" b="-126394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6832143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Final — 40%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361244" y="20794599"/>
            <a:ext cx="3538490" cy="26956"/>
            <a:chOff x="0" y="0"/>
            <a:chExt cx="4717986" cy="3594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717923" cy="35941"/>
            </a:xfrm>
            <a:custGeom>
              <a:avLst/>
              <a:gdLst/>
              <a:ahLst/>
              <a:cxnLst/>
              <a:rect r="r" b="b" t="t" l="l"/>
              <a:pathLst>
                <a:path h="35941" w="4717923">
                  <a:moveTo>
                    <a:pt x="0" y="0"/>
                  </a:moveTo>
                  <a:lnTo>
                    <a:pt x="4717923" y="0"/>
                  </a:lnTo>
                  <a:lnTo>
                    <a:pt x="471792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7684684" y="20066860"/>
            <a:ext cx="3107226" cy="566023"/>
            <a:chOff x="0" y="0"/>
            <a:chExt cx="4142969" cy="75469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142973" cy="754697"/>
            </a:xfrm>
            <a:custGeom>
              <a:avLst/>
              <a:gdLst/>
              <a:ahLst/>
              <a:cxnLst/>
              <a:rect r="r" b="b" t="t" l="l"/>
              <a:pathLst>
                <a:path h="754697" w="4142973">
                  <a:moveTo>
                    <a:pt x="0" y="0"/>
                  </a:moveTo>
                  <a:lnTo>
                    <a:pt x="4142973" y="0"/>
                  </a:lnTo>
                  <a:lnTo>
                    <a:pt x="4142973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964" r="0" b="-5696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4142969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₹</a:t>
              </a:r>
              <a:r>
                <a:rPr lang="en-US" sz="2971">
                  <a:solidFill>
                    <a:srgbClr val="1B2A4A"/>
                  </a:solidFill>
                  <a:latin typeface="Georgia"/>
                  <a:ea typeface="Georgia"/>
                  <a:cs typeface="Georgia"/>
                  <a:sym typeface="Georgia"/>
                </a:rPr>
                <a:t>18,000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899734" y="20794599"/>
            <a:ext cx="8695858" cy="26956"/>
            <a:chOff x="0" y="0"/>
            <a:chExt cx="11594478" cy="3594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594465" cy="35941"/>
            </a:xfrm>
            <a:custGeom>
              <a:avLst/>
              <a:gdLst/>
              <a:ahLst/>
              <a:cxnLst/>
              <a:rect r="r" b="b" t="t" l="l"/>
              <a:pathLst>
                <a:path h="35941" w="11594465">
                  <a:moveTo>
                    <a:pt x="0" y="0"/>
                  </a:moveTo>
                  <a:lnTo>
                    <a:pt x="11594465" y="0"/>
                  </a:lnTo>
                  <a:lnTo>
                    <a:pt x="1159446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223174" y="20066860"/>
            <a:ext cx="8309858" cy="566023"/>
            <a:chOff x="0" y="0"/>
            <a:chExt cx="11079810" cy="75469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1079806" cy="754697"/>
            </a:xfrm>
            <a:custGeom>
              <a:avLst/>
              <a:gdLst/>
              <a:ahLst/>
              <a:cxnLst/>
              <a:rect r="r" b="b" t="t" l="l"/>
              <a:pathLst>
                <a:path h="754697" w="11079806">
                  <a:moveTo>
                    <a:pt x="0" y="0"/>
                  </a:moveTo>
                  <a:lnTo>
                    <a:pt x="11079806" y="0"/>
                  </a:lnTo>
                  <a:lnTo>
                    <a:pt x="11079806" y="754697"/>
                  </a:lnTo>
                  <a:lnTo>
                    <a:pt x="0" y="754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062" r="0" b="-23606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11079810" cy="76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On completion and sign-off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805883" y="21805354"/>
            <a:ext cx="5555361" cy="53912"/>
            <a:chOff x="0" y="0"/>
            <a:chExt cx="7407148" cy="7188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407148" cy="71882"/>
            </a:xfrm>
            <a:custGeom>
              <a:avLst/>
              <a:gdLst/>
              <a:ahLst/>
              <a:cxnLst/>
              <a:rect r="r" b="b" t="t" l="l"/>
              <a:pathLst>
                <a:path h="71882" w="7407148">
                  <a:moveTo>
                    <a:pt x="0" y="0"/>
                  </a:moveTo>
                  <a:lnTo>
                    <a:pt x="7407148" y="0"/>
                  </a:lnTo>
                  <a:lnTo>
                    <a:pt x="7407148" y="71882"/>
                  </a:lnTo>
                  <a:lnTo>
                    <a:pt x="0" y="71882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2129323" y="21091084"/>
            <a:ext cx="5124107" cy="552545"/>
            <a:chOff x="0" y="0"/>
            <a:chExt cx="6832143" cy="73672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832143" cy="736730"/>
            </a:xfrm>
            <a:custGeom>
              <a:avLst/>
              <a:gdLst/>
              <a:ahLst/>
              <a:cxnLst/>
              <a:rect r="r" b="b" t="t" l="l"/>
              <a:pathLst>
                <a:path h="736730" w="6832143">
                  <a:moveTo>
                    <a:pt x="0" y="0"/>
                  </a:moveTo>
                  <a:lnTo>
                    <a:pt x="6832143" y="0"/>
                  </a:lnTo>
                  <a:lnTo>
                    <a:pt x="6832143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96" r="0" b="-13069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6832143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B2A4A"/>
                  </a:solidFill>
                  <a:latin typeface="Georgia"/>
                  <a:ea typeface="Georgia"/>
                  <a:cs typeface="Georgia"/>
                  <a:sym typeface="Georgia"/>
                </a:rPr>
                <a:t>Total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361244" y="21805354"/>
            <a:ext cx="3538490" cy="53912"/>
            <a:chOff x="0" y="0"/>
            <a:chExt cx="4717986" cy="7188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717923" cy="71882"/>
            </a:xfrm>
            <a:custGeom>
              <a:avLst/>
              <a:gdLst/>
              <a:ahLst/>
              <a:cxnLst/>
              <a:rect r="r" b="b" t="t" l="l"/>
              <a:pathLst>
                <a:path h="71882" w="4717923">
                  <a:moveTo>
                    <a:pt x="0" y="0"/>
                  </a:moveTo>
                  <a:lnTo>
                    <a:pt x="4717923" y="0"/>
                  </a:lnTo>
                  <a:lnTo>
                    <a:pt x="4717923" y="71882"/>
                  </a:lnTo>
                  <a:lnTo>
                    <a:pt x="0" y="71882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7684684" y="21091084"/>
            <a:ext cx="3107226" cy="552545"/>
            <a:chOff x="0" y="0"/>
            <a:chExt cx="4142969" cy="736727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142973" cy="736730"/>
            </a:xfrm>
            <a:custGeom>
              <a:avLst/>
              <a:gdLst/>
              <a:ahLst/>
              <a:cxnLst/>
              <a:rect r="r" b="b" t="t" l="l"/>
              <a:pathLst>
                <a:path h="736730" w="4142973">
                  <a:moveTo>
                    <a:pt x="0" y="0"/>
                  </a:moveTo>
                  <a:lnTo>
                    <a:pt x="4142973" y="0"/>
                  </a:lnTo>
                  <a:lnTo>
                    <a:pt x="4142973" y="736730"/>
                  </a:lnTo>
                  <a:lnTo>
                    <a:pt x="0" y="736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3" r="0" b="-59573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9525"/>
              <a:ext cx="4142969" cy="746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5"/>
                </a:lnSpc>
              </a:pPr>
              <a:r>
                <a:rPr lang="en-US" sz="2971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₹</a:t>
              </a:r>
              <a:r>
                <a:rPr lang="en-US" sz="2971">
                  <a:solidFill>
                    <a:srgbClr val="1B2A4A"/>
                  </a:solidFill>
                  <a:latin typeface="Georgia"/>
                  <a:ea typeface="Georgia"/>
                  <a:cs typeface="Georgia"/>
                  <a:sym typeface="Georgia"/>
                </a:rPr>
                <a:t>45,000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0899734" y="21805354"/>
            <a:ext cx="8695858" cy="53912"/>
            <a:chOff x="0" y="0"/>
            <a:chExt cx="11594478" cy="7188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1594465" cy="71882"/>
            </a:xfrm>
            <a:custGeom>
              <a:avLst/>
              <a:gdLst/>
              <a:ahLst/>
              <a:cxnLst/>
              <a:rect r="r" b="b" t="t" l="l"/>
              <a:pathLst>
                <a:path h="71882" w="11594465">
                  <a:moveTo>
                    <a:pt x="0" y="0"/>
                  </a:moveTo>
                  <a:lnTo>
                    <a:pt x="11594465" y="0"/>
                  </a:lnTo>
                  <a:lnTo>
                    <a:pt x="11594465" y="71882"/>
                  </a:lnTo>
                  <a:lnTo>
                    <a:pt x="0" y="71882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831286" y="22092180"/>
            <a:ext cx="18272169" cy="76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2759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Implementation begins after receipt of the advance and required Client inputs / access.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146" id="146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6567252" y="29260390"/>
            <a:ext cx="3218155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3854348"/>
            <a:ext cx="17789290" cy="26956"/>
            <a:chOff x="0" y="0"/>
            <a:chExt cx="23719053" cy="35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1286" y="2963332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06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Optional Care &amp; Maintenance Plan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5883" y="4366460"/>
            <a:ext cx="17789290" cy="2048466"/>
            <a:chOff x="0" y="0"/>
            <a:chExt cx="23719053" cy="27312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719028" cy="2731262"/>
            </a:xfrm>
            <a:custGeom>
              <a:avLst/>
              <a:gdLst/>
              <a:ahLst/>
              <a:cxnLst/>
              <a:rect r="r" b="b" t="t" l="l"/>
              <a:pathLst>
                <a:path h="2731262" w="23719028">
                  <a:moveTo>
                    <a:pt x="0" y="143764"/>
                  </a:moveTo>
                  <a:cubicBezTo>
                    <a:pt x="0" y="64389"/>
                    <a:pt x="64389" y="0"/>
                    <a:pt x="143764" y="0"/>
                  </a:cubicBezTo>
                  <a:lnTo>
                    <a:pt x="23575263" y="0"/>
                  </a:lnTo>
                  <a:cubicBezTo>
                    <a:pt x="23654638" y="0"/>
                    <a:pt x="23719028" y="64389"/>
                    <a:pt x="23719028" y="143764"/>
                  </a:cubicBezTo>
                  <a:lnTo>
                    <a:pt x="23719028" y="2587498"/>
                  </a:lnTo>
                  <a:cubicBezTo>
                    <a:pt x="23719028" y="2666873"/>
                    <a:pt x="23654638" y="2731262"/>
                    <a:pt x="23575263" y="2731262"/>
                  </a:cubicBezTo>
                  <a:lnTo>
                    <a:pt x="143764" y="2731262"/>
                  </a:lnTo>
                  <a:cubicBezTo>
                    <a:pt x="64389" y="2731262"/>
                    <a:pt x="0" y="2666873"/>
                    <a:pt x="0" y="2587498"/>
                  </a:cubicBezTo>
                  <a:close/>
                </a:path>
              </a:pathLst>
            </a:custGeom>
            <a:solidFill>
              <a:srgbClr val="FBFDF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05883" y="6387970"/>
            <a:ext cx="17789290" cy="26956"/>
            <a:chOff x="0" y="0"/>
            <a:chExt cx="23719053" cy="359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05883" y="4366460"/>
            <a:ext cx="17789290" cy="26956"/>
            <a:chOff x="0" y="0"/>
            <a:chExt cx="23719053" cy="359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05883" y="4366460"/>
            <a:ext cx="80858" cy="2048466"/>
            <a:chOff x="0" y="0"/>
            <a:chExt cx="107810" cy="27312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23" cy="2731262"/>
            </a:xfrm>
            <a:custGeom>
              <a:avLst/>
              <a:gdLst/>
              <a:ahLst/>
              <a:cxnLst/>
              <a:rect r="r" b="b" t="t" l="l"/>
              <a:pathLst>
                <a:path h="2731262" w="107823">
                  <a:moveTo>
                    <a:pt x="0" y="0"/>
                  </a:moveTo>
                  <a:lnTo>
                    <a:pt x="107823" y="0"/>
                  </a:lnTo>
                  <a:lnTo>
                    <a:pt x="107823" y="2731262"/>
                  </a:lnTo>
                  <a:lnTo>
                    <a:pt x="0" y="2731262"/>
                  </a:lnTo>
                  <a:close/>
                </a:path>
              </a:pathLst>
            </a:custGeom>
            <a:solidFill>
              <a:srgbClr val="6FBF7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217" y="4366460"/>
            <a:ext cx="26956" cy="2048466"/>
            <a:chOff x="0" y="0"/>
            <a:chExt cx="35941" cy="27312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41" cy="2731262"/>
            </a:xfrm>
            <a:custGeom>
              <a:avLst/>
              <a:gdLst/>
              <a:ahLst/>
              <a:cxnLst/>
              <a:rect r="r" b="b" t="t" l="l"/>
              <a:pathLst>
                <a:path h="2731262" w="35941">
                  <a:moveTo>
                    <a:pt x="0" y="0"/>
                  </a:moveTo>
                  <a:lnTo>
                    <a:pt x="35941" y="0"/>
                  </a:lnTo>
                  <a:lnTo>
                    <a:pt x="35941" y="2731262"/>
                  </a:lnTo>
                  <a:lnTo>
                    <a:pt x="0" y="2731262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505123" y="5176961"/>
            <a:ext cx="3048010" cy="75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7215" b="true">
                <a:solidFill>
                  <a:srgbClr val="14563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₹5,000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65644" y="5487429"/>
            <a:ext cx="5033048" cy="4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334" spc="421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PER MONTH · OPTIONAL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1286" y="6738233"/>
            <a:ext cx="18272169" cy="83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The Care Plan is optional and is available after implementation.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8939" y="7705315"/>
            <a:ext cx="14962690" cy="749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Website maintenance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Website updates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Monthly SEO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Ongoing GEO optimisation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AEO optimisation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Google Business Profile management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Local presence optimisation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Technical maintenance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Integration / API troubleshooting where applicable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Minor fixes and adjustments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Ongoing digital presence improvements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28939" y="15720441"/>
            <a:ext cx="18272169" cy="76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2759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The Care Plan is intended for ongoing maintenance and optimisation of the implemented system.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846312" y="18225230"/>
            <a:ext cx="17789290" cy="26956"/>
            <a:chOff x="0" y="0"/>
            <a:chExt cx="23719053" cy="359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886741" y="17143581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07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Care Plan Terms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6312" y="18545456"/>
            <a:ext cx="17756457" cy="303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1127" indent="-525564" lvl="1">
              <a:lnSpc>
                <a:spcPts val="5357"/>
              </a:lnSpc>
              <a:buFont typeface="Arial"/>
              <a:buChar char="•"/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Is optional.</a:t>
            </a:r>
          </a:p>
          <a:p>
            <a:pPr algn="l" marL="1051127" indent="-525564" lvl="1">
              <a:lnSpc>
                <a:spcPts val="5357"/>
              </a:lnSpc>
              <a:buFont typeface="Arial"/>
              <a:buChar char="•"/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Is billed monthly in advance.</a:t>
            </a:r>
          </a:p>
          <a:p>
            <a:pPr algn="l" marL="1051127" indent="-525564" lvl="1">
              <a:lnSpc>
                <a:spcPts val="5357"/>
              </a:lnSpc>
              <a:buFont typeface="Arial"/>
              <a:buChar char="•"/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Has no minimum fixed-term commitment.</a:t>
            </a:r>
          </a:p>
          <a:p>
            <a:pPr algn="l" marL="1051127" indent="-525564" lvl="1">
              <a:lnSpc>
                <a:spcPts val="5357"/>
              </a:lnSpc>
              <a:buFont typeface="Arial"/>
              <a:buChar char="•"/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Can be discontinued by either party with 30 days’ written notice.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05883" y="21908452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If the Client does not select the Care Plan, the completed implementation remains with the Client and can be managed internally.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6510" y="29260390"/>
            <a:ext cx="3208887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3854348"/>
            <a:ext cx="17789290" cy="26956"/>
            <a:chOff x="0" y="0"/>
            <a:chExt cx="23719053" cy="35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1286" y="2963332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08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Exclusions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1286" y="4150700"/>
            <a:ext cx="18272169" cy="83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Unless expressly added to this Commercial Proposal, the following are outside the agreed scope: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8939" y="5063871"/>
            <a:ext cx="12765475" cy="543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Paid advertising spend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Professional photography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Professional videography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Major website redesigns beyond the agreed implementation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Major new website functionality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New automation systems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New software systems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Services not expressly listed in this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1286" y="11303806"/>
            <a:ext cx="18272169" cy="76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2759">
                <a:solidFill>
                  <a:srgbClr val="6B7488"/>
                </a:solidFill>
                <a:latin typeface="Georgia"/>
                <a:ea typeface="Georgia"/>
                <a:cs typeface="Georgia"/>
                <a:sym typeface="Georgia"/>
              </a:rPr>
              <a:t>Any additional requirement will be separately scoped and approved before work begins.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05883" y="13273411"/>
            <a:ext cx="18297573" cy="12404010"/>
            <a:chOff x="0" y="0"/>
            <a:chExt cx="24396764" cy="1653868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10570912"/>
              <a:ext cx="23719053" cy="35941"/>
              <a:chOff x="0" y="0"/>
              <a:chExt cx="23719053" cy="3594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719028" cy="35941"/>
              </a:xfrm>
              <a:custGeom>
                <a:avLst/>
                <a:gdLst/>
                <a:ahLst/>
                <a:cxnLst/>
                <a:rect r="r" b="b" t="t" l="l"/>
                <a:pathLst>
                  <a:path h="35941" w="23719028">
                    <a:moveTo>
                      <a:pt x="0" y="0"/>
                    </a:moveTo>
                    <a:lnTo>
                      <a:pt x="23719028" y="0"/>
                    </a:lnTo>
                    <a:lnTo>
                      <a:pt x="23719028" y="35941"/>
                    </a:lnTo>
                    <a:lnTo>
                      <a:pt x="0" y="35941"/>
                    </a:lnTo>
                    <a:close/>
                  </a:path>
                </a:pathLst>
              </a:custGeom>
              <a:solidFill>
                <a:srgbClr val="E7EAF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1188021"/>
              <a:ext cx="23719053" cy="35941"/>
              <a:chOff x="0" y="0"/>
              <a:chExt cx="23719053" cy="359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3719028" cy="35941"/>
              </a:xfrm>
              <a:custGeom>
                <a:avLst/>
                <a:gdLst/>
                <a:ahLst/>
                <a:cxnLst/>
                <a:rect r="r" b="b" t="t" l="l"/>
                <a:pathLst>
                  <a:path h="35941" w="23719028">
                    <a:moveTo>
                      <a:pt x="0" y="0"/>
                    </a:moveTo>
                    <a:lnTo>
                      <a:pt x="23719028" y="0"/>
                    </a:lnTo>
                    <a:lnTo>
                      <a:pt x="23719028" y="35941"/>
                    </a:lnTo>
                    <a:lnTo>
                      <a:pt x="0" y="35941"/>
                    </a:lnTo>
                    <a:close/>
                  </a:path>
                </a:pathLst>
              </a:custGeom>
              <a:solidFill>
                <a:srgbClr val="E7EAF0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33871" y="0"/>
              <a:ext cx="24362893" cy="1010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8"/>
                </a:lnSpc>
              </a:pPr>
              <a:r>
                <a:rPr lang="en-US" sz="4032" b="true">
                  <a:solidFill>
                    <a:srgbClr val="17B3A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09 </a:t>
              </a:r>
              <a:r>
                <a:rPr lang="en-US" sz="4032" b="true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Client Responsibilities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3871" y="1627619"/>
              <a:ext cx="24362893" cy="242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9"/>
                </a:lnSpc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The Client will provide the information, content, images, project details, approvals and access required for implementation.</a:t>
              </a:r>
            </a:p>
            <a:p>
              <a:pPr algn="l">
                <a:lnSpc>
                  <a:spcPts val="4999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3871" y="4276403"/>
              <a:ext cx="24362893" cy="1588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9"/>
                </a:lnSpc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Required Client inputs should be provided within the period specified in the Master Terms &amp; Conditions.</a:t>
              </a:r>
            </a:p>
            <a:p>
              <a:pPr algn="l">
                <a:lnSpc>
                  <a:spcPts val="4999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3871" y="6086999"/>
              <a:ext cx="24362893" cy="1934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9"/>
                </a:lnSpc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Delays in providing required information, access or approvals may extend the implementation timeline.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3871" y="9382890"/>
              <a:ext cx="24362893" cy="1010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8"/>
                </a:lnSpc>
              </a:pPr>
              <a:r>
                <a:rPr lang="en-US" sz="4032" b="true">
                  <a:solidFill>
                    <a:srgbClr val="17B3A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10 </a:t>
              </a:r>
              <a:r>
                <a:rPr lang="en-US" sz="4032" b="true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Ownership &amp; Handover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3871" y="11010497"/>
              <a:ext cx="24362893" cy="1071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9"/>
                </a:lnSpc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Upon receipt of all implementation payments due: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97409" y="12194289"/>
              <a:ext cx="23675276" cy="3050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051127" indent="-525564" lvl="1">
                <a:lnSpc>
                  <a:spcPts val="5357"/>
                </a:lnSpc>
                <a:buFont typeface="Arial"/>
                <a:buChar char="•"/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Final Client-specific deliverables belong to the Client.</a:t>
              </a:r>
            </a:p>
            <a:p>
              <a:pPr algn="l" marL="1051127" indent="-525564" lvl="1">
                <a:lnSpc>
                  <a:spcPts val="5357"/>
                </a:lnSpc>
                <a:buFont typeface="Arial"/>
                <a:buChar char="•"/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Relevant access and handover information will be provided.</a:t>
              </a:r>
            </a:p>
            <a:p>
              <a:pPr algn="l" marL="1051127" indent="-525564" lvl="1">
                <a:lnSpc>
                  <a:spcPts val="5357"/>
                </a:lnSpc>
                <a:buFont typeface="Arial"/>
                <a:buChar char="•"/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Client-provided business and customer information remains the Client’s property.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871" y="15466800"/>
              <a:ext cx="24362893" cy="1071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9"/>
                </a:lnSpc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Third-party platforms and services remain subject to their respective terms and licensing conditions.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67252" y="29260390"/>
            <a:ext cx="3218155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5883" y="1994554"/>
            <a:ext cx="17789290" cy="26956"/>
            <a:chOff x="0" y="0"/>
            <a:chExt cx="23719053" cy="359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1286" y="1417453"/>
            <a:ext cx="3195828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LUMELUSH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2615" y="1417453"/>
            <a:ext cx="1201394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COMMERCIAL PROPOSAL — DIGITAL PRESENCE &amp; TRUST FOUNDATION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5883" y="3854348"/>
            <a:ext cx="17789290" cy="26956"/>
            <a:chOff x="0" y="0"/>
            <a:chExt cx="23719053" cy="359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31286" y="2963332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11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Master Terms &amp; Conditions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1286" y="4150700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This Commercial Proposal is governed by the </a:t>
            </a:r>
            <a:r>
              <a:rPr lang="en-US" sz="3078" b="true">
                <a:solidFill>
                  <a:srgbClr val="1B2A4A"/>
                </a:solidFill>
                <a:latin typeface="Georgia Bold"/>
                <a:ea typeface="Georgia Bold"/>
                <a:cs typeface="Georgia Bold"/>
                <a:sym typeface="Georgia Bold"/>
              </a:rPr>
              <a:t>Lumelush Studio Master Terms &amp; Conditions </a:t>
            </a: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, which cover: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4983" y="5577678"/>
            <a:ext cx="5383767" cy="338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Scope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Payment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Refunds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Client responsibilities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Timelines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1286" y="9568348"/>
            <a:ext cx="18272169" cy="59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 u="sng">
                <a:solidFill>
                  <a:srgbClr val="0B57E8"/>
                </a:solidFill>
                <a:latin typeface="Georgia"/>
                <a:ea typeface="Georgia"/>
                <a:cs typeface="Georgia"/>
                <a:sym typeface="Georgia"/>
                <a:hlinkClick xmlns:r="http://schemas.openxmlformats.org/officeDocument/2006/relationships" r:id="rId3"/>
              </a:rPr>
              <a:t>Master Terms &amp; Conditions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1286" y="10538670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The Master Terms and this Commercial Proposal together constitute the agreement for this engagement.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1286" y="12155881"/>
            <a:ext cx="18272169" cy="14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078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Where this proposal contains a package-specific commercial provision that differs from the Master Terms, this proposal governs for that specific provision.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805883" y="15606055"/>
            <a:ext cx="17789290" cy="26956"/>
            <a:chOff x="0" y="0"/>
            <a:chExt cx="23719053" cy="35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31286" y="14715039"/>
            <a:ext cx="18272169" cy="75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032" b="true">
                <a:solidFill>
                  <a:srgbClr val="17B3AC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12 </a:t>
            </a:r>
            <a:r>
              <a:rPr lang="en-US" sz="4032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Commercial Summary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92405" y="16104699"/>
            <a:ext cx="17816246" cy="5282879"/>
            <a:chOff x="0" y="0"/>
            <a:chExt cx="23754994" cy="7043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754969" cy="7043801"/>
            </a:xfrm>
            <a:custGeom>
              <a:avLst/>
              <a:gdLst/>
              <a:ahLst/>
              <a:cxnLst/>
              <a:rect r="r" b="b" t="t" l="l"/>
              <a:pathLst>
                <a:path h="7043801" w="23754969">
                  <a:moveTo>
                    <a:pt x="0" y="161671"/>
                  </a:moveTo>
                  <a:cubicBezTo>
                    <a:pt x="0" y="72390"/>
                    <a:pt x="72644" y="0"/>
                    <a:pt x="162179" y="0"/>
                  </a:cubicBezTo>
                  <a:lnTo>
                    <a:pt x="23592789" y="0"/>
                  </a:lnTo>
                  <a:lnTo>
                    <a:pt x="23592789" y="17907"/>
                  </a:lnTo>
                  <a:lnTo>
                    <a:pt x="23592789" y="0"/>
                  </a:lnTo>
                  <a:cubicBezTo>
                    <a:pt x="23682325" y="0"/>
                    <a:pt x="23754969" y="72390"/>
                    <a:pt x="23754969" y="161671"/>
                  </a:cubicBezTo>
                  <a:lnTo>
                    <a:pt x="23737061" y="161671"/>
                  </a:lnTo>
                  <a:lnTo>
                    <a:pt x="23754969" y="161671"/>
                  </a:lnTo>
                  <a:lnTo>
                    <a:pt x="23754969" y="6882130"/>
                  </a:lnTo>
                  <a:lnTo>
                    <a:pt x="23737061" y="6882130"/>
                  </a:lnTo>
                  <a:lnTo>
                    <a:pt x="23754969" y="6882130"/>
                  </a:lnTo>
                  <a:cubicBezTo>
                    <a:pt x="23754969" y="6971538"/>
                    <a:pt x="23682325" y="7043801"/>
                    <a:pt x="23592789" y="7043801"/>
                  </a:cubicBezTo>
                  <a:lnTo>
                    <a:pt x="23592789" y="7025894"/>
                  </a:lnTo>
                  <a:lnTo>
                    <a:pt x="23592789" y="7043801"/>
                  </a:lnTo>
                  <a:lnTo>
                    <a:pt x="162179" y="7043801"/>
                  </a:lnTo>
                  <a:lnTo>
                    <a:pt x="162179" y="7025894"/>
                  </a:lnTo>
                  <a:lnTo>
                    <a:pt x="162179" y="7043801"/>
                  </a:lnTo>
                  <a:cubicBezTo>
                    <a:pt x="72644" y="7043801"/>
                    <a:pt x="0" y="6971538"/>
                    <a:pt x="0" y="6882130"/>
                  </a:cubicBezTo>
                  <a:lnTo>
                    <a:pt x="0" y="161671"/>
                  </a:lnTo>
                  <a:lnTo>
                    <a:pt x="17907" y="161671"/>
                  </a:lnTo>
                  <a:lnTo>
                    <a:pt x="0" y="161671"/>
                  </a:lnTo>
                  <a:moveTo>
                    <a:pt x="35941" y="161671"/>
                  </a:moveTo>
                  <a:lnTo>
                    <a:pt x="35941" y="6882130"/>
                  </a:lnTo>
                  <a:lnTo>
                    <a:pt x="17907" y="6882130"/>
                  </a:lnTo>
                  <a:lnTo>
                    <a:pt x="35941" y="6882130"/>
                  </a:lnTo>
                  <a:cubicBezTo>
                    <a:pt x="35941" y="6951473"/>
                    <a:pt x="92456" y="7007861"/>
                    <a:pt x="162179" y="7007861"/>
                  </a:cubicBezTo>
                  <a:lnTo>
                    <a:pt x="23592789" y="7007861"/>
                  </a:lnTo>
                  <a:cubicBezTo>
                    <a:pt x="23662639" y="7007861"/>
                    <a:pt x="23719028" y="6951473"/>
                    <a:pt x="23719028" y="6882130"/>
                  </a:cubicBezTo>
                  <a:lnTo>
                    <a:pt x="23719028" y="161671"/>
                  </a:lnTo>
                  <a:cubicBezTo>
                    <a:pt x="23719028" y="92329"/>
                    <a:pt x="23662512" y="35941"/>
                    <a:pt x="23592789" y="35941"/>
                  </a:cubicBezTo>
                  <a:lnTo>
                    <a:pt x="162179" y="35941"/>
                  </a:lnTo>
                  <a:lnTo>
                    <a:pt x="162179" y="17907"/>
                  </a:lnTo>
                  <a:lnTo>
                    <a:pt x="162179" y="35941"/>
                  </a:lnTo>
                  <a:cubicBezTo>
                    <a:pt x="92329" y="35941"/>
                    <a:pt x="35941" y="92329"/>
                    <a:pt x="35941" y="161671"/>
                  </a:cubicBez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832839" y="16145123"/>
            <a:ext cx="17735379" cy="80858"/>
            <a:chOff x="0" y="0"/>
            <a:chExt cx="23647171" cy="1078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647146" cy="107823"/>
            </a:xfrm>
            <a:custGeom>
              <a:avLst/>
              <a:gdLst/>
              <a:ahLst/>
              <a:cxnLst/>
              <a:rect r="r" b="b" t="t" l="l"/>
              <a:pathLst>
                <a:path h="107823" w="23647146">
                  <a:moveTo>
                    <a:pt x="0" y="0"/>
                  </a:moveTo>
                  <a:lnTo>
                    <a:pt x="23647146" y="0"/>
                  </a:lnTo>
                  <a:lnTo>
                    <a:pt x="23647146" y="107823"/>
                  </a:lnTo>
                  <a:lnTo>
                    <a:pt x="0" y="107823"/>
                  </a:lnTo>
                  <a:close/>
                </a:path>
              </a:pathLst>
            </a:custGeom>
            <a:gradFill rotWithShape="true">
              <a:gsLst>
                <a:gs pos="0">
                  <a:srgbClr val="0B57E8">
                    <a:alpha val="100000"/>
                  </a:srgbClr>
                </a:gs>
                <a:gs pos="33333">
                  <a:srgbClr val="17B3AC">
                    <a:alpha val="100000"/>
                  </a:srgbClr>
                </a:gs>
                <a:gs pos="66667">
                  <a:srgbClr val="6FBF7F">
                    <a:alpha val="100000"/>
                  </a:srgbClr>
                </a:gs>
                <a:gs pos="100000">
                  <a:srgbClr val="14563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32839" y="16225990"/>
            <a:ext cx="17735379" cy="5121154"/>
            <a:chOff x="0" y="0"/>
            <a:chExt cx="23647171" cy="68282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647146" cy="6828155"/>
            </a:xfrm>
            <a:custGeom>
              <a:avLst/>
              <a:gdLst/>
              <a:ahLst/>
              <a:cxnLst/>
              <a:rect r="r" b="b" t="t" l="l"/>
              <a:pathLst>
                <a:path h="6828155" w="23647146">
                  <a:moveTo>
                    <a:pt x="0" y="0"/>
                  </a:moveTo>
                  <a:lnTo>
                    <a:pt x="23647146" y="0"/>
                  </a:lnTo>
                  <a:lnTo>
                    <a:pt x="23647146" y="6828155"/>
                  </a:lnTo>
                  <a:lnTo>
                    <a:pt x="0" y="6828155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32839" y="16225990"/>
            <a:ext cx="8854211" cy="3018787"/>
            <a:chOff x="0" y="0"/>
            <a:chExt cx="11805615" cy="40250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05666" cy="4025011"/>
            </a:xfrm>
            <a:custGeom>
              <a:avLst/>
              <a:gdLst/>
              <a:ahLst/>
              <a:cxnLst/>
              <a:rect r="r" b="b" t="t" l="l"/>
              <a:pathLst>
                <a:path h="4025011" w="11805666">
                  <a:moveTo>
                    <a:pt x="0" y="0"/>
                  </a:moveTo>
                  <a:lnTo>
                    <a:pt x="11805666" y="0"/>
                  </a:lnTo>
                  <a:lnTo>
                    <a:pt x="11805666" y="4025011"/>
                  </a:lnTo>
                  <a:lnTo>
                    <a:pt x="0" y="40250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397309" y="16727024"/>
            <a:ext cx="8502882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97309" y="17212189"/>
            <a:ext cx="8502882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Digital Presence &amp; Trust Foundation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97309" y="17895551"/>
            <a:ext cx="8502882" cy="94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2"/>
              </a:lnSpc>
            </a:pPr>
            <a:r>
              <a:rPr lang="en-US" sz="5093" b="true">
                <a:solidFill>
                  <a:srgbClr val="1B2A4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₹45,000 </a:t>
            </a:r>
            <a:r>
              <a:rPr lang="en-US" sz="5093" b="true">
                <a:solidFill>
                  <a:srgbClr val="6B748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one-time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14006" y="16225990"/>
            <a:ext cx="8854211" cy="3018787"/>
            <a:chOff x="0" y="0"/>
            <a:chExt cx="11805615" cy="40250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05666" cy="4025011"/>
            </a:xfrm>
            <a:custGeom>
              <a:avLst/>
              <a:gdLst/>
              <a:ahLst/>
              <a:cxnLst/>
              <a:rect r="r" b="b" t="t" l="l"/>
              <a:pathLst>
                <a:path h="4025011" w="11805666">
                  <a:moveTo>
                    <a:pt x="0" y="0"/>
                  </a:moveTo>
                  <a:lnTo>
                    <a:pt x="11805666" y="0"/>
                  </a:lnTo>
                  <a:lnTo>
                    <a:pt x="11805666" y="4025011"/>
                  </a:lnTo>
                  <a:lnTo>
                    <a:pt x="0" y="40250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278467" y="16727024"/>
            <a:ext cx="8502882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OPTIONAL CARE PLAN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78467" y="17212189"/>
            <a:ext cx="8502882" cy="5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5"/>
              </a:lnSpc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Ongoing maintenance &amp; optimisation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78467" y="17895551"/>
            <a:ext cx="8502882" cy="94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2"/>
              </a:lnSpc>
            </a:pPr>
            <a:r>
              <a:rPr lang="en-US" sz="5093" b="true">
                <a:solidFill>
                  <a:srgbClr val="14563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₹5,000 </a:t>
            </a:r>
            <a:r>
              <a:rPr lang="en-US" sz="5093" b="true">
                <a:solidFill>
                  <a:srgbClr val="6B748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/ month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832839" y="19271732"/>
            <a:ext cx="17735379" cy="2075421"/>
            <a:chOff x="0" y="0"/>
            <a:chExt cx="23647171" cy="27672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647146" cy="2767203"/>
            </a:xfrm>
            <a:custGeom>
              <a:avLst/>
              <a:gdLst/>
              <a:ahLst/>
              <a:cxnLst/>
              <a:rect r="r" b="b" t="t" l="l"/>
              <a:pathLst>
                <a:path h="2767203" w="23647146">
                  <a:moveTo>
                    <a:pt x="0" y="0"/>
                  </a:moveTo>
                  <a:lnTo>
                    <a:pt x="23647146" y="0"/>
                  </a:lnTo>
                  <a:lnTo>
                    <a:pt x="23647146" y="2767203"/>
                  </a:lnTo>
                  <a:lnTo>
                    <a:pt x="0" y="27672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397309" y="19772767"/>
            <a:ext cx="18272169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32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IMPLEMENTATION PAYMENT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97309" y="20124582"/>
            <a:ext cx="17106167" cy="81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2971">
                <a:solidFill>
                  <a:srgbClr val="2F3A4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₹</a:t>
            </a: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27,000 — 60% advance · </a:t>
            </a:r>
            <a:r>
              <a:rPr lang="en-US" sz="2971">
                <a:solidFill>
                  <a:srgbClr val="2F3A4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₹</a:t>
            </a: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18,000 — 40% on completion and sign-off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805883" y="28948028"/>
            <a:ext cx="17789290" cy="26956"/>
            <a:chOff x="0" y="0"/>
            <a:chExt cx="23719053" cy="359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719028" cy="35941"/>
            </a:xfrm>
            <a:custGeom>
              <a:avLst/>
              <a:gdLst/>
              <a:ahLst/>
              <a:cxnLst/>
              <a:rect r="r" b="b" t="t" l="l"/>
              <a:pathLst>
                <a:path h="35941" w="23719028">
                  <a:moveTo>
                    <a:pt x="0" y="0"/>
                  </a:moveTo>
                  <a:lnTo>
                    <a:pt x="23719028" y="0"/>
                  </a:lnTo>
                  <a:lnTo>
                    <a:pt x="2371902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E7EAF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831286" y="29260390"/>
            <a:ext cx="5342506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contact@lumelush.com · +91 81059 93165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83254" y="29260390"/>
            <a:ext cx="3202143" cy="3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282">
                <a:solidFill>
                  <a:srgbClr val="8A93A6"/>
                </a:solidFill>
                <a:latin typeface="Georgia"/>
                <a:ea typeface="Georgia"/>
                <a:cs typeface="Georgia"/>
                <a:sym typeface="Georgia"/>
              </a:rPr>
              <a:t>CONFIDENTIAL · 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93018" y="5577678"/>
            <a:ext cx="5748705" cy="338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Revisions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Care Plans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Third-party services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Data handling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Ownership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89523" y="5577678"/>
            <a:ext cx="4492940" cy="338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312" indent="-507156" lvl="1">
              <a:lnSpc>
                <a:spcPts val="5431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onfidentiality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Performance</a:t>
            </a:r>
          </a:p>
          <a:p>
            <a:pPr algn="l" marL="1014312" indent="-507156" lvl="1">
              <a:lnSpc>
                <a:spcPts val="5431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Termination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Liability</a:t>
            </a:r>
          </a:p>
          <a:p>
            <a:pPr algn="l" marL="1014414" indent="-507207" lvl="1">
              <a:lnSpc>
                <a:spcPts val="5432"/>
              </a:lnSpc>
              <a:buFont typeface="Arial"/>
              <a:buChar char="•"/>
            </a:pPr>
            <a:r>
              <a:rPr lang="en-US" sz="2971">
                <a:solidFill>
                  <a:srgbClr val="2F3A4F"/>
                </a:solidFill>
                <a:latin typeface="Georgia"/>
                <a:ea typeface="Georgia"/>
                <a:cs typeface="Georgia"/>
                <a:sym typeface="Georgia"/>
              </a:rPr>
              <a:t>Governing law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751405" y="22063853"/>
            <a:ext cx="18297573" cy="2671496"/>
            <a:chOff x="0" y="0"/>
            <a:chExt cx="24396764" cy="3561994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1188022"/>
              <a:ext cx="23719053" cy="35941"/>
              <a:chOff x="0" y="0"/>
              <a:chExt cx="23719053" cy="3594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3719028" cy="35941"/>
              </a:xfrm>
              <a:custGeom>
                <a:avLst/>
                <a:gdLst/>
                <a:ahLst/>
                <a:cxnLst/>
                <a:rect r="r" b="b" t="t" l="l"/>
                <a:pathLst>
                  <a:path h="35941" w="23719028">
                    <a:moveTo>
                      <a:pt x="0" y="0"/>
                    </a:moveTo>
                    <a:lnTo>
                      <a:pt x="23719028" y="0"/>
                    </a:lnTo>
                    <a:lnTo>
                      <a:pt x="23719028" y="35941"/>
                    </a:lnTo>
                    <a:lnTo>
                      <a:pt x="0" y="35941"/>
                    </a:lnTo>
                    <a:close/>
                  </a:path>
                </a:pathLst>
              </a:custGeom>
              <a:solidFill>
                <a:srgbClr val="E7EAF0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33871" y="0"/>
              <a:ext cx="24362893" cy="1010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38"/>
                </a:lnSpc>
              </a:pPr>
              <a:r>
                <a:rPr lang="en-US" sz="4032" b="true">
                  <a:solidFill>
                    <a:srgbClr val="17B3AC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13 </a:t>
              </a:r>
              <a:r>
                <a:rPr lang="en-US" sz="4032" b="true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Project Confirmation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3871" y="1627607"/>
              <a:ext cx="24362893" cy="1934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99"/>
                </a:lnSpc>
              </a:pPr>
              <a:r>
                <a:rPr lang="en-US" sz="3078">
                  <a:solidFill>
                    <a:srgbClr val="2F3A4F"/>
                  </a:solidFill>
                  <a:latin typeface="Georgia"/>
                  <a:ea typeface="Georgia"/>
                  <a:cs typeface="Georgia"/>
                  <a:sym typeface="Georgia"/>
                </a:rPr>
                <a:t>Upon acceptance of this proposal and receipt of the implementation advance, Lumelush Studio will initiate onboarding and implementation.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51405" y="26640349"/>
            <a:ext cx="17789290" cy="1299593"/>
            <a:chOff x="0" y="0"/>
            <a:chExt cx="23719053" cy="1732791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23719053" cy="107810"/>
              <a:chOff x="0" y="0"/>
              <a:chExt cx="23719053" cy="10781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3719028" cy="107696"/>
              </a:xfrm>
              <a:custGeom>
                <a:avLst/>
                <a:gdLst/>
                <a:ahLst/>
                <a:cxnLst/>
                <a:rect r="r" b="b" t="t" l="l"/>
                <a:pathLst>
                  <a:path h="107696" w="23719028">
                    <a:moveTo>
                      <a:pt x="0" y="53848"/>
                    </a:moveTo>
                    <a:cubicBezTo>
                      <a:pt x="0" y="24130"/>
                      <a:pt x="24130" y="0"/>
                      <a:pt x="53848" y="0"/>
                    </a:cubicBezTo>
                    <a:lnTo>
                      <a:pt x="23665180" y="0"/>
                    </a:lnTo>
                    <a:cubicBezTo>
                      <a:pt x="23694898" y="0"/>
                      <a:pt x="23719028" y="24130"/>
                      <a:pt x="23719028" y="53848"/>
                    </a:cubicBezTo>
                    <a:cubicBezTo>
                      <a:pt x="23719028" y="83566"/>
                      <a:pt x="23694898" y="107696"/>
                      <a:pt x="23665180" y="107696"/>
                    </a:cubicBezTo>
                    <a:lnTo>
                      <a:pt x="53848" y="107696"/>
                    </a:lnTo>
                    <a:cubicBezTo>
                      <a:pt x="24130" y="107823"/>
                      <a:pt x="0" y="83693"/>
                      <a:pt x="0" y="5384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B57E8">
                      <a:alpha val="100000"/>
                    </a:srgbClr>
                  </a:gs>
                  <a:gs pos="45000">
                    <a:srgbClr val="17B3AC">
                      <a:alpha val="100000"/>
                    </a:srgbClr>
                  </a:gs>
                  <a:gs pos="72000">
                    <a:srgbClr val="6FBF7F">
                      <a:alpha val="100000"/>
                    </a:srgbClr>
                  </a:gs>
                  <a:gs pos="100000">
                    <a:srgbClr val="14563F">
                      <a:alpha val="100000"/>
                    </a:srgbClr>
                  </a:gs>
                </a:gsLst>
                <a:lin ang="0"/>
              </a:grad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830202"/>
              <a:ext cx="5280165" cy="902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4"/>
                </a:lnSpc>
              </a:pPr>
              <a:r>
                <a:rPr lang="en-US" b="true" sz="3395" spc="67">
                  <a:solidFill>
                    <a:srgbClr val="1B2A4A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Lumelush Studio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9936499" y="489082"/>
              <a:ext cx="13782555" cy="586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851"/>
                </a:lnSpc>
              </a:pPr>
              <a:r>
                <a:rPr lang="en-US" sz="2442" i="true">
                  <a:solidFill>
                    <a:srgbClr val="8A93A6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This document is a commercial proposal and scope confirmation.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DAHTUvA5D9g</dc:identifier>
  <dcterms:modified xsi:type="dcterms:W3CDTF">2011-08-01T06:04:30Z</dcterms:modified>
  <cp:revision>1</cp:revision>
  <dc:title>Lumelush_-_Digital_Presence___Trust_Foundation__A4_.pptx</dc:title>
</cp:coreProperties>
</file>