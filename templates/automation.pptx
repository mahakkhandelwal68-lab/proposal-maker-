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21374100" cy="30276800"/>
  <p:notesSz cx="6858000" cy="9144000"/>
  <p:embeddedFontLst>
    <p:embeddedFont>
      <p:font typeface="Playfair Display" charset="1" panose="00000000000000000000"/>
      <p:regular r:id="rId27"/>
    </p:embeddedFont>
    <p:embeddedFont>
      <p:font typeface="Georgia" charset="1" panose="02040502050405020303"/>
      <p:regular r:id="rId28"/>
    </p:embeddedFont>
    <p:embeddedFont>
      <p:font typeface="Playfair Display Bold" charset="1" panose="00000000000000000000"/>
      <p:regular r:id="rId29"/>
    </p:embeddedFont>
    <p:embeddedFont>
      <p:font typeface="Georgia Italics" charset="1" panose="02040502050405090303"/>
      <p:regular r:id="rId30"/>
    </p:embeddedFont>
    <p:embeddedFont>
      <p:font typeface="Georgia Bold" charset="1" panose="02040802050405020203"/>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notesMasters/notesMaster1.xml" Type="http://schemas.openxmlformats.org/officeDocument/2006/relationships/notesMaster"/><Relationship Id="rId25" Target="theme/theme2.xml" Type="http://schemas.openxmlformats.org/officeDocument/2006/relationships/theme"/><Relationship Id="rId26" Target="notesSlides/notesSlide1.xml" Type="http://schemas.openxmlformats.org/officeDocument/2006/relationships/note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notesSlides/notesSlide2.xml" Type="http://schemas.openxmlformats.org/officeDocument/2006/relationships/notesSlide"/><Relationship Id="rId32" Target="notesSlides/notesSlide3.xml" Type="http://schemas.openxmlformats.org/officeDocument/2006/relationships/notesSlide"/><Relationship Id="rId33" Target="notesSlides/notesSlide4.xml" Type="http://schemas.openxmlformats.org/officeDocument/2006/relationships/notesSlide"/><Relationship Id="rId34" Target="notesSlides/notesSlide5.xml" Type="http://schemas.openxmlformats.org/officeDocument/2006/relationships/notesSlide"/><Relationship Id="rId35" Target="notesSlides/notesSlide6.xml" Type="http://schemas.openxmlformats.org/officeDocument/2006/relationships/notesSlide"/><Relationship Id="rId36" Target="notesSlides/notesSlide7.xml" Type="http://schemas.openxmlformats.org/officeDocument/2006/relationships/notesSlide"/><Relationship Id="rId37" Target="notesSlides/notesSlide8.xml" Type="http://schemas.openxmlformats.org/officeDocument/2006/relationships/notesSlide"/><Relationship Id="rId38" Target="notesSlides/notesSlide9.xml" Type="http://schemas.openxmlformats.org/officeDocument/2006/relationships/notesSlide"/><Relationship Id="rId39" Target="notesSlides/notesSlide10.xml" Type="http://schemas.openxmlformats.org/officeDocument/2006/relationships/notesSlide"/><Relationship Id="rId4" Target="theme/theme1.xml" Type="http://schemas.openxmlformats.org/officeDocument/2006/relationships/theme"/><Relationship Id="rId40" Target="notesSlides/notesSlide11.xml" Type="http://schemas.openxmlformats.org/officeDocument/2006/relationships/notesSlide"/><Relationship Id="rId41" Target="fonts/font41.fntdata" Type="http://schemas.openxmlformats.org/officeDocument/2006/relationships/font"/><Relationship Id="rId42" Target="notesSlides/notesSlide12.xml" Type="http://schemas.openxmlformats.org/officeDocument/2006/relationships/notesSlide"/><Relationship Id="rId43" Target="notesSlides/notesSlide13.xml" Type="http://schemas.openxmlformats.org/officeDocument/2006/relationships/notesSlide"/><Relationship Id="rId44" Target="notesSlides/notesSlide14.xml" Type="http://schemas.openxmlformats.org/officeDocument/2006/relationships/notesSlide"/><Relationship Id="rId45" Target="notesSlides/notesSlide15.xml" Type="http://schemas.openxmlformats.org/officeDocument/2006/relationships/notesSlide"/><Relationship Id="rId46" Target="notesSlides/notesSlide16.xml" Type="http://schemas.openxmlformats.org/officeDocument/2006/relationships/notesSlide"/><Relationship Id="rId47" Target="notesSlides/notesSlide17.xml" Type="http://schemas.openxmlformats.org/officeDocument/2006/relationships/notesSlide"/><Relationship Id="rId48" Target="notesSlides/notesSlide18.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Open with the outcome: one system that generates opportunities and removes repetitive manual work.</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Two objectives: build the growth system, and reduce repetitive manual work.</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Three pillars of the growth system — all included in the implementation.</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Included at no additional cost where the client lacks a digital foundation.</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Custom CRM built around their sales process, not a generic template.</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Proposals and quotations generated in minutes, in a standard format.</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core of the engagement — we map their real workflow before automating anything.</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Walk the example chain end to end — one enquiry, no manual handoffs.</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Clarify the boundary: their team uses the CRM; we maintain the technology.</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What they actually own at handover.</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Six to eight weeks; sequence flexes with access and availability.</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Optional, month-to-month: growth execution plus system maintenance.</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Be explicit: capacity is generation capacity, not a revenue guarantee.</a:t>
            </a:r>
          </a:p>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Infrastructure renewal after 12 months is separate; explain what happens without the Care Plan.</a:t>
            </a:r>
          </a:p>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60/40 on implementation; Care Plan billed monthly in advance, 30 days' notice.</a:t>
            </a:r>
          </a:p>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Set expectations on what is out of scope and what we need from them.</a:t>
            </a:r>
          </a:p>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Client owns their deliverables and data; Master Terms govern the engagement.</a:t>
            </a:r>
          </a:p>
          <a:p>
            <a:r>
              <a:rPr lang="en-US"/>
              <a:t>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Close on the numbers and ask for the signature.</a:t>
            </a:r>
          </a:p>
          <a:p>
            <a:r>
              <a:rPr lang="en-US"/>
              <a:t>18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2.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2.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ype="http://schemas.openxmlformats.org/officeDocument/2006/relationships/hyperlink" Target="https://lumelush-terms-mahakkhandelwal68-3907s-projects.vercel.app" TargetMode="External"/></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2.jpeg" Type="http://schemas.openxmlformats.org/officeDocument/2006/relationships/image"/><Relationship Id="rId4"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21401056" cy="215627"/>
            <a:chOff x="0" y="0"/>
            <a:chExt cx="28534741" cy="287503"/>
          </a:xfrm>
        </p:grpSpPr>
        <p:sp>
          <p:nvSpPr>
            <p:cNvPr name="Freeform 3" id="3"/>
            <p:cNvSpPr/>
            <p:nvPr/>
          </p:nvSpPr>
          <p:spPr>
            <a:xfrm flipH="false" flipV="false" rot="0">
              <a:off x="0" y="0"/>
              <a:ext cx="28534742" cy="287528"/>
            </a:xfrm>
            <a:custGeom>
              <a:avLst/>
              <a:gdLst/>
              <a:ahLst/>
              <a:cxnLst/>
              <a:rect r="r" b="b" t="t" l="l"/>
              <a:pathLst>
                <a:path h="287528" w="28534742">
                  <a:moveTo>
                    <a:pt x="0" y="0"/>
                  </a:moveTo>
                  <a:lnTo>
                    <a:pt x="28534742" y="0"/>
                  </a:lnTo>
                  <a:lnTo>
                    <a:pt x="28534742" y="287528"/>
                  </a:lnTo>
                  <a:lnTo>
                    <a:pt x="0" y="287528"/>
                  </a:lnTo>
                  <a:close/>
                </a:path>
              </a:pathLst>
            </a:custGeom>
            <a:gradFill rotWithShape="true">
              <a:gsLst>
                <a:gs pos="0">
                  <a:srgbClr val="1546E0">
                    <a:alpha val="100000"/>
                  </a:srgbClr>
                </a:gs>
                <a:gs pos="50000">
                  <a:srgbClr val="16B3A8">
                    <a:alpha val="100000"/>
                  </a:srgbClr>
                </a:gs>
                <a:gs pos="100000">
                  <a:srgbClr val="2E7D5B">
                    <a:alpha val="100000"/>
                  </a:srgbClr>
                </a:gs>
              </a:gsLst>
              <a:lin ang="0"/>
            </a:gradFill>
          </p:spPr>
        </p:sp>
      </p:grpSp>
      <p:grpSp>
        <p:nvGrpSpPr>
          <p:cNvPr name="Group 4" id="4"/>
          <p:cNvGrpSpPr/>
          <p:nvPr/>
        </p:nvGrpSpPr>
        <p:grpSpPr>
          <a:xfrm rot="0">
            <a:off x="1725025" y="2264092"/>
            <a:ext cx="2479719" cy="2479719"/>
            <a:chOff x="0" y="0"/>
            <a:chExt cx="3306293" cy="3306293"/>
          </a:xfrm>
        </p:grpSpPr>
        <p:sp>
          <p:nvSpPr>
            <p:cNvPr name="Freeform 5" id="5" descr="preencoded.png"/>
            <p:cNvSpPr/>
            <p:nvPr/>
          </p:nvSpPr>
          <p:spPr>
            <a:xfrm flipH="false" flipV="false" rot="0">
              <a:off x="0" y="0"/>
              <a:ext cx="3306318" cy="3306318"/>
            </a:xfrm>
            <a:custGeom>
              <a:avLst/>
              <a:gdLst/>
              <a:ahLst/>
              <a:cxnLst/>
              <a:rect r="r" b="b" t="t" l="l"/>
              <a:pathLst>
                <a:path h="3306318" w="3306318">
                  <a:moveTo>
                    <a:pt x="0" y="0"/>
                  </a:moveTo>
                  <a:lnTo>
                    <a:pt x="3306318" y="0"/>
                  </a:lnTo>
                  <a:lnTo>
                    <a:pt x="3306318" y="3306318"/>
                  </a:lnTo>
                  <a:lnTo>
                    <a:pt x="0" y="3306318"/>
                  </a:lnTo>
                  <a:lnTo>
                    <a:pt x="0" y="0"/>
                  </a:lnTo>
                  <a:close/>
                </a:path>
              </a:pathLst>
            </a:custGeom>
            <a:blipFill>
              <a:blip r:embed="rId3"/>
              <a:stretch>
                <a:fillRect l="0" t="0" r="0" b="0"/>
              </a:stretch>
            </a:blipFill>
          </p:spPr>
        </p:sp>
      </p:grpSp>
      <p:sp>
        <p:nvSpPr>
          <p:cNvPr name="TextBox 6" id="6"/>
          <p:cNvSpPr txBox="true"/>
          <p:nvPr/>
        </p:nvSpPr>
        <p:spPr>
          <a:xfrm rot="0">
            <a:off x="4769206" y="2815085"/>
            <a:ext cx="5440718" cy="946480"/>
          </a:xfrm>
          <a:prstGeom prst="rect">
            <a:avLst/>
          </a:prstGeom>
        </p:spPr>
        <p:txBody>
          <a:bodyPr anchor="t" rtlCol="false" tIns="0" lIns="0" bIns="0" rIns="0">
            <a:spAutoFit/>
          </a:bodyPr>
          <a:lstStyle/>
          <a:p>
            <a:pPr algn="l">
              <a:lnSpc>
                <a:spcPts val="6112"/>
              </a:lnSpc>
            </a:pPr>
            <a:r>
              <a:rPr lang="en-US" sz="5093" spc="1528">
                <a:solidFill>
                  <a:srgbClr val="1B2A44"/>
                </a:solidFill>
                <a:latin typeface="Playfair Display"/>
                <a:ea typeface="Playfair Display"/>
                <a:cs typeface="Playfair Display"/>
                <a:sym typeface="Playfair Display"/>
              </a:rPr>
              <a:t>LUMELUSH</a:t>
            </a:r>
          </a:p>
        </p:txBody>
      </p:sp>
      <p:sp>
        <p:nvSpPr>
          <p:cNvPr name="TextBox 7" id="7"/>
          <p:cNvSpPr txBox="true"/>
          <p:nvPr/>
        </p:nvSpPr>
        <p:spPr>
          <a:xfrm rot="0">
            <a:off x="4769206" y="3829793"/>
            <a:ext cx="5440718" cy="470840"/>
          </a:xfrm>
          <a:prstGeom prst="rect">
            <a:avLst/>
          </a:prstGeom>
        </p:spPr>
        <p:txBody>
          <a:bodyPr anchor="t" rtlCol="false" tIns="0" lIns="0" bIns="0" rIns="0">
            <a:spAutoFit/>
          </a:bodyPr>
          <a:lstStyle/>
          <a:p>
            <a:pPr algn="l">
              <a:lnSpc>
                <a:spcPts val="3056"/>
              </a:lnSpc>
            </a:pPr>
            <a:r>
              <a:rPr lang="en-US" sz="2546" spc="1120">
                <a:solidFill>
                  <a:srgbClr val="7C8CA4"/>
                </a:solidFill>
                <a:latin typeface="Georgia"/>
                <a:ea typeface="Georgia"/>
                <a:cs typeface="Georgia"/>
                <a:sym typeface="Georgia"/>
              </a:rPr>
              <a:t>STUDIO</a:t>
            </a:r>
          </a:p>
        </p:txBody>
      </p:sp>
      <p:sp>
        <p:nvSpPr>
          <p:cNvPr name="TextBox 8" id="8"/>
          <p:cNvSpPr txBox="true"/>
          <p:nvPr/>
        </p:nvSpPr>
        <p:spPr>
          <a:xfrm rot="0">
            <a:off x="1750419" y="6484706"/>
            <a:ext cx="19695309" cy="443884"/>
          </a:xfrm>
          <a:prstGeom prst="rect">
            <a:avLst/>
          </a:prstGeom>
        </p:spPr>
        <p:txBody>
          <a:bodyPr anchor="t" rtlCol="false" tIns="0" lIns="0" bIns="0" rIns="0">
            <a:spAutoFit/>
          </a:bodyPr>
          <a:lstStyle/>
          <a:p>
            <a:pPr algn="l">
              <a:lnSpc>
                <a:spcPts val="2801"/>
              </a:lnSpc>
            </a:pPr>
            <a:r>
              <a:rPr lang="en-US" sz="2334" spc="466">
                <a:solidFill>
                  <a:srgbClr val="8494AB"/>
                </a:solidFill>
                <a:latin typeface="Georgia"/>
                <a:ea typeface="Georgia"/>
                <a:cs typeface="Georgia"/>
                <a:sym typeface="Georgia"/>
              </a:rPr>
              <a:t>COMMERCIAL PROPOSAL</a:t>
            </a:r>
          </a:p>
        </p:txBody>
      </p:sp>
      <p:sp>
        <p:nvSpPr>
          <p:cNvPr name="TextBox 9" id="9"/>
          <p:cNvSpPr txBox="true"/>
          <p:nvPr/>
        </p:nvSpPr>
        <p:spPr>
          <a:xfrm rot="0">
            <a:off x="1750419" y="7632964"/>
            <a:ext cx="18438743" cy="3015205"/>
          </a:xfrm>
          <a:prstGeom prst="rect">
            <a:avLst/>
          </a:prstGeom>
        </p:spPr>
        <p:txBody>
          <a:bodyPr anchor="t" rtlCol="false" tIns="0" lIns="0" bIns="0" rIns="0">
            <a:spAutoFit/>
          </a:bodyPr>
          <a:lstStyle/>
          <a:p>
            <a:pPr algn="l">
              <a:lnSpc>
                <a:spcPts val="11349"/>
              </a:lnSpc>
            </a:pPr>
            <a:r>
              <a:rPr lang="en-US" sz="11885" b="true">
                <a:solidFill>
                  <a:srgbClr val="1B2A44"/>
                </a:solidFill>
                <a:latin typeface="Playfair Display Bold"/>
                <a:ea typeface="Playfair Display Bold"/>
                <a:cs typeface="Playfair Display Bold"/>
                <a:sym typeface="Playfair Display Bold"/>
              </a:rPr>
              <a:t>Business Growth + Automation System</a:t>
            </a:r>
          </a:p>
        </p:txBody>
      </p:sp>
      <p:sp>
        <p:nvSpPr>
          <p:cNvPr name="TextBox 10" id="10"/>
          <p:cNvSpPr txBox="true"/>
          <p:nvPr/>
        </p:nvSpPr>
        <p:spPr>
          <a:xfrm rot="0">
            <a:off x="1750419" y="10908116"/>
            <a:ext cx="14385474" cy="2516267"/>
          </a:xfrm>
          <a:prstGeom prst="rect">
            <a:avLst/>
          </a:prstGeom>
        </p:spPr>
        <p:txBody>
          <a:bodyPr anchor="t" rtlCol="false" tIns="0" lIns="0" bIns="0" rIns="0">
            <a:spAutoFit/>
          </a:bodyPr>
          <a:lstStyle/>
          <a:p>
            <a:pPr algn="l">
              <a:lnSpc>
                <a:spcPts val="6154"/>
              </a:lnSpc>
            </a:pPr>
            <a:r>
              <a:rPr lang="en-US" sz="4244" i="true">
                <a:solidFill>
                  <a:srgbClr val="2E7D5B"/>
                </a:solidFill>
                <a:latin typeface="Georgia Italics"/>
                <a:ea typeface="Georgia Italics"/>
                <a:cs typeface="Georgia Italics"/>
                <a:sym typeface="Georgia Italics"/>
              </a:rPr>
              <a:t>Opportunity generation, a custom CRM, AI sales tools and workflow automation — built around how your business actually works.</a:t>
            </a:r>
          </a:p>
        </p:txBody>
      </p:sp>
      <p:grpSp>
        <p:nvGrpSpPr>
          <p:cNvPr name="Group 11" id="11"/>
          <p:cNvGrpSpPr/>
          <p:nvPr/>
        </p:nvGrpSpPr>
        <p:grpSpPr>
          <a:xfrm rot="0">
            <a:off x="1725025" y="25039768"/>
            <a:ext cx="8759876" cy="26956"/>
            <a:chOff x="0" y="0"/>
            <a:chExt cx="11679834" cy="35941"/>
          </a:xfrm>
        </p:grpSpPr>
        <p:sp>
          <p:nvSpPr>
            <p:cNvPr name="Freeform 12" id="12"/>
            <p:cNvSpPr/>
            <p:nvPr/>
          </p:nvSpPr>
          <p:spPr>
            <a:xfrm flipH="false" flipV="false" rot="0">
              <a:off x="0" y="0"/>
              <a:ext cx="11679809" cy="35941"/>
            </a:xfrm>
            <a:custGeom>
              <a:avLst/>
              <a:gdLst/>
              <a:ahLst/>
              <a:cxnLst/>
              <a:rect r="r" b="b" t="t" l="l"/>
              <a:pathLst>
                <a:path h="35941" w="11679809">
                  <a:moveTo>
                    <a:pt x="0" y="0"/>
                  </a:moveTo>
                  <a:lnTo>
                    <a:pt x="11679809" y="0"/>
                  </a:lnTo>
                  <a:lnTo>
                    <a:pt x="11679809" y="35941"/>
                  </a:lnTo>
                  <a:lnTo>
                    <a:pt x="0" y="35941"/>
                  </a:lnTo>
                  <a:close/>
                </a:path>
              </a:pathLst>
            </a:custGeom>
            <a:solidFill>
              <a:srgbClr val="E2E8F1"/>
            </a:solidFill>
          </p:spPr>
        </p:sp>
      </p:grpSp>
      <p:grpSp>
        <p:nvGrpSpPr>
          <p:cNvPr name="Group 13" id="13"/>
          <p:cNvGrpSpPr/>
          <p:nvPr/>
        </p:nvGrpSpPr>
        <p:grpSpPr>
          <a:xfrm rot="0">
            <a:off x="1725025" y="21913167"/>
            <a:ext cx="8759876" cy="80858"/>
            <a:chOff x="0" y="0"/>
            <a:chExt cx="11679834" cy="107810"/>
          </a:xfrm>
        </p:grpSpPr>
        <p:sp>
          <p:nvSpPr>
            <p:cNvPr name="Freeform 14" id="14"/>
            <p:cNvSpPr/>
            <p:nvPr/>
          </p:nvSpPr>
          <p:spPr>
            <a:xfrm flipH="false" flipV="false" rot="0">
              <a:off x="0" y="0"/>
              <a:ext cx="11679809" cy="107823"/>
            </a:xfrm>
            <a:custGeom>
              <a:avLst/>
              <a:gdLst/>
              <a:ahLst/>
              <a:cxnLst/>
              <a:rect r="r" b="b" t="t" l="l"/>
              <a:pathLst>
                <a:path h="107823" w="11679809">
                  <a:moveTo>
                    <a:pt x="0" y="0"/>
                  </a:moveTo>
                  <a:lnTo>
                    <a:pt x="11679809" y="0"/>
                  </a:lnTo>
                  <a:lnTo>
                    <a:pt x="11679809" y="107823"/>
                  </a:lnTo>
                  <a:lnTo>
                    <a:pt x="0" y="107823"/>
                  </a:lnTo>
                  <a:close/>
                </a:path>
              </a:pathLst>
            </a:custGeom>
            <a:solidFill>
              <a:srgbClr val="1546E0"/>
            </a:solidFill>
          </p:spPr>
        </p:sp>
      </p:grpSp>
      <p:grpSp>
        <p:nvGrpSpPr>
          <p:cNvPr name="Group 15" id="15"/>
          <p:cNvGrpSpPr/>
          <p:nvPr/>
        </p:nvGrpSpPr>
        <p:grpSpPr>
          <a:xfrm rot="0">
            <a:off x="1725025" y="21913167"/>
            <a:ext cx="26956" cy="3153556"/>
            <a:chOff x="0" y="0"/>
            <a:chExt cx="35941" cy="4204741"/>
          </a:xfrm>
        </p:grpSpPr>
        <p:sp>
          <p:nvSpPr>
            <p:cNvPr name="Freeform 16" id="16"/>
            <p:cNvSpPr/>
            <p:nvPr/>
          </p:nvSpPr>
          <p:spPr>
            <a:xfrm flipH="false" flipV="false" rot="0">
              <a:off x="0" y="0"/>
              <a:ext cx="35941" cy="4204716"/>
            </a:xfrm>
            <a:custGeom>
              <a:avLst/>
              <a:gdLst/>
              <a:ahLst/>
              <a:cxnLst/>
              <a:rect r="r" b="b" t="t" l="l"/>
              <a:pathLst>
                <a:path h="4204716" w="35941">
                  <a:moveTo>
                    <a:pt x="0" y="0"/>
                  </a:moveTo>
                  <a:lnTo>
                    <a:pt x="35941" y="0"/>
                  </a:lnTo>
                  <a:lnTo>
                    <a:pt x="35941" y="4204716"/>
                  </a:lnTo>
                  <a:lnTo>
                    <a:pt x="0" y="4204716"/>
                  </a:lnTo>
                  <a:close/>
                </a:path>
              </a:pathLst>
            </a:custGeom>
            <a:solidFill>
              <a:srgbClr val="E2E8F1"/>
            </a:solidFill>
          </p:spPr>
        </p:sp>
      </p:grpSp>
      <p:grpSp>
        <p:nvGrpSpPr>
          <p:cNvPr name="Group 17" id="17"/>
          <p:cNvGrpSpPr/>
          <p:nvPr/>
        </p:nvGrpSpPr>
        <p:grpSpPr>
          <a:xfrm rot="0">
            <a:off x="10457945" y="21913167"/>
            <a:ext cx="26956" cy="3153556"/>
            <a:chOff x="0" y="0"/>
            <a:chExt cx="35941" cy="4204741"/>
          </a:xfrm>
        </p:grpSpPr>
        <p:sp>
          <p:nvSpPr>
            <p:cNvPr name="Freeform 18" id="18"/>
            <p:cNvSpPr/>
            <p:nvPr/>
          </p:nvSpPr>
          <p:spPr>
            <a:xfrm flipH="false" flipV="false" rot="0">
              <a:off x="0" y="0"/>
              <a:ext cx="35941" cy="4204716"/>
            </a:xfrm>
            <a:custGeom>
              <a:avLst/>
              <a:gdLst/>
              <a:ahLst/>
              <a:cxnLst/>
              <a:rect r="r" b="b" t="t" l="l"/>
              <a:pathLst>
                <a:path h="4204716" w="35941">
                  <a:moveTo>
                    <a:pt x="0" y="0"/>
                  </a:moveTo>
                  <a:lnTo>
                    <a:pt x="35941" y="0"/>
                  </a:lnTo>
                  <a:lnTo>
                    <a:pt x="35941" y="4204716"/>
                  </a:lnTo>
                  <a:lnTo>
                    <a:pt x="0" y="4204716"/>
                  </a:lnTo>
                  <a:close/>
                </a:path>
              </a:pathLst>
            </a:custGeom>
            <a:solidFill>
              <a:srgbClr val="E2E8F1"/>
            </a:solidFill>
          </p:spPr>
        </p:sp>
      </p:grpSp>
      <p:sp>
        <p:nvSpPr>
          <p:cNvPr name="TextBox 19" id="19"/>
          <p:cNvSpPr txBox="true"/>
          <p:nvPr/>
        </p:nvSpPr>
        <p:spPr>
          <a:xfrm rot="0">
            <a:off x="2370353" y="22548971"/>
            <a:ext cx="8221218" cy="389982"/>
          </a:xfrm>
          <a:prstGeom prst="rect">
            <a:avLst/>
          </a:prstGeom>
        </p:spPr>
        <p:txBody>
          <a:bodyPr anchor="t" rtlCol="false" tIns="0" lIns="0" bIns="0" rIns="0">
            <a:spAutoFit/>
          </a:bodyPr>
          <a:lstStyle/>
          <a:p>
            <a:pPr algn="l">
              <a:lnSpc>
                <a:spcPts val="2421"/>
              </a:lnSpc>
            </a:pPr>
            <a:r>
              <a:rPr lang="en-US" sz="2017" spc="322">
                <a:solidFill>
                  <a:srgbClr val="8494AB"/>
                </a:solidFill>
                <a:latin typeface="Georgia"/>
                <a:ea typeface="Georgia"/>
                <a:cs typeface="Georgia"/>
                <a:sym typeface="Georgia"/>
              </a:rPr>
              <a:t>IMPLEMENTATION</a:t>
            </a:r>
          </a:p>
        </p:txBody>
      </p:sp>
      <p:sp>
        <p:nvSpPr>
          <p:cNvPr name="TextBox 20" id="20"/>
          <p:cNvSpPr txBox="true"/>
          <p:nvPr/>
        </p:nvSpPr>
        <p:spPr>
          <a:xfrm rot="0">
            <a:off x="2370353" y="23307123"/>
            <a:ext cx="8221218" cy="709974"/>
          </a:xfrm>
          <a:prstGeom prst="rect">
            <a:avLst/>
          </a:prstGeom>
        </p:spPr>
        <p:txBody>
          <a:bodyPr anchor="t" rtlCol="false" tIns="0" lIns="0" bIns="0" rIns="0">
            <a:spAutoFit/>
          </a:bodyPr>
          <a:lstStyle/>
          <a:p>
            <a:pPr algn="l">
              <a:lnSpc>
                <a:spcPts val="5927"/>
              </a:lnSpc>
            </a:pPr>
            <a:r>
              <a:rPr lang="en-US" sz="6791">
                <a:solidFill>
                  <a:srgbClr val="1546E0"/>
                </a:solidFill>
                <a:latin typeface="Playfair Display"/>
                <a:ea typeface="Playfair Display"/>
                <a:cs typeface="Playfair Display"/>
                <a:sym typeface="Playfair Display"/>
              </a:rPr>
              <a:t>₹2,75,000</a:t>
            </a:r>
          </a:p>
        </p:txBody>
      </p:sp>
      <p:sp>
        <p:nvSpPr>
          <p:cNvPr name="TextBox 21" id="21"/>
          <p:cNvSpPr txBox="true"/>
          <p:nvPr/>
        </p:nvSpPr>
        <p:spPr>
          <a:xfrm rot="0">
            <a:off x="2370353" y="24112271"/>
            <a:ext cx="8221218" cy="470840"/>
          </a:xfrm>
          <a:prstGeom prst="rect">
            <a:avLst/>
          </a:prstGeom>
        </p:spPr>
        <p:txBody>
          <a:bodyPr anchor="t" rtlCol="false" tIns="0" lIns="0" bIns="0" rIns="0">
            <a:spAutoFit/>
          </a:bodyPr>
          <a:lstStyle/>
          <a:p>
            <a:pPr algn="l">
              <a:lnSpc>
                <a:spcPts val="3310"/>
              </a:lnSpc>
            </a:pPr>
            <a:r>
              <a:rPr lang="en-US" sz="2759">
                <a:solidFill>
                  <a:srgbClr val="5A6B85"/>
                </a:solidFill>
                <a:latin typeface="Georgia"/>
                <a:ea typeface="Georgia"/>
                <a:cs typeface="Georgia"/>
                <a:sym typeface="Georgia"/>
              </a:rPr>
              <a:t>One-time · 6–8 weeks</a:t>
            </a:r>
          </a:p>
        </p:txBody>
      </p:sp>
      <p:grpSp>
        <p:nvGrpSpPr>
          <p:cNvPr name="Group 22" id="22"/>
          <p:cNvGrpSpPr/>
          <p:nvPr/>
        </p:nvGrpSpPr>
        <p:grpSpPr>
          <a:xfrm rot="0">
            <a:off x="10916155" y="25039768"/>
            <a:ext cx="8759876" cy="26956"/>
            <a:chOff x="0" y="0"/>
            <a:chExt cx="11679834" cy="35941"/>
          </a:xfrm>
        </p:grpSpPr>
        <p:sp>
          <p:nvSpPr>
            <p:cNvPr name="Freeform 23" id="23"/>
            <p:cNvSpPr/>
            <p:nvPr/>
          </p:nvSpPr>
          <p:spPr>
            <a:xfrm flipH="false" flipV="false" rot="0">
              <a:off x="0" y="0"/>
              <a:ext cx="11679809" cy="35941"/>
            </a:xfrm>
            <a:custGeom>
              <a:avLst/>
              <a:gdLst/>
              <a:ahLst/>
              <a:cxnLst/>
              <a:rect r="r" b="b" t="t" l="l"/>
              <a:pathLst>
                <a:path h="35941" w="11679809">
                  <a:moveTo>
                    <a:pt x="0" y="0"/>
                  </a:moveTo>
                  <a:lnTo>
                    <a:pt x="11679809" y="0"/>
                  </a:lnTo>
                  <a:lnTo>
                    <a:pt x="11679809" y="35941"/>
                  </a:lnTo>
                  <a:lnTo>
                    <a:pt x="0" y="35941"/>
                  </a:lnTo>
                  <a:close/>
                </a:path>
              </a:pathLst>
            </a:custGeom>
            <a:solidFill>
              <a:srgbClr val="E2E8F1"/>
            </a:solidFill>
          </p:spPr>
        </p:sp>
      </p:grpSp>
      <p:grpSp>
        <p:nvGrpSpPr>
          <p:cNvPr name="Group 24" id="24"/>
          <p:cNvGrpSpPr/>
          <p:nvPr/>
        </p:nvGrpSpPr>
        <p:grpSpPr>
          <a:xfrm rot="0">
            <a:off x="10916155" y="21913167"/>
            <a:ext cx="8759876" cy="80858"/>
            <a:chOff x="0" y="0"/>
            <a:chExt cx="11679834" cy="107810"/>
          </a:xfrm>
        </p:grpSpPr>
        <p:sp>
          <p:nvSpPr>
            <p:cNvPr name="Freeform 25" id="25"/>
            <p:cNvSpPr/>
            <p:nvPr/>
          </p:nvSpPr>
          <p:spPr>
            <a:xfrm flipH="false" flipV="false" rot="0">
              <a:off x="0" y="0"/>
              <a:ext cx="11679809" cy="107823"/>
            </a:xfrm>
            <a:custGeom>
              <a:avLst/>
              <a:gdLst/>
              <a:ahLst/>
              <a:cxnLst/>
              <a:rect r="r" b="b" t="t" l="l"/>
              <a:pathLst>
                <a:path h="107823" w="11679809">
                  <a:moveTo>
                    <a:pt x="0" y="0"/>
                  </a:moveTo>
                  <a:lnTo>
                    <a:pt x="11679809" y="0"/>
                  </a:lnTo>
                  <a:lnTo>
                    <a:pt x="11679809" y="107823"/>
                  </a:lnTo>
                  <a:lnTo>
                    <a:pt x="0" y="107823"/>
                  </a:lnTo>
                  <a:close/>
                </a:path>
              </a:pathLst>
            </a:custGeom>
            <a:solidFill>
              <a:srgbClr val="2E7D5B"/>
            </a:solidFill>
          </p:spPr>
        </p:sp>
      </p:grpSp>
      <p:grpSp>
        <p:nvGrpSpPr>
          <p:cNvPr name="Group 26" id="26"/>
          <p:cNvGrpSpPr/>
          <p:nvPr/>
        </p:nvGrpSpPr>
        <p:grpSpPr>
          <a:xfrm rot="0">
            <a:off x="10916155" y="21913167"/>
            <a:ext cx="26956" cy="3153556"/>
            <a:chOff x="0" y="0"/>
            <a:chExt cx="35941" cy="4204741"/>
          </a:xfrm>
        </p:grpSpPr>
        <p:sp>
          <p:nvSpPr>
            <p:cNvPr name="Freeform 27" id="27"/>
            <p:cNvSpPr/>
            <p:nvPr/>
          </p:nvSpPr>
          <p:spPr>
            <a:xfrm flipH="false" flipV="false" rot="0">
              <a:off x="0" y="0"/>
              <a:ext cx="35941" cy="4204716"/>
            </a:xfrm>
            <a:custGeom>
              <a:avLst/>
              <a:gdLst/>
              <a:ahLst/>
              <a:cxnLst/>
              <a:rect r="r" b="b" t="t" l="l"/>
              <a:pathLst>
                <a:path h="4204716" w="35941">
                  <a:moveTo>
                    <a:pt x="0" y="0"/>
                  </a:moveTo>
                  <a:lnTo>
                    <a:pt x="35941" y="0"/>
                  </a:lnTo>
                  <a:lnTo>
                    <a:pt x="35941" y="4204716"/>
                  </a:lnTo>
                  <a:lnTo>
                    <a:pt x="0" y="4204716"/>
                  </a:lnTo>
                  <a:close/>
                </a:path>
              </a:pathLst>
            </a:custGeom>
            <a:solidFill>
              <a:srgbClr val="E2E8F1"/>
            </a:solidFill>
          </p:spPr>
        </p:sp>
      </p:grpSp>
      <p:grpSp>
        <p:nvGrpSpPr>
          <p:cNvPr name="Group 28" id="28"/>
          <p:cNvGrpSpPr/>
          <p:nvPr/>
        </p:nvGrpSpPr>
        <p:grpSpPr>
          <a:xfrm rot="0">
            <a:off x="19649075" y="21913167"/>
            <a:ext cx="26956" cy="3153556"/>
            <a:chOff x="0" y="0"/>
            <a:chExt cx="35941" cy="4204741"/>
          </a:xfrm>
        </p:grpSpPr>
        <p:sp>
          <p:nvSpPr>
            <p:cNvPr name="Freeform 29" id="29"/>
            <p:cNvSpPr/>
            <p:nvPr/>
          </p:nvSpPr>
          <p:spPr>
            <a:xfrm flipH="false" flipV="false" rot="0">
              <a:off x="0" y="0"/>
              <a:ext cx="35941" cy="4204716"/>
            </a:xfrm>
            <a:custGeom>
              <a:avLst/>
              <a:gdLst/>
              <a:ahLst/>
              <a:cxnLst/>
              <a:rect r="r" b="b" t="t" l="l"/>
              <a:pathLst>
                <a:path h="4204716" w="35941">
                  <a:moveTo>
                    <a:pt x="0" y="0"/>
                  </a:moveTo>
                  <a:lnTo>
                    <a:pt x="35941" y="0"/>
                  </a:lnTo>
                  <a:lnTo>
                    <a:pt x="35941" y="4204716"/>
                  </a:lnTo>
                  <a:lnTo>
                    <a:pt x="0" y="4204716"/>
                  </a:lnTo>
                  <a:close/>
                </a:path>
              </a:pathLst>
            </a:custGeom>
            <a:solidFill>
              <a:srgbClr val="E2E8F1"/>
            </a:solidFill>
          </p:spPr>
        </p:sp>
      </p:grpSp>
      <p:sp>
        <p:nvSpPr>
          <p:cNvPr name="TextBox 30" id="30"/>
          <p:cNvSpPr txBox="true"/>
          <p:nvPr/>
        </p:nvSpPr>
        <p:spPr>
          <a:xfrm rot="0">
            <a:off x="11561483" y="22548971"/>
            <a:ext cx="8221218" cy="389982"/>
          </a:xfrm>
          <a:prstGeom prst="rect">
            <a:avLst/>
          </a:prstGeom>
        </p:spPr>
        <p:txBody>
          <a:bodyPr anchor="t" rtlCol="false" tIns="0" lIns="0" bIns="0" rIns="0">
            <a:spAutoFit/>
          </a:bodyPr>
          <a:lstStyle/>
          <a:p>
            <a:pPr algn="l">
              <a:lnSpc>
                <a:spcPts val="2421"/>
              </a:lnSpc>
            </a:pPr>
            <a:r>
              <a:rPr lang="en-US" sz="2017" spc="322">
                <a:solidFill>
                  <a:srgbClr val="8494AB"/>
                </a:solidFill>
                <a:latin typeface="Georgia"/>
                <a:ea typeface="Georgia"/>
                <a:cs typeface="Georgia"/>
                <a:sym typeface="Georgia"/>
              </a:rPr>
              <a:t>CARE PLAN · OPTIONAL</a:t>
            </a:r>
          </a:p>
        </p:txBody>
      </p:sp>
      <p:sp>
        <p:nvSpPr>
          <p:cNvPr name="TextBox 31" id="31"/>
          <p:cNvSpPr txBox="true"/>
          <p:nvPr/>
        </p:nvSpPr>
        <p:spPr>
          <a:xfrm rot="0">
            <a:off x="11561483" y="23307123"/>
            <a:ext cx="8221218" cy="709974"/>
          </a:xfrm>
          <a:prstGeom prst="rect">
            <a:avLst/>
          </a:prstGeom>
        </p:spPr>
        <p:txBody>
          <a:bodyPr anchor="t" rtlCol="false" tIns="0" lIns="0" bIns="0" rIns="0">
            <a:spAutoFit/>
          </a:bodyPr>
          <a:lstStyle/>
          <a:p>
            <a:pPr algn="l">
              <a:lnSpc>
                <a:spcPts val="5927"/>
              </a:lnSpc>
            </a:pPr>
            <a:r>
              <a:rPr lang="en-US" sz="6791">
                <a:solidFill>
                  <a:srgbClr val="2E7D5B"/>
                </a:solidFill>
                <a:latin typeface="Playfair Display"/>
                <a:ea typeface="Playfair Display"/>
                <a:cs typeface="Playfair Display"/>
                <a:sym typeface="Playfair Display"/>
              </a:rPr>
              <a:t>₹55,000</a:t>
            </a:r>
          </a:p>
        </p:txBody>
      </p:sp>
      <p:sp>
        <p:nvSpPr>
          <p:cNvPr name="TextBox 32" id="32"/>
          <p:cNvSpPr txBox="true"/>
          <p:nvPr/>
        </p:nvSpPr>
        <p:spPr>
          <a:xfrm rot="0">
            <a:off x="11561483" y="24112271"/>
            <a:ext cx="8221218" cy="470840"/>
          </a:xfrm>
          <a:prstGeom prst="rect">
            <a:avLst/>
          </a:prstGeom>
        </p:spPr>
        <p:txBody>
          <a:bodyPr anchor="t" rtlCol="false" tIns="0" lIns="0" bIns="0" rIns="0">
            <a:spAutoFit/>
          </a:bodyPr>
          <a:lstStyle/>
          <a:p>
            <a:pPr algn="l">
              <a:lnSpc>
                <a:spcPts val="3310"/>
              </a:lnSpc>
            </a:pPr>
            <a:r>
              <a:rPr lang="en-US" sz="2759">
                <a:solidFill>
                  <a:srgbClr val="5A6B85"/>
                </a:solidFill>
                <a:latin typeface="Georgia"/>
                <a:ea typeface="Georgia"/>
                <a:cs typeface="Georgia"/>
                <a:sym typeface="Georgia"/>
              </a:rPr>
              <a:t>Per month · month-to-month</a:t>
            </a:r>
          </a:p>
        </p:txBody>
      </p:sp>
      <p:grpSp>
        <p:nvGrpSpPr>
          <p:cNvPr name="Group 33" id="33"/>
          <p:cNvGrpSpPr/>
          <p:nvPr/>
        </p:nvGrpSpPr>
        <p:grpSpPr>
          <a:xfrm rot="0">
            <a:off x="1725025" y="25983143"/>
            <a:ext cx="17951006" cy="26956"/>
            <a:chOff x="0" y="0"/>
            <a:chExt cx="23934674" cy="35941"/>
          </a:xfrm>
        </p:grpSpPr>
        <p:sp>
          <p:nvSpPr>
            <p:cNvPr name="Freeform 34" id="34"/>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E2E8F1"/>
            </a:solidFill>
          </p:spPr>
        </p:sp>
      </p:grpSp>
      <p:sp>
        <p:nvSpPr>
          <p:cNvPr name="TextBox 35" id="35"/>
          <p:cNvSpPr txBox="true"/>
          <p:nvPr/>
        </p:nvSpPr>
        <p:spPr>
          <a:xfrm rot="0">
            <a:off x="1750419" y="26565044"/>
            <a:ext cx="9347873" cy="389982"/>
          </a:xfrm>
          <a:prstGeom prst="rect">
            <a:avLst/>
          </a:prstGeom>
        </p:spPr>
        <p:txBody>
          <a:bodyPr anchor="t" rtlCol="false" tIns="0" lIns="0" bIns="0" rIns="0">
            <a:spAutoFit/>
          </a:bodyPr>
          <a:lstStyle/>
          <a:p>
            <a:pPr algn="l">
              <a:lnSpc>
                <a:spcPts val="2421"/>
              </a:lnSpc>
            </a:pPr>
            <a:r>
              <a:rPr lang="en-US" sz="2017" spc="322">
                <a:solidFill>
                  <a:srgbClr val="8494AB"/>
                </a:solidFill>
                <a:latin typeface="Georgia"/>
                <a:ea typeface="Georgia"/>
                <a:cs typeface="Georgia"/>
                <a:sym typeface="Georgia"/>
              </a:rPr>
              <a:t>PREPARED FOR</a:t>
            </a:r>
          </a:p>
        </p:txBody>
      </p:sp>
      <p:sp>
        <p:nvSpPr>
          <p:cNvPr name="TextBox 36" id="36"/>
          <p:cNvSpPr txBox="true"/>
          <p:nvPr/>
        </p:nvSpPr>
        <p:spPr>
          <a:xfrm rot="0">
            <a:off x="1750419" y="26996298"/>
            <a:ext cx="9347873" cy="551698"/>
          </a:xfrm>
          <a:prstGeom prst="rect">
            <a:avLst/>
          </a:prstGeom>
        </p:spPr>
        <p:txBody>
          <a:bodyPr anchor="t" rtlCol="false" tIns="0" lIns="0" bIns="0" rIns="0">
            <a:spAutoFit/>
          </a:bodyPr>
          <a:lstStyle/>
          <a:p>
            <a:pPr algn="l">
              <a:lnSpc>
                <a:spcPts val="3820"/>
              </a:lnSpc>
            </a:pPr>
            <a:r>
              <a:rPr lang="en-US" sz="3183">
                <a:solidFill>
                  <a:srgbClr val="1B2A44"/>
                </a:solidFill>
                <a:latin typeface="Georgia"/>
                <a:ea typeface="Georgia"/>
                <a:cs typeface="Georgia"/>
                <a:sym typeface="Georgia"/>
              </a:rPr>
              <a:t>[Client Name]</a:t>
            </a:r>
          </a:p>
        </p:txBody>
      </p:sp>
      <p:sp>
        <p:nvSpPr>
          <p:cNvPr name="TextBox 37" id="37"/>
          <p:cNvSpPr txBox="true"/>
          <p:nvPr/>
        </p:nvSpPr>
        <p:spPr>
          <a:xfrm rot="0">
            <a:off x="11157185" y="26565044"/>
            <a:ext cx="9347873" cy="389982"/>
          </a:xfrm>
          <a:prstGeom prst="rect">
            <a:avLst/>
          </a:prstGeom>
        </p:spPr>
        <p:txBody>
          <a:bodyPr anchor="t" rtlCol="false" tIns="0" lIns="0" bIns="0" rIns="0">
            <a:spAutoFit/>
          </a:bodyPr>
          <a:lstStyle/>
          <a:p>
            <a:pPr algn="l">
              <a:lnSpc>
                <a:spcPts val="2421"/>
              </a:lnSpc>
            </a:pPr>
            <a:r>
              <a:rPr lang="en-US" sz="2017" spc="322">
                <a:solidFill>
                  <a:srgbClr val="8494AB"/>
                </a:solidFill>
                <a:latin typeface="Georgia"/>
                <a:ea typeface="Georgia"/>
                <a:cs typeface="Georgia"/>
                <a:sym typeface="Georgia"/>
              </a:rPr>
              <a:t>COMPANY</a:t>
            </a:r>
          </a:p>
        </p:txBody>
      </p:sp>
      <p:sp>
        <p:nvSpPr>
          <p:cNvPr name="TextBox 38" id="38"/>
          <p:cNvSpPr txBox="true"/>
          <p:nvPr/>
        </p:nvSpPr>
        <p:spPr>
          <a:xfrm rot="0">
            <a:off x="11157185" y="26996298"/>
            <a:ext cx="9347873" cy="551698"/>
          </a:xfrm>
          <a:prstGeom prst="rect">
            <a:avLst/>
          </a:prstGeom>
        </p:spPr>
        <p:txBody>
          <a:bodyPr anchor="t" rtlCol="false" tIns="0" lIns="0" bIns="0" rIns="0">
            <a:spAutoFit/>
          </a:bodyPr>
          <a:lstStyle/>
          <a:p>
            <a:pPr algn="l">
              <a:lnSpc>
                <a:spcPts val="3820"/>
              </a:lnSpc>
            </a:pPr>
            <a:r>
              <a:rPr lang="en-US" sz="3183">
                <a:solidFill>
                  <a:srgbClr val="1B2A44"/>
                </a:solidFill>
                <a:latin typeface="Georgia"/>
                <a:ea typeface="Georgia"/>
                <a:cs typeface="Georgia"/>
                <a:sym typeface="Georgia"/>
              </a:rPr>
              <a:t>[Company Name]</a:t>
            </a:r>
          </a:p>
        </p:txBody>
      </p:sp>
      <p:sp>
        <p:nvSpPr>
          <p:cNvPr name="TextBox 39" id="39"/>
          <p:cNvSpPr txBox="true"/>
          <p:nvPr/>
        </p:nvSpPr>
        <p:spPr>
          <a:xfrm rot="0">
            <a:off x="1750419" y="27858806"/>
            <a:ext cx="9347873" cy="389982"/>
          </a:xfrm>
          <a:prstGeom prst="rect">
            <a:avLst/>
          </a:prstGeom>
        </p:spPr>
        <p:txBody>
          <a:bodyPr anchor="t" rtlCol="false" tIns="0" lIns="0" bIns="0" rIns="0">
            <a:spAutoFit/>
          </a:bodyPr>
          <a:lstStyle/>
          <a:p>
            <a:pPr algn="l">
              <a:lnSpc>
                <a:spcPts val="2421"/>
              </a:lnSpc>
            </a:pPr>
            <a:r>
              <a:rPr lang="en-US" sz="2017" spc="322">
                <a:solidFill>
                  <a:srgbClr val="8494AB"/>
                </a:solidFill>
                <a:latin typeface="Georgia"/>
                <a:ea typeface="Georgia"/>
                <a:cs typeface="Georgia"/>
                <a:sym typeface="Georgia"/>
              </a:rPr>
              <a:t>PROPOSAL DATE</a:t>
            </a:r>
          </a:p>
        </p:txBody>
      </p:sp>
      <p:sp>
        <p:nvSpPr>
          <p:cNvPr name="TextBox 40" id="40"/>
          <p:cNvSpPr txBox="true"/>
          <p:nvPr/>
        </p:nvSpPr>
        <p:spPr>
          <a:xfrm rot="0">
            <a:off x="1750419" y="28290060"/>
            <a:ext cx="9347873" cy="551698"/>
          </a:xfrm>
          <a:prstGeom prst="rect">
            <a:avLst/>
          </a:prstGeom>
        </p:spPr>
        <p:txBody>
          <a:bodyPr anchor="t" rtlCol="false" tIns="0" lIns="0" bIns="0" rIns="0">
            <a:spAutoFit/>
          </a:bodyPr>
          <a:lstStyle/>
          <a:p>
            <a:pPr algn="l">
              <a:lnSpc>
                <a:spcPts val="3820"/>
              </a:lnSpc>
            </a:pPr>
            <a:r>
              <a:rPr lang="en-US" sz="3183">
                <a:solidFill>
                  <a:srgbClr val="1B2A44"/>
                </a:solidFill>
                <a:latin typeface="Georgia"/>
                <a:ea typeface="Georgia"/>
                <a:cs typeface="Georgia"/>
                <a:sym typeface="Georgia"/>
              </a:rPr>
              <a:t>[Date]</a:t>
            </a:r>
          </a:p>
        </p:txBody>
      </p:sp>
      <p:sp>
        <p:nvSpPr>
          <p:cNvPr name="TextBox 41" id="41"/>
          <p:cNvSpPr txBox="true"/>
          <p:nvPr/>
        </p:nvSpPr>
        <p:spPr>
          <a:xfrm rot="0">
            <a:off x="11157185" y="27858806"/>
            <a:ext cx="9347873" cy="389982"/>
          </a:xfrm>
          <a:prstGeom prst="rect">
            <a:avLst/>
          </a:prstGeom>
        </p:spPr>
        <p:txBody>
          <a:bodyPr anchor="t" rtlCol="false" tIns="0" lIns="0" bIns="0" rIns="0">
            <a:spAutoFit/>
          </a:bodyPr>
          <a:lstStyle/>
          <a:p>
            <a:pPr algn="l">
              <a:lnSpc>
                <a:spcPts val="2421"/>
              </a:lnSpc>
            </a:pPr>
            <a:r>
              <a:rPr lang="en-US" sz="2017" spc="322">
                <a:solidFill>
                  <a:srgbClr val="8494AB"/>
                </a:solidFill>
                <a:latin typeface="Georgia"/>
                <a:ea typeface="Georgia"/>
                <a:cs typeface="Georgia"/>
                <a:sym typeface="Georgia"/>
              </a:rPr>
              <a:t>VALID UNTIL</a:t>
            </a:r>
          </a:p>
        </p:txBody>
      </p:sp>
      <p:sp>
        <p:nvSpPr>
          <p:cNvPr name="TextBox 42" id="42"/>
          <p:cNvSpPr txBox="true"/>
          <p:nvPr/>
        </p:nvSpPr>
        <p:spPr>
          <a:xfrm rot="0">
            <a:off x="11157185" y="28290060"/>
            <a:ext cx="9347873" cy="551698"/>
          </a:xfrm>
          <a:prstGeom prst="rect">
            <a:avLst/>
          </a:prstGeom>
        </p:spPr>
        <p:txBody>
          <a:bodyPr anchor="t" rtlCol="false" tIns="0" lIns="0" bIns="0" rIns="0">
            <a:spAutoFit/>
          </a:bodyPr>
          <a:lstStyle/>
          <a:p>
            <a:pPr algn="l">
              <a:lnSpc>
                <a:spcPts val="3820"/>
              </a:lnSpc>
            </a:pPr>
            <a:r>
              <a:rPr lang="en-US" sz="3183">
                <a:solidFill>
                  <a:srgbClr val="1B2A44"/>
                </a:solidFill>
                <a:latin typeface="Georgia"/>
                <a:ea typeface="Georgia"/>
                <a:cs typeface="Georgia"/>
                <a:sym typeface="Georgia"/>
              </a:rPr>
              <a:t>[Date]</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725025" y="2102368"/>
            <a:ext cx="17951006" cy="26956"/>
            <a:chOff x="0" y="0"/>
            <a:chExt cx="23934674" cy="35941"/>
          </a:xfrm>
        </p:grpSpPr>
        <p:sp>
          <p:nvSpPr>
            <p:cNvPr name="Freeform 3" id="3"/>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E2E8F1"/>
            </a:solidFill>
          </p:spPr>
        </p:sp>
      </p:grpSp>
      <p:sp>
        <p:nvSpPr>
          <p:cNvPr name="TextBox 4" id="4"/>
          <p:cNvSpPr txBox="true"/>
          <p:nvPr/>
        </p:nvSpPr>
        <p:spPr>
          <a:xfrm rot="0">
            <a:off x="1750419" y="1525267"/>
            <a:ext cx="3195828"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LUMELUSH STUDIO</a:t>
            </a:r>
          </a:p>
        </p:txBody>
      </p:sp>
      <p:sp>
        <p:nvSpPr>
          <p:cNvPr name="TextBox 5" id="5"/>
          <p:cNvSpPr txBox="true"/>
          <p:nvPr/>
        </p:nvSpPr>
        <p:spPr>
          <a:xfrm rot="0">
            <a:off x="15847933" y="1525267"/>
            <a:ext cx="4188057"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COMMERCIAL PROPOSAL</a:t>
            </a:r>
          </a:p>
        </p:txBody>
      </p:sp>
      <p:grpSp>
        <p:nvGrpSpPr>
          <p:cNvPr name="Group 6" id="6"/>
          <p:cNvGrpSpPr/>
          <p:nvPr/>
        </p:nvGrpSpPr>
        <p:grpSpPr>
          <a:xfrm rot="0">
            <a:off x="1725025" y="4312558"/>
            <a:ext cx="17951006" cy="26956"/>
            <a:chOff x="0" y="0"/>
            <a:chExt cx="23934674" cy="35941"/>
          </a:xfrm>
        </p:grpSpPr>
        <p:sp>
          <p:nvSpPr>
            <p:cNvPr name="Freeform 7" id="7"/>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DCE3EE"/>
            </a:solidFill>
          </p:spPr>
        </p:sp>
      </p:grpSp>
      <p:sp>
        <p:nvSpPr>
          <p:cNvPr name="TextBox 8" id="8"/>
          <p:cNvSpPr txBox="true"/>
          <p:nvPr/>
        </p:nvSpPr>
        <p:spPr>
          <a:xfrm rot="0">
            <a:off x="1750419" y="3519830"/>
            <a:ext cx="628936" cy="470840"/>
          </a:xfrm>
          <a:prstGeom prst="rect">
            <a:avLst/>
          </a:prstGeom>
        </p:spPr>
        <p:txBody>
          <a:bodyPr anchor="t" rtlCol="false" tIns="0" lIns="0" bIns="0" rIns="0">
            <a:spAutoFit/>
          </a:bodyPr>
          <a:lstStyle/>
          <a:p>
            <a:pPr algn="l">
              <a:lnSpc>
                <a:spcPts val="3310"/>
              </a:lnSpc>
            </a:pPr>
            <a:r>
              <a:rPr lang="en-US" sz="2759" spc="387">
                <a:solidFill>
                  <a:srgbClr val="1546E0"/>
                </a:solidFill>
                <a:latin typeface="Georgia"/>
                <a:ea typeface="Georgia"/>
                <a:cs typeface="Georgia"/>
                <a:sym typeface="Georgia"/>
              </a:rPr>
              <a:t>01</a:t>
            </a:r>
          </a:p>
        </p:txBody>
      </p:sp>
      <p:sp>
        <p:nvSpPr>
          <p:cNvPr name="TextBox 9" id="9"/>
          <p:cNvSpPr txBox="true"/>
          <p:nvPr/>
        </p:nvSpPr>
        <p:spPr>
          <a:xfrm rot="0">
            <a:off x="2591876" y="2953807"/>
            <a:ext cx="4987185" cy="1171632"/>
          </a:xfrm>
          <a:prstGeom prst="rect">
            <a:avLst/>
          </a:prstGeom>
        </p:spPr>
        <p:txBody>
          <a:bodyPr anchor="t" rtlCol="false" tIns="0" lIns="0" bIns="0" rIns="0">
            <a:spAutoFit/>
          </a:bodyPr>
          <a:lstStyle/>
          <a:p>
            <a:pPr algn="l">
              <a:lnSpc>
                <a:spcPts val="7640"/>
              </a:lnSpc>
            </a:pPr>
            <a:r>
              <a:rPr lang="en-US" sz="6366" b="true">
                <a:solidFill>
                  <a:srgbClr val="1B2A44"/>
                </a:solidFill>
                <a:latin typeface="Playfair Display Bold"/>
                <a:ea typeface="Playfair Display Bold"/>
                <a:cs typeface="Playfair Display Bold"/>
                <a:sym typeface="Playfair Display Bold"/>
              </a:rPr>
              <a:t>Engagement</a:t>
            </a:r>
          </a:p>
        </p:txBody>
      </p:sp>
      <p:sp>
        <p:nvSpPr>
          <p:cNvPr name="TextBox 10" id="10"/>
          <p:cNvSpPr txBox="true"/>
          <p:nvPr/>
        </p:nvSpPr>
        <p:spPr>
          <a:xfrm rot="0">
            <a:off x="1750419" y="4805486"/>
            <a:ext cx="18438743" cy="1610992"/>
          </a:xfrm>
          <a:prstGeom prst="rect">
            <a:avLst/>
          </a:prstGeom>
        </p:spPr>
        <p:txBody>
          <a:bodyPr anchor="t" rtlCol="false" tIns="0" lIns="0" bIns="0" rIns="0">
            <a:spAutoFit/>
          </a:bodyPr>
          <a:lstStyle/>
          <a:p>
            <a:pPr algn="l">
              <a:lnSpc>
                <a:spcPts val="5661"/>
              </a:lnSpc>
            </a:pPr>
            <a:r>
              <a:rPr lang="en-US" sz="3395">
                <a:solidFill>
                  <a:srgbClr val="33425C"/>
                </a:solidFill>
                <a:latin typeface="Georgia"/>
                <a:ea typeface="Georgia"/>
                <a:cs typeface="Georgia"/>
                <a:sym typeface="Georgia"/>
              </a:rPr>
              <a:t>This Commercial Proposal confirms the scope, commercials and implementation plan agreed between Lumelush Studio and the Client for the Business Growth + Automation System.</a:t>
            </a:r>
          </a:p>
        </p:txBody>
      </p:sp>
      <p:sp>
        <p:nvSpPr>
          <p:cNvPr name="TextBox 11" id="11"/>
          <p:cNvSpPr txBox="true"/>
          <p:nvPr/>
        </p:nvSpPr>
        <p:spPr>
          <a:xfrm rot="0">
            <a:off x="1750419" y="6584413"/>
            <a:ext cx="18438743" cy="2311784"/>
          </a:xfrm>
          <a:prstGeom prst="rect">
            <a:avLst/>
          </a:prstGeom>
        </p:spPr>
        <p:txBody>
          <a:bodyPr anchor="t" rtlCol="false" tIns="0" lIns="0" bIns="0" rIns="0">
            <a:spAutoFit/>
          </a:bodyPr>
          <a:lstStyle/>
          <a:p>
            <a:pPr algn="l">
              <a:lnSpc>
                <a:spcPts val="5661"/>
              </a:lnSpc>
            </a:pPr>
            <a:r>
              <a:rPr lang="en-US" sz="3395">
                <a:solidFill>
                  <a:srgbClr val="33425C"/>
                </a:solidFill>
                <a:latin typeface="Georgia"/>
                <a:ea typeface="Georgia"/>
                <a:cs typeface="Georgia"/>
                <a:sym typeface="Georgia"/>
              </a:rPr>
              <a:t>The engagement combines the Business Growth System with a custom CRM, dashboards, AI-assisted sales tools and workflow automation designed around the Client’s actual business processes.</a:t>
            </a:r>
          </a:p>
        </p:txBody>
      </p:sp>
      <p:grpSp>
        <p:nvGrpSpPr>
          <p:cNvPr name="Group 12" id="12"/>
          <p:cNvGrpSpPr/>
          <p:nvPr/>
        </p:nvGrpSpPr>
        <p:grpSpPr>
          <a:xfrm rot="0">
            <a:off x="1711547" y="9555004"/>
            <a:ext cx="17977961" cy="4797714"/>
            <a:chOff x="0" y="0"/>
            <a:chExt cx="23970615" cy="6396952"/>
          </a:xfrm>
        </p:grpSpPr>
        <p:sp>
          <p:nvSpPr>
            <p:cNvPr name="Freeform 13" id="13"/>
            <p:cNvSpPr/>
            <p:nvPr/>
          </p:nvSpPr>
          <p:spPr>
            <a:xfrm flipH="false" flipV="false" rot="0">
              <a:off x="17907" y="17907"/>
              <a:ext cx="23934801" cy="6361049"/>
            </a:xfrm>
            <a:custGeom>
              <a:avLst/>
              <a:gdLst/>
              <a:ahLst/>
              <a:cxnLst/>
              <a:rect r="r" b="b" t="t" l="l"/>
              <a:pathLst>
                <a:path h="6361049" w="23934801">
                  <a:moveTo>
                    <a:pt x="0" y="0"/>
                  </a:moveTo>
                  <a:lnTo>
                    <a:pt x="23934801" y="0"/>
                  </a:lnTo>
                  <a:lnTo>
                    <a:pt x="23934801" y="6361049"/>
                  </a:lnTo>
                  <a:lnTo>
                    <a:pt x="0" y="6361049"/>
                  </a:lnTo>
                  <a:close/>
                </a:path>
              </a:pathLst>
            </a:custGeom>
            <a:solidFill>
              <a:srgbClr val="F7FAFC"/>
            </a:solidFill>
          </p:spPr>
        </p:sp>
        <p:sp>
          <p:nvSpPr>
            <p:cNvPr name="Freeform 14" id="14"/>
            <p:cNvSpPr/>
            <p:nvPr/>
          </p:nvSpPr>
          <p:spPr>
            <a:xfrm flipH="false" flipV="false" rot="0">
              <a:off x="0" y="0"/>
              <a:ext cx="23970616" cy="6396863"/>
            </a:xfrm>
            <a:custGeom>
              <a:avLst/>
              <a:gdLst/>
              <a:ahLst/>
              <a:cxnLst/>
              <a:rect r="r" b="b" t="t" l="l"/>
              <a:pathLst>
                <a:path h="6396863" w="23970616">
                  <a:moveTo>
                    <a:pt x="17907" y="0"/>
                  </a:moveTo>
                  <a:lnTo>
                    <a:pt x="23952708" y="0"/>
                  </a:lnTo>
                  <a:cubicBezTo>
                    <a:pt x="23962615" y="0"/>
                    <a:pt x="23970616" y="8001"/>
                    <a:pt x="23970616" y="17907"/>
                  </a:cubicBezTo>
                  <a:lnTo>
                    <a:pt x="23970616" y="6378956"/>
                  </a:lnTo>
                  <a:cubicBezTo>
                    <a:pt x="23970616" y="6388862"/>
                    <a:pt x="23962615" y="6396863"/>
                    <a:pt x="23952708" y="6396863"/>
                  </a:cubicBezTo>
                  <a:lnTo>
                    <a:pt x="17907" y="6396863"/>
                  </a:lnTo>
                  <a:cubicBezTo>
                    <a:pt x="8001" y="6396863"/>
                    <a:pt x="0" y="6388862"/>
                    <a:pt x="0" y="6378956"/>
                  </a:cubicBezTo>
                  <a:lnTo>
                    <a:pt x="0" y="17907"/>
                  </a:lnTo>
                  <a:cubicBezTo>
                    <a:pt x="0" y="8001"/>
                    <a:pt x="8001" y="0"/>
                    <a:pt x="17907" y="0"/>
                  </a:cubicBezTo>
                  <a:moveTo>
                    <a:pt x="17907" y="35941"/>
                  </a:moveTo>
                  <a:lnTo>
                    <a:pt x="17907" y="17907"/>
                  </a:lnTo>
                  <a:lnTo>
                    <a:pt x="35941" y="17907"/>
                  </a:lnTo>
                  <a:lnTo>
                    <a:pt x="35941" y="6378956"/>
                  </a:lnTo>
                  <a:lnTo>
                    <a:pt x="17907" y="6378956"/>
                  </a:lnTo>
                  <a:lnTo>
                    <a:pt x="17907" y="6361049"/>
                  </a:lnTo>
                  <a:lnTo>
                    <a:pt x="23952708" y="6361049"/>
                  </a:lnTo>
                  <a:lnTo>
                    <a:pt x="23952708" y="6378956"/>
                  </a:lnTo>
                  <a:lnTo>
                    <a:pt x="23934801" y="6378956"/>
                  </a:lnTo>
                  <a:lnTo>
                    <a:pt x="23934801" y="17907"/>
                  </a:lnTo>
                  <a:lnTo>
                    <a:pt x="23952708" y="17907"/>
                  </a:lnTo>
                  <a:lnTo>
                    <a:pt x="23952708" y="35941"/>
                  </a:lnTo>
                  <a:lnTo>
                    <a:pt x="17907" y="35941"/>
                  </a:lnTo>
                  <a:close/>
                </a:path>
              </a:pathLst>
            </a:custGeom>
            <a:solidFill>
              <a:srgbClr val="E2E8F1"/>
            </a:solidFill>
          </p:spPr>
        </p:sp>
      </p:grpSp>
      <p:sp>
        <p:nvSpPr>
          <p:cNvPr name="TextBox 15" id="15"/>
          <p:cNvSpPr txBox="true"/>
          <p:nvPr/>
        </p:nvSpPr>
        <p:spPr>
          <a:xfrm rot="0">
            <a:off x="2424255" y="10204285"/>
            <a:ext cx="18212867" cy="389982"/>
          </a:xfrm>
          <a:prstGeom prst="rect">
            <a:avLst/>
          </a:prstGeom>
        </p:spPr>
        <p:txBody>
          <a:bodyPr anchor="t" rtlCol="false" tIns="0" lIns="0" bIns="0" rIns="0">
            <a:spAutoFit/>
          </a:bodyPr>
          <a:lstStyle/>
          <a:p>
            <a:pPr algn="l">
              <a:lnSpc>
                <a:spcPts val="2421"/>
              </a:lnSpc>
            </a:pPr>
            <a:r>
              <a:rPr lang="en-US" sz="2017" spc="322">
                <a:solidFill>
                  <a:srgbClr val="1546E0"/>
                </a:solidFill>
                <a:latin typeface="Georgia"/>
                <a:ea typeface="Georgia"/>
                <a:cs typeface="Georgia"/>
                <a:sym typeface="Georgia"/>
              </a:rPr>
              <a:t>OBJECTIVE ONE</a:t>
            </a:r>
          </a:p>
        </p:txBody>
      </p:sp>
      <p:sp>
        <p:nvSpPr>
          <p:cNvPr name="TextBox 16" id="16"/>
          <p:cNvSpPr txBox="true"/>
          <p:nvPr/>
        </p:nvSpPr>
        <p:spPr>
          <a:xfrm rot="0">
            <a:off x="2424255" y="10762402"/>
            <a:ext cx="18212867" cy="829142"/>
          </a:xfrm>
          <a:prstGeom prst="rect">
            <a:avLst/>
          </a:prstGeom>
        </p:spPr>
        <p:txBody>
          <a:bodyPr anchor="t" rtlCol="false" tIns="0" lIns="0" bIns="0" rIns="0">
            <a:spAutoFit/>
          </a:bodyPr>
          <a:lstStyle/>
          <a:p>
            <a:pPr algn="l">
              <a:lnSpc>
                <a:spcPts val="5348"/>
              </a:lnSpc>
            </a:pPr>
            <a:r>
              <a:rPr lang="en-US" sz="4456">
                <a:solidFill>
                  <a:srgbClr val="1B2A44"/>
                </a:solidFill>
                <a:latin typeface="Playfair Display"/>
                <a:ea typeface="Playfair Display"/>
                <a:cs typeface="Playfair Display"/>
                <a:sym typeface="Playfair Display"/>
              </a:rPr>
              <a:t>Build the growth system</a:t>
            </a:r>
          </a:p>
        </p:txBody>
      </p:sp>
      <p:sp>
        <p:nvSpPr>
          <p:cNvPr name="TextBox 17" id="17"/>
          <p:cNvSpPr txBox="true"/>
          <p:nvPr/>
        </p:nvSpPr>
        <p:spPr>
          <a:xfrm rot="0">
            <a:off x="2424255" y="11680241"/>
            <a:ext cx="17050636" cy="2121484"/>
          </a:xfrm>
          <a:prstGeom prst="rect">
            <a:avLst/>
          </a:prstGeom>
        </p:spPr>
        <p:txBody>
          <a:bodyPr anchor="t" rtlCol="false" tIns="0" lIns="0" bIns="0" rIns="0">
            <a:spAutoFit/>
          </a:bodyPr>
          <a:lstStyle/>
          <a:p>
            <a:pPr algn="l">
              <a:lnSpc>
                <a:spcPts val="5093"/>
              </a:lnSpc>
            </a:pPr>
            <a:r>
              <a:rPr lang="en-US" sz="3183">
                <a:solidFill>
                  <a:srgbClr val="33425C"/>
                </a:solidFill>
                <a:latin typeface="Georgia"/>
                <a:ea typeface="Georgia"/>
                <a:cs typeface="Georgia"/>
                <a:sym typeface="Georgia"/>
              </a:rPr>
              <a:t>Generate and activate opportunities through existing customer communication, referrals, AMC / maintenance campaigns, commercial outreach, email and WhatsApp campaigns, and ICP-based prospect generation.</a:t>
            </a:r>
          </a:p>
        </p:txBody>
      </p:sp>
      <p:grpSp>
        <p:nvGrpSpPr>
          <p:cNvPr name="Group 18" id="18"/>
          <p:cNvGrpSpPr/>
          <p:nvPr/>
        </p:nvGrpSpPr>
        <p:grpSpPr>
          <a:xfrm rot="0">
            <a:off x="1711547" y="14810927"/>
            <a:ext cx="17977961" cy="4150833"/>
            <a:chOff x="0" y="0"/>
            <a:chExt cx="23970615" cy="5534444"/>
          </a:xfrm>
        </p:grpSpPr>
        <p:sp>
          <p:nvSpPr>
            <p:cNvPr name="Freeform 19" id="19"/>
            <p:cNvSpPr/>
            <p:nvPr/>
          </p:nvSpPr>
          <p:spPr>
            <a:xfrm flipH="false" flipV="false" rot="0">
              <a:off x="17907" y="17907"/>
              <a:ext cx="23934801" cy="5498592"/>
            </a:xfrm>
            <a:custGeom>
              <a:avLst/>
              <a:gdLst/>
              <a:ahLst/>
              <a:cxnLst/>
              <a:rect r="r" b="b" t="t" l="l"/>
              <a:pathLst>
                <a:path h="5498592" w="23934801">
                  <a:moveTo>
                    <a:pt x="0" y="0"/>
                  </a:moveTo>
                  <a:lnTo>
                    <a:pt x="23934801" y="0"/>
                  </a:lnTo>
                  <a:lnTo>
                    <a:pt x="23934801" y="5498592"/>
                  </a:lnTo>
                  <a:lnTo>
                    <a:pt x="0" y="5498592"/>
                  </a:lnTo>
                  <a:close/>
                </a:path>
              </a:pathLst>
            </a:custGeom>
            <a:solidFill>
              <a:srgbClr val="F7FAFC"/>
            </a:solidFill>
          </p:spPr>
        </p:sp>
        <p:sp>
          <p:nvSpPr>
            <p:cNvPr name="Freeform 20" id="20"/>
            <p:cNvSpPr/>
            <p:nvPr/>
          </p:nvSpPr>
          <p:spPr>
            <a:xfrm flipH="false" flipV="false" rot="0">
              <a:off x="0" y="0"/>
              <a:ext cx="23970616" cy="5534406"/>
            </a:xfrm>
            <a:custGeom>
              <a:avLst/>
              <a:gdLst/>
              <a:ahLst/>
              <a:cxnLst/>
              <a:rect r="r" b="b" t="t" l="l"/>
              <a:pathLst>
                <a:path h="5534406" w="23970616">
                  <a:moveTo>
                    <a:pt x="17907" y="0"/>
                  </a:moveTo>
                  <a:lnTo>
                    <a:pt x="23952708" y="0"/>
                  </a:lnTo>
                  <a:cubicBezTo>
                    <a:pt x="23962615" y="0"/>
                    <a:pt x="23970616" y="8001"/>
                    <a:pt x="23970616" y="17907"/>
                  </a:cubicBezTo>
                  <a:lnTo>
                    <a:pt x="23970616" y="5516499"/>
                  </a:lnTo>
                  <a:cubicBezTo>
                    <a:pt x="23970616" y="5526405"/>
                    <a:pt x="23962615" y="5534406"/>
                    <a:pt x="23952708" y="5534406"/>
                  </a:cubicBezTo>
                  <a:lnTo>
                    <a:pt x="17907" y="5534406"/>
                  </a:lnTo>
                  <a:cubicBezTo>
                    <a:pt x="8001" y="5534406"/>
                    <a:pt x="0" y="5526405"/>
                    <a:pt x="0" y="5516499"/>
                  </a:cubicBezTo>
                  <a:lnTo>
                    <a:pt x="0" y="17907"/>
                  </a:lnTo>
                  <a:cubicBezTo>
                    <a:pt x="0" y="8001"/>
                    <a:pt x="8001" y="0"/>
                    <a:pt x="17907" y="0"/>
                  </a:cubicBezTo>
                  <a:moveTo>
                    <a:pt x="17907" y="35941"/>
                  </a:moveTo>
                  <a:lnTo>
                    <a:pt x="17907" y="17907"/>
                  </a:lnTo>
                  <a:lnTo>
                    <a:pt x="35941" y="17907"/>
                  </a:lnTo>
                  <a:lnTo>
                    <a:pt x="35941" y="5516499"/>
                  </a:lnTo>
                  <a:lnTo>
                    <a:pt x="17907" y="5516499"/>
                  </a:lnTo>
                  <a:lnTo>
                    <a:pt x="17907" y="5498592"/>
                  </a:lnTo>
                  <a:lnTo>
                    <a:pt x="23952708" y="5498592"/>
                  </a:lnTo>
                  <a:lnTo>
                    <a:pt x="23952708" y="5516499"/>
                  </a:lnTo>
                  <a:lnTo>
                    <a:pt x="23934801" y="5516499"/>
                  </a:lnTo>
                  <a:lnTo>
                    <a:pt x="23934801" y="17907"/>
                  </a:lnTo>
                  <a:lnTo>
                    <a:pt x="23952708" y="17907"/>
                  </a:lnTo>
                  <a:lnTo>
                    <a:pt x="23952708" y="35941"/>
                  </a:lnTo>
                  <a:lnTo>
                    <a:pt x="17907" y="35941"/>
                  </a:lnTo>
                  <a:close/>
                </a:path>
              </a:pathLst>
            </a:custGeom>
            <a:solidFill>
              <a:srgbClr val="E2E8F1"/>
            </a:solidFill>
          </p:spPr>
        </p:sp>
      </p:grpSp>
      <p:sp>
        <p:nvSpPr>
          <p:cNvPr name="TextBox 21" id="21"/>
          <p:cNvSpPr txBox="true"/>
          <p:nvPr/>
        </p:nvSpPr>
        <p:spPr>
          <a:xfrm rot="0">
            <a:off x="2424255" y="15460208"/>
            <a:ext cx="18212867" cy="389982"/>
          </a:xfrm>
          <a:prstGeom prst="rect">
            <a:avLst/>
          </a:prstGeom>
        </p:spPr>
        <p:txBody>
          <a:bodyPr anchor="t" rtlCol="false" tIns="0" lIns="0" bIns="0" rIns="0">
            <a:spAutoFit/>
          </a:bodyPr>
          <a:lstStyle/>
          <a:p>
            <a:pPr algn="l">
              <a:lnSpc>
                <a:spcPts val="2421"/>
              </a:lnSpc>
            </a:pPr>
            <a:r>
              <a:rPr lang="en-US" sz="2017" spc="322">
                <a:solidFill>
                  <a:srgbClr val="2E7D5B"/>
                </a:solidFill>
                <a:latin typeface="Georgia"/>
                <a:ea typeface="Georgia"/>
                <a:cs typeface="Georgia"/>
                <a:sym typeface="Georgia"/>
              </a:rPr>
              <a:t>OBJECTIVE TWO</a:t>
            </a:r>
          </a:p>
        </p:txBody>
      </p:sp>
      <p:sp>
        <p:nvSpPr>
          <p:cNvPr name="TextBox 22" id="22"/>
          <p:cNvSpPr txBox="true"/>
          <p:nvPr/>
        </p:nvSpPr>
        <p:spPr>
          <a:xfrm rot="0">
            <a:off x="2424255" y="16018335"/>
            <a:ext cx="18212867" cy="829142"/>
          </a:xfrm>
          <a:prstGeom prst="rect">
            <a:avLst/>
          </a:prstGeom>
        </p:spPr>
        <p:txBody>
          <a:bodyPr anchor="t" rtlCol="false" tIns="0" lIns="0" bIns="0" rIns="0">
            <a:spAutoFit/>
          </a:bodyPr>
          <a:lstStyle/>
          <a:p>
            <a:pPr algn="l">
              <a:lnSpc>
                <a:spcPts val="5348"/>
              </a:lnSpc>
            </a:pPr>
            <a:r>
              <a:rPr lang="en-US" sz="4456">
                <a:solidFill>
                  <a:srgbClr val="1B2A44"/>
                </a:solidFill>
                <a:latin typeface="Playfair Display"/>
                <a:ea typeface="Playfair Display"/>
                <a:cs typeface="Playfair Display"/>
                <a:sym typeface="Playfair Display"/>
              </a:rPr>
              <a:t>Reduce repetitive manual work</a:t>
            </a:r>
          </a:p>
        </p:txBody>
      </p:sp>
      <p:sp>
        <p:nvSpPr>
          <p:cNvPr name="TextBox 23" id="23"/>
          <p:cNvSpPr txBox="true"/>
          <p:nvPr/>
        </p:nvSpPr>
        <p:spPr>
          <a:xfrm rot="0">
            <a:off x="2424255" y="16936164"/>
            <a:ext cx="17050636" cy="1474603"/>
          </a:xfrm>
          <a:prstGeom prst="rect">
            <a:avLst/>
          </a:prstGeom>
        </p:spPr>
        <p:txBody>
          <a:bodyPr anchor="t" rtlCol="false" tIns="0" lIns="0" bIns="0" rIns="0">
            <a:spAutoFit/>
          </a:bodyPr>
          <a:lstStyle/>
          <a:p>
            <a:pPr algn="l">
              <a:lnSpc>
                <a:spcPts val="5093"/>
              </a:lnSpc>
            </a:pPr>
            <a:r>
              <a:rPr lang="en-US" sz="3183">
                <a:solidFill>
                  <a:srgbClr val="33425C"/>
                </a:solidFill>
                <a:latin typeface="Georgia"/>
                <a:ea typeface="Georgia"/>
                <a:cs typeface="Georgia"/>
                <a:sym typeface="Georgia"/>
              </a:rPr>
              <a:t>Analyse the Client’s workflow and build technology that can automate appropriate repetitive processes, including sales and administrative workflows.</a:t>
            </a:r>
          </a:p>
        </p:txBody>
      </p:sp>
      <p:sp>
        <p:nvSpPr>
          <p:cNvPr name="TextBox 24" id="24"/>
          <p:cNvSpPr txBox="true"/>
          <p:nvPr/>
        </p:nvSpPr>
        <p:spPr>
          <a:xfrm rot="0">
            <a:off x="1750419" y="27230765"/>
            <a:ext cx="18438743" cy="1610992"/>
          </a:xfrm>
          <a:prstGeom prst="rect">
            <a:avLst/>
          </a:prstGeom>
        </p:spPr>
        <p:txBody>
          <a:bodyPr anchor="t" rtlCol="false" tIns="0" lIns="0" bIns="0" rIns="0">
            <a:spAutoFit/>
          </a:bodyPr>
          <a:lstStyle/>
          <a:p>
            <a:pPr algn="l">
              <a:lnSpc>
                <a:spcPts val="5661"/>
              </a:lnSpc>
            </a:pPr>
            <a:r>
              <a:rPr lang="en-US" sz="3395">
                <a:solidFill>
                  <a:srgbClr val="33425C"/>
                </a:solidFill>
                <a:latin typeface="Georgia"/>
                <a:ea typeface="Georgia"/>
                <a:cs typeface="Georgia"/>
                <a:sym typeface="Georgia"/>
              </a:rPr>
              <a:t>The one-time implementation creates and configures the system. The optional Care Plan provides ongoing growth execution and technical maintenance.</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725025" y="2102368"/>
            <a:ext cx="17951006" cy="26956"/>
            <a:chOff x="0" y="0"/>
            <a:chExt cx="23934674" cy="35941"/>
          </a:xfrm>
        </p:grpSpPr>
        <p:sp>
          <p:nvSpPr>
            <p:cNvPr name="Freeform 3" id="3"/>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E2E8F1"/>
            </a:solidFill>
          </p:spPr>
        </p:sp>
      </p:grpSp>
      <p:sp>
        <p:nvSpPr>
          <p:cNvPr name="TextBox 4" id="4"/>
          <p:cNvSpPr txBox="true"/>
          <p:nvPr/>
        </p:nvSpPr>
        <p:spPr>
          <a:xfrm rot="0">
            <a:off x="1750419" y="1525267"/>
            <a:ext cx="3195828"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LUMELUSH STUDIO</a:t>
            </a:r>
          </a:p>
        </p:txBody>
      </p:sp>
      <p:sp>
        <p:nvSpPr>
          <p:cNvPr name="TextBox 5" id="5"/>
          <p:cNvSpPr txBox="true"/>
          <p:nvPr/>
        </p:nvSpPr>
        <p:spPr>
          <a:xfrm rot="0">
            <a:off x="15847933" y="1525267"/>
            <a:ext cx="4188057"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COMMERCIAL PROPOSAL</a:t>
            </a:r>
          </a:p>
        </p:txBody>
      </p:sp>
      <p:grpSp>
        <p:nvGrpSpPr>
          <p:cNvPr name="Group 6" id="6"/>
          <p:cNvGrpSpPr/>
          <p:nvPr/>
        </p:nvGrpSpPr>
        <p:grpSpPr>
          <a:xfrm rot="0">
            <a:off x="1725025" y="4312558"/>
            <a:ext cx="17951006" cy="26956"/>
            <a:chOff x="0" y="0"/>
            <a:chExt cx="23934674" cy="35941"/>
          </a:xfrm>
        </p:grpSpPr>
        <p:sp>
          <p:nvSpPr>
            <p:cNvPr name="Freeform 7" id="7"/>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DCE3EE"/>
            </a:solidFill>
          </p:spPr>
        </p:sp>
      </p:grpSp>
      <p:sp>
        <p:nvSpPr>
          <p:cNvPr name="TextBox 8" id="8"/>
          <p:cNvSpPr txBox="true"/>
          <p:nvPr/>
        </p:nvSpPr>
        <p:spPr>
          <a:xfrm rot="0">
            <a:off x="1750419" y="3519830"/>
            <a:ext cx="673999" cy="470840"/>
          </a:xfrm>
          <a:prstGeom prst="rect">
            <a:avLst/>
          </a:prstGeom>
        </p:spPr>
        <p:txBody>
          <a:bodyPr anchor="t" rtlCol="false" tIns="0" lIns="0" bIns="0" rIns="0">
            <a:spAutoFit/>
          </a:bodyPr>
          <a:lstStyle/>
          <a:p>
            <a:pPr algn="l">
              <a:lnSpc>
                <a:spcPts val="3310"/>
              </a:lnSpc>
            </a:pPr>
            <a:r>
              <a:rPr lang="en-US" sz="2759" spc="387">
                <a:solidFill>
                  <a:srgbClr val="1546E0"/>
                </a:solidFill>
                <a:latin typeface="Georgia"/>
                <a:ea typeface="Georgia"/>
                <a:cs typeface="Georgia"/>
                <a:sym typeface="Georgia"/>
              </a:rPr>
              <a:t>02</a:t>
            </a:r>
          </a:p>
        </p:txBody>
      </p:sp>
      <p:sp>
        <p:nvSpPr>
          <p:cNvPr name="TextBox 9" id="9"/>
          <p:cNvSpPr txBox="true"/>
          <p:nvPr/>
        </p:nvSpPr>
        <p:spPr>
          <a:xfrm rot="0">
            <a:off x="2636939" y="2953807"/>
            <a:ext cx="9956140" cy="1171632"/>
          </a:xfrm>
          <a:prstGeom prst="rect">
            <a:avLst/>
          </a:prstGeom>
        </p:spPr>
        <p:txBody>
          <a:bodyPr anchor="t" rtlCol="false" tIns="0" lIns="0" bIns="0" rIns="0">
            <a:spAutoFit/>
          </a:bodyPr>
          <a:lstStyle/>
          <a:p>
            <a:pPr algn="l">
              <a:lnSpc>
                <a:spcPts val="7640"/>
              </a:lnSpc>
            </a:pPr>
            <a:r>
              <a:rPr lang="en-US" sz="6366" b="true">
                <a:solidFill>
                  <a:srgbClr val="1B2A44"/>
                </a:solidFill>
                <a:latin typeface="Playfair Display Bold"/>
                <a:ea typeface="Playfair Display Bold"/>
                <a:cs typeface="Playfair Display Bold"/>
                <a:sym typeface="Playfair Display Bold"/>
              </a:rPr>
              <a:t>Business Growth System</a:t>
            </a:r>
          </a:p>
        </p:txBody>
      </p:sp>
      <p:sp>
        <p:nvSpPr>
          <p:cNvPr name="TextBox 10" id="10"/>
          <p:cNvSpPr txBox="true"/>
          <p:nvPr/>
        </p:nvSpPr>
        <p:spPr>
          <a:xfrm rot="0">
            <a:off x="1750419" y="4761100"/>
            <a:ext cx="18438743" cy="846773"/>
          </a:xfrm>
          <a:prstGeom prst="rect">
            <a:avLst/>
          </a:prstGeom>
        </p:spPr>
        <p:txBody>
          <a:bodyPr anchor="t" rtlCol="false" tIns="0" lIns="0" bIns="0" rIns="0">
            <a:spAutoFit/>
          </a:bodyPr>
          <a:lstStyle/>
          <a:p>
            <a:pPr algn="l">
              <a:lnSpc>
                <a:spcPts val="5252"/>
              </a:lnSpc>
            </a:pPr>
            <a:r>
              <a:rPr lang="en-US" sz="3183">
                <a:solidFill>
                  <a:srgbClr val="33425C"/>
                </a:solidFill>
                <a:latin typeface="Georgia"/>
                <a:ea typeface="Georgia"/>
                <a:cs typeface="Georgia"/>
                <a:sym typeface="Georgia"/>
              </a:rPr>
              <a:t>The following growth components are included as part of the implementation.</a:t>
            </a:r>
          </a:p>
        </p:txBody>
      </p:sp>
      <p:grpSp>
        <p:nvGrpSpPr>
          <p:cNvPr name="Group 11" id="11"/>
          <p:cNvGrpSpPr/>
          <p:nvPr/>
        </p:nvGrpSpPr>
        <p:grpSpPr>
          <a:xfrm rot="0">
            <a:off x="1725025" y="6792278"/>
            <a:ext cx="17951006" cy="26956"/>
            <a:chOff x="0" y="0"/>
            <a:chExt cx="23934674" cy="35941"/>
          </a:xfrm>
        </p:grpSpPr>
        <p:sp>
          <p:nvSpPr>
            <p:cNvPr name="Freeform 12" id="12"/>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E2E8F1"/>
            </a:solidFill>
          </p:spPr>
        </p:sp>
      </p:grpSp>
      <p:sp>
        <p:nvSpPr>
          <p:cNvPr name="TextBox 13" id="13"/>
          <p:cNvSpPr txBox="true"/>
          <p:nvPr/>
        </p:nvSpPr>
        <p:spPr>
          <a:xfrm rot="0">
            <a:off x="1750419" y="6242123"/>
            <a:ext cx="18438743" cy="416938"/>
          </a:xfrm>
          <a:prstGeom prst="rect">
            <a:avLst/>
          </a:prstGeom>
        </p:spPr>
        <p:txBody>
          <a:bodyPr anchor="t" rtlCol="false" tIns="0" lIns="0" bIns="0" rIns="0">
            <a:spAutoFit/>
          </a:bodyPr>
          <a:lstStyle/>
          <a:p>
            <a:pPr algn="l">
              <a:lnSpc>
                <a:spcPts val="2546"/>
              </a:lnSpc>
            </a:pPr>
            <a:r>
              <a:rPr lang="en-US" sz="2122" spc="339">
                <a:solidFill>
                  <a:srgbClr val="16B3A8"/>
                </a:solidFill>
                <a:latin typeface="Georgia"/>
                <a:ea typeface="Georgia"/>
                <a:cs typeface="Georgia"/>
                <a:sym typeface="Georgia"/>
              </a:rPr>
              <a:t>CUSTOMER GROWTH</a:t>
            </a:r>
          </a:p>
        </p:txBody>
      </p:sp>
      <p:sp>
        <p:nvSpPr>
          <p:cNvPr name="TextBox 14" id="14"/>
          <p:cNvSpPr txBox="true"/>
          <p:nvPr/>
        </p:nvSpPr>
        <p:spPr>
          <a:xfrm rot="0">
            <a:off x="1750419" y="7091867"/>
            <a:ext cx="460057" cy="699240"/>
          </a:xfrm>
          <a:prstGeom prst="rect">
            <a:avLst/>
          </a:prstGeom>
        </p:spPr>
        <p:txBody>
          <a:bodyPr anchor="t" rtlCol="false" tIns="0" lIns="0" bIns="0" rIns="0">
            <a:spAutoFit/>
          </a:bodyPr>
          <a:lstStyle/>
          <a:p>
            <a:pPr algn="l">
              <a:lnSpc>
                <a:spcPts val="4315"/>
              </a:lnSpc>
            </a:pPr>
            <a:r>
              <a:rPr lang="en-US" sz="3078">
                <a:solidFill>
                  <a:srgbClr val="16B3A8"/>
                </a:solidFill>
                <a:latin typeface="Georgia"/>
                <a:ea typeface="Georgia"/>
                <a:cs typeface="Georgia"/>
                <a:sym typeface="Georgia"/>
              </a:rPr>
              <a:t>✓</a:t>
            </a:r>
          </a:p>
        </p:txBody>
      </p:sp>
      <p:sp>
        <p:nvSpPr>
          <p:cNvPr name="TextBox 15" id="15"/>
          <p:cNvSpPr txBox="true"/>
          <p:nvPr/>
        </p:nvSpPr>
        <p:spPr>
          <a:xfrm rot="0">
            <a:off x="2288229" y="7091867"/>
            <a:ext cx="6073997"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Customer database organisation</a:t>
            </a:r>
          </a:p>
        </p:txBody>
      </p:sp>
      <p:sp>
        <p:nvSpPr>
          <p:cNvPr name="TextBox 16" id="16"/>
          <p:cNvSpPr txBox="true"/>
          <p:nvPr/>
        </p:nvSpPr>
        <p:spPr>
          <a:xfrm rot="0">
            <a:off x="11103273" y="7091867"/>
            <a:ext cx="460057" cy="699240"/>
          </a:xfrm>
          <a:prstGeom prst="rect">
            <a:avLst/>
          </a:prstGeom>
        </p:spPr>
        <p:txBody>
          <a:bodyPr anchor="t" rtlCol="false" tIns="0" lIns="0" bIns="0" rIns="0">
            <a:spAutoFit/>
          </a:bodyPr>
          <a:lstStyle/>
          <a:p>
            <a:pPr algn="l">
              <a:lnSpc>
                <a:spcPts val="4315"/>
              </a:lnSpc>
            </a:pPr>
            <a:r>
              <a:rPr lang="en-US" sz="3078">
                <a:solidFill>
                  <a:srgbClr val="16B3A8"/>
                </a:solidFill>
                <a:latin typeface="Georgia"/>
                <a:ea typeface="Georgia"/>
                <a:cs typeface="Georgia"/>
                <a:sym typeface="Georgia"/>
              </a:rPr>
              <a:t>✓</a:t>
            </a:r>
          </a:p>
        </p:txBody>
      </p:sp>
      <p:sp>
        <p:nvSpPr>
          <p:cNvPr name="TextBox 17" id="17"/>
          <p:cNvSpPr txBox="true"/>
          <p:nvPr/>
        </p:nvSpPr>
        <p:spPr>
          <a:xfrm rot="0">
            <a:off x="11641084" y="7091867"/>
            <a:ext cx="6800393"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Database cleanup and segmentation</a:t>
            </a:r>
          </a:p>
        </p:txBody>
      </p:sp>
      <p:sp>
        <p:nvSpPr>
          <p:cNvPr name="TextBox 18" id="18"/>
          <p:cNvSpPr txBox="true"/>
          <p:nvPr/>
        </p:nvSpPr>
        <p:spPr>
          <a:xfrm rot="0">
            <a:off x="1750419" y="7873517"/>
            <a:ext cx="460057" cy="699240"/>
          </a:xfrm>
          <a:prstGeom prst="rect">
            <a:avLst/>
          </a:prstGeom>
        </p:spPr>
        <p:txBody>
          <a:bodyPr anchor="t" rtlCol="false" tIns="0" lIns="0" bIns="0" rIns="0">
            <a:spAutoFit/>
          </a:bodyPr>
          <a:lstStyle/>
          <a:p>
            <a:pPr algn="l">
              <a:lnSpc>
                <a:spcPts val="4315"/>
              </a:lnSpc>
            </a:pPr>
            <a:r>
              <a:rPr lang="en-US" sz="3078">
                <a:solidFill>
                  <a:srgbClr val="16B3A8"/>
                </a:solidFill>
                <a:latin typeface="Georgia"/>
                <a:ea typeface="Georgia"/>
                <a:cs typeface="Georgia"/>
                <a:sym typeface="Georgia"/>
              </a:rPr>
              <a:t>✓</a:t>
            </a:r>
          </a:p>
        </p:txBody>
      </p:sp>
      <p:sp>
        <p:nvSpPr>
          <p:cNvPr name="TextBox 19" id="19"/>
          <p:cNvSpPr txBox="true"/>
          <p:nvPr/>
        </p:nvSpPr>
        <p:spPr>
          <a:xfrm rot="0">
            <a:off x="2288229" y="7873517"/>
            <a:ext cx="5333238"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WhatsApp broadcast system</a:t>
            </a:r>
          </a:p>
        </p:txBody>
      </p:sp>
      <p:sp>
        <p:nvSpPr>
          <p:cNvPr name="TextBox 20" id="20"/>
          <p:cNvSpPr txBox="true"/>
          <p:nvPr/>
        </p:nvSpPr>
        <p:spPr>
          <a:xfrm rot="0">
            <a:off x="11103273" y="7873517"/>
            <a:ext cx="460057" cy="699240"/>
          </a:xfrm>
          <a:prstGeom prst="rect">
            <a:avLst/>
          </a:prstGeom>
        </p:spPr>
        <p:txBody>
          <a:bodyPr anchor="t" rtlCol="false" tIns="0" lIns="0" bIns="0" rIns="0">
            <a:spAutoFit/>
          </a:bodyPr>
          <a:lstStyle/>
          <a:p>
            <a:pPr algn="l">
              <a:lnSpc>
                <a:spcPts val="4315"/>
              </a:lnSpc>
            </a:pPr>
            <a:r>
              <a:rPr lang="en-US" sz="3078">
                <a:solidFill>
                  <a:srgbClr val="16B3A8"/>
                </a:solidFill>
                <a:latin typeface="Georgia"/>
                <a:ea typeface="Georgia"/>
                <a:cs typeface="Georgia"/>
                <a:sym typeface="Georgia"/>
              </a:rPr>
              <a:t>✓</a:t>
            </a:r>
          </a:p>
        </p:txBody>
      </p:sp>
      <p:sp>
        <p:nvSpPr>
          <p:cNvPr name="TextBox 21" id="21"/>
          <p:cNvSpPr txBox="true"/>
          <p:nvPr/>
        </p:nvSpPr>
        <p:spPr>
          <a:xfrm rot="0">
            <a:off x="11641084" y="7873517"/>
            <a:ext cx="4592479"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Referral campaign setup</a:t>
            </a:r>
          </a:p>
        </p:txBody>
      </p:sp>
      <p:sp>
        <p:nvSpPr>
          <p:cNvPr name="TextBox 22" id="22"/>
          <p:cNvSpPr txBox="true"/>
          <p:nvPr/>
        </p:nvSpPr>
        <p:spPr>
          <a:xfrm rot="0">
            <a:off x="1750419" y="8655167"/>
            <a:ext cx="460057" cy="699240"/>
          </a:xfrm>
          <a:prstGeom prst="rect">
            <a:avLst/>
          </a:prstGeom>
        </p:spPr>
        <p:txBody>
          <a:bodyPr anchor="t" rtlCol="false" tIns="0" lIns="0" bIns="0" rIns="0">
            <a:spAutoFit/>
          </a:bodyPr>
          <a:lstStyle/>
          <a:p>
            <a:pPr algn="l">
              <a:lnSpc>
                <a:spcPts val="4315"/>
              </a:lnSpc>
            </a:pPr>
            <a:r>
              <a:rPr lang="en-US" sz="3078">
                <a:solidFill>
                  <a:srgbClr val="16B3A8"/>
                </a:solidFill>
                <a:latin typeface="Georgia"/>
                <a:ea typeface="Georgia"/>
                <a:cs typeface="Georgia"/>
                <a:sym typeface="Georgia"/>
              </a:rPr>
              <a:t>✓</a:t>
            </a:r>
          </a:p>
        </p:txBody>
      </p:sp>
      <p:sp>
        <p:nvSpPr>
          <p:cNvPr name="TextBox 23" id="23"/>
          <p:cNvSpPr txBox="true"/>
          <p:nvPr/>
        </p:nvSpPr>
        <p:spPr>
          <a:xfrm rot="0">
            <a:off x="2288229" y="8655167"/>
            <a:ext cx="5843292"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AMC / maintenance reminders</a:t>
            </a:r>
          </a:p>
        </p:txBody>
      </p:sp>
      <p:sp>
        <p:nvSpPr>
          <p:cNvPr name="TextBox 24" id="24"/>
          <p:cNvSpPr txBox="true"/>
          <p:nvPr/>
        </p:nvSpPr>
        <p:spPr>
          <a:xfrm rot="0">
            <a:off x="11103273" y="8655167"/>
            <a:ext cx="460057" cy="699240"/>
          </a:xfrm>
          <a:prstGeom prst="rect">
            <a:avLst/>
          </a:prstGeom>
        </p:spPr>
        <p:txBody>
          <a:bodyPr anchor="t" rtlCol="false" tIns="0" lIns="0" bIns="0" rIns="0">
            <a:spAutoFit/>
          </a:bodyPr>
          <a:lstStyle/>
          <a:p>
            <a:pPr algn="l">
              <a:lnSpc>
                <a:spcPts val="4315"/>
              </a:lnSpc>
            </a:pPr>
            <a:r>
              <a:rPr lang="en-US" sz="3078">
                <a:solidFill>
                  <a:srgbClr val="16B3A8"/>
                </a:solidFill>
                <a:latin typeface="Georgia"/>
                <a:ea typeface="Georgia"/>
                <a:cs typeface="Georgia"/>
                <a:sym typeface="Georgia"/>
              </a:rPr>
              <a:t>✓</a:t>
            </a:r>
          </a:p>
        </p:txBody>
      </p:sp>
      <p:sp>
        <p:nvSpPr>
          <p:cNvPr name="TextBox 25" id="25"/>
          <p:cNvSpPr txBox="true"/>
          <p:nvPr/>
        </p:nvSpPr>
        <p:spPr>
          <a:xfrm rot="0">
            <a:off x="11641084" y="8655167"/>
            <a:ext cx="6862934"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Repeat-business campaign structure</a:t>
            </a:r>
          </a:p>
        </p:txBody>
      </p:sp>
      <p:sp>
        <p:nvSpPr>
          <p:cNvPr name="TextBox 26" id="26"/>
          <p:cNvSpPr txBox="true"/>
          <p:nvPr/>
        </p:nvSpPr>
        <p:spPr>
          <a:xfrm rot="0">
            <a:off x="1750419" y="9436818"/>
            <a:ext cx="460057" cy="699240"/>
          </a:xfrm>
          <a:prstGeom prst="rect">
            <a:avLst/>
          </a:prstGeom>
        </p:spPr>
        <p:txBody>
          <a:bodyPr anchor="t" rtlCol="false" tIns="0" lIns="0" bIns="0" rIns="0">
            <a:spAutoFit/>
          </a:bodyPr>
          <a:lstStyle/>
          <a:p>
            <a:pPr algn="l">
              <a:lnSpc>
                <a:spcPts val="4315"/>
              </a:lnSpc>
            </a:pPr>
            <a:r>
              <a:rPr lang="en-US" sz="3078">
                <a:solidFill>
                  <a:srgbClr val="16B3A8"/>
                </a:solidFill>
                <a:latin typeface="Georgia"/>
                <a:ea typeface="Georgia"/>
                <a:cs typeface="Georgia"/>
                <a:sym typeface="Georgia"/>
              </a:rPr>
              <a:t>✓</a:t>
            </a:r>
          </a:p>
        </p:txBody>
      </p:sp>
      <p:sp>
        <p:nvSpPr>
          <p:cNvPr name="TextBox 27" id="27"/>
          <p:cNvSpPr txBox="true"/>
          <p:nvPr/>
        </p:nvSpPr>
        <p:spPr>
          <a:xfrm rot="0">
            <a:off x="2288229" y="9436818"/>
            <a:ext cx="6944468"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Customer communication workflows</a:t>
            </a:r>
          </a:p>
        </p:txBody>
      </p:sp>
      <p:grpSp>
        <p:nvGrpSpPr>
          <p:cNvPr name="Group 28" id="28"/>
          <p:cNvGrpSpPr/>
          <p:nvPr/>
        </p:nvGrpSpPr>
        <p:grpSpPr>
          <a:xfrm rot="0">
            <a:off x="1725025" y="11266551"/>
            <a:ext cx="17951006" cy="26956"/>
            <a:chOff x="0" y="0"/>
            <a:chExt cx="23934674" cy="35941"/>
          </a:xfrm>
        </p:grpSpPr>
        <p:sp>
          <p:nvSpPr>
            <p:cNvPr name="Freeform 29" id="29"/>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E2E8F1"/>
            </a:solidFill>
          </p:spPr>
        </p:sp>
      </p:grpSp>
      <p:sp>
        <p:nvSpPr>
          <p:cNvPr name="TextBox 30" id="30"/>
          <p:cNvSpPr txBox="true"/>
          <p:nvPr/>
        </p:nvSpPr>
        <p:spPr>
          <a:xfrm rot="0">
            <a:off x="1750419" y="10716406"/>
            <a:ext cx="18438743" cy="416938"/>
          </a:xfrm>
          <a:prstGeom prst="rect">
            <a:avLst/>
          </a:prstGeom>
        </p:spPr>
        <p:txBody>
          <a:bodyPr anchor="t" rtlCol="false" tIns="0" lIns="0" bIns="0" rIns="0">
            <a:spAutoFit/>
          </a:bodyPr>
          <a:lstStyle/>
          <a:p>
            <a:pPr algn="l">
              <a:lnSpc>
                <a:spcPts val="2546"/>
              </a:lnSpc>
            </a:pPr>
            <a:r>
              <a:rPr lang="en-US" sz="2122" spc="339">
                <a:solidFill>
                  <a:srgbClr val="1546E0"/>
                </a:solidFill>
                <a:latin typeface="Georgia"/>
                <a:ea typeface="Georgia"/>
                <a:cs typeface="Georgia"/>
                <a:sym typeface="Georgia"/>
              </a:rPr>
              <a:t>COMMERCIAL OUTREACH</a:t>
            </a:r>
          </a:p>
        </p:txBody>
      </p:sp>
      <p:sp>
        <p:nvSpPr>
          <p:cNvPr name="TextBox 31" id="31"/>
          <p:cNvSpPr txBox="true"/>
          <p:nvPr/>
        </p:nvSpPr>
        <p:spPr>
          <a:xfrm rot="0">
            <a:off x="1750419" y="11566141"/>
            <a:ext cx="460057" cy="699240"/>
          </a:xfrm>
          <a:prstGeom prst="rect">
            <a:avLst/>
          </a:prstGeom>
        </p:spPr>
        <p:txBody>
          <a:bodyPr anchor="t" rtlCol="false" tIns="0" lIns="0" bIns="0" rIns="0">
            <a:spAutoFit/>
          </a:bodyPr>
          <a:lstStyle/>
          <a:p>
            <a:pPr algn="l">
              <a:lnSpc>
                <a:spcPts val="4315"/>
              </a:lnSpc>
            </a:pPr>
            <a:r>
              <a:rPr lang="en-US" sz="3078">
                <a:solidFill>
                  <a:srgbClr val="1546E0"/>
                </a:solidFill>
                <a:latin typeface="Georgia"/>
                <a:ea typeface="Georgia"/>
                <a:cs typeface="Georgia"/>
                <a:sym typeface="Georgia"/>
              </a:rPr>
              <a:t>✓</a:t>
            </a:r>
          </a:p>
        </p:txBody>
      </p:sp>
      <p:sp>
        <p:nvSpPr>
          <p:cNvPr name="TextBox 32" id="32"/>
          <p:cNvSpPr txBox="true"/>
          <p:nvPr/>
        </p:nvSpPr>
        <p:spPr>
          <a:xfrm rot="0">
            <a:off x="2288229" y="11566141"/>
            <a:ext cx="6414964"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Ideal Customer Profile framework</a:t>
            </a:r>
          </a:p>
        </p:txBody>
      </p:sp>
      <p:sp>
        <p:nvSpPr>
          <p:cNvPr name="TextBox 33" id="33"/>
          <p:cNvSpPr txBox="true"/>
          <p:nvPr/>
        </p:nvSpPr>
        <p:spPr>
          <a:xfrm rot="0">
            <a:off x="11103273" y="11566141"/>
            <a:ext cx="460057" cy="699240"/>
          </a:xfrm>
          <a:prstGeom prst="rect">
            <a:avLst/>
          </a:prstGeom>
        </p:spPr>
        <p:txBody>
          <a:bodyPr anchor="t" rtlCol="false" tIns="0" lIns="0" bIns="0" rIns="0">
            <a:spAutoFit/>
          </a:bodyPr>
          <a:lstStyle/>
          <a:p>
            <a:pPr algn="l">
              <a:lnSpc>
                <a:spcPts val="4315"/>
              </a:lnSpc>
            </a:pPr>
            <a:r>
              <a:rPr lang="en-US" sz="3078">
                <a:solidFill>
                  <a:srgbClr val="1546E0"/>
                </a:solidFill>
                <a:latin typeface="Georgia"/>
                <a:ea typeface="Georgia"/>
                <a:cs typeface="Georgia"/>
                <a:sym typeface="Georgia"/>
              </a:rPr>
              <a:t>✓</a:t>
            </a:r>
          </a:p>
        </p:txBody>
      </p:sp>
      <p:sp>
        <p:nvSpPr>
          <p:cNvPr name="TextBox 34" id="34"/>
          <p:cNvSpPr txBox="true"/>
          <p:nvPr/>
        </p:nvSpPr>
        <p:spPr>
          <a:xfrm rot="0">
            <a:off x="11641084" y="11566141"/>
            <a:ext cx="6019790"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Commercial prospecting system</a:t>
            </a:r>
          </a:p>
        </p:txBody>
      </p:sp>
      <p:sp>
        <p:nvSpPr>
          <p:cNvPr name="TextBox 35" id="35"/>
          <p:cNvSpPr txBox="true"/>
          <p:nvPr/>
        </p:nvSpPr>
        <p:spPr>
          <a:xfrm rot="0">
            <a:off x="1750419" y="12347791"/>
            <a:ext cx="460057" cy="699240"/>
          </a:xfrm>
          <a:prstGeom prst="rect">
            <a:avLst/>
          </a:prstGeom>
        </p:spPr>
        <p:txBody>
          <a:bodyPr anchor="t" rtlCol="false" tIns="0" lIns="0" bIns="0" rIns="0">
            <a:spAutoFit/>
          </a:bodyPr>
          <a:lstStyle/>
          <a:p>
            <a:pPr algn="l">
              <a:lnSpc>
                <a:spcPts val="4315"/>
              </a:lnSpc>
            </a:pPr>
            <a:r>
              <a:rPr lang="en-US" sz="3078">
                <a:solidFill>
                  <a:srgbClr val="1546E0"/>
                </a:solidFill>
                <a:latin typeface="Georgia"/>
                <a:ea typeface="Georgia"/>
                <a:cs typeface="Georgia"/>
                <a:sym typeface="Georgia"/>
              </a:rPr>
              <a:t>✓</a:t>
            </a:r>
          </a:p>
        </p:txBody>
      </p:sp>
      <p:sp>
        <p:nvSpPr>
          <p:cNvPr name="TextBox 36" id="36"/>
          <p:cNvSpPr txBox="true"/>
          <p:nvPr/>
        </p:nvSpPr>
        <p:spPr>
          <a:xfrm rot="0">
            <a:off x="2288229" y="12347791"/>
            <a:ext cx="5351307"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Verified prospect generation</a:t>
            </a:r>
          </a:p>
        </p:txBody>
      </p:sp>
      <p:sp>
        <p:nvSpPr>
          <p:cNvPr name="TextBox 37" id="37"/>
          <p:cNvSpPr txBox="true"/>
          <p:nvPr/>
        </p:nvSpPr>
        <p:spPr>
          <a:xfrm rot="0">
            <a:off x="11103273" y="12347791"/>
            <a:ext cx="460057" cy="699240"/>
          </a:xfrm>
          <a:prstGeom prst="rect">
            <a:avLst/>
          </a:prstGeom>
        </p:spPr>
        <p:txBody>
          <a:bodyPr anchor="t" rtlCol="false" tIns="0" lIns="0" bIns="0" rIns="0">
            <a:spAutoFit/>
          </a:bodyPr>
          <a:lstStyle/>
          <a:p>
            <a:pPr algn="l">
              <a:lnSpc>
                <a:spcPts val="4315"/>
              </a:lnSpc>
            </a:pPr>
            <a:r>
              <a:rPr lang="en-US" sz="3078">
                <a:solidFill>
                  <a:srgbClr val="1546E0"/>
                </a:solidFill>
                <a:latin typeface="Georgia"/>
                <a:ea typeface="Georgia"/>
                <a:cs typeface="Georgia"/>
                <a:sym typeface="Georgia"/>
              </a:rPr>
              <a:t>✓</a:t>
            </a:r>
          </a:p>
        </p:txBody>
      </p:sp>
      <p:sp>
        <p:nvSpPr>
          <p:cNvPr name="TextBox 38" id="38"/>
          <p:cNvSpPr txBox="true"/>
          <p:nvPr/>
        </p:nvSpPr>
        <p:spPr>
          <a:xfrm rot="0">
            <a:off x="11641084" y="12347791"/>
            <a:ext cx="4273296"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Email outreach system</a:t>
            </a:r>
          </a:p>
        </p:txBody>
      </p:sp>
      <p:sp>
        <p:nvSpPr>
          <p:cNvPr name="TextBox 39" id="39"/>
          <p:cNvSpPr txBox="true"/>
          <p:nvPr/>
        </p:nvSpPr>
        <p:spPr>
          <a:xfrm rot="0">
            <a:off x="1750419" y="13129450"/>
            <a:ext cx="460057" cy="699240"/>
          </a:xfrm>
          <a:prstGeom prst="rect">
            <a:avLst/>
          </a:prstGeom>
        </p:spPr>
        <p:txBody>
          <a:bodyPr anchor="t" rtlCol="false" tIns="0" lIns="0" bIns="0" rIns="0">
            <a:spAutoFit/>
          </a:bodyPr>
          <a:lstStyle/>
          <a:p>
            <a:pPr algn="l">
              <a:lnSpc>
                <a:spcPts val="4315"/>
              </a:lnSpc>
            </a:pPr>
            <a:r>
              <a:rPr lang="en-US" sz="3078">
                <a:solidFill>
                  <a:srgbClr val="1546E0"/>
                </a:solidFill>
                <a:latin typeface="Georgia"/>
                <a:ea typeface="Georgia"/>
                <a:cs typeface="Georgia"/>
                <a:sym typeface="Georgia"/>
              </a:rPr>
              <a:t>✓</a:t>
            </a:r>
          </a:p>
        </p:txBody>
      </p:sp>
      <p:sp>
        <p:nvSpPr>
          <p:cNvPr name="TextBox 40" id="40"/>
          <p:cNvSpPr txBox="true"/>
          <p:nvPr/>
        </p:nvSpPr>
        <p:spPr>
          <a:xfrm rot="0">
            <a:off x="2288229" y="13129450"/>
            <a:ext cx="5897489"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Email templates and sequences</a:t>
            </a:r>
          </a:p>
        </p:txBody>
      </p:sp>
      <p:sp>
        <p:nvSpPr>
          <p:cNvPr name="TextBox 41" id="41"/>
          <p:cNvSpPr txBox="true"/>
          <p:nvPr/>
        </p:nvSpPr>
        <p:spPr>
          <a:xfrm rot="0">
            <a:off x="11103273" y="13129450"/>
            <a:ext cx="460057" cy="699240"/>
          </a:xfrm>
          <a:prstGeom prst="rect">
            <a:avLst/>
          </a:prstGeom>
        </p:spPr>
        <p:txBody>
          <a:bodyPr anchor="t" rtlCol="false" tIns="0" lIns="0" bIns="0" rIns="0">
            <a:spAutoFit/>
          </a:bodyPr>
          <a:lstStyle/>
          <a:p>
            <a:pPr algn="l">
              <a:lnSpc>
                <a:spcPts val="4315"/>
              </a:lnSpc>
            </a:pPr>
            <a:r>
              <a:rPr lang="en-US" sz="3078">
                <a:solidFill>
                  <a:srgbClr val="1546E0"/>
                </a:solidFill>
                <a:latin typeface="Georgia"/>
                <a:ea typeface="Georgia"/>
                <a:cs typeface="Georgia"/>
                <a:sym typeface="Georgia"/>
              </a:rPr>
              <a:t>✓</a:t>
            </a:r>
          </a:p>
        </p:txBody>
      </p:sp>
      <p:sp>
        <p:nvSpPr>
          <p:cNvPr name="TextBox 42" id="42"/>
          <p:cNvSpPr txBox="true"/>
          <p:nvPr/>
        </p:nvSpPr>
        <p:spPr>
          <a:xfrm rot="0">
            <a:off x="11641084" y="13129450"/>
            <a:ext cx="3723399"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Follow-up structure</a:t>
            </a:r>
          </a:p>
        </p:txBody>
      </p:sp>
      <p:sp>
        <p:nvSpPr>
          <p:cNvPr name="TextBox 43" id="43"/>
          <p:cNvSpPr txBox="true"/>
          <p:nvPr/>
        </p:nvSpPr>
        <p:spPr>
          <a:xfrm rot="0">
            <a:off x="1750419" y="13911101"/>
            <a:ext cx="460057" cy="699240"/>
          </a:xfrm>
          <a:prstGeom prst="rect">
            <a:avLst/>
          </a:prstGeom>
        </p:spPr>
        <p:txBody>
          <a:bodyPr anchor="t" rtlCol="false" tIns="0" lIns="0" bIns="0" rIns="0">
            <a:spAutoFit/>
          </a:bodyPr>
          <a:lstStyle/>
          <a:p>
            <a:pPr algn="l">
              <a:lnSpc>
                <a:spcPts val="4315"/>
              </a:lnSpc>
            </a:pPr>
            <a:r>
              <a:rPr lang="en-US" sz="3078">
                <a:solidFill>
                  <a:srgbClr val="1546E0"/>
                </a:solidFill>
                <a:latin typeface="Georgia"/>
                <a:ea typeface="Georgia"/>
                <a:cs typeface="Georgia"/>
                <a:sym typeface="Georgia"/>
              </a:rPr>
              <a:t>✓</a:t>
            </a:r>
          </a:p>
        </p:txBody>
      </p:sp>
      <p:sp>
        <p:nvSpPr>
          <p:cNvPr name="TextBox 44" id="44"/>
          <p:cNvSpPr txBox="true"/>
          <p:nvPr/>
        </p:nvSpPr>
        <p:spPr>
          <a:xfrm rot="0">
            <a:off x="2288229" y="13911101"/>
            <a:ext cx="6144873"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Campaign setup and automation</a:t>
            </a:r>
          </a:p>
        </p:txBody>
      </p:sp>
      <p:grpSp>
        <p:nvGrpSpPr>
          <p:cNvPr name="Group 45" id="45"/>
          <p:cNvGrpSpPr/>
          <p:nvPr/>
        </p:nvGrpSpPr>
        <p:grpSpPr>
          <a:xfrm rot="0">
            <a:off x="1725025" y="15740824"/>
            <a:ext cx="17951006" cy="26956"/>
            <a:chOff x="0" y="0"/>
            <a:chExt cx="23934674" cy="35941"/>
          </a:xfrm>
        </p:grpSpPr>
        <p:sp>
          <p:nvSpPr>
            <p:cNvPr name="Freeform 46" id="46"/>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E2E8F1"/>
            </a:solidFill>
          </p:spPr>
        </p:sp>
      </p:grpSp>
      <p:sp>
        <p:nvSpPr>
          <p:cNvPr name="TextBox 47" id="47"/>
          <p:cNvSpPr txBox="true"/>
          <p:nvPr/>
        </p:nvSpPr>
        <p:spPr>
          <a:xfrm rot="0">
            <a:off x="1750419" y="15190680"/>
            <a:ext cx="18438743" cy="416938"/>
          </a:xfrm>
          <a:prstGeom prst="rect">
            <a:avLst/>
          </a:prstGeom>
        </p:spPr>
        <p:txBody>
          <a:bodyPr anchor="t" rtlCol="false" tIns="0" lIns="0" bIns="0" rIns="0">
            <a:spAutoFit/>
          </a:bodyPr>
          <a:lstStyle/>
          <a:p>
            <a:pPr algn="l">
              <a:lnSpc>
                <a:spcPts val="2546"/>
              </a:lnSpc>
            </a:pPr>
            <a:r>
              <a:rPr lang="en-US" sz="2122" spc="339">
                <a:solidFill>
                  <a:srgbClr val="2E7D5B"/>
                </a:solidFill>
                <a:latin typeface="Georgia"/>
                <a:ea typeface="Georgia"/>
                <a:cs typeface="Georgia"/>
                <a:sym typeface="Georgia"/>
              </a:rPr>
              <a:t>DIGITAL GROWTH</a:t>
            </a:r>
          </a:p>
        </p:txBody>
      </p:sp>
      <p:sp>
        <p:nvSpPr>
          <p:cNvPr name="TextBox 48" id="48"/>
          <p:cNvSpPr txBox="true"/>
          <p:nvPr/>
        </p:nvSpPr>
        <p:spPr>
          <a:xfrm rot="0">
            <a:off x="1750419" y="16040424"/>
            <a:ext cx="460057" cy="699240"/>
          </a:xfrm>
          <a:prstGeom prst="rect">
            <a:avLst/>
          </a:prstGeom>
        </p:spPr>
        <p:txBody>
          <a:bodyPr anchor="t" rtlCol="false" tIns="0" lIns="0" bIns="0" rIns="0">
            <a:spAutoFit/>
          </a:bodyPr>
          <a:lstStyle/>
          <a:p>
            <a:pPr algn="l">
              <a:lnSpc>
                <a:spcPts val="4315"/>
              </a:lnSpc>
            </a:pPr>
            <a:r>
              <a:rPr lang="en-US" sz="3078">
                <a:solidFill>
                  <a:srgbClr val="2E7D5B"/>
                </a:solidFill>
                <a:latin typeface="Georgia"/>
                <a:ea typeface="Georgia"/>
                <a:cs typeface="Georgia"/>
                <a:sym typeface="Georgia"/>
              </a:rPr>
              <a:t>✓</a:t>
            </a:r>
          </a:p>
        </p:txBody>
      </p:sp>
      <p:sp>
        <p:nvSpPr>
          <p:cNvPr name="TextBox 49" id="49"/>
          <p:cNvSpPr txBox="true"/>
          <p:nvPr/>
        </p:nvSpPr>
        <p:spPr>
          <a:xfrm rot="0">
            <a:off x="2288229" y="16040424"/>
            <a:ext cx="6187497"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Website conversion optimisation</a:t>
            </a:r>
          </a:p>
        </p:txBody>
      </p:sp>
      <p:sp>
        <p:nvSpPr>
          <p:cNvPr name="TextBox 50" id="50"/>
          <p:cNvSpPr txBox="true"/>
          <p:nvPr/>
        </p:nvSpPr>
        <p:spPr>
          <a:xfrm rot="0">
            <a:off x="11103273" y="16040424"/>
            <a:ext cx="460057" cy="699240"/>
          </a:xfrm>
          <a:prstGeom prst="rect">
            <a:avLst/>
          </a:prstGeom>
        </p:spPr>
        <p:txBody>
          <a:bodyPr anchor="t" rtlCol="false" tIns="0" lIns="0" bIns="0" rIns="0">
            <a:spAutoFit/>
          </a:bodyPr>
          <a:lstStyle/>
          <a:p>
            <a:pPr algn="l">
              <a:lnSpc>
                <a:spcPts val="4315"/>
              </a:lnSpc>
            </a:pPr>
            <a:r>
              <a:rPr lang="en-US" sz="3078">
                <a:solidFill>
                  <a:srgbClr val="2E7D5B"/>
                </a:solidFill>
                <a:latin typeface="Georgia"/>
                <a:ea typeface="Georgia"/>
                <a:cs typeface="Georgia"/>
                <a:sym typeface="Georgia"/>
              </a:rPr>
              <a:t>✓</a:t>
            </a:r>
          </a:p>
        </p:txBody>
      </p:sp>
      <p:sp>
        <p:nvSpPr>
          <p:cNvPr name="TextBox 51" id="51"/>
          <p:cNvSpPr txBox="true"/>
          <p:nvPr/>
        </p:nvSpPr>
        <p:spPr>
          <a:xfrm rot="0">
            <a:off x="11641084" y="16040424"/>
            <a:ext cx="3223622"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SEO optimisation</a:t>
            </a:r>
          </a:p>
        </p:txBody>
      </p:sp>
      <p:sp>
        <p:nvSpPr>
          <p:cNvPr name="TextBox 52" id="52"/>
          <p:cNvSpPr txBox="true"/>
          <p:nvPr/>
        </p:nvSpPr>
        <p:spPr>
          <a:xfrm rot="0">
            <a:off x="1750419" y="16822074"/>
            <a:ext cx="460057" cy="699240"/>
          </a:xfrm>
          <a:prstGeom prst="rect">
            <a:avLst/>
          </a:prstGeom>
        </p:spPr>
        <p:txBody>
          <a:bodyPr anchor="t" rtlCol="false" tIns="0" lIns="0" bIns="0" rIns="0">
            <a:spAutoFit/>
          </a:bodyPr>
          <a:lstStyle/>
          <a:p>
            <a:pPr algn="l">
              <a:lnSpc>
                <a:spcPts val="4315"/>
              </a:lnSpc>
            </a:pPr>
            <a:r>
              <a:rPr lang="en-US" sz="3078">
                <a:solidFill>
                  <a:srgbClr val="2E7D5B"/>
                </a:solidFill>
                <a:latin typeface="Georgia"/>
                <a:ea typeface="Georgia"/>
                <a:cs typeface="Georgia"/>
                <a:sym typeface="Georgia"/>
              </a:rPr>
              <a:t>✓</a:t>
            </a:r>
          </a:p>
        </p:txBody>
      </p:sp>
      <p:sp>
        <p:nvSpPr>
          <p:cNvPr name="TextBox 53" id="53"/>
          <p:cNvSpPr txBox="true"/>
          <p:nvPr/>
        </p:nvSpPr>
        <p:spPr>
          <a:xfrm rot="0">
            <a:off x="2288229" y="16822074"/>
            <a:ext cx="3287639"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GEO optimisation</a:t>
            </a:r>
          </a:p>
        </p:txBody>
      </p:sp>
      <p:sp>
        <p:nvSpPr>
          <p:cNvPr name="TextBox 54" id="54"/>
          <p:cNvSpPr txBox="true"/>
          <p:nvPr/>
        </p:nvSpPr>
        <p:spPr>
          <a:xfrm rot="0">
            <a:off x="11103273" y="16822074"/>
            <a:ext cx="460057" cy="699240"/>
          </a:xfrm>
          <a:prstGeom prst="rect">
            <a:avLst/>
          </a:prstGeom>
        </p:spPr>
        <p:txBody>
          <a:bodyPr anchor="t" rtlCol="false" tIns="0" lIns="0" bIns="0" rIns="0">
            <a:spAutoFit/>
          </a:bodyPr>
          <a:lstStyle/>
          <a:p>
            <a:pPr algn="l">
              <a:lnSpc>
                <a:spcPts val="4315"/>
              </a:lnSpc>
            </a:pPr>
            <a:r>
              <a:rPr lang="en-US" sz="3078">
                <a:solidFill>
                  <a:srgbClr val="2E7D5B"/>
                </a:solidFill>
                <a:latin typeface="Georgia"/>
                <a:ea typeface="Georgia"/>
                <a:cs typeface="Georgia"/>
                <a:sym typeface="Georgia"/>
              </a:rPr>
              <a:t>✓</a:t>
            </a:r>
          </a:p>
        </p:txBody>
      </p:sp>
      <p:sp>
        <p:nvSpPr>
          <p:cNvPr name="TextBox 55" id="55"/>
          <p:cNvSpPr txBox="true"/>
          <p:nvPr/>
        </p:nvSpPr>
        <p:spPr>
          <a:xfrm rot="0">
            <a:off x="11641084" y="16822074"/>
            <a:ext cx="5560705"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Google Business Profile setup</a:t>
            </a:r>
          </a:p>
        </p:txBody>
      </p:sp>
      <p:sp>
        <p:nvSpPr>
          <p:cNvPr name="TextBox 56" id="56"/>
          <p:cNvSpPr txBox="true"/>
          <p:nvPr/>
        </p:nvSpPr>
        <p:spPr>
          <a:xfrm rot="0">
            <a:off x="1750419" y="17603724"/>
            <a:ext cx="460057" cy="699240"/>
          </a:xfrm>
          <a:prstGeom prst="rect">
            <a:avLst/>
          </a:prstGeom>
        </p:spPr>
        <p:txBody>
          <a:bodyPr anchor="t" rtlCol="false" tIns="0" lIns="0" bIns="0" rIns="0">
            <a:spAutoFit/>
          </a:bodyPr>
          <a:lstStyle/>
          <a:p>
            <a:pPr algn="l">
              <a:lnSpc>
                <a:spcPts val="4315"/>
              </a:lnSpc>
            </a:pPr>
            <a:r>
              <a:rPr lang="en-US" sz="3078">
                <a:solidFill>
                  <a:srgbClr val="2E7D5B"/>
                </a:solidFill>
                <a:latin typeface="Georgia"/>
                <a:ea typeface="Georgia"/>
                <a:cs typeface="Georgia"/>
                <a:sym typeface="Georgia"/>
              </a:rPr>
              <a:t>✓</a:t>
            </a:r>
          </a:p>
        </p:txBody>
      </p:sp>
      <p:sp>
        <p:nvSpPr>
          <p:cNvPr name="TextBox 57" id="57"/>
          <p:cNvSpPr txBox="true"/>
          <p:nvPr/>
        </p:nvSpPr>
        <p:spPr>
          <a:xfrm rot="0">
            <a:off x="2288229" y="17603724"/>
            <a:ext cx="4946875"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Review-generation system</a:t>
            </a:r>
          </a:p>
        </p:txBody>
      </p:sp>
      <p:sp>
        <p:nvSpPr>
          <p:cNvPr name="TextBox 58" id="58"/>
          <p:cNvSpPr txBox="true"/>
          <p:nvPr/>
        </p:nvSpPr>
        <p:spPr>
          <a:xfrm rot="0">
            <a:off x="11103273" y="17603724"/>
            <a:ext cx="460057" cy="699240"/>
          </a:xfrm>
          <a:prstGeom prst="rect">
            <a:avLst/>
          </a:prstGeom>
        </p:spPr>
        <p:txBody>
          <a:bodyPr anchor="t" rtlCol="false" tIns="0" lIns="0" bIns="0" rIns="0">
            <a:spAutoFit/>
          </a:bodyPr>
          <a:lstStyle/>
          <a:p>
            <a:pPr algn="l">
              <a:lnSpc>
                <a:spcPts val="4315"/>
              </a:lnSpc>
            </a:pPr>
            <a:r>
              <a:rPr lang="en-US" sz="3078">
                <a:solidFill>
                  <a:srgbClr val="2E7D5B"/>
                </a:solidFill>
                <a:latin typeface="Georgia"/>
                <a:ea typeface="Georgia"/>
                <a:cs typeface="Georgia"/>
                <a:sym typeface="Georgia"/>
              </a:rPr>
              <a:t>✓</a:t>
            </a:r>
          </a:p>
        </p:txBody>
      </p:sp>
      <p:sp>
        <p:nvSpPr>
          <p:cNvPr name="TextBox 59" id="59"/>
          <p:cNvSpPr txBox="true"/>
          <p:nvPr/>
        </p:nvSpPr>
        <p:spPr>
          <a:xfrm rot="0">
            <a:off x="11641084" y="17603724"/>
            <a:ext cx="6532626"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Reputation management workflow</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725025" y="2102368"/>
            <a:ext cx="17951006" cy="26956"/>
            <a:chOff x="0" y="0"/>
            <a:chExt cx="23934674" cy="35941"/>
          </a:xfrm>
        </p:grpSpPr>
        <p:sp>
          <p:nvSpPr>
            <p:cNvPr name="Freeform 3" id="3"/>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E2E8F1"/>
            </a:solidFill>
          </p:spPr>
        </p:sp>
      </p:grpSp>
      <p:sp>
        <p:nvSpPr>
          <p:cNvPr name="TextBox 4" id="4"/>
          <p:cNvSpPr txBox="true"/>
          <p:nvPr/>
        </p:nvSpPr>
        <p:spPr>
          <a:xfrm rot="0">
            <a:off x="1750419" y="1525267"/>
            <a:ext cx="3195828"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LUMELUSH STUDIO</a:t>
            </a:r>
          </a:p>
        </p:txBody>
      </p:sp>
      <p:sp>
        <p:nvSpPr>
          <p:cNvPr name="TextBox 5" id="5"/>
          <p:cNvSpPr txBox="true"/>
          <p:nvPr/>
        </p:nvSpPr>
        <p:spPr>
          <a:xfrm rot="0">
            <a:off x="15847933" y="1525267"/>
            <a:ext cx="4188057"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COMMERCIAL PROPOSAL</a:t>
            </a:r>
          </a:p>
        </p:txBody>
      </p:sp>
      <p:grpSp>
        <p:nvGrpSpPr>
          <p:cNvPr name="Group 6" id="6"/>
          <p:cNvGrpSpPr/>
          <p:nvPr/>
        </p:nvGrpSpPr>
        <p:grpSpPr>
          <a:xfrm rot="0">
            <a:off x="1725025" y="4312558"/>
            <a:ext cx="17951006" cy="26956"/>
            <a:chOff x="0" y="0"/>
            <a:chExt cx="23934674" cy="35941"/>
          </a:xfrm>
        </p:grpSpPr>
        <p:sp>
          <p:nvSpPr>
            <p:cNvPr name="Freeform 7" id="7"/>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DCE3EE"/>
            </a:solidFill>
          </p:spPr>
        </p:sp>
      </p:grpSp>
      <p:sp>
        <p:nvSpPr>
          <p:cNvPr name="TextBox 8" id="8"/>
          <p:cNvSpPr txBox="true"/>
          <p:nvPr/>
        </p:nvSpPr>
        <p:spPr>
          <a:xfrm rot="0">
            <a:off x="1750419" y="3519830"/>
            <a:ext cx="671465" cy="470840"/>
          </a:xfrm>
          <a:prstGeom prst="rect">
            <a:avLst/>
          </a:prstGeom>
        </p:spPr>
        <p:txBody>
          <a:bodyPr anchor="t" rtlCol="false" tIns="0" lIns="0" bIns="0" rIns="0">
            <a:spAutoFit/>
          </a:bodyPr>
          <a:lstStyle/>
          <a:p>
            <a:pPr algn="l">
              <a:lnSpc>
                <a:spcPts val="3310"/>
              </a:lnSpc>
            </a:pPr>
            <a:r>
              <a:rPr lang="en-US" sz="2759" spc="387">
                <a:solidFill>
                  <a:srgbClr val="1546E0"/>
                </a:solidFill>
                <a:latin typeface="Georgia"/>
                <a:ea typeface="Georgia"/>
                <a:cs typeface="Georgia"/>
                <a:sym typeface="Georgia"/>
              </a:rPr>
              <a:t>03</a:t>
            </a:r>
          </a:p>
        </p:txBody>
      </p:sp>
      <p:sp>
        <p:nvSpPr>
          <p:cNvPr name="TextBox 9" id="9"/>
          <p:cNvSpPr txBox="true"/>
          <p:nvPr/>
        </p:nvSpPr>
        <p:spPr>
          <a:xfrm rot="0">
            <a:off x="2634415" y="2953807"/>
            <a:ext cx="10352227" cy="1171632"/>
          </a:xfrm>
          <a:prstGeom prst="rect">
            <a:avLst/>
          </a:prstGeom>
        </p:spPr>
        <p:txBody>
          <a:bodyPr anchor="t" rtlCol="false" tIns="0" lIns="0" bIns="0" rIns="0">
            <a:spAutoFit/>
          </a:bodyPr>
          <a:lstStyle/>
          <a:p>
            <a:pPr algn="l">
              <a:lnSpc>
                <a:spcPts val="7640"/>
              </a:lnSpc>
            </a:pPr>
            <a:r>
              <a:rPr lang="en-US" sz="6366" b="true">
                <a:solidFill>
                  <a:srgbClr val="1B2A44"/>
                </a:solidFill>
                <a:latin typeface="Playfair Display Bold"/>
                <a:ea typeface="Playfair Display Bold"/>
                <a:cs typeface="Playfair Display Bold"/>
                <a:sym typeface="Playfair Display Bold"/>
              </a:rPr>
              <a:t>Bonus Digital Foundation</a:t>
            </a:r>
          </a:p>
        </p:txBody>
      </p:sp>
      <p:sp>
        <p:nvSpPr>
          <p:cNvPr name="TextBox 10" id="10"/>
          <p:cNvSpPr txBox="true"/>
          <p:nvPr/>
        </p:nvSpPr>
        <p:spPr>
          <a:xfrm rot="0">
            <a:off x="1750419" y="4678823"/>
            <a:ext cx="19695309" cy="416938"/>
          </a:xfrm>
          <a:prstGeom prst="rect">
            <a:avLst/>
          </a:prstGeom>
        </p:spPr>
        <p:txBody>
          <a:bodyPr anchor="t" rtlCol="false" tIns="0" lIns="0" bIns="0" rIns="0">
            <a:spAutoFit/>
          </a:bodyPr>
          <a:lstStyle/>
          <a:p>
            <a:pPr algn="l">
              <a:lnSpc>
                <a:spcPts val="2546"/>
              </a:lnSpc>
            </a:pPr>
            <a:r>
              <a:rPr lang="en-US" sz="2122" spc="297">
                <a:solidFill>
                  <a:srgbClr val="2E7D5B"/>
                </a:solidFill>
                <a:latin typeface="Georgia"/>
                <a:ea typeface="Georgia"/>
                <a:cs typeface="Georgia"/>
                <a:sym typeface="Georgia"/>
              </a:rPr>
              <a:t>INCLUDED AT NO ADDITIONAL COST</a:t>
            </a:r>
          </a:p>
        </p:txBody>
      </p:sp>
      <p:sp>
        <p:nvSpPr>
          <p:cNvPr name="TextBox 11" id="11"/>
          <p:cNvSpPr txBox="true"/>
          <p:nvPr/>
        </p:nvSpPr>
        <p:spPr>
          <a:xfrm rot="0">
            <a:off x="1750419" y="5479323"/>
            <a:ext cx="18438743" cy="1610992"/>
          </a:xfrm>
          <a:prstGeom prst="rect">
            <a:avLst/>
          </a:prstGeom>
        </p:spPr>
        <p:txBody>
          <a:bodyPr anchor="t" rtlCol="false" tIns="0" lIns="0" bIns="0" rIns="0">
            <a:spAutoFit/>
          </a:bodyPr>
          <a:lstStyle/>
          <a:p>
            <a:pPr algn="l">
              <a:lnSpc>
                <a:spcPts val="5661"/>
              </a:lnSpc>
            </a:pPr>
            <a:r>
              <a:rPr lang="en-US" sz="3395">
                <a:solidFill>
                  <a:srgbClr val="33425C"/>
                </a:solidFill>
                <a:latin typeface="Georgia"/>
                <a:ea typeface="Georgia"/>
                <a:cs typeface="Georgia"/>
                <a:sym typeface="Georgia"/>
              </a:rPr>
              <a:t>Where the Client does not have an appropriate digital foundation, or the existing foundation requires a refresh, the following may be included:</a:t>
            </a:r>
          </a:p>
        </p:txBody>
      </p:sp>
      <p:sp>
        <p:nvSpPr>
          <p:cNvPr name="TextBox 12" id="12"/>
          <p:cNvSpPr txBox="true"/>
          <p:nvPr/>
        </p:nvSpPr>
        <p:spPr>
          <a:xfrm rot="0">
            <a:off x="1750419" y="7531027"/>
            <a:ext cx="470164" cy="745236"/>
          </a:xfrm>
          <a:prstGeom prst="rect">
            <a:avLst/>
          </a:prstGeom>
        </p:spPr>
        <p:txBody>
          <a:bodyPr anchor="t" rtlCol="false" tIns="0" lIns="0" bIns="0" rIns="0">
            <a:spAutoFit/>
          </a:bodyPr>
          <a:lstStyle/>
          <a:p>
            <a:pPr algn="l">
              <a:lnSpc>
                <a:spcPts val="4775"/>
              </a:lnSpc>
            </a:pPr>
            <a:r>
              <a:rPr lang="en-US" sz="3183">
                <a:solidFill>
                  <a:srgbClr val="2E7D5B"/>
                </a:solidFill>
                <a:latin typeface="Georgia"/>
                <a:ea typeface="Georgia"/>
                <a:cs typeface="Georgia"/>
                <a:sym typeface="Georgia"/>
              </a:rPr>
              <a:t>✓</a:t>
            </a:r>
          </a:p>
        </p:txBody>
      </p:sp>
      <p:sp>
        <p:nvSpPr>
          <p:cNvPr name="TextBox 13" id="13"/>
          <p:cNvSpPr txBox="true"/>
          <p:nvPr/>
        </p:nvSpPr>
        <p:spPr>
          <a:xfrm rot="0">
            <a:off x="2298335" y="7531027"/>
            <a:ext cx="7112632"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Professional website build or refresh</a:t>
            </a:r>
          </a:p>
        </p:txBody>
      </p:sp>
      <p:sp>
        <p:nvSpPr>
          <p:cNvPr name="TextBox 14" id="14"/>
          <p:cNvSpPr txBox="true"/>
          <p:nvPr/>
        </p:nvSpPr>
        <p:spPr>
          <a:xfrm rot="0">
            <a:off x="11157185" y="7531027"/>
            <a:ext cx="470164" cy="745236"/>
          </a:xfrm>
          <a:prstGeom prst="rect">
            <a:avLst/>
          </a:prstGeom>
        </p:spPr>
        <p:txBody>
          <a:bodyPr anchor="t" rtlCol="false" tIns="0" lIns="0" bIns="0" rIns="0">
            <a:spAutoFit/>
          </a:bodyPr>
          <a:lstStyle/>
          <a:p>
            <a:pPr algn="l">
              <a:lnSpc>
                <a:spcPts val="4775"/>
              </a:lnSpc>
            </a:pPr>
            <a:r>
              <a:rPr lang="en-US" sz="3183">
                <a:solidFill>
                  <a:srgbClr val="2E7D5B"/>
                </a:solidFill>
                <a:latin typeface="Georgia"/>
                <a:ea typeface="Georgia"/>
                <a:cs typeface="Georgia"/>
                <a:sym typeface="Georgia"/>
              </a:rPr>
              <a:t>✓</a:t>
            </a:r>
          </a:p>
        </p:txBody>
      </p:sp>
      <p:sp>
        <p:nvSpPr>
          <p:cNvPr name="TextBox 15" id="15"/>
          <p:cNvSpPr txBox="true"/>
          <p:nvPr/>
        </p:nvSpPr>
        <p:spPr>
          <a:xfrm rot="0">
            <a:off x="11705092" y="7531027"/>
            <a:ext cx="3012205"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Branding basics</a:t>
            </a:r>
          </a:p>
        </p:txBody>
      </p:sp>
      <p:sp>
        <p:nvSpPr>
          <p:cNvPr name="TextBox 16" id="16"/>
          <p:cNvSpPr txBox="true"/>
          <p:nvPr/>
        </p:nvSpPr>
        <p:spPr>
          <a:xfrm rot="0">
            <a:off x="1750419" y="8447446"/>
            <a:ext cx="470164" cy="745236"/>
          </a:xfrm>
          <a:prstGeom prst="rect">
            <a:avLst/>
          </a:prstGeom>
        </p:spPr>
        <p:txBody>
          <a:bodyPr anchor="t" rtlCol="false" tIns="0" lIns="0" bIns="0" rIns="0">
            <a:spAutoFit/>
          </a:bodyPr>
          <a:lstStyle/>
          <a:p>
            <a:pPr algn="l">
              <a:lnSpc>
                <a:spcPts val="4775"/>
              </a:lnSpc>
            </a:pPr>
            <a:r>
              <a:rPr lang="en-US" sz="3183">
                <a:solidFill>
                  <a:srgbClr val="2E7D5B"/>
                </a:solidFill>
                <a:latin typeface="Georgia"/>
                <a:ea typeface="Georgia"/>
                <a:cs typeface="Georgia"/>
                <a:sym typeface="Georgia"/>
              </a:rPr>
              <a:t>✓</a:t>
            </a:r>
          </a:p>
        </p:txBody>
      </p:sp>
      <p:sp>
        <p:nvSpPr>
          <p:cNvPr name="TextBox 17" id="17"/>
          <p:cNvSpPr txBox="true"/>
          <p:nvPr/>
        </p:nvSpPr>
        <p:spPr>
          <a:xfrm rot="0">
            <a:off x="2298335" y="8447446"/>
            <a:ext cx="5753881"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Google Business Profile setup</a:t>
            </a:r>
          </a:p>
        </p:txBody>
      </p:sp>
      <p:sp>
        <p:nvSpPr>
          <p:cNvPr name="TextBox 18" id="18"/>
          <p:cNvSpPr txBox="true"/>
          <p:nvPr/>
        </p:nvSpPr>
        <p:spPr>
          <a:xfrm rot="0">
            <a:off x="11157185" y="8447446"/>
            <a:ext cx="470164" cy="745236"/>
          </a:xfrm>
          <a:prstGeom prst="rect">
            <a:avLst/>
          </a:prstGeom>
        </p:spPr>
        <p:txBody>
          <a:bodyPr anchor="t" rtlCol="false" tIns="0" lIns="0" bIns="0" rIns="0">
            <a:spAutoFit/>
          </a:bodyPr>
          <a:lstStyle/>
          <a:p>
            <a:pPr algn="l">
              <a:lnSpc>
                <a:spcPts val="4775"/>
              </a:lnSpc>
            </a:pPr>
            <a:r>
              <a:rPr lang="en-US" sz="3183">
                <a:solidFill>
                  <a:srgbClr val="2E7D5B"/>
                </a:solidFill>
                <a:latin typeface="Georgia"/>
                <a:ea typeface="Georgia"/>
                <a:cs typeface="Georgia"/>
                <a:sym typeface="Georgia"/>
              </a:rPr>
              <a:t>✓</a:t>
            </a:r>
          </a:p>
        </p:txBody>
      </p:sp>
      <p:sp>
        <p:nvSpPr>
          <p:cNvPr name="TextBox 19" id="19"/>
          <p:cNvSpPr txBox="true"/>
          <p:nvPr/>
        </p:nvSpPr>
        <p:spPr>
          <a:xfrm rot="0">
            <a:off x="11705092" y="8447446"/>
            <a:ext cx="4905651"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Project / portfolio gallery</a:t>
            </a:r>
          </a:p>
        </p:txBody>
      </p:sp>
      <p:sp>
        <p:nvSpPr>
          <p:cNvPr name="TextBox 20" id="20"/>
          <p:cNvSpPr txBox="true"/>
          <p:nvPr/>
        </p:nvSpPr>
        <p:spPr>
          <a:xfrm rot="0">
            <a:off x="1750419" y="9363866"/>
            <a:ext cx="470164" cy="745236"/>
          </a:xfrm>
          <a:prstGeom prst="rect">
            <a:avLst/>
          </a:prstGeom>
        </p:spPr>
        <p:txBody>
          <a:bodyPr anchor="t" rtlCol="false" tIns="0" lIns="0" bIns="0" rIns="0">
            <a:spAutoFit/>
          </a:bodyPr>
          <a:lstStyle/>
          <a:p>
            <a:pPr algn="l">
              <a:lnSpc>
                <a:spcPts val="4775"/>
              </a:lnSpc>
            </a:pPr>
            <a:r>
              <a:rPr lang="en-US" sz="3183">
                <a:solidFill>
                  <a:srgbClr val="2E7D5B"/>
                </a:solidFill>
                <a:latin typeface="Georgia"/>
                <a:ea typeface="Georgia"/>
                <a:cs typeface="Georgia"/>
                <a:sym typeface="Georgia"/>
              </a:rPr>
              <a:t>✓</a:t>
            </a:r>
          </a:p>
        </p:txBody>
      </p:sp>
      <p:sp>
        <p:nvSpPr>
          <p:cNvPr name="TextBox 21" id="21"/>
          <p:cNvSpPr txBox="true"/>
          <p:nvPr/>
        </p:nvSpPr>
        <p:spPr>
          <a:xfrm rot="0">
            <a:off x="2298335" y="9363866"/>
            <a:ext cx="3069908"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Basic SEO setup</a:t>
            </a:r>
          </a:p>
        </p:txBody>
      </p:sp>
      <p:sp>
        <p:nvSpPr>
          <p:cNvPr name="TextBox 22" id="22"/>
          <p:cNvSpPr txBox="true"/>
          <p:nvPr/>
        </p:nvSpPr>
        <p:spPr>
          <a:xfrm rot="0">
            <a:off x="11157185" y="9363866"/>
            <a:ext cx="470164" cy="745236"/>
          </a:xfrm>
          <a:prstGeom prst="rect">
            <a:avLst/>
          </a:prstGeom>
        </p:spPr>
        <p:txBody>
          <a:bodyPr anchor="t" rtlCol="false" tIns="0" lIns="0" bIns="0" rIns="0">
            <a:spAutoFit/>
          </a:bodyPr>
          <a:lstStyle/>
          <a:p>
            <a:pPr algn="l">
              <a:lnSpc>
                <a:spcPts val="4775"/>
              </a:lnSpc>
            </a:pPr>
            <a:r>
              <a:rPr lang="en-US" sz="3183">
                <a:solidFill>
                  <a:srgbClr val="2E7D5B"/>
                </a:solidFill>
                <a:latin typeface="Georgia"/>
                <a:ea typeface="Georgia"/>
                <a:cs typeface="Georgia"/>
                <a:sym typeface="Georgia"/>
              </a:rPr>
              <a:t>✓</a:t>
            </a:r>
          </a:p>
        </p:txBody>
      </p:sp>
      <p:sp>
        <p:nvSpPr>
          <p:cNvPr name="TextBox 23" id="23"/>
          <p:cNvSpPr txBox="true"/>
          <p:nvPr/>
        </p:nvSpPr>
        <p:spPr>
          <a:xfrm rot="0">
            <a:off x="11705092" y="9363866"/>
            <a:ext cx="3764166"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Lead capture forms</a:t>
            </a:r>
          </a:p>
        </p:txBody>
      </p:sp>
      <p:sp>
        <p:nvSpPr>
          <p:cNvPr name="TextBox 24" id="24"/>
          <p:cNvSpPr txBox="true"/>
          <p:nvPr/>
        </p:nvSpPr>
        <p:spPr>
          <a:xfrm rot="0">
            <a:off x="1750419" y="10280285"/>
            <a:ext cx="470164" cy="745236"/>
          </a:xfrm>
          <a:prstGeom prst="rect">
            <a:avLst/>
          </a:prstGeom>
        </p:spPr>
        <p:txBody>
          <a:bodyPr anchor="t" rtlCol="false" tIns="0" lIns="0" bIns="0" rIns="0">
            <a:spAutoFit/>
          </a:bodyPr>
          <a:lstStyle/>
          <a:p>
            <a:pPr algn="l">
              <a:lnSpc>
                <a:spcPts val="4775"/>
              </a:lnSpc>
            </a:pPr>
            <a:r>
              <a:rPr lang="en-US" sz="3183">
                <a:solidFill>
                  <a:srgbClr val="2E7D5B"/>
                </a:solidFill>
                <a:latin typeface="Georgia"/>
                <a:ea typeface="Georgia"/>
                <a:cs typeface="Georgia"/>
                <a:sym typeface="Georgia"/>
              </a:rPr>
              <a:t>✓</a:t>
            </a:r>
          </a:p>
        </p:txBody>
      </p:sp>
      <p:sp>
        <p:nvSpPr>
          <p:cNvPr name="TextBox 25" id="25"/>
          <p:cNvSpPr txBox="true"/>
          <p:nvPr/>
        </p:nvSpPr>
        <p:spPr>
          <a:xfrm rot="0">
            <a:off x="2298335" y="10280285"/>
            <a:ext cx="6277832"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Customer database health check</a:t>
            </a:r>
          </a:p>
        </p:txBody>
      </p:sp>
      <p:sp>
        <p:nvSpPr>
          <p:cNvPr name="TextBox 26" id="26"/>
          <p:cNvSpPr txBox="true"/>
          <p:nvPr/>
        </p:nvSpPr>
        <p:spPr>
          <a:xfrm rot="0">
            <a:off x="11157185" y="10280285"/>
            <a:ext cx="470164" cy="745236"/>
          </a:xfrm>
          <a:prstGeom prst="rect">
            <a:avLst/>
          </a:prstGeom>
        </p:spPr>
        <p:txBody>
          <a:bodyPr anchor="t" rtlCol="false" tIns="0" lIns="0" bIns="0" rIns="0">
            <a:spAutoFit/>
          </a:bodyPr>
          <a:lstStyle/>
          <a:p>
            <a:pPr algn="l">
              <a:lnSpc>
                <a:spcPts val="4775"/>
              </a:lnSpc>
            </a:pPr>
            <a:r>
              <a:rPr lang="en-US" sz="3183">
                <a:solidFill>
                  <a:srgbClr val="2E7D5B"/>
                </a:solidFill>
                <a:latin typeface="Georgia"/>
                <a:ea typeface="Georgia"/>
                <a:cs typeface="Georgia"/>
                <a:sym typeface="Georgia"/>
              </a:rPr>
              <a:t>✓</a:t>
            </a:r>
          </a:p>
        </p:txBody>
      </p:sp>
      <p:sp>
        <p:nvSpPr>
          <p:cNvPr name="TextBox 27" id="27"/>
          <p:cNvSpPr txBox="true"/>
          <p:nvPr/>
        </p:nvSpPr>
        <p:spPr>
          <a:xfrm rot="0">
            <a:off x="11705092" y="10280285"/>
            <a:ext cx="7396143"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Seasonal / festive WhatsApp template</a:t>
            </a:r>
          </a:p>
        </p:txBody>
      </p:sp>
      <p:sp>
        <p:nvSpPr>
          <p:cNvPr name="TextBox 28" id="28"/>
          <p:cNvSpPr txBox="true"/>
          <p:nvPr/>
        </p:nvSpPr>
        <p:spPr>
          <a:xfrm rot="0">
            <a:off x="1750419" y="11545472"/>
            <a:ext cx="18438743" cy="1474603"/>
          </a:xfrm>
          <a:prstGeom prst="rect">
            <a:avLst/>
          </a:prstGeom>
        </p:spPr>
        <p:txBody>
          <a:bodyPr anchor="t" rtlCol="false" tIns="0" lIns="0" bIns="0" rIns="0">
            <a:spAutoFit/>
          </a:bodyPr>
          <a:lstStyle/>
          <a:p>
            <a:pPr algn="l">
              <a:lnSpc>
                <a:spcPts val="5093"/>
              </a:lnSpc>
            </a:pPr>
            <a:r>
              <a:rPr lang="en-US" sz="3183" i="true">
                <a:solidFill>
                  <a:srgbClr val="5A6B85"/>
                </a:solidFill>
                <a:latin typeface="Georgia Italics"/>
                <a:ea typeface="Georgia Italics"/>
                <a:cs typeface="Georgia Italics"/>
                <a:sym typeface="Georgia Italics"/>
              </a:rPr>
              <a:t>These foundation components are included as part of the Business Growth + Automation System and are not separately charged.</a:t>
            </a:r>
          </a:p>
        </p:txBody>
      </p:sp>
      <p:grpSp>
        <p:nvGrpSpPr>
          <p:cNvPr name="Group 29" id="29"/>
          <p:cNvGrpSpPr/>
          <p:nvPr/>
        </p:nvGrpSpPr>
        <p:grpSpPr>
          <a:xfrm rot="0">
            <a:off x="1711547" y="25134113"/>
            <a:ext cx="17977961" cy="3638721"/>
            <a:chOff x="0" y="0"/>
            <a:chExt cx="23970615" cy="4851629"/>
          </a:xfrm>
        </p:grpSpPr>
        <p:sp>
          <p:nvSpPr>
            <p:cNvPr name="Freeform 30" id="30"/>
            <p:cNvSpPr/>
            <p:nvPr/>
          </p:nvSpPr>
          <p:spPr>
            <a:xfrm flipH="false" flipV="false" rot="0">
              <a:off x="17907" y="17907"/>
              <a:ext cx="23934801" cy="4815713"/>
            </a:xfrm>
            <a:custGeom>
              <a:avLst/>
              <a:gdLst/>
              <a:ahLst/>
              <a:cxnLst/>
              <a:rect r="r" b="b" t="t" l="l"/>
              <a:pathLst>
                <a:path h="4815713" w="23934801">
                  <a:moveTo>
                    <a:pt x="0" y="0"/>
                  </a:moveTo>
                  <a:lnTo>
                    <a:pt x="23934801" y="0"/>
                  </a:lnTo>
                  <a:lnTo>
                    <a:pt x="23934801" y="4815713"/>
                  </a:lnTo>
                  <a:lnTo>
                    <a:pt x="0" y="4815713"/>
                  </a:lnTo>
                  <a:close/>
                </a:path>
              </a:pathLst>
            </a:custGeom>
            <a:solidFill>
              <a:srgbClr val="FBFCFE"/>
            </a:solidFill>
          </p:spPr>
        </p:sp>
        <p:sp>
          <p:nvSpPr>
            <p:cNvPr name="Freeform 31" id="31"/>
            <p:cNvSpPr/>
            <p:nvPr/>
          </p:nvSpPr>
          <p:spPr>
            <a:xfrm flipH="false" flipV="false" rot="0">
              <a:off x="0" y="0"/>
              <a:ext cx="23970616" cy="4851527"/>
            </a:xfrm>
            <a:custGeom>
              <a:avLst/>
              <a:gdLst/>
              <a:ahLst/>
              <a:cxnLst/>
              <a:rect r="r" b="b" t="t" l="l"/>
              <a:pathLst>
                <a:path h="4851527" w="23970616">
                  <a:moveTo>
                    <a:pt x="17907" y="0"/>
                  </a:moveTo>
                  <a:lnTo>
                    <a:pt x="23952708" y="0"/>
                  </a:lnTo>
                  <a:cubicBezTo>
                    <a:pt x="23962615" y="0"/>
                    <a:pt x="23970616" y="8001"/>
                    <a:pt x="23970616" y="17907"/>
                  </a:cubicBezTo>
                  <a:lnTo>
                    <a:pt x="23970616" y="4833620"/>
                  </a:lnTo>
                  <a:cubicBezTo>
                    <a:pt x="23970616" y="4843526"/>
                    <a:pt x="23962615" y="4851527"/>
                    <a:pt x="23952708" y="4851527"/>
                  </a:cubicBezTo>
                  <a:lnTo>
                    <a:pt x="17907" y="4851527"/>
                  </a:lnTo>
                  <a:cubicBezTo>
                    <a:pt x="8001" y="4851527"/>
                    <a:pt x="0" y="4843526"/>
                    <a:pt x="0" y="4833620"/>
                  </a:cubicBezTo>
                  <a:lnTo>
                    <a:pt x="0" y="17907"/>
                  </a:lnTo>
                  <a:cubicBezTo>
                    <a:pt x="0" y="8001"/>
                    <a:pt x="8001" y="0"/>
                    <a:pt x="17907" y="0"/>
                  </a:cubicBezTo>
                  <a:moveTo>
                    <a:pt x="17907" y="35941"/>
                  </a:moveTo>
                  <a:lnTo>
                    <a:pt x="17907" y="17907"/>
                  </a:lnTo>
                  <a:lnTo>
                    <a:pt x="35941" y="17907"/>
                  </a:lnTo>
                  <a:lnTo>
                    <a:pt x="35941" y="4833620"/>
                  </a:lnTo>
                  <a:lnTo>
                    <a:pt x="17907" y="4833620"/>
                  </a:lnTo>
                  <a:lnTo>
                    <a:pt x="17907" y="4815713"/>
                  </a:lnTo>
                  <a:lnTo>
                    <a:pt x="23952708" y="4815713"/>
                  </a:lnTo>
                  <a:lnTo>
                    <a:pt x="23952708" y="4833620"/>
                  </a:lnTo>
                  <a:lnTo>
                    <a:pt x="23934801" y="4833620"/>
                  </a:lnTo>
                  <a:lnTo>
                    <a:pt x="23934801" y="17907"/>
                  </a:lnTo>
                  <a:lnTo>
                    <a:pt x="23952708" y="17907"/>
                  </a:lnTo>
                  <a:lnTo>
                    <a:pt x="23952708" y="35941"/>
                  </a:lnTo>
                  <a:lnTo>
                    <a:pt x="17907" y="35941"/>
                  </a:lnTo>
                  <a:close/>
                </a:path>
              </a:pathLst>
            </a:custGeom>
            <a:solidFill>
              <a:srgbClr val="E2E8F1"/>
            </a:solidFill>
          </p:spPr>
        </p:sp>
      </p:grpSp>
      <p:sp>
        <p:nvSpPr>
          <p:cNvPr name="TextBox 32" id="32"/>
          <p:cNvSpPr txBox="true"/>
          <p:nvPr/>
        </p:nvSpPr>
        <p:spPr>
          <a:xfrm rot="0">
            <a:off x="2532069" y="25891207"/>
            <a:ext cx="17975675" cy="389982"/>
          </a:xfrm>
          <a:prstGeom prst="rect">
            <a:avLst/>
          </a:prstGeom>
        </p:spPr>
        <p:txBody>
          <a:bodyPr anchor="t" rtlCol="false" tIns="0" lIns="0" bIns="0" rIns="0">
            <a:spAutoFit/>
          </a:bodyPr>
          <a:lstStyle/>
          <a:p>
            <a:pPr algn="l">
              <a:lnSpc>
                <a:spcPts val="2421"/>
              </a:lnSpc>
            </a:pPr>
            <a:r>
              <a:rPr lang="en-US" sz="2017" spc="322">
                <a:solidFill>
                  <a:srgbClr val="8494AB"/>
                </a:solidFill>
                <a:latin typeface="Georgia"/>
                <a:ea typeface="Georgia"/>
                <a:cs typeface="Georgia"/>
                <a:sym typeface="Georgia"/>
              </a:rPr>
              <a:t>WHY IT MATTERS</a:t>
            </a:r>
          </a:p>
        </p:txBody>
      </p:sp>
      <p:sp>
        <p:nvSpPr>
          <p:cNvPr name="TextBox 33" id="33"/>
          <p:cNvSpPr txBox="true"/>
          <p:nvPr/>
        </p:nvSpPr>
        <p:spPr>
          <a:xfrm rot="0">
            <a:off x="2532069" y="26493702"/>
            <a:ext cx="16828541" cy="1620317"/>
          </a:xfrm>
          <a:prstGeom prst="rect">
            <a:avLst/>
          </a:prstGeom>
        </p:spPr>
        <p:txBody>
          <a:bodyPr anchor="t" rtlCol="false" tIns="0" lIns="0" bIns="0" rIns="0">
            <a:spAutoFit/>
          </a:bodyPr>
          <a:lstStyle/>
          <a:p>
            <a:pPr algn="l">
              <a:lnSpc>
                <a:spcPts val="5422"/>
              </a:lnSpc>
            </a:pPr>
            <a:r>
              <a:rPr lang="en-US" sz="4456">
                <a:solidFill>
                  <a:srgbClr val="1B2A44"/>
                </a:solidFill>
                <a:latin typeface="Playfair Display"/>
                <a:ea typeface="Playfair Display"/>
                <a:cs typeface="Playfair Display"/>
                <a:sym typeface="Playfair Display"/>
              </a:rPr>
              <a:t>Growth systems only perform when the digital foundation underneath them converts.</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725025" y="2102368"/>
            <a:ext cx="17951006" cy="26956"/>
            <a:chOff x="0" y="0"/>
            <a:chExt cx="23934674" cy="35941"/>
          </a:xfrm>
        </p:grpSpPr>
        <p:sp>
          <p:nvSpPr>
            <p:cNvPr name="Freeform 3" id="3"/>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E2E8F1"/>
            </a:solidFill>
          </p:spPr>
        </p:sp>
      </p:grpSp>
      <p:sp>
        <p:nvSpPr>
          <p:cNvPr name="TextBox 4" id="4"/>
          <p:cNvSpPr txBox="true"/>
          <p:nvPr/>
        </p:nvSpPr>
        <p:spPr>
          <a:xfrm rot="0">
            <a:off x="1750419" y="1525267"/>
            <a:ext cx="3195828"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LUMELUSH STUDIO</a:t>
            </a:r>
          </a:p>
        </p:txBody>
      </p:sp>
      <p:sp>
        <p:nvSpPr>
          <p:cNvPr name="TextBox 5" id="5"/>
          <p:cNvSpPr txBox="true"/>
          <p:nvPr/>
        </p:nvSpPr>
        <p:spPr>
          <a:xfrm rot="0">
            <a:off x="15847933" y="1525267"/>
            <a:ext cx="4188057"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COMMERCIAL PROPOSAL</a:t>
            </a:r>
          </a:p>
        </p:txBody>
      </p:sp>
      <p:grpSp>
        <p:nvGrpSpPr>
          <p:cNvPr name="Group 6" id="6"/>
          <p:cNvGrpSpPr/>
          <p:nvPr/>
        </p:nvGrpSpPr>
        <p:grpSpPr>
          <a:xfrm rot="0">
            <a:off x="1725025" y="4312558"/>
            <a:ext cx="17951006" cy="26956"/>
            <a:chOff x="0" y="0"/>
            <a:chExt cx="23934674" cy="35941"/>
          </a:xfrm>
        </p:grpSpPr>
        <p:sp>
          <p:nvSpPr>
            <p:cNvPr name="Freeform 7" id="7"/>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DCE3EE"/>
            </a:solidFill>
          </p:spPr>
        </p:sp>
      </p:grpSp>
      <p:sp>
        <p:nvSpPr>
          <p:cNvPr name="TextBox 8" id="8"/>
          <p:cNvSpPr txBox="true"/>
          <p:nvPr/>
        </p:nvSpPr>
        <p:spPr>
          <a:xfrm rot="0">
            <a:off x="1750419" y="3519830"/>
            <a:ext cx="676104" cy="470840"/>
          </a:xfrm>
          <a:prstGeom prst="rect">
            <a:avLst/>
          </a:prstGeom>
        </p:spPr>
        <p:txBody>
          <a:bodyPr anchor="t" rtlCol="false" tIns="0" lIns="0" bIns="0" rIns="0">
            <a:spAutoFit/>
          </a:bodyPr>
          <a:lstStyle/>
          <a:p>
            <a:pPr algn="l">
              <a:lnSpc>
                <a:spcPts val="3310"/>
              </a:lnSpc>
            </a:pPr>
            <a:r>
              <a:rPr lang="en-US" sz="2759" spc="387">
                <a:solidFill>
                  <a:srgbClr val="1546E0"/>
                </a:solidFill>
                <a:latin typeface="Georgia"/>
                <a:ea typeface="Georgia"/>
                <a:cs typeface="Georgia"/>
                <a:sym typeface="Georgia"/>
              </a:rPr>
              <a:t>04</a:t>
            </a:r>
          </a:p>
        </p:txBody>
      </p:sp>
      <p:sp>
        <p:nvSpPr>
          <p:cNvPr name="TextBox 9" id="9"/>
          <p:cNvSpPr txBox="true"/>
          <p:nvPr/>
        </p:nvSpPr>
        <p:spPr>
          <a:xfrm rot="0">
            <a:off x="2639044" y="2953807"/>
            <a:ext cx="8489909" cy="1171632"/>
          </a:xfrm>
          <a:prstGeom prst="rect">
            <a:avLst/>
          </a:prstGeom>
        </p:spPr>
        <p:txBody>
          <a:bodyPr anchor="t" rtlCol="false" tIns="0" lIns="0" bIns="0" rIns="0">
            <a:spAutoFit/>
          </a:bodyPr>
          <a:lstStyle/>
          <a:p>
            <a:pPr algn="l">
              <a:lnSpc>
                <a:spcPts val="7640"/>
              </a:lnSpc>
            </a:pPr>
            <a:r>
              <a:rPr lang="en-US" sz="6366" b="true">
                <a:solidFill>
                  <a:srgbClr val="1B2A44"/>
                </a:solidFill>
                <a:latin typeface="Playfair Display Bold"/>
                <a:ea typeface="Playfair Display Bold"/>
                <a:cs typeface="Playfair Display Bold"/>
                <a:sym typeface="Playfair Display Bold"/>
              </a:rPr>
              <a:t>Custom CRM System</a:t>
            </a:r>
          </a:p>
        </p:txBody>
      </p:sp>
      <p:sp>
        <p:nvSpPr>
          <p:cNvPr name="TextBox 10" id="10"/>
          <p:cNvSpPr txBox="true"/>
          <p:nvPr/>
        </p:nvSpPr>
        <p:spPr>
          <a:xfrm rot="0">
            <a:off x="1750419" y="4761100"/>
            <a:ext cx="18438743" cy="846773"/>
          </a:xfrm>
          <a:prstGeom prst="rect">
            <a:avLst/>
          </a:prstGeom>
        </p:spPr>
        <p:txBody>
          <a:bodyPr anchor="t" rtlCol="false" tIns="0" lIns="0" bIns="0" rIns="0">
            <a:spAutoFit/>
          </a:bodyPr>
          <a:lstStyle/>
          <a:p>
            <a:pPr algn="l">
              <a:lnSpc>
                <a:spcPts val="5252"/>
              </a:lnSpc>
            </a:pPr>
            <a:r>
              <a:rPr lang="en-US" sz="3183">
                <a:solidFill>
                  <a:srgbClr val="33425C"/>
                </a:solidFill>
                <a:latin typeface="Georgia"/>
                <a:ea typeface="Georgia"/>
                <a:cs typeface="Georgia"/>
                <a:sym typeface="Georgia"/>
              </a:rPr>
              <a:t>A custom CRM is built around the Client’s actual sales process.</a:t>
            </a:r>
          </a:p>
        </p:txBody>
      </p:sp>
      <p:sp>
        <p:nvSpPr>
          <p:cNvPr name="TextBox 11" id="11"/>
          <p:cNvSpPr txBox="true"/>
          <p:nvPr/>
        </p:nvSpPr>
        <p:spPr>
          <a:xfrm rot="0">
            <a:off x="1750419" y="5940771"/>
            <a:ext cx="470164" cy="745236"/>
          </a:xfrm>
          <a:prstGeom prst="rect">
            <a:avLst/>
          </a:prstGeom>
        </p:spPr>
        <p:txBody>
          <a:bodyPr anchor="t" rtlCol="false" tIns="0" lIns="0" bIns="0" rIns="0">
            <a:spAutoFit/>
          </a:bodyPr>
          <a:lstStyle/>
          <a:p>
            <a:pPr algn="l">
              <a:lnSpc>
                <a:spcPts val="4775"/>
              </a:lnSpc>
            </a:pPr>
            <a:r>
              <a:rPr lang="en-US" sz="3183">
                <a:solidFill>
                  <a:srgbClr val="1546E0"/>
                </a:solidFill>
                <a:latin typeface="Georgia"/>
                <a:ea typeface="Georgia"/>
                <a:cs typeface="Georgia"/>
                <a:sym typeface="Georgia"/>
              </a:rPr>
              <a:t>✓</a:t>
            </a:r>
          </a:p>
        </p:txBody>
      </p:sp>
      <p:sp>
        <p:nvSpPr>
          <p:cNvPr name="TextBox 12" id="12"/>
          <p:cNvSpPr txBox="true"/>
          <p:nvPr/>
        </p:nvSpPr>
        <p:spPr>
          <a:xfrm rot="0">
            <a:off x="2298335" y="5940771"/>
            <a:ext cx="3471682"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Lead management</a:t>
            </a:r>
          </a:p>
        </p:txBody>
      </p:sp>
      <p:sp>
        <p:nvSpPr>
          <p:cNvPr name="TextBox 13" id="13"/>
          <p:cNvSpPr txBox="true"/>
          <p:nvPr/>
        </p:nvSpPr>
        <p:spPr>
          <a:xfrm rot="0">
            <a:off x="11157185" y="5940771"/>
            <a:ext cx="470164" cy="745236"/>
          </a:xfrm>
          <a:prstGeom prst="rect">
            <a:avLst/>
          </a:prstGeom>
        </p:spPr>
        <p:txBody>
          <a:bodyPr anchor="t" rtlCol="false" tIns="0" lIns="0" bIns="0" rIns="0">
            <a:spAutoFit/>
          </a:bodyPr>
          <a:lstStyle/>
          <a:p>
            <a:pPr algn="l">
              <a:lnSpc>
                <a:spcPts val="4775"/>
              </a:lnSpc>
            </a:pPr>
            <a:r>
              <a:rPr lang="en-US" sz="3183">
                <a:solidFill>
                  <a:srgbClr val="1546E0"/>
                </a:solidFill>
                <a:latin typeface="Georgia"/>
                <a:ea typeface="Georgia"/>
                <a:cs typeface="Georgia"/>
                <a:sym typeface="Georgia"/>
              </a:rPr>
              <a:t>✓</a:t>
            </a:r>
          </a:p>
        </p:txBody>
      </p:sp>
      <p:sp>
        <p:nvSpPr>
          <p:cNvPr name="TextBox 14" id="14"/>
          <p:cNvSpPr txBox="true"/>
          <p:nvPr/>
        </p:nvSpPr>
        <p:spPr>
          <a:xfrm rot="0">
            <a:off x="11705092" y="5940771"/>
            <a:ext cx="3339436"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Customer records</a:t>
            </a:r>
          </a:p>
        </p:txBody>
      </p:sp>
      <p:sp>
        <p:nvSpPr>
          <p:cNvPr name="TextBox 15" id="15"/>
          <p:cNvSpPr txBox="true"/>
          <p:nvPr/>
        </p:nvSpPr>
        <p:spPr>
          <a:xfrm rot="0">
            <a:off x="1750419" y="6776333"/>
            <a:ext cx="470164" cy="745236"/>
          </a:xfrm>
          <a:prstGeom prst="rect">
            <a:avLst/>
          </a:prstGeom>
        </p:spPr>
        <p:txBody>
          <a:bodyPr anchor="t" rtlCol="false" tIns="0" lIns="0" bIns="0" rIns="0">
            <a:spAutoFit/>
          </a:bodyPr>
          <a:lstStyle/>
          <a:p>
            <a:pPr algn="l">
              <a:lnSpc>
                <a:spcPts val="4775"/>
              </a:lnSpc>
            </a:pPr>
            <a:r>
              <a:rPr lang="en-US" sz="3183">
                <a:solidFill>
                  <a:srgbClr val="1546E0"/>
                </a:solidFill>
                <a:latin typeface="Georgia"/>
                <a:ea typeface="Georgia"/>
                <a:cs typeface="Georgia"/>
                <a:sym typeface="Georgia"/>
              </a:rPr>
              <a:t>✓</a:t>
            </a:r>
          </a:p>
        </p:txBody>
      </p:sp>
      <p:sp>
        <p:nvSpPr>
          <p:cNvPr name="TextBox 16" id="16"/>
          <p:cNvSpPr txBox="true"/>
          <p:nvPr/>
        </p:nvSpPr>
        <p:spPr>
          <a:xfrm rot="0">
            <a:off x="2298335" y="6776333"/>
            <a:ext cx="2623071"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Sales pipeline</a:t>
            </a:r>
          </a:p>
        </p:txBody>
      </p:sp>
      <p:sp>
        <p:nvSpPr>
          <p:cNvPr name="TextBox 17" id="17"/>
          <p:cNvSpPr txBox="true"/>
          <p:nvPr/>
        </p:nvSpPr>
        <p:spPr>
          <a:xfrm rot="0">
            <a:off x="11157185" y="6776333"/>
            <a:ext cx="470164" cy="745236"/>
          </a:xfrm>
          <a:prstGeom prst="rect">
            <a:avLst/>
          </a:prstGeom>
        </p:spPr>
        <p:txBody>
          <a:bodyPr anchor="t" rtlCol="false" tIns="0" lIns="0" bIns="0" rIns="0">
            <a:spAutoFit/>
          </a:bodyPr>
          <a:lstStyle/>
          <a:p>
            <a:pPr algn="l">
              <a:lnSpc>
                <a:spcPts val="4775"/>
              </a:lnSpc>
            </a:pPr>
            <a:r>
              <a:rPr lang="en-US" sz="3183">
                <a:solidFill>
                  <a:srgbClr val="1546E0"/>
                </a:solidFill>
                <a:latin typeface="Georgia"/>
                <a:ea typeface="Georgia"/>
                <a:cs typeface="Georgia"/>
                <a:sym typeface="Georgia"/>
              </a:rPr>
              <a:t>✓</a:t>
            </a:r>
          </a:p>
        </p:txBody>
      </p:sp>
      <p:sp>
        <p:nvSpPr>
          <p:cNvPr name="TextBox 18" id="18"/>
          <p:cNvSpPr txBox="true"/>
          <p:nvPr/>
        </p:nvSpPr>
        <p:spPr>
          <a:xfrm rot="0">
            <a:off x="11705092" y="6776333"/>
            <a:ext cx="2231822"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Lead stages</a:t>
            </a:r>
          </a:p>
        </p:txBody>
      </p:sp>
      <p:sp>
        <p:nvSpPr>
          <p:cNvPr name="TextBox 19" id="19"/>
          <p:cNvSpPr txBox="true"/>
          <p:nvPr/>
        </p:nvSpPr>
        <p:spPr>
          <a:xfrm rot="0">
            <a:off x="1750419" y="7611885"/>
            <a:ext cx="470164" cy="745236"/>
          </a:xfrm>
          <a:prstGeom prst="rect">
            <a:avLst/>
          </a:prstGeom>
        </p:spPr>
        <p:txBody>
          <a:bodyPr anchor="t" rtlCol="false" tIns="0" lIns="0" bIns="0" rIns="0">
            <a:spAutoFit/>
          </a:bodyPr>
          <a:lstStyle/>
          <a:p>
            <a:pPr algn="l">
              <a:lnSpc>
                <a:spcPts val="4775"/>
              </a:lnSpc>
            </a:pPr>
            <a:r>
              <a:rPr lang="en-US" sz="3183">
                <a:solidFill>
                  <a:srgbClr val="1546E0"/>
                </a:solidFill>
                <a:latin typeface="Georgia"/>
                <a:ea typeface="Georgia"/>
                <a:cs typeface="Georgia"/>
                <a:sym typeface="Georgia"/>
              </a:rPr>
              <a:t>✓</a:t>
            </a:r>
          </a:p>
        </p:txBody>
      </p:sp>
      <p:sp>
        <p:nvSpPr>
          <p:cNvPr name="TextBox 20" id="20"/>
          <p:cNvSpPr txBox="true"/>
          <p:nvPr/>
        </p:nvSpPr>
        <p:spPr>
          <a:xfrm rot="0">
            <a:off x="2298335" y="7611885"/>
            <a:ext cx="3013472"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Lead ownership</a:t>
            </a:r>
          </a:p>
        </p:txBody>
      </p:sp>
      <p:sp>
        <p:nvSpPr>
          <p:cNvPr name="TextBox 21" id="21"/>
          <p:cNvSpPr txBox="true"/>
          <p:nvPr/>
        </p:nvSpPr>
        <p:spPr>
          <a:xfrm rot="0">
            <a:off x="11157185" y="7611885"/>
            <a:ext cx="470164" cy="745236"/>
          </a:xfrm>
          <a:prstGeom prst="rect">
            <a:avLst/>
          </a:prstGeom>
        </p:spPr>
        <p:txBody>
          <a:bodyPr anchor="t" rtlCol="false" tIns="0" lIns="0" bIns="0" rIns="0">
            <a:spAutoFit/>
          </a:bodyPr>
          <a:lstStyle/>
          <a:p>
            <a:pPr algn="l">
              <a:lnSpc>
                <a:spcPts val="4775"/>
              </a:lnSpc>
            </a:pPr>
            <a:r>
              <a:rPr lang="en-US" sz="3183">
                <a:solidFill>
                  <a:srgbClr val="1546E0"/>
                </a:solidFill>
                <a:latin typeface="Georgia"/>
                <a:ea typeface="Georgia"/>
                <a:cs typeface="Georgia"/>
                <a:sym typeface="Georgia"/>
              </a:rPr>
              <a:t>✓</a:t>
            </a:r>
          </a:p>
        </p:txBody>
      </p:sp>
      <p:sp>
        <p:nvSpPr>
          <p:cNvPr name="TextBox 22" id="22"/>
          <p:cNvSpPr txBox="true"/>
          <p:nvPr/>
        </p:nvSpPr>
        <p:spPr>
          <a:xfrm rot="0">
            <a:off x="11705092" y="7611885"/>
            <a:ext cx="3680784"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Follow-up tracking</a:t>
            </a:r>
          </a:p>
        </p:txBody>
      </p:sp>
      <p:sp>
        <p:nvSpPr>
          <p:cNvPr name="TextBox 23" id="23"/>
          <p:cNvSpPr txBox="true"/>
          <p:nvPr/>
        </p:nvSpPr>
        <p:spPr>
          <a:xfrm rot="0">
            <a:off x="1750419" y="8447446"/>
            <a:ext cx="470164" cy="745236"/>
          </a:xfrm>
          <a:prstGeom prst="rect">
            <a:avLst/>
          </a:prstGeom>
        </p:spPr>
        <p:txBody>
          <a:bodyPr anchor="t" rtlCol="false" tIns="0" lIns="0" bIns="0" rIns="0">
            <a:spAutoFit/>
          </a:bodyPr>
          <a:lstStyle/>
          <a:p>
            <a:pPr algn="l">
              <a:lnSpc>
                <a:spcPts val="4775"/>
              </a:lnSpc>
            </a:pPr>
            <a:r>
              <a:rPr lang="en-US" sz="3183">
                <a:solidFill>
                  <a:srgbClr val="1546E0"/>
                </a:solidFill>
                <a:latin typeface="Georgia"/>
                <a:ea typeface="Georgia"/>
                <a:cs typeface="Georgia"/>
                <a:sym typeface="Georgia"/>
              </a:rPr>
              <a:t>✓</a:t>
            </a:r>
          </a:p>
        </p:txBody>
      </p:sp>
      <p:sp>
        <p:nvSpPr>
          <p:cNvPr name="TextBox 24" id="24"/>
          <p:cNvSpPr txBox="true"/>
          <p:nvPr/>
        </p:nvSpPr>
        <p:spPr>
          <a:xfrm rot="0">
            <a:off x="2298335" y="8447446"/>
            <a:ext cx="4333980"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Customer information</a:t>
            </a:r>
          </a:p>
        </p:txBody>
      </p:sp>
      <p:sp>
        <p:nvSpPr>
          <p:cNvPr name="TextBox 25" id="25"/>
          <p:cNvSpPr txBox="true"/>
          <p:nvPr/>
        </p:nvSpPr>
        <p:spPr>
          <a:xfrm rot="0">
            <a:off x="11157185" y="8447446"/>
            <a:ext cx="470164" cy="745236"/>
          </a:xfrm>
          <a:prstGeom prst="rect">
            <a:avLst/>
          </a:prstGeom>
        </p:spPr>
        <p:txBody>
          <a:bodyPr anchor="t" rtlCol="false" tIns="0" lIns="0" bIns="0" rIns="0">
            <a:spAutoFit/>
          </a:bodyPr>
          <a:lstStyle/>
          <a:p>
            <a:pPr algn="l">
              <a:lnSpc>
                <a:spcPts val="4775"/>
              </a:lnSpc>
            </a:pPr>
            <a:r>
              <a:rPr lang="en-US" sz="3183">
                <a:solidFill>
                  <a:srgbClr val="1546E0"/>
                </a:solidFill>
                <a:latin typeface="Georgia"/>
                <a:ea typeface="Georgia"/>
                <a:cs typeface="Georgia"/>
                <a:sym typeface="Georgia"/>
              </a:rPr>
              <a:t>✓</a:t>
            </a:r>
          </a:p>
        </p:txBody>
      </p:sp>
      <p:sp>
        <p:nvSpPr>
          <p:cNvPr name="TextBox 26" id="26"/>
          <p:cNvSpPr txBox="true"/>
          <p:nvPr/>
        </p:nvSpPr>
        <p:spPr>
          <a:xfrm rot="0">
            <a:off x="11705092" y="8447446"/>
            <a:ext cx="4225119"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Sales activity tracking</a:t>
            </a:r>
          </a:p>
        </p:txBody>
      </p:sp>
      <p:sp>
        <p:nvSpPr>
          <p:cNvPr name="TextBox 27" id="27"/>
          <p:cNvSpPr txBox="true"/>
          <p:nvPr/>
        </p:nvSpPr>
        <p:spPr>
          <a:xfrm rot="0">
            <a:off x="1750419" y="9283008"/>
            <a:ext cx="470164" cy="745236"/>
          </a:xfrm>
          <a:prstGeom prst="rect">
            <a:avLst/>
          </a:prstGeom>
        </p:spPr>
        <p:txBody>
          <a:bodyPr anchor="t" rtlCol="false" tIns="0" lIns="0" bIns="0" rIns="0">
            <a:spAutoFit/>
          </a:bodyPr>
          <a:lstStyle/>
          <a:p>
            <a:pPr algn="l">
              <a:lnSpc>
                <a:spcPts val="4775"/>
              </a:lnSpc>
            </a:pPr>
            <a:r>
              <a:rPr lang="en-US" sz="3183">
                <a:solidFill>
                  <a:srgbClr val="1546E0"/>
                </a:solidFill>
                <a:latin typeface="Georgia"/>
                <a:ea typeface="Georgia"/>
                <a:cs typeface="Georgia"/>
                <a:sym typeface="Georgia"/>
              </a:rPr>
              <a:t>✓</a:t>
            </a:r>
          </a:p>
        </p:txBody>
      </p:sp>
      <p:sp>
        <p:nvSpPr>
          <p:cNvPr name="TextBox 28" id="28"/>
          <p:cNvSpPr txBox="true"/>
          <p:nvPr/>
        </p:nvSpPr>
        <p:spPr>
          <a:xfrm rot="0">
            <a:off x="2298335" y="9283008"/>
            <a:ext cx="2127380"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Dashboard</a:t>
            </a:r>
          </a:p>
        </p:txBody>
      </p:sp>
      <p:sp>
        <p:nvSpPr>
          <p:cNvPr name="TextBox 29" id="29"/>
          <p:cNvSpPr txBox="true"/>
          <p:nvPr/>
        </p:nvSpPr>
        <p:spPr>
          <a:xfrm rot="0">
            <a:off x="11157185" y="9283008"/>
            <a:ext cx="470164" cy="745236"/>
          </a:xfrm>
          <a:prstGeom prst="rect">
            <a:avLst/>
          </a:prstGeom>
        </p:spPr>
        <p:txBody>
          <a:bodyPr anchor="t" rtlCol="false" tIns="0" lIns="0" bIns="0" rIns="0">
            <a:spAutoFit/>
          </a:bodyPr>
          <a:lstStyle/>
          <a:p>
            <a:pPr algn="l">
              <a:lnSpc>
                <a:spcPts val="4775"/>
              </a:lnSpc>
            </a:pPr>
            <a:r>
              <a:rPr lang="en-US" sz="3183">
                <a:solidFill>
                  <a:srgbClr val="1546E0"/>
                </a:solidFill>
                <a:latin typeface="Georgia"/>
                <a:ea typeface="Georgia"/>
                <a:cs typeface="Georgia"/>
                <a:sym typeface="Georgia"/>
              </a:rPr>
              <a:t>✓</a:t>
            </a:r>
          </a:p>
        </p:txBody>
      </p:sp>
      <p:sp>
        <p:nvSpPr>
          <p:cNvPr name="TextBox 30" id="30"/>
          <p:cNvSpPr txBox="true"/>
          <p:nvPr/>
        </p:nvSpPr>
        <p:spPr>
          <a:xfrm rot="0">
            <a:off x="11705092" y="9283008"/>
            <a:ext cx="2708986"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Sales visibility</a:t>
            </a:r>
          </a:p>
        </p:txBody>
      </p:sp>
      <p:sp>
        <p:nvSpPr>
          <p:cNvPr name="TextBox 31" id="31"/>
          <p:cNvSpPr txBox="true"/>
          <p:nvPr/>
        </p:nvSpPr>
        <p:spPr>
          <a:xfrm rot="0">
            <a:off x="1750419" y="10118560"/>
            <a:ext cx="470164" cy="745236"/>
          </a:xfrm>
          <a:prstGeom prst="rect">
            <a:avLst/>
          </a:prstGeom>
        </p:spPr>
        <p:txBody>
          <a:bodyPr anchor="t" rtlCol="false" tIns="0" lIns="0" bIns="0" rIns="0">
            <a:spAutoFit/>
          </a:bodyPr>
          <a:lstStyle/>
          <a:p>
            <a:pPr algn="l">
              <a:lnSpc>
                <a:spcPts val="4775"/>
              </a:lnSpc>
            </a:pPr>
            <a:r>
              <a:rPr lang="en-US" sz="3183">
                <a:solidFill>
                  <a:srgbClr val="1546E0"/>
                </a:solidFill>
                <a:latin typeface="Georgia"/>
                <a:ea typeface="Georgia"/>
                <a:cs typeface="Georgia"/>
                <a:sym typeface="Georgia"/>
              </a:rPr>
              <a:t>✓</a:t>
            </a:r>
          </a:p>
        </p:txBody>
      </p:sp>
      <p:sp>
        <p:nvSpPr>
          <p:cNvPr name="TextBox 32" id="32"/>
          <p:cNvSpPr txBox="true"/>
          <p:nvPr/>
        </p:nvSpPr>
        <p:spPr>
          <a:xfrm rot="0">
            <a:off x="2298335" y="10118560"/>
            <a:ext cx="4644371"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Workflow configuration</a:t>
            </a:r>
          </a:p>
        </p:txBody>
      </p:sp>
      <p:sp>
        <p:nvSpPr>
          <p:cNvPr name="TextBox 33" id="33"/>
          <p:cNvSpPr txBox="true"/>
          <p:nvPr/>
        </p:nvSpPr>
        <p:spPr>
          <a:xfrm rot="0">
            <a:off x="1750419" y="11114218"/>
            <a:ext cx="18438743" cy="1474603"/>
          </a:xfrm>
          <a:prstGeom prst="rect">
            <a:avLst/>
          </a:prstGeom>
        </p:spPr>
        <p:txBody>
          <a:bodyPr anchor="t" rtlCol="false" tIns="0" lIns="0" bIns="0" rIns="0">
            <a:spAutoFit/>
          </a:bodyPr>
          <a:lstStyle/>
          <a:p>
            <a:pPr algn="l">
              <a:lnSpc>
                <a:spcPts val="5093"/>
              </a:lnSpc>
            </a:pPr>
            <a:r>
              <a:rPr lang="en-US" sz="3183" i="true">
                <a:solidFill>
                  <a:srgbClr val="5A6B85"/>
                </a:solidFill>
                <a:latin typeface="Georgia Italics"/>
                <a:ea typeface="Georgia Italics"/>
                <a:cs typeface="Georgia Italics"/>
                <a:sym typeface="Georgia Italics"/>
              </a:rPr>
              <a:t>Designed around the Client’s business requirements rather than a generic workflow without customisation.</a:t>
            </a:r>
          </a:p>
        </p:txBody>
      </p:sp>
      <p:grpSp>
        <p:nvGrpSpPr>
          <p:cNvPr name="Group 34" id="34"/>
          <p:cNvGrpSpPr/>
          <p:nvPr/>
        </p:nvGrpSpPr>
        <p:grpSpPr>
          <a:xfrm rot="0">
            <a:off x="1725025" y="14716592"/>
            <a:ext cx="17951006" cy="26956"/>
            <a:chOff x="0" y="0"/>
            <a:chExt cx="23934674" cy="35941"/>
          </a:xfrm>
        </p:grpSpPr>
        <p:sp>
          <p:nvSpPr>
            <p:cNvPr name="Freeform 35" id="35"/>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DCE3EE"/>
            </a:solidFill>
          </p:spPr>
        </p:sp>
      </p:grpSp>
      <p:sp>
        <p:nvSpPr>
          <p:cNvPr name="TextBox 36" id="36"/>
          <p:cNvSpPr txBox="true"/>
          <p:nvPr/>
        </p:nvSpPr>
        <p:spPr>
          <a:xfrm rot="0">
            <a:off x="1750419" y="13950820"/>
            <a:ext cx="663464" cy="470840"/>
          </a:xfrm>
          <a:prstGeom prst="rect">
            <a:avLst/>
          </a:prstGeom>
        </p:spPr>
        <p:txBody>
          <a:bodyPr anchor="t" rtlCol="false" tIns="0" lIns="0" bIns="0" rIns="0">
            <a:spAutoFit/>
          </a:bodyPr>
          <a:lstStyle/>
          <a:p>
            <a:pPr algn="l">
              <a:lnSpc>
                <a:spcPts val="3310"/>
              </a:lnSpc>
            </a:pPr>
            <a:r>
              <a:rPr lang="en-US" sz="2759" spc="387">
                <a:solidFill>
                  <a:srgbClr val="1546E0"/>
                </a:solidFill>
                <a:latin typeface="Georgia"/>
                <a:ea typeface="Georgia"/>
                <a:cs typeface="Georgia"/>
                <a:sym typeface="Georgia"/>
              </a:rPr>
              <a:t>05</a:t>
            </a:r>
          </a:p>
        </p:txBody>
      </p:sp>
      <p:sp>
        <p:nvSpPr>
          <p:cNvPr name="TextBox 37" id="37"/>
          <p:cNvSpPr txBox="true"/>
          <p:nvPr/>
        </p:nvSpPr>
        <p:spPr>
          <a:xfrm rot="0">
            <a:off x="2626404" y="13492610"/>
            <a:ext cx="10306831" cy="1036863"/>
          </a:xfrm>
          <a:prstGeom prst="rect">
            <a:avLst/>
          </a:prstGeom>
        </p:spPr>
        <p:txBody>
          <a:bodyPr anchor="t" rtlCol="false" tIns="0" lIns="0" bIns="0" rIns="0">
            <a:spAutoFit/>
          </a:bodyPr>
          <a:lstStyle/>
          <a:p>
            <a:pPr algn="l">
              <a:lnSpc>
                <a:spcPts val="6621"/>
              </a:lnSpc>
            </a:pPr>
            <a:r>
              <a:rPr lang="en-US" sz="5518" b="true">
                <a:solidFill>
                  <a:srgbClr val="1B2A44"/>
                </a:solidFill>
                <a:latin typeface="Playfair Display Bold"/>
                <a:ea typeface="Playfair Display Bold"/>
                <a:cs typeface="Playfair Display Bold"/>
                <a:sym typeface="Playfair Display Bold"/>
              </a:rPr>
              <a:t>Customer &amp; Sales Dashboard</a:t>
            </a:r>
          </a:p>
        </p:txBody>
      </p:sp>
      <p:sp>
        <p:nvSpPr>
          <p:cNvPr name="TextBox 38" id="38"/>
          <p:cNvSpPr txBox="true"/>
          <p:nvPr/>
        </p:nvSpPr>
        <p:spPr>
          <a:xfrm rot="0">
            <a:off x="1750419" y="15165143"/>
            <a:ext cx="18438743" cy="1493653"/>
          </a:xfrm>
          <a:prstGeom prst="rect">
            <a:avLst/>
          </a:prstGeom>
        </p:spPr>
        <p:txBody>
          <a:bodyPr anchor="t" rtlCol="false" tIns="0" lIns="0" bIns="0" rIns="0">
            <a:spAutoFit/>
          </a:bodyPr>
          <a:lstStyle/>
          <a:p>
            <a:pPr algn="l">
              <a:lnSpc>
                <a:spcPts val="5252"/>
              </a:lnSpc>
            </a:pPr>
            <a:r>
              <a:rPr lang="en-US" sz="3183">
                <a:solidFill>
                  <a:srgbClr val="33425C"/>
                </a:solidFill>
                <a:latin typeface="Georgia"/>
                <a:ea typeface="Georgia"/>
                <a:cs typeface="Georgia"/>
                <a:sym typeface="Georgia"/>
              </a:rPr>
              <a:t>Dashboards provide visibility into relevant business activity. Depending on the agreed workflow, this may include:</a:t>
            </a:r>
          </a:p>
        </p:txBody>
      </p:sp>
      <p:sp>
        <p:nvSpPr>
          <p:cNvPr name="TextBox 39" id="39"/>
          <p:cNvSpPr txBox="true"/>
          <p:nvPr/>
        </p:nvSpPr>
        <p:spPr>
          <a:xfrm rot="0">
            <a:off x="1750419" y="16947309"/>
            <a:ext cx="6056852" cy="708765"/>
          </a:xfrm>
          <a:prstGeom prst="rect">
            <a:avLst/>
          </a:prstGeom>
        </p:spPr>
        <p:txBody>
          <a:bodyPr anchor="t" rtlCol="false" tIns="0" lIns="0" bIns="0" rIns="0">
            <a:spAutoFit/>
          </a:bodyPr>
          <a:lstStyle/>
          <a:p>
            <a:pPr algn="l">
              <a:lnSpc>
                <a:spcPts val="4464"/>
              </a:lnSpc>
            </a:pPr>
            <a:r>
              <a:rPr lang="en-US" sz="3078">
                <a:solidFill>
                  <a:srgbClr val="33425C"/>
                </a:solidFill>
                <a:latin typeface="Georgia"/>
                <a:ea typeface="Georgia"/>
                <a:cs typeface="Georgia"/>
                <a:sym typeface="Georgia"/>
              </a:rPr>
              <a:t>New enquiries</a:t>
            </a:r>
          </a:p>
        </p:txBody>
      </p:sp>
      <p:sp>
        <p:nvSpPr>
          <p:cNvPr name="TextBox 40" id="40"/>
          <p:cNvSpPr txBox="true"/>
          <p:nvPr/>
        </p:nvSpPr>
        <p:spPr>
          <a:xfrm rot="0">
            <a:off x="7949717" y="16947309"/>
            <a:ext cx="6056852" cy="708765"/>
          </a:xfrm>
          <a:prstGeom prst="rect">
            <a:avLst/>
          </a:prstGeom>
        </p:spPr>
        <p:txBody>
          <a:bodyPr anchor="t" rtlCol="false" tIns="0" lIns="0" bIns="0" rIns="0">
            <a:spAutoFit/>
          </a:bodyPr>
          <a:lstStyle/>
          <a:p>
            <a:pPr algn="l">
              <a:lnSpc>
                <a:spcPts val="4464"/>
              </a:lnSpc>
            </a:pPr>
            <a:r>
              <a:rPr lang="en-US" sz="3078">
                <a:solidFill>
                  <a:srgbClr val="33425C"/>
                </a:solidFill>
                <a:latin typeface="Georgia"/>
                <a:ea typeface="Georgia"/>
                <a:cs typeface="Georgia"/>
                <a:sym typeface="Georgia"/>
              </a:rPr>
              <a:t>Lead status</a:t>
            </a:r>
          </a:p>
        </p:txBody>
      </p:sp>
      <p:sp>
        <p:nvSpPr>
          <p:cNvPr name="TextBox 41" id="41"/>
          <p:cNvSpPr txBox="true"/>
          <p:nvPr/>
        </p:nvSpPr>
        <p:spPr>
          <a:xfrm rot="0">
            <a:off x="14149016" y="16947309"/>
            <a:ext cx="6056852" cy="708765"/>
          </a:xfrm>
          <a:prstGeom prst="rect">
            <a:avLst/>
          </a:prstGeom>
        </p:spPr>
        <p:txBody>
          <a:bodyPr anchor="t" rtlCol="false" tIns="0" lIns="0" bIns="0" rIns="0">
            <a:spAutoFit/>
          </a:bodyPr>
          <a:lstStyle/>
          <a:p>
            <a:pPr algn="l">
              <a:lnSpc>
                <a:spcPts val="4464"/>
              </a:lnSpc>
            </a:pPr>
            <a:r>
              <a:rPr lang="en-US" sz="3078">
                <a:solidFill>
                  <a:srgbClr val="33425C"/>
                </a:solidFill>
                <a:latin typeface="Georgia"/>
                <a:ea typeface="Georgia"/>
                <a:cs typeface="Georgia"/>
                <a:sym typeface="Georgia"/>
              </a:rPr>
              <a:t>Sales pipeline</a:t>
            </a:r>
          </a:p>
        </p:txBody>
      </p:sp>
      <p:sp>
        <p:nvSpPr>
          <p:cNvPr name="TextBox 42" id="42"/>
          <p:cNvSpPr txBox="true"/>
          <p:nvPr/>
        </p:nvSpPr>
        <p:spPr>
          <a:xfrm rot="0">
            <a:off x="1750419" y="17782870"/>
            <a:ext cx="6056852" cy="708765"/>
          </a:xfrm>
          <a:prstGeom prst="rect">
            <a:avLst/>
          </a:prstGeom>
        </p:spPr>
        <p:txBody>
          <a:bodyPr anchor="t" rtlCol="false" tIns="0" lIns="0" bIns="0" rIns="0">
            <a:spAutoFit/>
          </a:bodyPr>
          <a:lstStyle/>
          <a:p>
            <a:pPr algn="l">
              <a:lnSpc>
                <a:spcPts val="4464"/>
              </a:lnSpc>
            </a:pPr>
            <a:r>
              <a:rPr lang="en-US" sz="3078">
                <a:solidFill>
                  <a:srgbClr val="33425C"/>
                </a:solidFill>
                <a:latin typeface="Georgia"/>
                <a:ea typeface="Georgia"/>
                <a:cs typeface="Georgia"/>
                <a:sym typeface="Georgia"/>
              </a:rPr>
              <a:t>Assigned team member</a:t>
            </a:r>
          </a:p>
        </p:txBody>
      </p:sp>
      <p:sp>
        <p:nvSpPr>
          <p:cNvPr name="TextBox 43" id="43"/>
          <p:cNvSpPr txBox="true"/>
          <p:nvPr/>
        </p:nvSpPr>
        <p:spPr>
          <a:xfrm rot="0">
            <a:off x="7949717" y="17782870"/>
            <a:ext cx="6056852" cy="708765"/>
          </a:xfrm>
          <a:prstGeom prst="rect">
            <a:avLst/>
          </a:prstGeom>
        </p:spPr>
        <p:txBody>
          <a:bodyPr anchor="t" rtlCol="false" tIns="0" lIns="0" bIns="0" rIns="0">
            <a:spAutoFit/>
          </a:bodyPr>
          <a:lstStyle/>
          <a:p>
            <a:pPr algn="l">
              <a:lnSpc>
                <a:spcPts val="4464"/>
              </a:lnSpc>
            </a:pPr>
            <a:r>
              <a:rPr lang="en-US" sz="3078">
                <a:solidFill>
                  <a:srgbClr val="33425C"/>
                </a:solidFill>
                <a:latin typeface="Georgia"/>
                <a:ea typeface="Georgia"/>
                <a:cs typeface="Georgia"/>
                <a:sym typeface="Georgia"/>
              </a:rPr>
              <a:t>Follow-up status</a:t>
            </a:r>
          </a:p>
        </p:txBody>
      </p:sp>
      <p:sp>
        <p:nvSpPr>
          <p:cNvPr name="TextBox 44" id="44"/>
          <p:cNvSpPr txBox="true"/>
          <p:nvPr/>
        </p:nvSpPr>
        <p:spPr>
          <a:xfrm rot="0">
            <a:off x="14149016" y="17782870"/>
            <a:ext cx="6056852" cy="708765"/>
          </a:xfrm>
          <a:prstGeom prst="rect">
            <a:avLst/>
          </a:prstGeom>
        </p:spPr>
        <p:txBody>
          <a:bodyPr anchor="t" rtlCol="false" tIns="0" lIns="0" bIns="0" rIns="0">
            <a:spAutoFit/>
          </a:bodyPr>
          <a:lstStyle/>
          <a:p>
            <a:pPr algn="l">
              <a:lnSpc>
                <a:spcPts val="4464"/>
              </a:lnSpc>
            </a:pPr>
            <a:r>
              <a:rPr lang="en-US" sz="3078">
                <a:solidFill>
                  <a:srgbClr val="33425C"/>
                </a:solidFill>
                <a:latin typeface="Georgia"/>
                <a:ea typeface="Georgia"/>
                <a:cs typeface="Georgia"/>
                <a:sym typeface="Georgia"/>
              </a:rPr>
              <a:t>Customer information</a:t>
            </a:r>
          </a:p>
        </p:txBody>
      </p:sp>
      <p:sp>
        <p:nvSpPr>
          <p:cNvPr name="TextBox 45" id="45"/>
          <p:cNvSpPr txBox="true"/>
          <p:nvPr/>
        </p:nvSpPr>
        <p:spPr>
          <a:xfrm rot="0">
            <a:off x="1750419" y="18618432"/>
            <a:ext cx="6056852" cy="708765"/>
          </a:xfrm>
          <a:prstGeom prst="rect">
            <a:avLst/>
          </a:prstGeom>
        </p:spPr>
        <p:txBody>
          <a:bodyPr anchor="t" rtlCol="false" tIns="0" lIns="0" bIns="0" rIns="0">
            <a:spAutoFit/>
          </a:bodyPr>
          <a:lstStyle/>
          <a:p>
            <a:pPr algn="l">
              <a:lnSpc>
                <a:spcPts val="4464"/>
              </a:lnSpc>
            </a:pPr>
            <a:r>
              <a:rPr lang="en-US" sz="3078">
                <a:solidFill>
                  <a:srgbClr val="33425C"/>
                </a:solidFill>
                <a:latin typeface="Georgia"/>
                <a:ea typeface="Georgia"/>
                <a:cs typeface="Georgia"/>
                <a:sym typeface="Georgia"/>
              </a:rPr>
              <a:t>Proposal / quotation status</a:t>
            </a:r>
          </a:p>
        </p:txBody>
      </p:sp>
      <p:sp>
        <p:nvSpPr>
          <p:cNvPr name="TextBox 46" id="46"/>
          <p:cNvSpPr txBox="true"/>
          <p:nvPr/>
        </p:nvSpPr>
        <p:spPr>
          <a:xfrm rot="0">
            <a:off x="7949717" y="18618432"/>
            <a:ext cx="6056852" cy="708765"/>
          </a:xfrm>
          <a:prstGeom prst="rect">
            <a:avLst/>
          </a:prstGeom>
        </p:spPr>
        <p:txBody>
          <a:bodyPr anchor="t" rtlCol="false" tIns="0" lIns="0" bIns="0" rIns="0">
            <a:spAutoFit/>
          </a:bodyPr>
          <a:lstStyle/>
          <a:p>
            <a:pPr algn="l">
              <a:lnSpc>
                <a:spcPts val="4464"/>
              </a:lnSpc>
            </a:pPr>
            <a:r>
              <a:rPr lang="en-US" sz="3078">
                <a:solidFill>
                  <a:srgbClr val="33425C"/>
                </a:solidFill>
                <a:latin typeface="Georgia"/>
                <a:ea typeface="Georgia"/>
                <a:cs typeface="Georgia"/>
                <a:sym typeface="Georgia"/>
              </a:rPr>
              <a:t>Sales progress</a:t>
            </a:r>
          </a:p>
        </p:txBody>
      </p:sp>
      <p:sp>
        <p:nvSpPr>
          <p:cNvPr name="TextBox 47" id="47"/>
          <p:cNvSpPr txBox="true"/>
          <p:nvPr/>
        </p:nvSpPr>
        <p:spPr>
          <a:xfrm rot="0">
            <a:off x="14149016" y="18618432"/>
            <a:ext cx="6056852" cy="708765"/>
          </a:xfrm>
          <a:prstGeom prst="rect">
            <a:avLst/>
          </a:prstGeom>
        </p:spPr>
        <p:txBody>
          <a:bodyPr anchor="t" rtlCol="false" tIns="0" lIns="0" bIns="0" rIns="0">
            <a:spAutoFit/>
          </a:bodyPr>
          <a:lstStyle/>
          <a:p>
            <a:pPr algn="l">
              <a:lnSpc>
                <a:spcPts val="4464"/>
              </a:lnSpc>
            </a:pPr>
            <a:r>
              <a:rPr lang="en-US" sz="3078">
                <a:solidFill>
                  <a:srgbClr val="33425C"/>
                </a:solidFill>
                <a:latin typeface="Georgia"/>
                <a:ea typeface="Georgia"/>
                <a:cs typeface="Georgia"/>
                <a:sym typeface="Georgia"/>
              </a:rPr>
              <a:t>Other agreed indicators</a:t>
            </a:r>
          </a:p>
        </p:txBody>
      </p:sp>
      <p:sp>
        <p:nvSpPr>
          <p:cNvPr name="TextBox 48" id="48"/>
          <p:cNvSpPr txBox="true"/>
          <p:nvPr/>
        </p:nvSpPr>
        <p:spPr>
          <a:xfrm rot="0">
            <a:off x="1750419" y="28014044"/>
            <a:ext cx="18438743" cy="827723"/>
          </a:xfrm>
          <a:prstGeom prst="rect">
            <a:avLst/>
          </a:prstGeom>
        </p:spPr>
        <p:txBody>
          <a:bodyPr anchor="t" rtlCol="false" tIns="0" lIns="0" bIns="0" rIns="0">
            <a:spAutoFit/>
          </a:bodyPr>
          <a:lstStyle/>
          <a:p>
            <a:pPr algn="l">
              <a:lnSpc>
                <a:spcPts val="5093"/>
              </a:lnSpc>
            </a:pPr>
            <a:r>
              <a:rPr lang="en-US" sz="3183" i="true">
                <a:solidFill>
                  <a:srgbClr val="5A6B85"/>
                </a:solidFill>
                <a:latin typeface="Georgia Italics"/>
                <a:ea typeface="Georgia Italics"/>
                <a:cs typeface="Georgia Italics"/>
                <a:sym typeface="Georgia Italics"/>
              </a:rPr>
              <a:t>The exact dashboard structure is determined during implementation.</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725025" y="2102368"/>
            <a:ext cx="17951006" cy="26956"/>
            <a:chOff x="0" y="0"/>
            <a:chExt cx="23934674" cy="35941"/>
          </a:xfrm>
        </p:grpSpPr>
        <p:sp>
          <p:nvSpPr>
            <p:cNvPr name="Freeform 3" id="3"/>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E2E8F1"/>
            </a:solidFill>
          </p:spPr>
        </p:sp>
      </p:grpSp>
      <p:sp>
        <p:nvSpPr>
          <p:cNvPr name="TextBox 4" id="4"/>
          <p:cNvSpPr txBox="true"/>
          <p:nvPr/>
        </p:nvSpPr>
        <p:spPr>
          <a:xfrm rot="0">
            <a:off x="1750419" y="1525267"/>
            <a:ext cx="3195828"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LUMELUSH STUDIO</a:t>
            </a:r>
          </a:p>
        </p:txBody>
      </p:sp>
      <p:sp>
        <p:nvSpPr>
          <p:cNvPr name="TextBox 5" id="5"/>
          <p:cNvSpPr txBox="true"/>
          <p:nvPr/>
        </p:nvSpPr>
        <p:spPr>
          <a:xfrm rot="0">
            <a:off x="15847933" y="1525267"/>
            <a:ext cx="4188057"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COMMERCIAL PROPOSAL</a:t>
            </a:r>
          </a:p>
        </p:txBody>
      </p:sp>
      <p:grpSp>
        <p:nvGrpSpPr>
          <p:cNvPr name="Group 6" id="6"/>
          <p:cNvGrpSpPr/>
          <p:nvPr/>
        </p:nvGrpSpPr>
        <p:grpSpPr>
          <a:xfrm rot="0">
            <a:off x="1725025" y="4258647"/>
            <a:ext cx="17951006" cy="26956"/>
            <a:chOff x="0" y="0"/>
            <a:chExt cx="23934674" cy="35941"/>
          </a:xfrm>
        </p:grpSpPr>
        <p:sp>
          <p:nvSpPr>
            <p:cNvPr name="Freeform 7" id="7"/>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DCE3EE"/>
            </a:solidFill>
          </p:spPr>
        </p:sp>
      </p:grpSp>
      <p:sp>
        <p:nvSpPr>
          <p:cNvPr name="TextBox 8" id="8"/>
          <p:cNvSpPr txBox="true"/>
          <p:nvPr/>
        </p:nvSpPr>
        <p:spPr>
          <a:xfrm rot="0">
            <a:off x="1750419" y="3465919"/>
            <a:ext cx="1579883" cy="470840"/>
          </a:xfrm>
          <a:prstGeom prst="rect">
            <a:avLst/>
          </a:prstGeom>
        </p:spPr>
        <p:txBody>
          <a:bodyPr anchor="t" rtlCol="false" tIns="0" lIns="0" bIns="0" rIns="0">
            <a:spAutoFit/>
          </a:bodyPr>
          <a:lstStyle/>
          <a:p>
            <a:pPr algn="l">
              <a:lnSpc>
                <a:spcPts val="3310"/>
              </a:lnSpc>
            </a:pPr>
            <a:r>
              <a:rPr lang="en-US" sz="2759" spc="387">
                <a:solidFill>
                  <a:srgbClr val="1546E0"/>
                </a:solidFill>
                <a:latin typeface="Georgia"/>
                <a:ea typeface="Georgia"/>
                <a:cs typeface="Georgia"/>
                <a:sym typeface="Georgia"/>
              </a:rPr>
              <a:t>06 · 07</a:t>
            </a:r>
          </a:p>
        </p:txBody>
      </p:sp>
      <p:sp>
        <p:nvSpPr>
          <p:cNvPr name="TextBox 9" id="9"/>
          <p:cNvSpPr txBox="true"/>
          <p:nvPr/>
        </p:nvSpPr>
        <p:spPr>
          <a:xfrm rot="0">
            <a:off x="3542833" y="2963332"/>
            <a:ext cx="13756748" cy="1108196"/>
          </a:xfrm>
          <a:prstGeom prst="rect">
            <a:avLst/>
          </a:prstGeom>
        </p:spPr>
        <p:txBody>
          <a:bodyPr anchor="t" rtlCol="false" tIns="0" lIns="0" bIns="0" rIns="0">
            <a:spAutoFit/>
          </a:bodyPr>
          <a:lstStyle/>
          <a:p>
            <a:pPr algn="l">
              <a:lnSpc>
                <a:spcPts val="7130"/>
              </a:lnSpc>
            </a:pPr>
            <a:r>
              <a:rPr lang="en-US" sz="5942" b="true">
                <a:solidFill>
                  <a:srgbClr val="1B2A44"/>
                </a:solidFill>
                <a:latin typeface="Playfair Display Bold"/>
                <a:ea typeface="Playfair Display Bold"/>
                <a:cs typeface="Playfair Display Bold"/>
                <a:sym typeface="Playfair Display Bold"/>
              </a:rPr>
              <a:t>AI Proposal &amp; Quotation Generators</a:t>
            </a:r>
          </a:p>
        </p:txBody>
      </p:sp>
      <p:grpSp>
        <p:nvGrpSpPr>
          <p:cNvPr name="Group 10" id="10"/>
          <p:cNvGrpSpPr/>
          <p:nvPr/>
        </p:nvGrpSpPr>
        <p:grpSpPr>
          <a:xfrm rot="0">
            <a:off x="1711547" y="4919005"/>
            <a:ext cx="17977961" cy="6953993"/>
            <a:chOff x="0" y="0"/>
            <a:chExt cx="23970615" cy="9271991"/>
          </a:xfrm>
        </p:grpSpPr>
        <p:sp>
          <p:nvSpPr>
            <p:cNvPr name="Freeform 11" id="11"/>
            <p:cNvSpPr/>
            <p:nvPr/>
          </p:nvSpPr>
          <p:spPr>
            <a:xfrm flipH="false" flipV="false" rot="0">
              <a:off x="0" y="0"/>
              <a:ext cx="23970616" cy="9271888"/>
            </a:xfrm>
            <a:custGeom>
              <a:avLst/>
              <a:gdLst/>
              <a:ahLst/>
              <a:cxnLst/>
              <a:rect r="r" b="b" t="t" l="l"/>
              <a:pathLst>
                <a:path h="9271888" w="23970616">
                  <a:moveTo>
                    <a:pt x="17907" y="0"/>
                  </a:moveTo>
                  <a:lnTo>
                    <a:pt x="23952708" y="0"/>
                  </a:lnTo>
                  <a:cubicBezTo>
                    <a:pt x="23962615" y="0"/>
                    <a:pt x="23970616" y="8001"/>
                    <a:pt x="23970616" y="17907"/>
                  </a:cubicBezTo>
                  <a:lnTo>
                    <a:pt x="23970616" y="9253982"/>
                  </a:lnTo>
                  <a:cubicBezTo>
                    <a:pt x="23970616" y="9263888"/>
                    <a:pt x="23962615" y="9271888"/>
                    <a:pt x="23952708" y="9271888"/>
                  </a:cubicBezTo>
                  <a:lnTo>
                    <a:pt x="17907" y="9271888"/>
                  </a:lnTo>
                  <a:cubicBezTo>
                    <a:pt x="8001" y="9271888"/>
                    <a:pt x="0" y="9263888"/>
                    <a:pt x="0" y="9253982"/>
                  </a:cubicBezTo>
                  <a:lnTo>
                    <a:pt x="0" y="17907"/>
                  </a:lnTo>
                  <a:cubicBezTo>
                    <a:pt x="0" y="8001"/>
                    <a:pt x="8001" y="0"/>
                    <a:pt x="17907" y="0"/>
                  </a:cubicBezTo>
                  <a:moveTo>
                    <a:pt x="17907" y="35941"/>
                  </a:moveTo>
                  <a:lnTo>
                    <a:pt x="17907" y="17907"/>
                  </a:lnTo>
                  <a:lnTo>
                    <a:pt x="35941" y="17907"/>
                  </a:lnTo>
                  <a:lnTo>
                    <a:pt x="35941" y="9253982"/>
                  </a:lnTo>
                  <a:lnTo>
                    <a:pt x="17907" y="9253982"/>
                  </a:lnTo>
                  <a:lnTo>
                    <a:pt x="17907" y="9236075"/>
                  </a:lnTo>
                  <a:lnTo>
                    <a:pt x="23952708" y="9236075"/>
                  </a:lnTo>
                  <a:lnTo>
                    <a:pt x="23952708" y="9253982"/>
                  </a:lnTo>
                  <a:lnTo>
                    <a:pt x="23934801" y="9253982"/>
                  </a:lnTo>
                  <a:lnTo>
                    <a:pt x="23934801" y="17907"/>
                  </a:lnTo>
                  <a:lnTo>
                    <a:pt x="23952708" y="17907"/>
                  </a:lnTo>
                  <a:lnTo>
                    <a:pt x="23952708" y="35941"/>
                  </a:lnTo>
                  <a:lnTo>
                    <a:pt x="17907" y="35941"/>
                  </a:lnTo>
                  <a:close/>
                </a:path>
              </a:pathLst>
            </a:custGeom>
            <a:solidFill>
              <a:srgbClr val="E2E8F1"/>
            </a:solidFill>
          </p:spPr>
        </p:sp>
      </p:grpSp>
      <p:grpSp>
        <p:nvGrpSpPr>
          <p:cNvPr name="Group 12" id="12"/>
          <p:cNvGrpSpPr/>
          <p:nvPr/>
        </p:nvGrpSpPr>
        <p:grpSpPr>
          <a:xfrm rot="0">
            <a:off x="1751971" y="4959439"/>
            <a:ext cx="17897104" cy="80858"/>
            <a:chOff x="0" y="0"/>
            <a:chExt cx="23862805" cy="107810"/>
          </a:xfrm>
        </p:grpSpPr>
        <p:sp>
          <p:nvSpPr>
            <p:cNvPr name="Freeform 13" id="13"/>
            <p:cNvSpPr/>
            <p:nvPr/>
          </p:nvSpPr>
          <p:spPr>
            <a:xfrm flipH="false" flipV="false" rot="0">
              <a:off x="0" y="0"/>
              <a:ext cx="23862792" cy="107823"/>
            </a:xfrm>
            <a:custGeom>
              <a:avLst/>
              <a:gdLst/>
              <a:ahLst/>
              <a:cxnLst/>
              <a:rect r="r" b="b" t="t" l="l"/>
              <a:pathLst>
                <a:path h="107823" w="23862792">
                  <a:moveTo>
                    <a:pt x="0" y="0"/>
                  </a:moveTo>
                  <a:lnTo>
                    <a:pt x="23862792" y="0"/>
                  </a:lnTo>
                  <a:lnTo>
                    <a:pt x="23862792" y="107823"/>
                  </a:lnTo>
                  <a:lnTo>
                    <a:pt x="0" y="107823"/>
                  </a:lnTo>
                  <a:close/>
                </a:path>
              </a:pathLst>
            </a:custGeom>
            <a:gradFill rotWithShape="true">
              <a:gsLst>
                <a:gs pos="0">
                  <a:srgbClr val="1546E0">
                    <a:alpha val="100000"/>
                  </a:srgbClr>
                </a:gs>
                <a:gs pos="100000">
                  <a:srgbClr val="16B3A8">
                    <a:alpha val="100000"/>
                  </a:srgbClr>
                </a:gs>
              </a:gsLst>
              <a:lin ang="0"/>
            </a:gradFill>
          </p:spPr>
        </p:sp>
      </p:grpSp>
      <p:sp>
        <p:nvSpPr>
          <p:cNvPr name="TextBox 14" id="14"/>
          <p:cNvSpPr txBox="true"/>
          <p:nvPr/>
        </p:nvSpPr>
        <p:spPr>
          <a:xfrm rot="0">
            <a:off x="2424255" y="5668204"/>
            <a:ext cx="18212867" cy="829142"/>
          </a:xfrm>
          <a:prstGeom prst="rect">
            <a:avLst/>
          </a:prstGeom>
        </p:spPr>
        <p:txBody>
          <a:bodyPr anchor="t" rtlCol="false" tIns="0" lIns="0" bIns="0" rIns="0">
            <a:spAutoFit/>
          </a:bodyPr>
          <a:lstStyle/>
          <a:p>
            <a:pPr algn="l">
              <a:lnSpc>
                <a:spcPts val="5348"/>
              </a:lnSpc>
            </a:pPr>
            <a:r>
              <a:rPr lang="en-US" sz="4456">
                <a:solidFill>
                  <a:srgbClr val="1B2A44"/>
                </a:solidFill>
                <a:latin typeface="Playfair Display"/>
                <a:ea typeface="Playfair Display"/>
                <a:cs typeface="Playfair Display"/>
                <a:sym typeface="Playfair Display"/>
              </a:rPr>
              <a:t>AI Proposal Generator</a:t>
            </a:r>
          </a:p>
        </p:txBody>
      </p:sp>
      <p:sp>
        <p:nvSpPr>
          <p:cNvPr name="TextBox 15" id="15"/>
          <p:cNvSpPr txBox="true"/>
          <p:nvPr/>
        </p:nvSpPr>
        <p:spPr>
          <a:xfrm rot="0">
            <a:off x="2424255" y="6741471"/>
            <a:ext cx="460057" cy="699240"/>
          </a:xfrm>
          <a:prstGeom prst="rect">
            <a:avLst/>
          </a:prstGeom>
        </p:spPr>
        <p:txBody>
          <a:bodyPr anchor="t" rtlCol="false" tIns="0" lIns="0" bIns="0" rIns="0">
            <a:spAutoFit/>
          </a:bodyPr>
          <a:lstStyle/>
          <a:p>
            <a:pPr algn="l">
              <a:lnSpc>
                <a:spcPts val="4315"/>
              </a:lnSpc>
            </a:pPr>
            <a:r>
              <a:rPr lang="en-US" sz="3078">
                <a:solidFill>
                  <a:srgbClr val="16B3A8"/>
                </a:solidFill>
                <a:latin typeface="Georgia"/>
                <a:ea typeface="Georgia"/>
                <a:cs typeface="Georgia"/>
                <a:sym typeface="Georgia"/>
              </a:rPr>
              <a:t>✓</a:t>
            </a:r>
          </a:p>
        </p:txBody>
      </p:sp>
      <p:sp>
        <p:nvSpPr>
          <p:cNvPr name="TextBox 16" id="16"/>
          <p:cNvSpPr txBox="true"/>
          <p:nvPr/>
        </p:nvSpPr>
        <p:spPr>
          <a:xfrm rot="0">
            <a:off x="2962065" y="6741471"/>
            <a:ext cx="6263011"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Client-specific proposal structure</a:t>
            </a:r>
          </a:p>
        </p:txBody>
      </p:sp>
      <p:sp>
        <p:nvSpPr>
          <p:cNvPr name="TextBox 17" id="17"/>
          <p:cNvSpPr txBox="true"/>
          <p:nvPr/>
        </p:nvSpPr>
        <p:spPr>
          <a:xfrm rot="0">
            <a:off x="11103273" y="6741471"/>
            <a:ext cx="460057" cy="699240"/>
          </a:xfrm>
          <a:prstGeom prst="rect">
            <a:avLst/>
          </a:prstGeom>
        </p:spPr>
        <p:txBody>
          <a:bodyPr anchor="t" rtlCol="false" tIns="0" lIns="0" bIns="0" rIns="0">
            <a:spAutoFit/>
          </a:bodyPr>
          <a:lstStyle/>
          <a:p>
            <a:pPr algn="l">
              <a:lnSpc>
                <a:spcPts val="4315"/>
              </a:lnSpc>
            </a:pPr>
            <a:r>
              <a:rPr lang="en-US" sz="3078">
                <a:solidFill>
                  <a:srgbClr val="16B3A8"/>
                </a:solidFill>
                <a:latin typeface="Georgia"/>
                <a:ea typeface="Georgia"/>
                <a:cs typeface="Georgia"/>
                <a:sym typeface="Georgia"/>
              </a:rPr>
              <a:t>✓</a:t>
            </a:r>
          </a:p>
        </p:txBody>
      </p:sp>
      <p:sp>
        <p:nvSpPr>
          <p:cNvPr name="TextBox 18" id="18"/>
          <p:cNvSpPr txBox="true"/>
          <p:nvPr/>
        </p:nvSpPr>
        <p:spPr>
          <a:xfrm rot="0">
            <a:off x="11641084" y="6741471"/>
            <a:ext cx="6013304"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Business / service configuration</a:t>
            </a:r>
          </a:p>
        </p:txBody>
      </p:sp>
      <p:sp>
        <p:nvSpPr>
          <p:cNvPr name="TextBox 19" id="19"/>
          <p:cNvSpPr txBox="true"/>
          <p:nvPr/>
        </p:nvSpPr>
        <p:spPr>
          <a:xfrm rot="0">
            <a:off x="2424255" y="7523121"/>
            <a:ext cx="460057" cy="699240"/>
          </a:xfrm>
          <a:prstGeom prst="rect">
            <a:avLst/>
          </a:prstGeom>
        </p:spPr>
        <p:txBody>
          <a:bodyPr anchor="t" rtlCol="false" tIns="0" lIns="0" bIns="0" rIns="0">
            <a:spAutoFit/>
          </a:bodyPr>
          <a:lstStyle/>
          <a:p>
            <a:pPr algn="l">
              <a:lnSpc>
                <a:spcPts val="4315"/>
              </a:lnSpc>
            </a:pPr>
            <a:r>
              <a:rPr lang="en-US" sz="3078">
                <a:solidFill>
                  <a:srgbClr val="16B3A8"/>
                </a:solidFill>
                <a:latin typeface="Georgia"/>
                <a:ea typeface="Georgia"/>
                <a:cs typeface="Georgia"/>
                <a:sym typeface="Georgia"/>
              </a:rPr>
              <a:t>✓</a:t>
            </a:r>
          </a:p>
        </p:txBody>
      </p:sp>
      <p:sp>
        <p:nvSpPr>
          <p:cNvPr name="TextBox 20" id="20"/>
          <p:cNvSpPr txBox="true"/>
          <p:nvPr/>
        </p:nvSpPr>
        <p:spPr>
          <a:xfrm rot="0">
            <a:off x="2962065" y="7523121"/>
            <a:ext cx="4214460"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AI-assisted generation</a:t>
            </a:r>
          </a:p>
        </p:txBody>
      </p:sp>
      <p:sp>
        <p:nvSpPr>
          <p:cNvPr name="TextBox 21" id="21"/>
          <p:cNvSpPr txBox="true"/>
          <p:nvPr/>
        </p:nvSpPr>
        <p:spPr>
          <a:xfrm rot="0">
            <a:off x="11103273" y="7523121"/>
            <a:ext cx="460057" cy="699240"/>
          </a:xfrm>
          <a:prstGeom prst="rect">
            <a:avLst/>
          </a:prstGeom>
        </p:spPr>
        <p:txBody>
          <a:bodyPr anchor="t" rtlCol="false" tIns="0" lIns="0" bIns="0" rIns="0">
            <a:spAutoFit/>
          </a:bodyPr>
          <a:lstStyle/>
          <a:p>
            <a:pPr algn="l">
              <a:lnSpc>
                <a:spcPts val="4315"/>
              </a:lnSpc>
            </a:pPr>
            <a:r>
              <a:rPr lang="en-US" sz="3078">
                <a:solidFill>
                  <a:srgbClr val="16B3A8"/>
                </a:solidFill>
                <a:latin typeface="Georgia"/>
                <a:ea typeface="Georgia"/>
                <a:cs typeface="Georgia"/>
                <a:sym typeface="Georgia"/>
              </a:rPr>
              <a:t>✓</a:t>
            </a:r>
          </a:p>
        </p:txBody>
      </p:sp>
      <p:sp>
        <p:nvSpPr>
          <p:cNvPr name="TextBox 22" id="22"/>
          <p:cNvSpPr txBox="true"/>
          <p:nvPr/>
        </p:nvSpPr>
        <p:spPr>
          <a:xfrm rot="0">
            <a:off x="11641084" y="7523121"/>
            <a:ext cx="3857749"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Standardised format</a:t>
            </a:r>
          </a:p>
        </p:txBody>
      </p:sp>
      <p:sp>
        <p:nvSpPr>
          <p:cNvPr name="TextBox 23" id="23"/>
          <p:cNvSpPr txBox="true"/>
          <p:nvPr/>
        </p:nvSpPr>
        <p:spPr>
          <a:xfrm rot="0">
            <a:off x="2424255" y="8304771"/>
            <a:ext cx="460057" cy="699240"/>
          </a:xfrm>
          <a:prstGeom prst="rect">
            <a:avLst/>
          </a:prstGeom>
        </p:spPr>
        <p:txBody>
          <a:bodyPr anchor="t" rtlCol="false" tIns="0" lIns="0" bIns="0" rIns="0">
            <a:spAutoFit/>
          </a:bodyPr>
          <a:lstStyle/>
          <a:p>
            <a:pPr algn="l">
              <a:lnSpc>
                <a:spcPts val="4315"/>
              </a:lnSpc>
            </a:pPr>
            <a:r>
              <a:rPr lang="en-US" sz="3078">
                <a:solidFill>
                  <a:srgbClr val="16B3A8"/>
                </a:solidFill>
                <a:latin typeface="Georgia"/>
                <a:ea typeface="Georgia"/>
                <a:cs typeface="Georgia"/>
                <a:sym typeface="Georgia"/>
              </a:rPr>
              <a:t>✓</a:t>
            </a:r>
          </a:p>
        </p:txBody>
      </p:sp>
      <p:sp>
        <p:nvSpPr>
          <p:cNvPr name="TextBox 24" id="24"/>
          <p:cNvSpPr txBox="true"/>
          <p:nvPr/>
        </p:nvSpPr>
        <p:spPr>
          <a:xfrm rot="0">
            <a:off x="2962065" y="8304771"/>
            <a:ext cx="5704313"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Proposal workflow integration</a:t>
            </a:r>
          </a:p>
        </p:txBody>
      </p:sp>
      <p:grpSp>
        <p:nvGrpSpPr>
          <p:cNvPr name="Group 25" id="25"/>
          <p:cNvGrpSpPr/>
          <p:nvPr/>
        </p:nvGrpSpPr>
        <p:grpSpPr>
          <a:xfrm rot="0">
            <a:off x="2398862" y="9406757"/>
            <a:ext cx="16603332" cy="26956"/>
            <a:chOff x="0" y="0"/>
            <a:chExt cx="22137776" cy="35941"/>
          </a:xfrm>
        </p:grpSpPr>
        <p:sp>
          <p:nvSpPr>
            <p:cNvPr name="Freeform 26" id="26"/>
            <p:cNvSpPr/>
            <p:nvPr/>
          </p:nvSpPr>
          <p:spPr>
            <a:xfrm flipH="false" flipV="false" rot="0">
              <a:off x="0" y="0"/>
              <a:ext cx="22137751" cy="35941"/>
            </a:xfrm>
            <a:custGeom>
              <a:avLst/>
              <a:gdLst/>
              <a:ahLst/>
              <a:cxnLst/>
              <a:rect r="r" b="b" t="t" l="l"/>
              <a:pathLst>
                <a:path h="35941" w="22137751">
                  <a:moveTo>
                    <a:pt x="0" y="0"/>
                  </a:moveTo>
                  <a:lnTo>
                    <a:pt x="22137751" y="0"/>
                  </a:lnTo>
                  <a:lnTo>
                    <a:pt x="22137751" y="35941"/>
                  </a:lnTo>
                  <a:lnTo>
                    <a:pt x="0" y="35941"/>
                  </a:lnTo>
                  <a:close/>
                </a:path>
              </a:pathLst>
            </a:custGeom>
            <a:solidFill>
              <a:srgbClr val="E2E8F1"/>
            </a:solidFill>
          </p:spPr>
        </p:sp>
      </p:grpSp>
      <p:sp>
        <p:nvSpPr>
          <p:cNvPr name="TextBox 27" id="27"/>
          <p:cNvSpPr txBox="true"/>
          <p:nvPr/>
        </p:nvSpPr>
        <p:spPr>
          <a:xfrm rot="0">
            <a:off x="2424255" y="9988658"/>
            <a:ext cx="3527031" cy="389982"/>
          </a:xfrm>
          <a:prstGeom prst="rect">
            <a:avLst/>
          </a:prstGeom>
        </p:spPr>
        <p:txBody>
          <a:bodyPr anchor="t" rtlCol="false" tIns="0" lIns="0" bIns="0" rIns="0">
            <a:spAutoFit/>
          </a:bodyPr>
          <a:lstStyle/>
          <a:p>
            <a:pPr algn="l">
              <a:lnSpc>
                <a:spcPts val="2421"/>
              </a:lnSpc>
            </a:pPr>
            <a:r>
              <a:rPr lang="en-US" sz="2017" spc="322">
                <a:solidFill>
                  <a:srgbClr val="8494AB"/>
                </a:solidFill>
                <a:latin typeface="Georgia"/>
                <a:ea typeface="Georgia"/>
                <a:cs typeface="Georgia"/>
                <a:sym typeface="Georgia"/>
              </a:rPr>
              <a:t>INCLUDED CAPACITY</a:t>
            </a:r>
          </a:p>
        </p:txBody>
      </p:sp>
      <p:sp>
        <p:nvSpPr>
          <p:cNvPr name="TextBox 28" id="28"/>
          <p:cNvSpPr txBox="true"/>
          <p:nvPr/>
        </p:nvSpPr>
        <p:spPr>
          <a:xfrm rot="0">
            <a:off x="2424255" y="10446868"/>
            <a:ext cx="18212867" cy="875147"/>
          </a:xfrm>
          <a:prstGeom prst="rect">
            <a:avLst/>
          </a:prstGeom>
        </p:spPr>
        <p:txBody>
          <a:bodyPr anchor="t" rtlCol="false" tIns="0" lIns="0" bIns="0" rIns="0">
            <a:spAutoFit/>
          </a:bodyPr>
          <a:lstStyle/>
          <a:p>
            <a:pPr algn="l">
              <a:lnSpc>
                <a:spcPts val="5602"/>
              </a:lnSpc>
            </a:pPr>
            <a:r>
              <a:rPr lang="en-US" sz="4669">
                <a:solidFill>
                  <a:srgbClr val="1546E0"/>
                </a:solidFill>
                <a:latin typeface="Playfair Display"/>
                <a:ea typeface="Playfair Display"/>
                <a:cs typeface="Playfair Display"/>
                <a:sym typeface="Playfair Display"/>
              </a:rPr>
              <a:t>Up to 500 proposals / month</a:t>
            </a:r>
          </a:p>
        </p:txBody>
      </p:sp>
      <p:grpSp>
        <p:nvGrpSpPr>
          <p:cNvPr name="Group 29" id="29"/>
          <p:cNvGrpSpPr/>
          <p:nvPr/>
        </p:nvGrpSpPr>
        <p:grpSpPr>
          <a:xfrm rot="0">
            <a:off x="1711547" y="12385119"/>
            <a:ext cx="17977961" cy="6953993"/>
            <a:chOff x="0" y="0"/>
            <a:chExt cx="23970615" cy="9271991"/>
          </a:xfrm>
        </p:grpSpPr>
        <p:sp>
          <p:nvSpPr>
            <p:cNvPr name="Freeform 30" id="30"/>
            <p:cNvSpPr/>
            <p:nvPr/>
          </p:nvSpPr>
          <p:spPr>
            <a:xfrm flipH="false" flipV="false" rot="0">
              <a:off x="0" y="0"/>
              <a:ext cx="23970616" cy="9271888"/>
            </a:xfrm>
            <a:custGeom>
              <a:avLst/>
              <a:gdLst/>
              <a:ahLst/>
              <a:cxnLst/>
              <a:rect r="r" b="b" t="t" l="l"/>
              <a:pathLst>
                <a:path h="9271888" w="23970616">
                  <a:moveTo>
                    <a:pt x="17907" y="0"/>
                  </a:moveTo>
                  <a:lnTo>
                    <a:pt x="23952708" y="0"/>
                  </a:lnTo>
                  <a:cubicBezTo>
                    <a:pt x="23962615" y="0"/>
                    <a:pt x="23970616" y="8001"/>
                    <a:pt x="23970616" y="17907"/>
                  </a:cubicBezTo>
                  <a:lnTo>
                    <a:pt x="23970616" y="9253982"/>
                  </a:lnTo>
                  <a:cubicBezTo>
                    <a:pt x="23970616" y="9263888"/>
                    <a:pt x="23962615" y="9271888"/>
                    <a:pt x="23952708" y="9271888"/>
                  </a:cubicBezTo>
                  <a:lnTo>
                    <a:pt x="17907" y="9271888"/>
                  </a:lnTo>
                  <a:cubicBezTo>
                    <a:pt x="8001" y="9271888"/>
                    <a:pt x="0" y="9263888"/>
                    <a:pt x="0" y="9253982"/>
                  </a:cubicBezTo>
                  <a:lnTo>
                    <a:pt x="0" y="17907"/>
                  </a:lnTo>
                  <a:cubicBezTo>
                    <a:pt x="0" y="8001"/>
                    <a:pt x="8001" y="0"/>
                    <a:pt x="17907" y="0"/>
                  </a:cubicBezTo>
                  <a:moveTo>
                    <a:pt x="17907" y="35941"/>
                  </a:moveTo>
                  <a:lnTo>
                    <a:pt x="17907" y="17907"/>
                  </a:lnTo>
                  <a:lnTo>
                    <a:pt x="35941" y="17907"/>
                  </a:lnTo>
                  <a:lnTo>
                    <a:pt x="35941" y="9253982"/>
                  </a:lnTo>
                  <a:lnTo>
                    <a:pt x="17907" y="9253982"/>
                  </a:lnTo>
                  <a:lnTo>
                    <a:pt x="17907" y="9236075"/>
                  </a:lnTo>
                  <a:lnTo>
                    <a:pt x="23952708" y="9236075"/>
                  </a:lnTo>
                  <a:lnTo>
                    <a:pt x="23952708" y="9253982"/>
                  </a:lnTo>
                  <a:lnTo>
                    <a:pt x="23934801" y="9253982"/>
                  </a:lnTo>
                  <a:lnTo>
                    <a:pt x="23934801" y="17907"/>
                  </a:lnTo>
                  <a:lnTo>
                    <a:pt x="23952708" y="17907"/>
                  </a:lnTo>
                  <a:lnTo>
                    <a:pt x="23952708" y="35941"/>
                  </a:lnTo>
                  <a:lnTo>
                    <a:pt x="17907" y="35941"/>
                  </a:lnTo>
                  <a:close/>
                </a:path>
              </a:pathLst>
            </a:custGeom>
            <a:solidFill>
              <a:srgbClr val="E2E8F1"/>
            </a:solidFill>
          </p:spPr>
        </p:sp>
      </p:grpSp>
      <p:grpSp>
        <p:nvGrpSpPr>
          <p:cNvPr name="Group 31" id="31"/>
          <p:cNvGrpSpPr/>
          <p:nvPr/>
        </p:nvGrpSpPr>
        <p:grpSpPr>
          <a:xfrm rot="0">
            <a:off x="1751971" y="12425553"/>
            <a:ext cx="17897104" cy="80858"/>
            <a:chOff x="0" y="0"/>
            <a:chExt cx="23862805" cy="107810"/>
          </a:xfrm>
        </p:grpSpPr>
        <p:sp>
          <p:nvSpPr>
            <p:cNvPr name="Freeform 32" id="32"/>
            <p:cNvSpPr/>
            <p:nvPr/>
          </p:nvSpPr>
          <p:spPr>
            <a:xfrm flipH="false" flipV="false" rot="0">
              <a:off x="0" y="0"/>
              <a:ext cx="23862792" cy="107823"/>
            </a:xfrm>
            <a:custGeom>
              <a:avLst/>
              <a:gdLst/>
              <a:ahLst/>
              <a:cxnLst/>
              <a:rect r="r" b="b" t="t" l="l"/>
              <a:pathLst>
                <a:path h="107823" w="23862792">
                  <a:moveTo>
                    <a:pt x="0" y="0"/>
                  </a:moveTo>
                  <a:lnTo>
                    <a:pt x="23862792" y="0"/>
                  </a:lnTo>
                  <a:lnTo>
                    <a:pt x="23862792" y="107823"/>
                  </a:lnTo>
                  <a:lnTo>
                    <a:pt x="0" y="107823"/>
                  </a:lnTo>
                  <a:close/>
                </a:path>
              </a:pathLst>
            </a:custGeom>
            <a:gradFill rotWithShape="true">
              <a:gsLst>
                <a:gs pos="0">
                  <a:srgbClr val="16B3A8">
                    <a:alpha val="100000"/>
                  </a:srgbClr>
                </a:gs>
                <a:gs pos="100000">
                  <a:srgbClr val="2E7D5B">
                    <a:alpha val="100000"/>
                  </a:srgbClr>
                </a:gs>
              </a:gsLst>
              <a:lin ang="0"/>
            </a:gradFill>
          </p:spPr>
        </p:sp>
      </p:grpSp>
      <p:sp>
        <p:nvSpPr>
          <p:cNvPr name="TextBox 33" id="33"/>
          <p:cNvSpPr txBox="true"/>
          <p:nvPr/>
        </p:nvSpPr>
        <p:spPr>
          <a:xfrm rot="0">
            <a:off x="2424255" y="13134308"/>
            <a:ext cx="18212867" cy="829142"/>
          </a:xfrm>
          <a:prstGeom prst="rect">
            <a:avLst/>
          </a:prstGeom>
        </p:spPr>
        <p:txBody>
          <a:bodyPr anchor="t" rtlCol="false" tIns="0" lIns="0" bIns="0" rIns="0">
            <a:spAutoFit/>
          </a:bodyPr>
          <a:lstStyle/>
          <a:p>
            <a:pPr algn="l">
              <a:lnSpc>
                <a:spcPts val="5348"/>
              </a:lnSpc>
            </a:pPr>
            <a:r>
              <a:rPr lang="en-US" sz="4456">
                <a:solidFill>
                  <a:srgbClr val="1B2A44"/>
                </a:solidFill>
                <a:latin typeface="Playfair Display"/>
                <a:ea typeface="Playfair Display"/>
                <a:cs typeface="Playfair Display"/>
                <a:sym typeface="Playfair Display"/>
              </a:rPr>
              <a:t>AI Quotation Generator</a:t>
            </a:r>
          </a:p>
        </p:txBody>
      </p:sp>
      <p:sp>
        <p:nvSpPr>
          <p:cNvPr name="TextBox 34" id="34"/>
          <p:cNvSpPr txBox="true"/>
          <p:nvPr/>
        </p:nvSpPr>
        <p:spPr>
          <a:xfrm rot="0">
            <a:off x="2424255" y="14207585"/>
            <a:ext cx="460057" cy="699240"/>
          </a:xfrm>
          <a:prstGeom prst="rect">
            <a:avLst/>
          </a:prstGeom>
        </p:spPr>
        <p:txBody>
          <a:bodyPr anchor="t" rtlCol="false" tIns="0" lIns="0" bIns="0" rIns="0">
            <a:spAutoFit/>
          </a:bodyPr>
          <a:lstStyle/>
          <a:p>
            <a:pPr algn="l">
              <a:lnSpc>
                <a:spcPts val="4315"/>
              </a:lnSpc>
            </a:pPr>
            <a:r>
              <a:rPr lang="en-US" sz="3078">
                <a:solidFill>
                  <a:srgbClr val="2E7D5B"/>
                </a:solidFill>
                <a:latin typeface="Georgia"/>
                <a:ea typeface="Georgia"/>
                <a:cs typeface="Georgia"/>
                <a:sym typeface="Georgia"/>
              </a:rPr>
              <a:t>✓</a:t>
            </a:r>
          </a:p>
        </p:txBody>
      </p:sp>
      <p:sp>
        <p:nvSpPr>
          <p:cNvPr name="TextBox 35" id="35"/>
          <p:cNvSpPr txBox="true"/>
          <p:nvPr/>
        </p:nvSpPr>
        <p:spPr>
          <a:xfrm rot="0">
            <a:off x="2962065" y="14207585"/>
            <a:ext cx="6379283"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Quotation structure configuration</a:t>
            </a:r>
          </a:p>
        </p:txBody>
      </p:sp>
      <p:sp>
        <p:nvSpPr>
          <p:cNvPr name="TextBox 36" id="36"/>
          <p:cNvSpPr txBox="true"/>
          <p:nvPr/>
        </p:nvSpPr>
        <p:spPr>
          <a:xfrm rot="0">
            <a:off x="11103273" y="14207585"/>
            <a:ext cx="460057" cy="699240"/>
          </a:xfrm>
          <a:prstGeom prst="rect">
            <a:avLst/>
          </a:prstGeom>
        </p:spPr>
        <p:txBody>
          <a:bodyPr anchor="t" rtlCol="false" tIns="0" lIns="0" bIns="0" rIns="0">
            <a:spAutoFit/>
          </a:bodyPr>
          <a:lstStyle/>
          <a:p>
            <a:pPr algn="l">
              <a:lnSpc>
                <a:spcPts val="4315"/>
              </a:lnSpc>
            </a:pPr>
            <a:r>
              <a:rPr lang="en-US" sz="3078">
                <a:solidFill>
                  <a:srgbClr val="2E7D5B"/>
                </a:solidFill>
                <a:latin typeface="Georgia"/>
                <a:ea typeface="Georgia"/>
                <a:cs typeface="Georgia"/>
                <a:sym typeface="Georgia"/>
              </a:rPr>
              <a:t>✓</a:t>
            </a:r>
          </a:p>
        </p:txBody>
      </p:sp>
      <p:sp>
        <p:nvSpPr>
          <p:cNvPr name="TextBox 37" id="37"/>
          <p:cNvSpPr txBox="true"/>
          <p:nvPr/>
        </p:nvSpPr>
        <p:spPr>
          <a:xfrm rot="0">
            <a:off x="11641084" y="14207585"/>
            <a:ext cx="5737203"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Service / pricing configuration</a:t>
            </a:r>
          </a:p>
        </p:txBody>
      </p:sp>
      <p:sp>
        <p:nvSpPr>
          <p:cNvPr name="TextBox 38" id="38"/>
          <p:cNvSpPr txBox="true"/>
          <p:nvPr/>
        </p:nvSpPr>
        <p:spPr>
          <a:xfrm rot="0">
            <a:off x="2424255" y="14989235"/>
            <a:ext cx="460057" cy="699240"/>
          </a:xfrm>
          <a:prstGeom prst="rect">
            <a:avLst/>
          </a:prstGeom>
        </p:spPr>
        <p:txBody>
          <a:bodyPr anchor="t" rtlCol="false" tIns="0" lIns="0" bIns="0" rIns="0">
            <a:spAutoFit/>
          </a:bodyPr>
          <a:lstStyle/>
          <a:p>
            <a:pPr algn="l">
              <a:lnSpc>
                <a:spcPts val="4315"/>
              </a:lnSpc>
            </a:pPr>
            <a:r>
              <a:rPr lang="en-US" sz="3078">
                <a:solidFill>
                  <a:srgbClr val="2E7D5B"/>
                </a:solidFill>
                <a:latin typeface="Georgia"/>
                <a:ea typeface="Georgia"/>
                <a:cs typeface="Georgia"/>
                <a:sym typeface="Georgia"/>
              </a:rPr>
              <a:t>✓</a:t>
            </a:r>
          </a:p>
        </p:txBody>
      </p:sp>
      <p:sp>
        <p:nvSpPr>
          <p:cNvPr name="TextBox 39" id="39"/>
          <p:cNvSpPr txBox="true"/>
          <p:nvPr/>
        </p:nvSpPr>
        <p:spPr>
          <a:xfrm rot="0">
            <a:off x="2962065" y="14989235"/>
            <a:ext cx="4214460"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AI-assisted generation</a:t>
            </a:r>
          </a:p>
        </p:txBody>
      </p:sp>
      <p:sp>
        <p:nvSpPr>
          <p:cNvPr name="TextBox 40" id="40"/>
          <p:cNvSpPr txBox="true"/>
          <p:nvPr/>
        </p:nvSpPr>
        <p:spPr>
          <a:xfrm rot="0">
            <a:off x="11103273" y="14989235"/>
            <a:ext cx="460057" cy="699240"/>
          </a:xfrm>
          <a:prstGeom prst="rect">
            <a:avLst/>
          </a:prstGeom>
        </p:spPr>
        <p:txBody>
          <a:bodyPr anchor="t" rtlCol="false" tIns="0" lIns="0" bIns="0" rIns="0">
            <a:spAutoFit/>
          </a:bodyPr>
          <a:lstStyle/>
          <a:p>
            <a:pPr algn="l">
              <a:lnSpc>
                <a:spcPts val="4315"/>
              </a:lnSpc>
            </a:pPr>
            <a:r>
              <a:rPr lang="en-US" sz="3078">
                <a:solidFill>
                  <a:srgbClr val="2E7D5B"/>
                </a:solidFill>
                <a:latin typeface="Georgia"/>
                <a:ea typeface="Georgia"/>
                <a:cs typeface="Georgia"/>
                <a:sym typeface="Georgia"/>
              </a:rPr>
              <a:t>✓</a:t>
            </a:r>
          </a:p>
        </p:txBody>
      </p:sp>
      <p:sp>
        <p:nvSpPr>
          <p:cNvPr name="TextBox 41" id="41"/>
          <p:cNvSpPr txBox="true"/>
          <p:nvPr/>
        </p:nvSpPr>
        <p:spPr>
          <a:xfrm rot="0">
            <a:off x="11641084" y="14989235"/>
            <a:ext cx="3857749"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Standardised format</a:t>
            </a:r>
          </a:p>
        </p:txBody>
      </p:sp>
      <p:sp>
        <p:nvSpPr>
          <p:cNvPr name="TextBox 42" id="42"/>
          <p:cNvSpPr txBox="true"/>
          <p:nvPr/>
        </p:nvSpPr>
        <p:spPr>
          <a:xfrm rot="0">
            <a:off x="2424255" y="15770885"/>
            <a:ext cx="460057" cy="699240"/>
          </a:xfrm>
          <a:prstGeom prst="rect">
            <a:avLst/>
          </a:prstGeom>
        </p:spPr>
        <p:txBody>
          <a:bodyPr anchor="t" rtlCol="false" tIns="0" lIns="0" bIns="0" rIns="0">
            <a:spAutoFit/>
          </a:bodyPr>
          <a:lstStyle/>
          <a:p>
            <a:pPr algn="l">
              <a:lnSpc>
                <a:spcPts val="4315"/>
              </a:lnSpc>
            </a:pPr>
            <a:r>
              <a:rPr lang="en-US" sz="3078">
                <a:solidFill>
                  <a:srgbClr val="2E7D5B"/>
                </a:solidFill>
                <a:latin typeface="Georgia"/>
                <a:ea typeface="Georgia"/>
                <a:cs typeface="Georgia"/>
                <a:sym typeface="Georgia"/>
              </a:rPr>
              <a:t>✓</a:t>
            </a:r>
          </a:p>
        </p:txBody>
      </p:sp>
      <p:sp>
        <p:nvSpPr>
          <p:cNvPr name="TextBox 43" id="43"/>
          <p:cNvSpPr txBox="true"/>
          <p:nvPr/>
        </p:nvSpPr>
        <p:spPr>
          <a:xfrm rot="0">
            <a:off x="2962065" y="15770885"/>
            <a:ext cx="5955401"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Quotation workflow integration</a:t>
            </a:r>
          </a:p>
        </p:txBody>
      </p:sp>
      <p:grpSp>
        <p:nvGrpSpPr>
          <p:cNvPr name="Group 44" id="44"/>
          <p:cNvGrpSpPr/>
          <p:nvPr/>
        </p:nvGrpSpPr>
        <p:grpSpPr>
          <a:xfrm rot="0">
            <a:off x="2398862" y="16872871"/>
            <a:ext cx="16603332" cy="26956"/>
            <a:chOff x="0" y="0"/>
            <a:chExt cx="22137776" cy="35941"/>
          </a:xfrm>
        </p:grpSpPr>
        <p:sp>
          <p:nvSpPr>
            <p:cNvPr name="Freeform 45" id="45"/>
            <p:cNvSpPr/>
            <p:nvPr/>
          </p:nvSpPr>
          <p:spPr>
            <a:xfrm flipH="false" flipV="false" rot="0">
              <a:off x="0" y="0"/>
              <a:ext cx="22137751" cy="35941"/>
            </a:xfrm>
            <a:custGeom>
              <a:avLst/>
              <a:gdLst/>
              <a:ahLst/>
              <a:cxnLst/>
              <a:rect r="r" b="b" t="t" l="l"/>
              <a:pathLst>
                <a:path h="35941" w="22137751">
                  <a:moveTo>
                    <a:pt x="0" y="0"/>
                  </a:moveTo>
                  <a:lnTo>
                    <a:pt x="22137751" y="0"/>
                  </a:lnTo>
                  <a:lnTo>
                    <a:pt x="22137751" y="35941"/>
                  </a:lnTo>
                  <a:lnTo>
                    <a:pt x="0" y="35941"/>
                  </a:lnTo>
                  <a:close/>
                </a:path>
              </a:pathLst>
            </a:custGeom>
            <a:solidFill>
              <a:srgbClr val="E2E8F1"/>
            </a:solidFill>
          </p:spPr>
        </p:sp>
      </p:grpSp>
      <p:sp>
        <p:nvSpPr>
          <p:cNvPr name="TextBox 46" id="46"/>
          <p:cNvSpPr txBox="true"/>
          <p:nvPr/>
        </p:nvSpPr>
        <p:spPr>
          <a:xfrm rot="0">
            <a:off x="2424255" y="17454772"/>
            <a:ext cx="3527031" cy="389982"/>
          </a:xfrm>
          <a:prstGeom prst="rect">
            <a:avLst/>
          </a:prstGeom>
        </p:spPr>
        <p:txBody>
          <a:bodyPr anchor="t" rtlCol="false" tIns="0" lIns="0" bIns="0" rIns="0">
            <a:spAutoFit/>
          </a:bodyPr>
          <a:lstStyle/>
          <a:p>
            <a:pPr algn="l">
              <a:lnSpc>
                <a:spcPts val="2421"/>
              </a:lnSpc>
            </a:pPr>
            <a:r>
              <a:rPr lang="en-US" sz="2017" spc="322">
                <a:solidFill>
                  <a:srgbClr val="8494AB"/>
                </a:solidFill>
                <a:latin typeface="Georgia"/>
                <a:ea typeface="Georgia"/>
                <a:cs typeface="Georgia"/>
                <a:sym typeface="Georgia"/>
              </a:rPr>
              <a:t>INCLUDED CAPACITY</a:t>
            </a:r>
          </a:p>
        </p:txBody>
      </p:sp>
      <p:sp>
        <p:nvSpPr>
          <p:cNvPr name="TextBox 47" id="47"/>
          <p:cNvSpPr txBox="true"/>
          <p:nvPr/>
        </p:nvSpPr>
        <p:spPr>
          <a:xfrm rot="0">
            <a:off x="2424255" y="17912982"/>
            <a:ext cx="18212867" cy="875147"/>
          </a:xfrm>
          <a:prstGeom prst="rect">
            <a:avLst/>
          </a:prstGeom>
        </p:spPr>
        <p:txBody>
          <a:bodyPr anchor="t" rtlCol="false" tIns="0" lIns="0" bIns="0" rIns="0">
            <a:spAutoFit/>
          </a:bodyPr>
          <a:lstStyle/>
          <a:p>
            <a:pPr algn="l">
              <a:lnSpc>
                <a:spcPts val="5602"/>
              </a:lnSpc>
            </a:pPr>
            <a:r>
              <a:rPr lang="en-US" sz="4669">
                <a:solidFill>
                  <a:srgbClr val="2E7D5B"/>
                </a:solidFill>
                <a:latin typeface="Playfair Display"/>
                <a:ea typeface="Playfair Display"/>
                <a:cs typeface="Playfair Display"/>
                <a:sym typeface="Playfair Display"/>
              </a:rPr>
              <a:t>Up to 500 quotations / month</a:t>
            </a:r>
          </a:p>
        </p:txBody>
      </p:sp>
      <p:sp>
        <p:nvSpPr>
          <p:cNvPr name="TextBox 48" id="48"/>
          <p:cNvSpPr txBox="true"/>
          <p:nvPr/>
        </p:nvSpPr>
        <p:spPr>
          <a:xfrm rot="0">
            <a:off x="1750419" y="27367163"/>
            <a:ext cx="18438743" cy="1474603"/>
          </a:xfrm>
          <a:prstGeom prst="rect">
            <a:avLst/>
          </a:prstGeom>
        </p:spPr>
        <p:txBody>
          <a:bodyPr anchor="t" rtlCol="false" tIns="0" lIns="0" bIns="0" rIns="0">
            <a:spAutoFit/>
          </a:bodyPr>
          <a:lstStyle/>
          <a:p>
            <a:pPr algn="l">
              <a:lnSpc>
                <a:spcPts val="5093"/>
              </a:lnSpc>
            </a:pPr>
            <a:r>
              <a:rPr lang="en-US" sz="3183" i="true">
                <a:solidFill>
                  <a:srgbClr val="5A6B85"/>
                </a:solidFill>
                <a:latin typeface="Georgia Italics"/>
                <a:ea typeface="Georgia Italics"/>
                <a:cs typeface="Georgia Italics"/>
                <a:sym typeface="Georgia Italics"/>
              </a:rPr>
              <a:t>The exact quotation logic is configured according to the Client’s approved pricing and business rules.</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725025" y="2102368"/>
            <a:ext cx="17951006" cy="26956"/>
            <a:chOff x="0" y="0"/>
            <a:chExt cx="23934674" cy="35941"/>
          </a:xfrm>
        </p:grpSpPr>
        <p:sp>
          <p:nvSpPr>
            <p:cNvPr name="Freeform 3" id="3"/>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E2E8F1"/>
            </a:solidFill>
          </p:spPr>
        </p:sp>
      </p:grpSp>
      <p:sp>
        <p:nvSpPr>
          <p:cNvPr name="TextBox 4" id="4"/>
          <p:cNvSpPr txBox="true"/>
          <p:nvPr/>
        </p:nvSpPr>
        <p:spPr>
          <a:xfrm rot="0">
            <a:off x="1750419" y="1525267"/>
            <a:ext cx="3195828"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LUMELUSH STUDIO</a:t>
            </a:r>
          </a:p>
        </p:txBody>
      </p:sp>
      <p:sp>
        <p:nvSpPr>
          <p:cNvPr name="TextBox 5" id="5"/>
          <p:cNvSpPr txBox="true"/>
          <p:nvPr/>
        </p:nvSpPr>
        <p:spPr>
          <a:xfrm rot="0">
            <a:off x="15847933" y="1525267"/>
            <a:ext cx="4188057"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COMMERCIAL PROPOSAL</a:t>
            </a:r>
          </a:p>
        </p:txBody>
      </p:sp>
      <p:grpSp>
        <p:nvGrpSpPr>
          <p:cNvPr name="Group 6" id="6"/>
          <p:cNvGrpSpPr/>
          <p:nvPr/>
        </p:nvGrpSpPr>
        <p:grpSpPr>
          <a:xfrm rot="0">
            <a:off x="1725025" y="4312558"/>
            <a:ext cx="17951006" cy="26956"/>
            <a:chOff x="0" y="0"/>
            <a:chExt cx="23934674" cy="35941"/>
          </a:xfrm>
        </p:grpSpPr>
        <p:sp>
          <p:nvSpPr>
            <p:cNvPr name="Freeform 7" id="7"/>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DCE3EE"/>
            </a:solidFill>
          </p:spPr>
        </p:sp>
      </p:grpSp>
      <p:sp>
        <p:nvSpPr>
          <p:cNvPr name="TextBox 8" id="8"/>
          <p:cNvSpPr txBox="true"/>
          <p:nvPr/>
        </p:nvSpPr>
        <p:spPr>
          <a:xfrm rot="0">
            <a:off x="1750419" y="3519830"/>
            <a:ext cx="687048" cy="470840"/>
          </a:xfrm>
          <a:prstGeom prst="rect">
            <a:avLst/>
          </a:prstGeom>
        </p:spPr>
        <p:txBody>
          <a:bodyPr anchor="t" rtlCol="false" tIns="0" lIns="0" bIns="0" rIns="0">
            <a:spAutoFit/>
          </a:bodyPr>
          <a:lstStyle/>
          <a:p>
            <a:pPr algn="l">
              <a:lnSpc>
                <a:spcPts val="3310"/>
              </a:lnSpc>
            </a:pPr>
            <a:r>
              <a:rPr lang="en-US" sz="2759" spc="387">
                <a:solidFill>
                  <a:srgbClr val="1546E0"/>
                </a:solidFill>
                <a:latin typeface="Georgia"/>
                <a:ea typeface="Georgia"/>
                <a:cs typeface="Georgia"/>
                <a:sym typeface="Georgia"/>
              </a:rPr>
              <a:t>08</a:t>
            </a:r>
          </a:p>
        </p:txBody>
      </p:sp>
      <p:sp>
        <p:nvSpPr>
          <p:cNvPr name="TextBox 9" id="9"/>
          <p:cNvSpPr txBox="true"/>
          <p:nvPr/>
        </p:nvSpPr>
        <p:spPr>
          <a:xfrm rot="0">
            <a:off x="2649998" y="2953807"/>
            <a:ext cx="10825677" cy="1171632"/>
          </a:xfrm>
          <a:prstGeom prst="rect">
            <a:avLst/>
          </a:prstGeom>
        </p:spPr>
        <p:txBody>
          <a:bodyPr anchor="t" rtlCol="false" tIns="0" lIns="0" bIns="0" rIns="0">
            <a:spAutoFit/>
          </a:bodyPr>
          <a:lstStyle/>
          <a:p>
            <a:pPr algn="l">
              <a:lnSpc>
                <a:spcPts val="7640"/>
              </a:lnSpc>
            </a:pPr>
            <a:r>
              <a:rPr lang="en-US" sz="6366" b="true">
                <a:solidFill>
                  <a:srgbClr val="1B2A44"/>
                </a:solidFill>
                <a:latin typeface="Playfair Display Bold"/>
                <a:ea typeface="Playfair Display Bold"/>
                <a:cs typeface="Playfair Display Bold"/>
                <a:sym typeface="Playfair Display Bold"/>
              </a:rPr>
              <a:t>Custom Workflow Analysis</a:t>
            </a:r>
          </a:p>
        </p:txBody>
      </p:sp>
      <p:sp>
        <p:nvSpPr>
          <p:cNvPr name="TextBox 10" id="10"/>
          <p:cNvSpPr txBox="true"/>
          <p:nvPr/>
        </p:nvSpPr>
        <p:spPr>
          <a:xfrm rot="0">
            <a:off x="1750419" y="4805486"/>
            <a:ext cx="18438743" cy="1610992"/>
          </a:xfrm>
          <a:prstGeom prst="rect">
            <a:avLst/>
          </a:prstGeom>
        </p:spPr>
        <p:txBody>
          <a:bodyPr anchor="t" rtlCol="false" tIns="0" lIns="0" bIns="0" rIns="0">
            <a:spAutoFit/>
          </a:bodyPr>
          <a:lstStyle/>
          <a:p>
            <a:pPr algn="l">
              <a:lnSpc>
                <a:spcPts val="5661"/>
              </a:lnSpc>
            </a:pPr>
            <a:r>
              <a:rPr lang="en-US" sz="3395">
                <a:solidFill>
                  <a:srgbClr val="33425C"/>
                </a:solidFill>
                <a:latin typeface="Georgia"/>
                <a:ea typeface="Georgia"/>
                <a:cs typeface="Georgia"/>
                <a:sym typeface="Georgia"/>
              </a:rPr>
              <a:t>A core part of the implementation. Lumelush Studio will analyse how the Client’s team currently handles relevant workflows. The analysis may cover:</a:t>
            </a:r>
          </a:p>
        </p:txBody>
      </p:sp>
      <p:sp>
        <p:nvSpPr>
          <p:cNvPr name="TextBox 11" id="11"/>
          <p:cNvSpPr txBox="true"/>
          <p:nvPr/>
        </p:nvSpPr>
        <p:spPr>
          <a:xfrm rot="0">
            <a:off x="1750419" y="6857190"/>
            <a:ext cx="9347873"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How enquiries enter the business</a:t>
            </a:r>
          </a:p>
        </p:txBody>
      </p:sp>
      <p:sp>
        <p:nvSpPr>
          <p:cNvPr name="TextBox 12" id="12"/>
          <p:cNvSpPr txBox="true"/>
          <p:nvPr/>
        </p:nvSpPr>
        <p:spPr>
          <a:xfrm rot="0">
            <a:off x="11157185" y="6857190"/>
            <a:ext cx="9347873"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How leads are recorded</a:t>
            </a:r>
          </a:p>
        </p:txBody>
      </p:sp>
      <p:sp>
        <p:nvSpPr>
          <p:cNvPr name="TextBox 13" id="13"/>
          <p:cNvSpPr txBox="true"/>
          <p:nvPr/>
        </p:nvSpPr>
        <p:spPr>
          <a:xfrm rot="0">
            <a:off x="1750419" y="7773610"/>
            <a:ext cx="9347873"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How leads are assigned</a:t>
            </a:r>
          </a:p>
        </p:txBody>
      </p:sp>
      <p:sp>
        <p:nvSpPr>
          <p:cNvPr name="TextBox 14" id="14"/>
          <p:cNvSpPr txBox="true"/>
          <p:nvPr/>
        </p:nvSpPr>
        <p:spPr>
          <a:xfrm rot="0">
            <a:off x="11157185" y="7773610"/>
            <a:ext cx="9347873"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How follow-ups happen</a:t>
            </a:r>
          </a:p>
        </p:txBody>
      </p:sp>
      <p:sp>
        <p:nvSpPr>
          <p:cNvPr name="TextBox 15" id="15"/>
          <p:cNvSpPr txBox="true"/>
          <p:nvPr/>
        </p:nvSpPr>
        <p:spPr>
          <a:xfrm rot="0">
            <a:off x="1750419" y="8690029"/>
            <a:ext cx="9347873"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How quotations are prepared</a:t>
            </a:r>
          </a:p>
        </p:txBody>
      </p:sp>
      <p:sp>
        <p:nvSpPr>
          <p:cNvPr name="TextBox 16" id="16"/>
          <p:cNvSpPr txBox="true"/>
          <p:nvPr/>
        </p:nvSpPr>
        <p:spPr>
          <a:xfrm rot="0">
            <a:off x="11157185" y="8690029"/>
            <a:ext cx="9347873"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How proposals are prepared</a:t>
            </a:r>
          </a:p>
        </p:txBody>
      </p:sp>
      <p:sp>
        <p:nvSpPr>
          <p:cNvPr name="TextBox 17" id="17"/>
          <p:cNvSpPr txBox="true"/>
          <p:nvPr/>
        </p:nvSpPr>
        <p:spPr>
          <a:xfrm rot="0">
            <a:off x="1750419" y="9606448"/>
            <a:ext cx="9347873"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How information moves between employees</a:t>
            </a:r>
          </a:p>
        </p:txBody>
      </p:sp>
      <p:sp>
        <p:nvSpPr>
          <p:cNvPr name="TextBox 18" id="18"/>
          <p:cNvSpPr txBox="true"/>
          <p:nvPr/>
        </p:nvSpPr>
        <p:spPr>
          <a:xfrm rot="0">
            <a:off x="11157185" y="9606448"/>
            <a:ext cx="9347873"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Where information is repeatedly entered</a:t>
            </a:r>
          </a:p>
        </p:txBody>
      </p:sp>
      <p:sp>
        <p:nvSpPr>
          <p:cNvPr name="TextBox 19" id="19"/>
          <p:cNvSpPr txBox="true"/>
          <p:nvPr/>
        </p:nvSpPr>
        <p:spPr>
          <a:xfrm rot="0">
            <a:off x="1750419" y="10522868"/>
            <a:ext cx="9347873"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Where manual notifications are required</a:t>
            </a:r>
          </a:p>
        </p:txBody>
      </p:sp>
      <p:sp>
        <p:nvSpPr>
          <p:cNvPr name="TextBox 20" id="20"/>
          <p:cNvSpPr txBox="true"/>
          <p:nvPr/>
        </p:nvSpPr>
        <p:spPr>
          <a:xfrm rot="0">
            <a:off x="11157185" y="10522868"/>
            <a:ext cx="9347873"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Where repetitive administrative work exists</a:t>
            </a:r>
          </a:p>
        </p:txBody>
      </p:sp>
      <p:sp>
        <p:nvSpPr>
          <p:cNvPr name="TextBox 21" id="21"/>
          <p:cNvSpPr txBox="true"/>
          <p:nvPr/>
        </p:nvSpPr>
        <p:spPr>
          <a:xfrm rot="0">
            <a:off x="1750419" y="11788054"/>
            <a:ext cx="18438743" cy="827723"/>
          </a:xfrm>
          <a:prstGeom prst="rect">
            <a:avLst/>
          </a:prstGeom>
        </p:spPr>
        <p:txBody>
          <a:bodyPr anchor="t" rtlCol="false" tIns="0" lIns="0" bIns="0" rIns="0">
            <a:spAutoFit/>
          </a:bodyPr>
          <a:lstStyle/>
          <a:p>
            <a:pPr algn="l">
              <a:lnSpc>
                <a:spcPts val="5093"/>
              </a:lnSpc>
            </a:pPr>
            <a:r>
              <a:rPr lang="en-US" sz="3183" i="true">
                <a:solidFill>
                  <a:srgbClr val="5A6B85"/>
                </a:solidFill>
                <a:latin typeface="Georgia Italics"/>
                <a:ea typeface="Georgia Italics"/>
                <a:cs typeface="Georgia Italics"/>
                <a:sym typeface="Georgia Italics"/>
              </a:rPr>
              <a:t>The purpose is to identify where technology can reduce unnecessary manual work.</a:t>
            </a:r>
          </a:p>
        </p:txBody>
      </p:sp>
      <p:grpSp>
        <p:nvGrpSpPr>
          <p:cNvPr name="Group 22" id="22"/>
          <p:cNvGrpSpPr/>
          <p:nvPr/>
        </p:nvGrpSpPr>
        <p:grpSpPr>
          <a:xfrm rot="0">
            <a:off x="1711547" y="25134113"/>
            <a:ext cx="17977961" cy="3638721"/>
            <a:chOff x="0" y="0"/>
            <a:chExt cx="23970615" cy="4851629"/>
          </a:xfrm>
        </p:grpSpPr>
        <p:sp>
          <p:nvSpPr>
            <p:cNvPr name="Freeform 23" id="23"/>
            <p:cNvSpPr/>
            <p:nvPr/>
          </p:nvSpPr>
          <p:spPr>
            <a:xfrm flipH="false" flipV="false" rot="0">
              <a:off x="17907" y="17907"/>
              <a:ext cx="23934801" cy="4815713"/>
            </a:xfrm>
            <a:custGeom>
              <a:avLst/>
              <a:gdLst/>
              <a:ahLst/>
              <a:cxnLst/>
              <a:rect r="r" b="b" t="t" l="l"/>
              <a:pathLst>
                <a:path h="4815713" w="23934801">
                  <a:moveTo>
                    <a:pt x="0" y="0"/>
                  </a:moveTo>
                  <a:lnTo>
                    <a:pt x="23934801" y="0"/>
                  </a:lnTo>
                  <a:lnTo>
                    <a:pt x="23934801" y="4815713"/>
                  </a:lnTo>
                  <a:lnTo>
                    <a:pt x="0" y="4815713"/>
                  </a:lnTo>
                  <a:close/>
                </a:path>
              </a:pathLst>
            </a:custGeom>
            <a:solidFill>
              <a:srgbClr val="F7FAFC"/>
            </a:solidFill>
          </p:spPr>
        </p:sp>
        <p:sp>
          <p:nvSpPr>
            <p:cNvPr name="Freeform 24" id="24"/>
            <p:cNvSpPr/>
            <p:nvPr/>
          </p:nvSpPr>
          <p:spPr>
            <a:xfrm flipH="false" flipV="false" rot="0">
              <a:off x="0" y="0"/>
              <a:ext cx="23970616" cy="4851527"/>
            </a:xfrm>
            <a:custGeom>
              <a:avLst/>
              <a:gdLst/>
              <a:ahLst/>
              <a:cxnLst/>
              <a:rect r="r" b="b" t="t" l="l"/>
              <a:pathLst>
                <a:path h="4851527" w="23970616">
                  <a:moveTo>
                    <a:pt x="17907" y="0"/>
                  </a:moveTo>
                  <a:lnTo>
                    <a:pt x="23952708" y="0"/>
                  </a:lnTo>
                  <a:cubicBezTo>
                    <a:pt x="23962615" y="0"/>
                    <a:pt x="23970616" y="8001"/>
                    <a:pt x="23970616" y="17907"/>
                  </a:cubicBezTo>
                  <a:lnTo>
                    <a:pt x="23970616" y="4833620"/>
                  </a:lnTo>
                  <a:cubicBezTo>
                    <a:pt x="23970616" y="4843526"/>
                    <a:pt x="23962615" y="4851527"/>
                    <a:pt x="23952708" y="4851527"/>
                  </a:cubicBezTo>
                  <a:lnTo>
                    <a:pt x="17907" y="4851527"/>
                  </a:lnTo>
                  <a:cubicBezTo>
                    <a:pt x="8001" y="4851527"/>
                    <a:pt x="0" y="4843526"/>
                    <a:pt x="0" y="4833620"/>
                  </a:cubicBezTo>
                  <a:lnTo>
                    <a:pt x="0" y="17907"/>
                  </a:lnTo>
                  <a:cubicBezTo>
                    <a:pt x="0" y="8001"/>
                    <a:pt x="8001" y="0"/>
                    <a:pt x="17907" y="0"/>
                  </a:cubicBezTo>
                  <a:moveTo>
                    <a:pt x="17907" y="35941"/>
                  </a:moveTo>
                  <a:lnTo>
                    <a:pt x="17907" y="17907"/>
                  </a:lnTo>
                  <a:lnTo>
                    <a:pt x="35941" y="17907"/>
                  </a:lnTo>
                  <a:lnTo>
                    <a:pt x="35941" y="4833620"/>
                  </a:lnTo>
                  <a:lnTo>
                    <a:pt x="17907" y="4833620"/>
                  </a:lnTo>
                  <a:lnTo>
                    <a:pt x="17907" y="4815713"/>
                  </a:lnTo>
                  <a:lnTo>
                    <a:pt x="23952708" y="4815713"/>
                  </a:lnTo>
                  <a:lnTo>
                    <a:pt x="23952708" y="4833620"/>
                  </a:lnTo>
                  <a:lnTo>
                    <a:pt x="23934801" y="4833620"/>
                  </a:lnTo>
                  <a:lnTo>
                    <a:pt x="23934801" y="17907"/>
                  </a:lnTo>
                  <a:lnTo>
                    <a:pt x="23952708" y="17907"/>
                  </a:lnTo>
                  <a:lnTo>
                    <a:pt x="23952708" y="35941"/>
                  </a:lnTo>
                  <a:lnTo>
                    <a:pt x="17907" y="35941"/>
                  </a:lnTo>
                  <a:close/>
                </a:path>
              </a:pathLst>
            </a:custGeom>
            <a:solidFill>
              <a:srgbClr val="C9D6E8"/>
            </a:solidFill>
          </p:spPr>
        </p:sp>
      </p:grpSp>
      <p:sp>
        <p:nvSpPr>
          <p:cNvPr name="TextBox 25" id="25"/>
          <p:cNvSpPr txBox="true"/>
          <p:nvPr/>
        </p:nvSpPr>
        <p:spPr>
          <a:xfrm rot="0">
            <a:off x="2532069" y="25891207"/>
            <a:ext cx="17975675" cy="389982"/>
          </a:xfrm>
          <a:prstGeom prst="rect">
            <a:avLst/>
          </a:prstGeom>
        </p:spPr>
        <p:txBody>
          <a:bodyPr anchor="t" rtlCol="false" tIns="0" lIns="0" bIns="0" rIns="0">
            <a:spAutoFit/>
          </a:bodyPr>
          <a:lstStyle/>
          <a:p>
            <a:pPr algn="l">
              <a:lnSpc>
                <a:spcPts val="2421"/>
              </a:lnSpc>
            </a:pPr>
            <a:r>
              <a:rPr lang="en-US" sz="2017" spc="322">
                <a:solidFill>
                  <a:srgbClr val="1546E0"/>
                </a:solidFill>
                <a:latin typeface="Georgia"/>
                <a:ea typeface="Georgia"/>
                <a:cs typeface="Georgia"/>
                <a:sym typeface="Georgia"/>
              </a:rPr>
              <a:t>APPROACH</a:t>
            </a:r>
          </a:p>
        </p:txBody>
      </p:sp>
      <p:sp>
        <p:nvSpPr>
          <p:cNvPr name="TextBox 26" id="26"/>
          <p:cNvSpPr txBox="true"/>
          <p:nvPr/>
        </p:nvSpPr>
        <p:spPr>
          <a:xfrm rot="0">
            <a:off x="2532069" y="26493702"/>
            <a:ext cx="16828541" cy="1620317"/>
          </a:xfrm>
          <a:prstGeom prst="rect">
            <a:avLst/>
          </a:prstGeom>
        </p:spPr>
        <p:txBody>
          <a:bodyPr anchor="t" rtlCol="false" tIns="0" lIns="0" bIns="0" rIns="0">
            <a:spAutoFit/>
          </a:bodyPr>
          <a:lstStyle/>
          <a:p>
            <a:pPr algn="l">
              <a:lnSpc>
                <a:spcPts val="5422"/>
              </a:lnSpc>
            </a:pPr>
            <a:r>
              <a:rPr lang="en-US" sz="4456">
                <a:solidFill>
                  <a:srgbClr val="1B2A44"/>
                </a:solidFill>
                <a:latin typeface="Playfair Display"/>
                <a:ea typeface="Playfair Display"/>
                <a:cs typeface="Playfair Display"/>
                <a:sym typeface="Playfair Display"/>
              </a:rPr>
              <a:t>We automate the workflow you already run — not a workflow the software expects you to run.</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725025" y="2102368"/>
            <a:ext cx="17951006" cy="26956"/>
            <a:chOff x="0" y="0"/>
            <a:chExt cx="23934674" cy="35941"/>
          </a:xfrm>
        </p:grpSpPr>
        <p:sp>
          <p:nvSpPr>
            <p:cNvPr name="Freeform 3" id="3"/>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E2E8F1"/>
            </a:solidFill>
          </p:spPr>
        </p:sp>
      </p:grpSp>
      <p:sp>
        <p:nvSpPr>
          <p:cNvPr name="TextBox 4" id="4"/>
          <p:cNvSpPr txBox="true"/>
          <p:nvPr/>
        </p:nvSpPr>
        <p:spPr>
          <a:xfrm rot="0">
            <a:off x="1750419" y="1525267"/>
            <a:ext cx="3195828"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LUMELUSH STUDIO</a:t>
            </a:r>
          </a:p>
        </p:txBody>
      </p:sp>
      <p:sp>
        <p:nvSpPr>
          <p:cNvPr name="TextBox 5" id="5"/>
          <p:cNvSpPr txBox="true"/>
          <p:nvPr/>
        </p:nvSpPr>
        <p:spPr>
          <a:xfrm rot="0">
            <a:off x="15847933" y="1525267"/>
            <a:ext cx="4188057"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COMMERCIAL PROPOSAL</a:t>
            </a:r>
          </a:p>
        </p:txBody>
      </p:sp>
      <p:grpSp>
        <p:nvGrpSpPr>
          <p:cNvPr name="Group 6" id="6"/>
          <p:cNvGrpSpPr/>
          <p:nvPr/>
        </p:nvGrpSpPr>
        <p:grpSpPr>
          <a:xfrm rot="0">
            <a:off x="1725025" y="4312558"/>
            <a:ext cx="17951006" cy="26956"/>
            <a:chOff x="0" y="0"/>
            <a:chExt cx="23934674" cy="35941"/>
          </a:xfrm>
        </p:grpSpPr>
        <p:sp>
          <p:nvSpPr>
            <p:cNvPr name="Freeform 7" id="7"/>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DCE3EE"/>
            </a:solidFill>
          </p:spPr>
        </p:sp>
      </p:grpSp>
      <p:sp>
        <p:nvSpPr>
          <p:cNvPr name="TextBox 8" id="8"/>
          <p:cNvSpPr txBox="true"/>
          <p:nvPr/>
        </p:nvSpPr>
        <p:spPr>
          <a:xfrm rot="0">
            <a:off x="1750419" y="3519830"/>
            <a:ext cx="676523" cy="470840"/>
          </a:xfrm>
          <a:prstGeom prst="rect">
            <a:avLst/>
          </a:prstGeom>
        </p:spPr>
        <p:txBody>
          <a:bodyPr anchor="t" rtlCol="false" tIns="0" lIns="0" bIns="0" rIns="0">
            <a:spAutoFit/>
          </a:bodyPr>
          <a:lstStyle/>
          <a:p>
            <a:pPr algn="l">
              <a:lnSpc>
                <a:spcPts val="3310"/>
              </a:lnSpc>
            </a:pPr>
            <a:r>
              <a:rPr lang="en-US" sz="2759" spc="387">
                <a:solidFill>
                  <a:srgbClr val="1546E0"/>
                </a:solidFill>
                <a:latin typeface="Georgia"/>
                <a:ea typeface="Georgia"/>
                <a:cs typeface="Georgia"/>
                <a:sym typeface="Georgia"/>
              </a:rPr>
              <a:t>09</a:t>
            </a:r>
          </a:p>
        </p:txBody>
      </p:sp>
      <p:sp>
        <p:nvSpPr>
          <p:cNvPr name="TextBox 9" id="9"/>
          <p:cNvSpPr txBox="true"/>
          <p:nvPr/>
        </p:nvSpPr>
        <p:spPr>
          <a:xfrm rot="0">
            <a:off x="2639463" y="2953807"/>
            <a:ext cx="8838286" cy="1171632"/>
          </a:xfrm>
          <a:prstGeom prst="rect">
            <a:avLst/>
          </a:prstGeom>
        </p:spPr>
        <p:txBody>
          <a:bodyPr anchor="t" rtlCol="false" tIns="0" lIns="0" bIns="0" rIns="0">
            <a:spAutoFit/>
          </a:bodyPr>
          <a:lstStyle/>
          <a:p>
            <a:pPr algn="l">
              <a:lnSpc>
                <a:spcPts val="7640"/>
              </a:lnSpc>
            </a:pPr>
            <a:r>
              <a:rPr lang="en-US" sz="6366" b="true">
                <a:solidFill>
                  <a:srgbClr val="1B2A44"/>
                </a:solidFill>
                <a:latin typeface="Playfair Display Bold"/>
                <a:ea typeface="Playfair Display Bold"/>
                <a:cs typeface="Playfair Display Bold"/>
                <a:sym typeface="Playfair Display Bold"/>
              </a:rPr>
              <a:t>Workflow Automation</a:t>
            </a:r>
          </a:p>
        </p:txBody>
      </p:sp>
      <p:sp>
        <p:nvSpPr>
          <p:cNvPr name="TextBox 10" id="10"/>
          <p:cNvSpPr txBox="true"/>
          <p:nvPr/>
        </p:nvSpPr>
        <p:spPr>
          <a:xfrm rot="0">
            <a:off x="1750419" y="4805486"/>
            <a:ext cx="18438743" cy="1610992"/>
          </a:xfrm>
          <a:prstGeom prst="rect">
            <a:avLst/>
          </a:prstGeom>
        </p:spPr>
        <p:txBody>
          <a:bodyPr anchor="t" rtlCol="false" tIns="0" lIns="0" bIns="0" rIns="0">
            <a:spAutoFit/>
          </a:bodyPr>
          <a:lstStyle/>
          <a:p>
            <a:pPr algn="l">
              <a:lnSpc>
                <a:spcPts val="5661"/>
              </a:lnSpc>
            </a:pPr>
            <a:r>
              <a:rPr lang="en-US" sz="3395">
                <a:solidFill>
                  <a:srgbClr val="33425C"/>
                </a:solidFill>
                <a:latin typeface="Georgia"/>
                <a:ea typeface="Georgia"/>
                <a:cs typeface="Georgia"/>
                <a:sym typeface="Georgia"/>
              </a:rPr>
              <a:t>Based on the workflow analysis, appropriate repetitive processes will be automated within the agreed implementation scope. An example chain:</a:t>
            </a:r>
          </a:p>
        </p:txBody>
      </p:sp>
      <p:grpSp>
        <p:nvGrpSpPr>
          <p:cNvPr name="Group 11" id="11"/>
          <p:cNvGrpSpPr/>
          <p:nvPr/>
        </p:nvGrpSpPr>
        <p:grpSpPr>
          <a:xfrm rot="0">
            <a:off x="1711547" y="6967471"/>
            <a:ext cx="17977961" cy="12856807"/>
            <a:chOff x="0" y="0"/>
            <a:chExt cx="23970615" cy="17142409"/>
          </a:xfrm>
        </p:grpSpPr>
        <p:sp>
          <p:nvSpPr>
            <p:cNvPr name="Freeform 12" id="12"/>
            <p:cNvSpPr/>
            <p:nvPr/>
          </p:nvSpPr>
          <p:spPr>
            <a:xfrm flipH="false" flipV="false" rot="0">
              <a:off x="17907" y="17907"/>
              <a:ext cx="23934801" cy="17106519"/>
            </a:xfrm>
            <a:custGeom>
              <a:avLst/>
              <a:gdLst/>
              <a:ahLst/>
              <a:cxnLst/>
              <a:rect r="r" b="b" t="t" l="l"/>
              <a:pathLst>
                <a:path h="17106519" w="23934801">
                  <a:moveTo>
                    <a:pt x="0" y="0"/>
                  </a:moveTo>
                  <a:lnTo>
                    <a:pt x="23934801" y="0"/>
                  </a:lnTo>
                  <a:lnTo>
                    <a:pt x="23934801" y="17106519"/>
                  </a:lnTo>
                  <a:lnTo>
                    <a:pt x="0" y="17106519"/>
                  </a:lnTo>
                  <a:close/>
                </a:path>
              </a:pathLst>
            </a:custGeom>
            <a:solidFill>
              <a:srgbClr val="F7FAFC"/>
            </a:solidFill>
          </p:spPr>
        </p:sp>
        <p:sp>
          <p:nvSpPr>
            <p:cNvPr name="Freeform 13" id="13"/>
            <p:cNvSpPr/>
            <p:nvPr/>
          </p:nvSpPr>
          <p:spPr>
            <a:xfrm flipH="false" flipV="false" rot="0">
              <a:off x="0" y="0"/>
              <a:ext cx="23970616" cy="17142333"/>
            </a:xfrm>
            <a:custGeom>
              <a:avLst/>
              <a:gdLst/>
              <a:ahLst/>
              <a:cxnLst/>
              <a:rect r="r" b="b" t="t" l="l"/>
              <a:pathLst>
                <a:path h="17142333" w="23970616">
                  <a:moveTo>
                    <a:pt x="17907" y="0"/>
                  </a:moveTo>
                  <a:lnTo>
                    <a:pt x="23952708" y="0"/>
                  </a:lnTo>
                  <a:cubicBezTo>
                    <a:pt x="23962615" y="0"/>
                    <a:pt x="23970616" y="8001"/>
                    <a:pt x="23970616" y="17907"/>
                  </a:cubicBezTo>
                  <a:lnTo>
                    <a:pt x="23970616" y="17124426"/>
                  </a:lnTo>
                  <a:cubicBezTo>
                    <a:pt x="23970616" y="17134332"/>
                    <a:pt x="23962615" y="17142333"/>
                    <a:pt x="23952708" y="17142333"/>
                  </a:cubicBezTo>
                  <a:lnTo>
                    <a:pt x="17907" y="17142333"/>
                  </a:lnTo>
                  <a:cubicBezTo>
                    <a:pt x="8001" y="17142333"/>
                    <a:pt x="0" y="17134332"/>
                    <a:pt x="0" y="17124426"/>
                  </a:cubicBezTo>
                  <a:lnTo>
                    <a:pt x="0" y="17907"/>
                  </a:lnTo>
                  <a:cubicBezTo>
                    <a:pt x="0" y="8001"/>
                    <a:pt x="8001" y="0"/>
                    <a:pt x="17907" y="0"/>
                  </a:cubicBezTo>
                  <a:moveTo>
                    <a:pt x="17907" y="35941"/>
                  </a:moveTo>
                  <a:lnTo>
                    <a:pt x="17907" y="17907"/>
                  </a:lnTo>
                  <a:lnTo>
                    <a:pt x="35941" y="17907"/>
                  </a:lnTo>
                  <a:lnTo>
                    <a:pt x="35941" y="17124426"/>
                  </a:lnTo>
                  <a:lnTo>
                    <a:pt x="17907" y="17124426"/>
                  </a:lnTo>
                  <a:lnTo>
                    <a:pt x="17907" y="17106519"/>
                  </a:lnTo>
                  <a:lnTo>
                    <a:pt x="23952708" y="17106519"/>
                  </a:lnTo>
                  <a:lnTo>
                    <a:pt x="23952708" y="17124426"/>
                  </a:lnTo>
                  <a:lnTo>
                    <a:pt x="23934801" y="17124426"/>
                  </a:lnTo>
                  <a:lnTo>
                    <a:pt x="23934801" y="17907"/>
                  </a:lnTo>
                  <a:lnTo>
                    <a:pt x="23952708" y="17907"/>
                  </a:lnTo>
                  <a:lnTo>
                    <a:pt x="23952708" y="35941"/>
                  </a:lnTo>
                  <a:lnTo>
                    <a:pt x="17907" y="35941"/>
                  </a:lnTo>
                  <a:close/>
                </a:path>
              </a:pathLst>
            </a:custGeom>
            <a:solidFill>
              <a:srgbClr val="E2E8F1"/>
            </a:solidFill>
          </p:spPr>
        </p:sp>
      </p:grpSp>
      <p:sp>
        <p:nvSpPr>
          <p:cNvPr name="TextBox 14" id="14"/>
          <p:cNvSpPr txBox="true"/>
          <p:nvPr/>
        </p:nvSpPr>
        <p:spPr>
          <a:xfrm rot="0">
            <a:off x="2532069" y="8048006"/>
            <a:ext cx="757799" cy="443884"/>
          </a:xfrm>
          <a:prstGeom prst="rect">
            <a:avLst/>
          </a:prstGeom>
        </p:spPr>
        <p:txBody>
          <a:bodyPr anchor="t" rtlCol="false" tIns="0" lIns="0" bIns="0" rIns="0">
            <a:spAutoFit/>
          </a:bodyPr>
          <a:lstStyle/>
          <a:p>
            <a:pPr algn="l">
              <a:lnSpc>
                <a:spcPts val="2801"/>
              </a:lnSpc>
            </a:pPr>
            <a:r>
              <a:rPr lang="en-US" sz="2334">
                <a:solidFill>
                  <a:srgbClr val="8494AB"/>
                </a:solidFill>
                <a:latin typeface="Georgia"/>
                <a:ea typeface="Georgia"/>
                <a:cs typeface="Georgia"/>
                <a:sym typeface="Georgia"/>
              </a:rPr>
              <a:t>01</a:t>
            </a:r>
          </a:p>
        </p:txBody>
      </p:sp>
      <p:grpSp>
        <p:nvGrpSpPr>
          <p:cNvPr name="Group 15" id="15"/>
          <p:cNvGrpSpPr/>
          <p:nvPr/>
        </p:nvGrpSpPr>
        <p:grpSpPr>
          <a:xfrm rot="0">
            <a:off x="3409617" y="7695219"/>
            <a:ext cx="15498242" cy="1051189"/>
            <a:chOff x="0" y="0"/>
            <a:chExt cx="20664322" cy="1401585"/>
          </a:xfrm>
        </p:grpSpPr>
        <p:sp>
          <p:nvSpPr>
            <p:cNvPr name="Freeform 16" id="16"/>
            <p:cNvSpPr/>
            <p:nvPr/>
          </p:nvSpPr>
          <p:spPr>
            <a:xfrm flipH="false" flipV="false" rot="0">
              <a:off x="17907" y="17907"/>
              <a:ext cx="20628482" cy="1365758"/>
            </a:xfrm>
            <a:custGeom>
              <a:avLst/>
              <a:gdLst/>
              <a:ahLst/>
              <a:cxnLst/>
              <a:rect r="r" b="b" t="t" l="l"/>
              <a:pathLst>
                <a:path h="1365758" w="20628482">
                  <a:moveTo>
                    <a:pt x="0" y="0"/>
                  </a:moveTo>
                  <a:lnTo>
                    <a:pt x="20628482" y="0"/>
                  </a:lnTo>
                  <a:lnTo>
                    <a:pt x="20628482" y="1365758"/>
                  </a:lnTo>
                  <a:lnTo>
                    <a:pt x="0" y="1365758"/>
                  </a:lnTo>
                  <a:close/>
                </a:path>
              </a:pathLst>
            </a:custGeom>
            <a:solidFill>
              <a:srgbClr val="FFFFFF"/>
            </a:solidFill>
          </p:spPr>
        </p:sp>
        <p:sp>
          <p:nvSpPr>
            <p:cNvPr name="Freeform 17" id="17"/>
            <p:cNvSpPr/>
            <p:nvPr/>
          </p:nvSpPr>
          <p:spPr>
            <a:xfrm flipH="false" flipV="false" rot="0">
              <a:off x="0" y="0"/>
              <a:ext cx="20664297" cy="1401572"/>
            </a:xfrm>
            <a:custGeom>
              <a:avLst/>
              <a:gdLst/>
              <a:ahLst/>
              <a:cxnLst/>
              <a:rect r="r" b="b" t="t" l="l"/>
              <a:pathLst>
                <a:path h="1401572" w="20664297">
                  <a:moveTo>
                    <a:pt x="17907" y="0"/>
                  </a:moveTo>
                  <a:lnTo>
                    <a:pt x="20646389" y="0"/>
                  </a:lnTo>
                  <a:cubicBezTo>
                    <a:pt x="20656296" y="0"/>
                    <a:pt x="20664297" y="8001"/>
                    <a:pt x="20664297" y="17907"/>
                  </a:cubicBezTo>
                  <a:lnTo>
                    <a:pt x="20664297" y="1383665"/>
                  </a:lnTo>
                  <a:cubicBezTo>
                    <a:pt x="20664297" y="1393571"/>
                    <a:pt x="20656296" y="1401572"/>
                    <a:pt x="20646389" y="1401572"/>
                  </a:cubicBezTo>
                  <a:lnTo>
                    <a:pt x="17907" y="1401572"/>
                  </a:lnTo>
                  <a:cubicBezTo>
                    <a:pt x="8001" y="1401572"/>
                    <a:pt x="0" y="1393571"/>
                    <a:pt x="0" y="1383665"/>
                  </a:cubicBezTo>
                  <a:lnTo>
                    <a:pt x="0" y="17907"/>
                  </a:lnTo>
                  <a:cubicBezTo>
                    <a:pt x="0" y="8001"/>
                    <a:pt x="8001" y="0"/>
                    <a:pt x="17907" y="0"/>
                  </a:cubicBezTo>
                  <a:moveTo>
                    <a:pt x="17907" y="35941"/>
                  </a:moveTo>
                  <a:lnTo>
                    <a:pt x="17907" y="17907"/>
                  </a:lnTo>
                  <a:lnTo>
                    <a:pt x="35941" y="17907"/>
                  </a:lnTo>
                  <a:lnTo>
                    <a:pt x="35941" y="1383665"/>
                  </a:lnTo>
                  <a:lnTo>
                    <a:pt x="17907" y="1383665"/>
                  </a:lnTo>
                  <a:lnTo>
                    <a:pt x="17907" y="1365758"/>
                  </a:lnTo>
                  <a:lnTo>
                    <a:pt x="20646389" y="1365758"/>
                  </a:lnTo>
                  <a:lnTo>
                    <a:pt x="20646389" y="1383665"/>
                  </a:lnTo>
                  <a:lnTo>
                    <a:pt x="20628482" y="1383665"/>
                  </a:lnTo>
                  <a:lnTo>
                    <a:pt x="20628482" y="17907"/>
                  </a:lnTo>
                  <a:lnTo>
                    <a:pt x="20646389" y="17907"/>
                  </a:lnTo>
                  <a:lnTo>
                    <a:pt x="20646389" y="35941"/>
                  </a:lnTo>
                  <a:lnTo>
                    <a:pt x="17907" y="35941"/>
                  </a:lnTo>
                  <a:close/>
                </a:path>
              </a:pathLst>
            </a:custGeom>
            <a:solidFill>
              <a:srgbClr val="C9D6E8"/>
            </a:solidFill>
          </p:spPr>
        </p:sp>
      </p:grpSp>
      <p:sp>
        <p:nvSpPr>
          <p:cNvPr name="TextBox 18" id="18"/>
          <p:cNvSpPr txBox="true"/>
          <p:nvPr/>
        </p:nvSpPr>
        <p:spPr>
          <a:xfrm rot="0">
            <a:off x="3852796" y="7994104"/>
            <a:ext cx="15076027" cy="551698"/>
          </a:xfrm>
          <a:prstGeom prst="rect">
            <a:avLst/>
          </a:prstGeom>
        </p:spPr>
        <p:txBody>
          <a:bodyPr anchor="t" rtlCol="false" tIns="0" lIns="0" bIns="0" rIns="0">
            <a:spAutoFit/>
          </a:bodyPr>
          <a:lstStyle/>
          <a:p>
            <a:pPr algn="l">
              <a:lnSpc>
                <a:spcPts val="3820"/>
              </a:lnSpc>
            </a:pPr>
            <a:r>
              <a:rPr lang="en-US" sz="3183">
                <a:solidFill>
                  <a:srgbClr val="1B2A44"/>
                </a:solidFill>
                <a:latin typeface="Georgia"/>
                <a:ea typeface="Georgia"/>
                <a:cs typeface="Georgia"/>
                <a:sym typeface="Georgia"/>
              </a:rPr>
              <a:t>New enquiry received</a:t>
            </a:r>
          </a:p>
        </p:txBody>
      </p:sp>
      <p:sp>
        <p:nvSpPr>
          <p:cNvPr name="TextBox 19" id="19"/>
          <p:cNvSpPr txBox="true"/>
          <p:nvPr/>
        </p:nvSpPr>
        <p:spPr>
          <a:xfrm rot="0">
            <a:off x="2532069" y="9341777"/>
            <a:ext cx="757799" cy="443884"/>
          </a:xfrm>
          <a:prstGeom prst="rect">
            <a:avLst/>
          </a:prstGeom>
        </p:spPr>
        <p:txBody>
          <a:bodyPr anchor="t" rtlCol="false" tIns="0" lIns="0" bIns="0" rIns="0">
            <a:spAutoFit/>
          </a:bodyPr>
          <a:lstStyle/>
          <a:p>
            <a:pPr algn="l">
              <a:lnSpc>
                <a:spcPts val="2801"/>
              </a:lnSpc>
            </a:pPr>
            <a:r>
              <a:rPr lang="en-US" sz="2334">
                <a:solidFill>
                  <a:srgbClr val="8494AB"/>
                </a:solidFill>
                <a:latin typeface="Georgia"/>
                <a:ea typeface="Georgia"/>
                <a:cs typeface="Georgia"/>
                <a:sym typeface="Georgia"/>
              </a:rPr>
              <a:t>02</a:t>
            </a:r>
          </a:p>
        </p:txBody>
      </p:sp>
      <p:grpSp>
        <p:nvGrpSpPr>
          <p:cNvPr name="Group 20" id="20"/>
          <p:cNvGrpSpPr/>
          <p:nvPr/>
        </p:nvGrpSpPr>
        <p:grpSpPr>
          <a:xfrm rot="0">
            <a:off x="3409617" y="8988981"/>
            <a:ext cx="15498242" cy="1051189"/>
            <a:chOff x="0" y="0"/>
            <a:chExt cx="20664322" cy="1401585"/>
          </a:xfrm>
        </p:grpSpPr>
        <p:sp>
          <p:nvSpPr>
            <p:cNvPr name="Freeform 21" id="21"/>
            <p:cNvSpPr/>
            <p:nvPr/>
          </p:nvSpPr>
          <p:spPr>
            <a:xfrm flipH="false" flipV="false" rot="0">
              <a:off x="17907" y="17907"/>
              <a:ext cx="20628482" cy="1365758"/>
            </a:xfrm>
            <a:custGeom>
              <a:avLst/>
              <a:gdLst/>
              <a:ahLst/>
              <a:cxnLst/>
              <a:rect r="r" b="b" t="t" l="l"/>
              <a:pathLst>
                <a:path h="1365758" w="20628482">
                  <a:moveTo>
                    <a:pt x="0" y="0"/>
                  </a:moveTo>
                  <a:lnTo>
                    <a:pt x="20628482" y="0"/>
                  </a:lnTo>
                  <a:lnTo>
                    <a:pt x="20628482" y="1365758"/>
                  </a:lnTo>
                  <a:lnTo>
                    <a:pt x="0" y="1365758"/>
                  </a:lnTo>
                  <a:close/>
                </a:path>
              </a:pathLst>
            </a:custGeom>
            <a:solidFill>
              <a:srgbClr val="FFFFFF"/>
            </a:solidFill>
          </p:spPr>
        </p:sp>
        <p:sp>
          <p:nvSpPr>
            <p:cNvPr name="Freeform 22" id="22"/>
            <p:cNvSpPr/>
            <p:nvPr/>
          </p:nvSpPr>
          <p:spPr>
            <a:xfrm flipH="false" flipV="false" rot="0">
              <a:off x="0" y="0"/>
              <a:ext cx="20664297" cy="1401572"/>
            </a:xfrm>
            <a:custGeom>
              <a:avLst/>
              <a:gdLst/>
              <a:ahLst/>
              <a:cxnLst/>
              <a:rect r="r" b="b" t="t" l="l"/>
              <a:pathLst>
                <a:path h="1401572" w="20664297">
                  <a:moveTo>
                    <a:pt x="17907" y="0"/>
                  </a:moveTo>
                  <a:lnTo>
                    <a:pt x="20646389" y="0"/>
                  </a:lnTo>
                  <a:cubicBezTo>
                    <a:pt x="20656296" y="0"/>
                    <a:pt x="20664297" y="8001"/>
                    <a:pt x="20664297" y="17907"/>
                  </a:cubicBezTo>
                  <a:lnTo>
                    <a:pt x="20664297" y="1383665"/>
                  </a:lnTo>
                  <a:cubicBezTo>
                    <a:pt x="20664297" y="1393571"/>
                    <a:pt x="20656296" y="1401572"/>
                    <a:pt x="20646389" y="1401572"/>
                  </a:cubicBezTo>
                  <a:lnTo>
                    <a:pt x="17907" y="1401572"/>
                  </a:lnTo>
                  <a:cubicBezTo>
                    <a:pt x="8001" y="1401572"/>
                    <a:pt x="0" y="1393571"/>
                    <a:pt x="0" y="1383665"/>
                  </a:cubicBezTo>
                  <a:lnTo>
                    <a:pt x="0" y="17907"/>
                  </a:lnTo>
                  <a:cubicBezTo>
                    <a:pt x="0" y="8001"/>
                    <a:pt x="8001" y="0"/>
                    <a:pt x="17907" y="0"/>
                  </a:cubicBezTo>
                  <a:moveTo>
                    <a:pt x="17907" y="35941"/>
                  </a:moveTo>
                  <a:lnTo>
                    <a:pt x="17907" y="17907"/>
                  </a:lnTo>
                  <a:lnTo>
                    <a:pt x="35941" y="17907"/>
                  </a:lnTo>
                  <a:lnTo>
                    <a:pt x="35941" y="1383665"/>
                  </a:lnTo>
                  <a:lnTo>
                    <a:pt x="17907" y="1383665"/>
                  </a:lnTo>
                  <a:lnTo>
                    <a:pt x="17907" y="1365758"/>
                  </a:lnTo>
                  <a:lnTo>
                    <a:pt x="20646389" y="1365758"/>
                  </a:lnTo>
                  <a:lnTo>
                    <a:pt x="20646389" y="1383665"/>
                  </a:lnTo>
                  <a:lnTo>
                    <a:pt x="20628482" y="1383665"/>
                  </a:lnTo>
                  <a:lnTo>
                    <a:pt x="20628482" y="17907"/>
                  </a:lnTo>
                  <a:lnTo>
                    <a:pt x="20646389" y="17907"/>
                  </a:lnTo>
                  <a:lnTo>
                    <a:pt x="20646389" y="35941"/>
                  </a:lnTo>
                  <a:lnTo>
                    <a:pt x="17907" y="35941"/>
                  </a:lnTo>
                  <a:close/>
                </a:path>
              </a:pathLst>
            </a:custGeom>
            <a:solidFill>
              <a:srgbClr val="C9D6E8"/>
            </a:solidFill>
          </p:spPr>
        </p:sp>
      </p:grpSp>
      <p:sp>
        <p:nvSpPr>
          <p:cNvPr name="TextBox 23" id="23"/>
          <p:cNvSpPr txBox="true"/>
          <p:nvPr/>
        </p:nvSpPr>
        <p:spPr>
          <a:xfrm rot="0">
            <a:off x="3852796" y="9287866"/>
            <a:ext cx="15076027" cy="551698"/>
          </a:xfrm>
          <a:prstGeom prst="rect">
            <a:avLst/>
          </a:prstGeom>
        </p:spPr>
        <p:txBody>
          <a:bodyPr anchor="t" rtlCol="false" tIns="0" lIns="0" bIns="0" rIns="0">
            <a:spAutoFit/>
          </a:bodyPr>
          <a:lstStyle/>
          <a:p>
            <a:pPr algn="l">
              <a:lnSpc>
                <a:spcPts val="3820"/>
              </a:lnSpc>
            </a:pPr>
            <a:r>
              <a:rPr lang="en-US" sz="3183">
                <a:solidFill>
                  <a:srgbClr val="1B2A44"/>
                </a:solidFill>
                <a:latin typeface="Georgia"/>
                <a:ea typeface="Georgia"/>
                <a:cs typeface="Georgia"/>
                <a:sym typeface="Georgia"/>
              </a:rPr>
              <a:t>CRM record created</a:t>
            </a:r>
          </a:p>
        </p:txBody>
      </p:sp>
      <p:sp>
        <p:nvSpPr>
          <p:cNvPr name="TextBox 24" id="24"/>
          <p:cNvSpPr txBox="true"/>
          <p:nvPr/>
        </p:nvSpPr>
        <p:spPr>
          <a:xfrm rot="0">
            <a:off x="2532069" y="10635539"/>
            <a:ext cx="757799" cy="443884"/>
          </a:xfrm>
          <a:prstGeom prst="rect">
            <a:avLst/>
          </a:prstGeom>
        </p:spPr>
        <p:txBody>
          <a:bodyPr anchor="t" rtlCol="false" tIns="0" lIns="0" bIns="0" rIns="0">
            <a:spAutoFit/>
          </a:bodyPr>
          <a:lstStyle/>
          <a:p>
            <a:pPr algn="l">
              <a:lnSpc>
                <a:spcPts val="2801"/>
              </a:lnSpc>
            </a:pPr>
            <a:r>
              <a:rPr lang="en-US" sz="2334">
                <a:solidFill>
                  <a:srgbClr val="8494AB"/>
                </a:solidFill>
                <a:latin typeface="Georgia"/>
                <a:ea typeface="Georgia"/>
                <a:cs typeface="Georgia"/>
                <a:sym typeface="Georgia"/>
              </a:rPr>
              <a:t>03</a:t>
            </a:r>
          </a:p>
        </p:txBody>
      </p:sp>
      <p:grpSp>
        <p:nvGrpSpPr>
          <p:cNvPr name="Group 25" id="25"/>
          <p:cNvGrpSpPr/>
          <p:nvPr/>
        </p:nvGrpSpPr>
        <p:grpSpPr>
          <a:xfrm rot="0">
            <a:off x="3409617" y="10282752"/>
            <a:ext cx="15498242" cy="1051189"/>
            <a:chOff x="0" y="0"/>
            <a:chExt cx="20664322" cy="1401585"/>
          </a:xfrm>
        </p:grpSpPr>
        <p:sp>
          <p:nvSpPr>
            <p:cNvPr name="Freeform 26" id="26"/>
            <p:cNvSpPr/>
            <p:nvPr/>
          </p:nvSpPr>
          <p:spPr>
            <a:xfrm flipH="false" flipV="false" rot="0">
              <a:off x="17907" y="17907"/>
              <a:ext cx="20628482" cy="1365758"/>
            </a:xfrm>
            <a:custGeom>
              <a:avLst/>
              <a:gdLst/>
              <a:ahLst/>
              <a:cxnLst/>
              <a:rect r="r" b="b" t="t" l="l"/>
              <a:pathLst>
                <a:path h="1365758" w="20628482">
                  <a:moveTo>
                    <a:pt x="0" y="0"/>
                  </a:moveTo>
                  <a:lnTo>
                    <a:pt x="20628482" y="0"/>
                  </a:lnTo>
                  <a:lnTo>
                    <a:pt x="20628482" y="1365758"/>
                  </a:lnTo>
                  <a:lnTo>
                    <a:pt x="0" y="1365758"/>
                  </a:lnTo>
                  <a:close/>
                </a:path>
              </a:pathLst>
            </a:custGeom>
            <a:solidFill>
              <a:srgbClr val="FFFFFF"/>
            </a:solidFill>
          </p:spPr>
        </p:sp>
        <p:sp>
          <p:nvSpPr>
            <p:cNvPr name="Freeform 27" id="27"/>
            <p:cNvSpPr/>
            <p:nvPr/>
          </p:nvSpPr>
          <p:spPr>
            <a:xfrm flipH="false" flipV="false" rot="0">
              <a:off x="0" y="0"/>
              <a:ext cx="20664297" cy="1401572"/>
            </a:xfrm>
            <a:custGeom>
              <a:avLst/>
              <a:gdLst/>
              <a:ahLst/>
              <a:cxnLst/>
              <a:rect r="r" b="b" t="t" l="l"/>
              <a:pathLst>
                <a:path h="1401572" w="20664297">
                  <a:moveTo>
                    <a:pt x="17907" y="0"/>
                  </a:moveTo>
                  <a:lnTo>
                    <a:pt x="20646389" y="0"/>
                  </a:lnTo>
                  <a:cubicBezTo>
                    <a:pt x="20656296" y="0"/>
                    <a:pt x="20664297" y="8001"/>
                    <a:pt x="20664297" y="17907"/>
                  </a:cubicBezTo>
                  <a:lnTo>
                    <a:pt x="20664297" y="1383665"/>
                  </a:lnTo>
                  <a:cubicBezTo>
                    <a:pt x="20664297" y="1393571"/>
                    <a:pt x="20656296" y="1401572"/>
                    <a:pt x="20646389" y="1401572"/>
                  </a:cubicBezTo>
                  <a:lnTo>
                    <a:pt x="17907" y="1401572"/>
                  </a:lnTo>
                  <a:cubicBezTo>
                    <a:pt x="8001" y="1401572"/>
                    <a:pt x="0" y="1393571"/>
                    <a:pt x="0" y="1383665"/>
                  </a:cubicBezTo>
                  <a:lnTo>
                    <a:pt x="0" y="17907"/>
                  </a:lnTo>
                  <a:cubicBezTo>
                    <a:pt x="0" y="8001"/>
                    <a:pt x="8001" y="0"/>
                    <a:pt x="17907" y="0"/>
                  </a:cubicBezTo>
                  <a:moveTo>
                    <a:pt x="17907" y="35941"/>
                  </a:moveTo>
                  <a:lnTo>
                    <a:pt x="17907" y="17907"/>
                  </a:lnTo>
                  <a:lnTo>
                    <a:pt x="35941" y="17907"/>
                  </a:lnTo>
                  <a:lnTo>
                    <a:pt x="35941" y="1383665"/>
                  </a:lnTo>
                  <a:lnTo>
                    <a:pt x="17907" y="1383665"/>
                  </a:lnTo>
                  <a:lnTo>
                    <a:pt x="17907" y="1365758"/>
                  </a:lnTo>
                  <a:lnTo>
                    <a:pt x="20646389" y="1365758"/>
                  </a:lnTo>
                  <a:lnTo>
                    <a:pt x="20646389" y="1383665"/>
                  </a:lnTo>
                  <a:lnTo>
                    <a:pt x="20628482" y="1383665"/>
                  </a:lnTo>
                  <a:lnTo>
                    <a:pt x="20628482" y="17907"/>
                  </a:lnTo>
                  <a:lnTo>
                    <a:pt x="20646389" y="17907"/>
                  </a:lnTo>
                  <a:lnTo>
                    <a:pt x="20646389" y="35941"/>
                  </a:lnTo>
                  <a:lnTo>
                    <a:pt x="17907" y="35941"/>
                  </a:lnTo>
                  <a:close/>
                </a:path>
              </a:pathLst>
            </a:custGeom>
            <a:solidFill>
              <a:srgbClr val="C9D6E8"/>
            </a:solidFill>
          </p:spPr>
        </p:sp>
      </p:grpSp>
      <p:sp>
        <p:nvSpPr>
          <p:cNvPr name="TextBox 28" id="28"/>
          <p:cNvSpPr txBox="true"/>
          <p:nvPr/>
        </p:nvSpPr>
        <p:spPr>
          <a:xfrm rot="0">
            <a:off x="3852796" y="10581637"/>
            <a:ext cx="15076027" cy="551698"/>
          </a:xfrm>
          <a:prstGeom prst="rect">
            <a:avLst/>
          </a:prstGeom>
        </p:spPr>
        <p:txBody>
          <a:bodyPr anchor="t" rtlCol="false" tIns="0" lIns="0" bIns="0" rIns="0">
            <a:spAutoFit/>
          </a:bodyPr>
          <a:lstStyle/>
          <a:p>
            <a:pPr algn="l">
              <a:lnSpc>
                <a:spcPts val="3820"/>
              </a:lnSpc>
            </a:pPr>
            <a:r>
              <a:rPr lang="en-US" sz="3183">
                <a:solidFill>
                  <a:srgbClr val="1B2A44"/>
                </a:solidFill>
                <a:latin typeface="Georgia"/>
                <a:ea typeface="Georgia"/>
                <a:cs typeface="Georgia"/>
                <a:sym typeface="Georgia"/>
              </a:rPr>
              <a:t>Lead assigned to team member</a:t>
            </a:r>
          </a:p>
        </p:txBody>
      </p:sp>
      <p:sp>
        <p:nvSpPr>
          <p:cNvPr name="TextBox 29" id="29"/>
          <p:cNvSpPr txBox="true"/>
          <p:nvPr/>
        </p:nvSpPr>
        <p:spPr>
          <a:xfrm rot="0">
            <a:off x="2532069" y="11929310"/>
            <a:ext cx="757799" cy="443884"/>
          </a:xfrm>
          <a:prstGeom prst="rect">
            <a:avLst/>
          </a:prstGeom>
        </p:spPr>
        <p:txBody>
          <a:bodyPr anchor="t" rtlCol="false" tIns="0" lIns="0" bIns="0" rIns="0">
            <a:spAutoFit/>
          </a:bodyPr>
          <a:lstStyle/>
          <a:p>
            <a:pPr algn="l">
              <a:lnSpc>
                <a:spcPts val="2801"/>
              </a:lnSpc>
            </a:pPr>
            <a:r>
              <a:rPr lang="en-US" sz="2334">
                <a:solidFill>
                  <a:srgbClr val="8494AB"/>
                </a:solidFill>
                <a:latin typeface="Georgia"/>
                <a:ea typeface="Georgia"/>
                <a:cs typeface="Georgia"/>
                <a:sym typeface="Georgia"/>
              </a:rPr>
              <a:t>04</a:t>
            </a:r>
          </a:p>
        </p:txBody>
      </p:sp>
      <p:grpSp>
        <p:nvGrpSpPr>
          <p:cNvPr name="Group 30" id="30"/>
          <p:cNvGrpSpPr/>
          <p:nvPr/>
        </p:nvGrpSpPr>
        <p:grpSpPr>
          <a:xfrm rot="0">
            <a:off x="3409617" y="11576514"/>
            <a:ext cx="15498242" cy="1051189"/>
            <a:chOff x="0" y="0"/>
            <a:chExt cx="20664322" cy="1401585"/>
          </a:xfrm>
        </p:grpSpPr>
        <p:sp>
          <p:nvSpPr>
            <p:cNvPr name="Freeform 31" id="31"/>
            <p:cNvSpPr/>
            <p:nvPr/>
          </p:nvSpPr>
          <p:spPr>
            <a:xfrm flipH="false" flipV="false" rot="0">
              <a:off x="17907" y="17907"/>
              <a:ext cx="20628482" cy="1365758"/>
            </a:xfrm>
            <a:custGeom>
              <a:avLst/>
              <a:gdLst/>
              <a:ahLst/>
              <a:cxnLst/>
              <a:rect r="r" b="b" t="t" l="l"/>
              <a:pathLst>
                <a:path h="1365758" w="20628482">
                  <a:moveTo>
                    <a:pt x="0" y="0"/>
                  </a:moveTo>
                  <a:lnTo>
                    <a:pt x="20628482" y="0"/>
                  </a:lnTo>
                  <a:lnTo>
                    <a:pt x="20628482" y="1365758"/>
                  </a:lnTo>
                  <a:lnTo>
                    <a:pt x="0" y="1365758"/>
                  </a:lnTo>
                  <a:close/>
                </a:path>
              </a:pathLst>
            </a:custGeom>
            <a:solidFill>
              <a:srgbClr val="FFFFFF"/>
            </a:solidFill>
          </p:spPr>
        </p:sp>
        <p:sp>
          <p:nvSpPr>
            <p:cNvPr name="Freeform 32" id="32"/>
            <p:cNvSpPr/>
            <p:nvPr/>
          </p:nvSpPr>
          <p:spPr>
            <a:xfrm flipH="false" flipV="false" rot="0">
              <a:off x="0" y="0"/>
              <a:ext cx="20664297" cy="1401572"/>
            </a:xfrm>
            <a:custGeom>
              <a:avLst/>
              <a:gdLst/>
              <a:ahLst/>
              <a:cxnLst/>
              <a:rect r="r" b="b" t="t" l="l"/>
              <a:pathLst>
                <a:path h="1401572" w="20664297">
                  <a:moveTo>
                    <a:pt x="17907" y="0"/>
                  </a:moveTo>
                  <a:lnTo>
                    <a:pt x="20646389" y="0"/>
                  </a:lnTo>
                  <a:cubicBezTo>
                    <a:pt x="20656296" y="0"/>
                    <a:pt x="20664297" y="8001"/>
                    <a:pt x="20664297" y="17907"/>
                  </a:cubicBezTo>
                  <a:lnTo>
                    <a:pt x="20664297" y="1383665"/>
                  </a:lnTo>
                  <a:cubicBezTo>
                    <a:pt x="20664297" y="1393571"/>
                    <a:pt x="20656296" y="1401572"/>
                    <a:pt x="20646389" y="1401572"/>
                  </a:cubicBezTo>
                  <a:lnTo>
                    <a:pt x="17907" y="1401572"/>
                  </a:lnTo>
                  <a:cubicBezTo>
                    <a:pt x="8001" y="1401572"/>
                    <a:pt x="0" y="1393571"/>
                    <a:pt x="0" y="1383665"/>
                  </a:cubicBezTo>
                  <a:lnTo>
                    <a:pt x="0" y="17907"/>
                  </a:lnTo>
                  <a:cubicBezTo>
                    <a:pt x="0" y="8001"/>
                    <a:pt x="8001" y="0"/>
                    <a:pt x="17907" y="0"/>
                  </a:cubicBezTo>
                  <a:moveTo>
                    <a:pt x="17907" y="35941"/>
                  </a:moveTo>
                  <a:lnTo>
                    <a:pt x="17907" y="17907"/>
                  </a:lnTo>
                  <a:lnTo>
                    <a:pt x="35941" y="17907"/>
                  </a:lnTo>
                  <a:lnTo>
                    <a:pt x="35941" y="1383665"/>
                  </a:lnTo>
                  <a:lnTo>
                    <a:pt x="17907" y="1383665"/>
                  </a:lnTo>
                  <a:lnTo>
                    <a:pt x="17907" y="1365758"/>
                  </a:lnTo>
                  <a:lnTo>
                    <a:pt x="20646389" y="1365758"/>
                  </a:lnTo>
                  <a:lnTo>
                    <a:pt x="20646389" y="1383665"/>
                  </a:lnTo>
                  <a:lnTo>
                    <a:pt x="20628482" y="1383665"/>
                  </a:lnTo>
                  <a:lnTo>
                    <a:pt x="20628482" y="17907"/>
                  </a:lnTo>
                  <a:lnTo>
                    <a:pt x="20646389" y="17907"/>
                  </a:lnTo>
                  <a:lnTo>
                    <a:pt x="20646389" y="35941"/>
                  </a:lnTo>
                  <a:lnTo>
                    <a:pt x="17907" y="35941"/>
                  </a:lnTo>
                  <a:close/>
                </a:path>
              </a:pathLst>
            </a:custGeom>
            <a:solidFill>
              <a:srgbClr val="C9D6E8"/>
            </a:solidFill>
          </p:spPr>
        </p:sp>
      </p:grpSp>
      <p:sp>
        <p:nvSpPr>
          <p:cNvPr name="TextBox 33" id="33"/>
          <p:cNvSpPr txBox="true"/>
          <p:nvPr/>
        </p:nvSpPr>
        <p:spPr>
          <a:xfrm rot="0">
            <a:off x="3852796" y="11875399"/>
            <a:ext cx="15076027" cy="551698"/>
          </a:xfrm>
          <a:prstGeom prst="rect">
            <a:avLst/>
          </a:prstGeom>
        </p:spPr>
        <p:txBody>
          <a:bodyPr anchor="t" rtlCol="false" tIns="0" lIns="0" bIns="0" rIns="0">
            <a:spAutoFit/>
          </a:bodyPr>
          <a:lstStyle/>
          <a:p>
            <a:pPr algn="l">
              <a:lnSpc>
                <a:spcPts val="3820"/>
              </a:lnSpc>
            </a:pPr>
            <a:r>
              <a:rPr lang="en-US" sz="3183">
                <a:solidFill>
                  <a:srgbClr val="1B2A44"/>
                </a:solidFill>
                <a:latin typeface="Georgia"/>
                <a:ea typeface="Georgia"/>
                <a:cs typeface="Georgia"/>
                <a:sym typeface="Georgia"/>
              </a:rPr>
              <a:t>Follow-up triggered</a:t>
            </a:r>
          </a:p>
        </p:txBody>
      </p:sp>
      <p:sp>
        <p:nvSpPr>
          <p:cNvPr name="TextBox 34" id="34"/>
          <p:cNvSpPr txBox="true"/>
          <p:nvPr/>
        </p:nvSpPr>
        <p:spPr>
          <a:xfrm rot="0">
            <a:off x="2532069" y="13223072"/>
            <a:ext cx="757799" cy="443884"/>
          </a:xfrm>
          <a:prstGeom prst="rect">
            <a:avLst/>
          </a:prstGeom>
        </p:spPr>
        <p:txBody>
          <a:bodyPr anchor="t" rtlCol="false" tIns="0" lIns="0" bIns="0" rIns="0">
            <a:spAutoFit/>
          </a:bodyPr>
          <a:lstStyle/>
          <a:p>
            <a:pPr algn="l">
              <a:lnSpc>
                <a:spcPts val="2801"/>
              </a:lnSpc>
            </a:pPr>
            <a:r>
              <a:rPr lang="en-US" sz="2334">
                <a:solidFill>
                  <a:srgbClr val="8494AB"/>
                </a:solidFill>
                <a:latin typeface="Georgia"/>
                <a:ea typeface="Georgia"/>
                <a:cs typeface="Georgia"/>
                <a:sym typeface="Georgia"/>
              </a:rPr>
              <a:t>05</a:t>
            </a:r>
          </a:p>
        </p:txBody>
      </p:sp>
      <p:grpSp>
        <p:nvGrpSpPr>
          <p:cNvPr name="Group 35" id="35"/>
          <p:cNvGrpSpPr/>
          <p:nvPr/>
        </p:nvGrpSpPr>
        <p:grpSpPr>
          <a:xfrm rot="0">
            <a:off x="3409617" y="12870285"/>
            <a:ext cx="15498242" cy="1051189"/>
            <a:chOff x="0" y="0"/>
            <a:chExt cx="20664322" cy="1401585"/>
          </a:xfrm>
        </p:grpSpPr>
        <p:sp>
          <p:nvSpPr>
            <p:cNvPr name="Freeform 36" id="36"/>
            <p:cNvSpPr/>
            <p:nvPr/>
          </p:nvSpPr>
          <p:spPr>
            <a:xfrm flipH="false" flipV="false" rot="0">
              <a:off x="17907" y="17907"/>
              <a:ext cx="20628482" cy="1365758"/>
            </a:xfrm>
            <a:custGeom>
              <a:avLst/>
              <a:gdLst/>
              <a:ahLst/>
              <a:cxnLst/>
              <a:rect r="r" b="b" t="t" l="l"/>
              <a:pathLst>
                <a:path h="1365758" w="20628482">
                  <a:moveTo>
                    <a:pt x="0" y="0"/>
                  </a:moveTo>
                  <a:lnTo>
                    <a:pt x="20628482" y="0"/>
                  </a:lnTo>
                  <a:lnTo>
                    <a:pt x="20628482" y="1365758"/>
                  </a:lnTo>
                  <a:lnTo>
                    <a:pt x="0" y="1365758"/>
                  </a:lnTo>
                  <a:close/>
                </a:path>
              </a:pathLst>
            </a:custGeom>
            <a:solidFill>
              <a:srgbClr val="FFFFFF"/>
            </a:solidFill>
          </p:spPr>
        </p:sp>
        <p:sp>
          <p:nvSpPr>
            <p:cNvPr name="Freeform 37" id="37"/>
            <p:cNvSpPr/>
            <p:nvPr/>
          </p:nvSpPr>
          <p:spPr>
            <a:xfrm flipH="false" flipV="false" rot="0">
              <a:off x="0" y="0"/>
              <a:ext cx="20664297" cy="1401572"/>
            </a:xfrm>
            <a:custGeom>
              <a:avLst/>
              <a:gdLst/>
              <a:ahLst/>
              <a:cxnLst/>
              <a:rect r="r" b="b" t="t" l="l"/>
              <a:pathLst>
                <a:path h="1401572" w="20664297">
                  <a:moveTo>
                    <a:pt x="17907" y="0"/>
                  </a:moveTo>
                  <a:lnTo>
                    <a:pt x="20646389" y="0"/>
                  </a:lnTo>
                  <a:cubicBezTo>
                    <a:pt x="20656296" y="0"/>
                    <a:pt x="20664297" y="8001"/>
                    <a:pt x="20664297" y="17907"/>
                  </a:cubicBezTo>
                  <a:lnTo>
                    <a:pt x="20664297" y="1383665"/>
                  </a:lnTo>
                  <a:cubicBezTo>
                    <a:pt x="20664297" y="1393571"/>
                    <a:pt x="20656296" y="1401572"/>
                    <a:pt x="20646389" y="1401572"/>
                  </a:cubicBezTo>
                  <a:lnTo>
                    <a:pt x="17907" y="1401572"/>
                  </a:lnTo>
                  <a:cubicBezTo>
                    <a:pt x="8001" y="1401572"/>
                    <a:pt x="0" y="1393571"/>
                    <a:pt x="0" y="1383665"/>
                  </a:cubicBezTo>
                  <a:lnTo>
                    <a:pt x="0" y="17907"/>
                  </a:lnTo>
                  <a:cubicBezTo>
                    <a:pt x="0" y="8001"/>
                    <a:pt x="8001" y="0"/>
                    <a:pt x="17907" y="0"/>
                  </a:cubicBezTo>
                  <a:moveTo>
                    <a:pt x="17907" y="35941"/>
                  </a:moveTo>
                  <a:lnTo>
                    <a:pt x="17907" y="17907"/>
                  </a:lnTo>
                  <a:lnTo>
                    <a:pt x="35941" y="17907"/>
                  </a:lnTo>
                  <a:lnTo>
                    <a:pt x="35941" y="1383665"/>
                  </a:lnTo>
                  <a:lnTo>
                    <a:pt x="17907" y="1383665"/>
                  </a:lnTo>
                  <a:lnTo>
                    <a:pt x="17907" y="1365758"/>
                  </a:lnTo>
                  <a:lnTo>
                    <a:pt x="20646389" y="1365758"/>
                  </a:lnTo>
                  <a:lnTo>
                    <a:pt x="20646389" y="1383665"/>
                  </a:lnTo>
                  <a:lnTo>
                    <a:pt x="20628482" y="1383665"/>
                  </a:lnTo>
                  <a:lnTo>
                    <a:pt x="20628482" y="17907"/>
                  </a:lnTo>
                  <a:lnTo>
                    <a:pt x="20646389" y="17907"/>
                  </a:lnTo>
                  <a:lnTo>
                    <a:pt x="20646389" y="35941"/>
                  </a:lnTo>
                  <a:lnTo>
                    <a:pt x="17907" y="35941"/>
                  </a:lnTo>
                  <a:close/>
                </a:path>
              </a:pathLst>
            </a:custGeom>
            <a:solidFill>
              <a:srgbClr val="C9D6E8"/>
            </a:solidFill>
          </p:spPr>
        </p:sp>
      </p:grpSp>
      <p:sp>
        <p:nvSpPr>
          <p:cNvPr name="TextBox 38" id="38"/>
          <p:cNvSpPr txBox="true"/>
          <p:nvPr/>
        </p:nvSpPr>
        <p:spPr>
          <a:xfrm rot="0">
            <a:off x="3852796" y="13169170"/>
            <a:ext cx="15076027" cy="551698"/>
          </a:xfrm>
          <a:prstGeom prst="rect">
            <a:avLst/>
          </a:prstGeom>
        </p:spPr>
        <p:txBody>
          <a:bodyPr anchor="t" rtlCol="false" tIns="0" lIns="0" bIns="0" rIns="0">
            <a:spAutoFit/>
          </a:bodyPr>
          <a:lstStyle/>
          <a:p>
            <a:pPr algn="l">
              <a:lnSpc>
                <a:spcPts val="3820"/>
              </a:lnSpc>
            </a:pPr>
            <a:r>
              <a:rPr lang="en-US" sz="3183">
                <a:solidFill>
                  <a:srgbClr val="1B2A44"/>
                </a:solidFill>
                <a:latin typeface="Georgia"/>
                <a:ea typeface="Georgia"/>
                <a:cs typeface="Georgia"/>
                <a:sym typeface="Georgia"/>
              </a:rPr>
              <a:t>Information collected</a:t>
            </a:r>
          </a:p>
        </p:txBody>
      </p:sp>
      <p:sp>
        <p:nvSpPr>
          <p:cNvPr name="TextBox 39" id="39"/>
          <p:cNvSpPr txBox="true"/>
          <p:nvPr/>
        </p:nvSpPr>
        <p:spPr>
          <a:xfrm rot="0">
            <a:off x="2532069" y="14516843"/>
            <a:ext cx="757799" cy="443884"/>
          </a:xfrm>
          <a:prstGeom prst="rect">
            <a:avLst/>
          </a:prstGeom>
        </p:spPr>
        <p:txBody>
          <a:bodyPr anchor="t" rtlCol="false" tIns="0" lIns="0" bIns="0" rIns="0">
            <a:spAutoFit/>
          </a:bodyPr>
          <a:lstStyle/>
          <a:p>
            <a:pPr algn="l">
              <a:lnSpc>
                <a:spcPts val="2801"/>
              </a:lnSpc>
            </a:pPr>
            <a:r>
              <a:rPr lang="en-US" sz="2334">
                <a:solidFill>
                  <a:srgbClr val="8494AB"/>
                </a:solidFill>
                <a:latin typeface="Georgia"/>
                <a:ea typeface="Georgia"/>
                <a:cs typeface="Georgia"/>
                <a:sym typeface="Georgia"/>
              </a:rPr>
              <a:t>06</a:t>
            </a:r>
          </a:p>
        </p:txBody>
      </p:sp>
      <p:grpSp>
        <p:nvGrpSpPr>
          <p:cNvPr name="Group 40" id="40"/>
          <p:cNvGrpSpPr/>
          <p:nvPr/>
        </p:nvGrpSpPr>
        <p:grpSpPr>
          <a:xfrm rot="0">
            <a:off x="3409617" y="14164046"/>
            <a:ext cx="15498242" cy="1051189"/>
            <a:chOff x="0" y="0"/>
            <a:chExt cx="20664322" cy="1401585"/>
          </a:xfrm>
        </p:grpSpPr>
        <p:sp>
          <p:nvSpPr>
            <p:cNvPr name="Freeform 41" id="41"/>
            <p:cNvSpPr/>
            <p:nvPr/>
          </p:nvSpPr>
          <p:spPr>
            <a:xfrm flipH="false" flipV="false" rot="0">
              <a:off x="17907" y="17907"/>
              <a:ext cx="20628482" cy="1365758"/>
            </a:xfrm>
            <a:custGeom>
              <a:avLst/>
              <a:gdLst/>
              <a:ahLst/>
              <a:cxnLst/>
              <a:rect r="r" b="b" t="t" l="l"/>
              <a:pathLst>
                <a:path h="1365758" w="20628482">
                  <a:moveTo>
                    <a:pt x="0" y="0"/>
                  </a:moveTo>
                  <a:lnTo>
                    <a:pt x="20628482" y="0"/>
                  </a:lnTo>
                  <a:lnTo>
                    <a:pt x="20628482" y="1365758"/>
                  </a:lnTo>
                  <a:lnTo>
                    <a:pt x="0" y="1365758"/>
                  </a:lnTo>
                  <a:close/>
                </a:path>
              </a:pathLst>
            </a:custGeom>
            <a:solidFill>
              <a:srgbClr val="FFFFFF"/>
            </a:solidFill>
          </p:spPr>
        </p:sp>
        <p:sp>
          <p:nvSpPr>
            <p:cNvPr name="Freeform 42" id="42"/>
            <p:cNvSpPr/>
            <p:nvPr/>
          </p:nvSpPr>
          <p:spPr>
            <a:xfrm flipH="false" flipV="false" rot="0">
              <a:off x="0" y="0"/>
              <a:ext cx="20664297" cy="1401572"/>
            </a:xfrm>
            <a:custGeom>
              <a:avLst/>
              <a:gdLst/>
              <a:ahLst/>
              <a:cxnLst/>
              <a:rect r="r" b="b" t="t" l="l"/>
              <a:pathLst>
                <a:path h="1401572" w="20664297">
                  <a:moveTo>
                    <a:pt x="17907" y="0"/>
                  </a:moveTo>
                  <a:lnTo>
                    <a:pt x="20646389" y="0"/>
                  </a:lnTo>
                  <a:cubicBezTo>
                    <a:pt x="20656296" y="0"/>
                    <a:pt x="20664297" y="8001"/>
                    <a:pt x="20664297" y="17907"/>
                  </a:cubicBezTo>
                  <a:lnTo>
                    <a:pt x="20664297" y="1383665"/>
                  </a:lnTo>
                  <a:cubicBezTo>
                    <a:pt x="20664297" y="1393571"/>
                    <a:pt x="20656296" y="1401572"/>
                    <a:pt x="20646389" y="1401572"/>
                  </a:cubicBezTo>
                  <a:lnTo>
                    <a:pt x="17907" y="1401572"/>
                  </a:lnTo>
                  <a:cubicBezTo>
                    <a:pt x="8001" y="1401572"/>
                    <a:pt x="0" y="1393571"/>
                    <a:pt x="0" y="1383665"/>
                  </a:cubicBezTo>
                  <a:lnTo>
                    <a:pt x="0" y="17907"/>
                  </a:lnTo>
                  <a:cubicBezTo>
                    <a:pt x="0" y="8001"/>
                    <a:pt x="8001" y="0"/>
                    <a:pt x="17907" y="0"/>
                  </a:cubicBezTo>
                  <a:moveTo>
                    <a:pt x="17907" y="35941"/>
                  </a:moveTo>
                  <a:lnTo>
                    <a:pt x="17907" y="17907"/>
                  </a:lnTo>
                  <a:lnTo>
                    <a:pt x="35941" y="17907"/>
                  </a:lnTo>
                  <a:lnTo>
                    <a:pt x="35941" y="1383665"/>
                  </a:lnTo>
                  <a:lnTo>
                    <a:pt x="17907" y="1383665"/>
                  </a:lnTo>
                  <a:lnTo>
                    <a:pt x="17907" y="1365758"/>
                  </a:lnTo>
                  <a:lnTo>
                    <a:pt x="20646389" y="1365758"/>
                  </a:lnTo>
                  <a:lnTo>
                    <a:pt x="20646389" y="1383665"/>
                  </a:lnTo>
                  <a:lnTo>
                    <a:pt x="20628482" y="1383665"/>
                  </a:lnTo>
                  <a:lnTo>
                    <a:pt x="20628482" y="17907"/>
                  </a:lnTo>
                  <a:lnTo>
                    <a:pt x="20646389" y="17907"/>
                  </a:lnTo>
                  <a:lnTo>
                    <a:pt x="20646389" y="35941"/>
                  </a:lnTo>
                  <a:lnTo>
                    <a:pt x="17907" y="35941"/>
                  </a:lnTo>
                  <a:close/>
                </a:path>
              </a:pathLst>
            </a:custGeom>
            <a:solidFill>
              <a:srgbClr val="C9D6E8"/>
            </a:solidFill>
          </p:spPr>
        </p:sp>
      </p:grpSp>
      <p:sp>
        <p:nvSpPr>
          <p:cNvPr name="TextBox 43" id="43"/>
          <p:cNvSpPr txBox="true"/>
          <p:nvPr/>
        </p:nvSpPr>
        <p:spPr>
          <a:xfrm rot="0">
            <a:off x="3852796" y="14462931"/>
            <a:ext cx="15076027" cy="551698"/>
          </a:xfrm>
          <a:prstGeom prst="rect">
            <a:avLst/>
          </a:prstGeom>
        </p:spPr>
        <p:txBody>
          <a:bodyPr anchor="t" rtlCol="false" tIns="0" lIns="0" bIns="0" rIns="0">
            <a:spAutoFit/>
          </a:bodyPr>
          <a:lstStyle/>
          <a:p>
            <a:pPr algn="l">
              <a:lnSpc>
                <a:spcPts val="3820"/>
              </a:lnSpc>
            </a:pPr>
            <a:r>
              <a:rPr lang="en-US" sz="3183">
                <a:solidFill>
                  <a:srgbClr val="1B2A44"/>
                </a:solidFill>
                <a:latin typeface="Georgia"/>
                <a:ea typeface="Georgia"/>
                <a:cs typeface="Georgia"/>
                <a:sym typeface="Georgia"/>
              </a:rPr>
              <a:t>Quotation generated</a:t>
            </a:r>
          </a:p>
        </p:txBody>
      </p:sp>
      <p:sp>
        <p:nvSpPr>
          <p:cNvPr name="TextBox 44" id="44"/>
          <p:cNvSpPr txBox="true"/>
          <p:nvPr/>
        </p:nvSpPr>
        <p:spPr>
          <a:xfrm rot="0">
            <a:off x="2532069" y="15810605"/>
            <a:ext cx="757799" cy="443884"/>
          </a:xfrm>
          <a:prstGeom prst="rect">
            <a:avLst/>
          </a:prstGeom>
        </p:spPr>
        <p:txBody>
          <a:bodyPr anchor="t" rtlCol="false" tIns="0" lIns="0" bIns="0" rIns="0">
            <a:spAutoFit/>
          </a:bodyPr>
          <a:lstStyle/>
          <a:p>
            <a:pPr algn="l">
              <a:lnSpc>
                <a:spcPts val="2801"/>
              </a:lnSpc>
            </a:pPr>
            <a:r>
              <a:rPr lang="en-US" sz="2334">
                <a:solidFill>
                  <a:srgbClr val="8494AB"/>
                </a:solidFill>
                <a:latin typeface="Georgia"/>
                <a:ea typeface="Georgia"/>
                <a:cs typeface="Georgia"/>
                <a:sym typeface="Georgia"/>
              </a:rPr>
              <a:t>07</a:t>
            </a:r>
          </a:p>
        </p:txBody>
      </p:sp>
      <p:grpSp>
        <p:nvGrpSpPr>
          <p:cNvPr name="Group 45" id="45"/>
          <p:cNvGrpSpPr/>
          <p:nvPr/>
        </p:nvGrpSpPr>
        <p:grpSpPr>
          <a:xfrm rot="0">
            <a:off x="3409617" y="15457818"/>
            <a:ext cx="15498242" cy="1051189"/>
            <a:chOff x="0" y="0"/>
            <a:chExt cx="20664322" cy="1401585"/>
          </a:xfrm>
        </p:grpSpPr>
        <p:sp>
          <p:nvSpPr>
            <p:cNvPr name="Freeform 46" id="46"/>
            <p:cNvSpPr/>
            <p:nvPr/>
          </p:nvSpPr>
          <p:spPr>
            <a:xfrm flipH="false" flipV="false" rot="0">
              <a:off x="17907" y="17907"/>
              <a:ext cx="20628482" cy="1365758"/>
            </a:xfrm>
            <a:custGeom>
              <a:avLst/>
              <a:gdLst/>
              <a:ahLst/>
              <a:cxnLst/>
              <a:rect r="r" b="b" t="t" l="l"/>
              <a:pathLst>
                <a:path h="1365758" w="20628482">
                  <a:moveTo>
                    <a:pt x="0" y="0"/>
                  </a:moveTo>
                  <a:lnTo>
                    <a:pt x="20628482" y="0"/>
                  </a:lnTo>
                  <a:lnTo>
                    <a:pt x="20628482" y="1365758"/>
                  </a:lnTo>
                  <a:lnTo>
                    <a:pt x="0" y="1365758"/>
                  </a:lnTo>
                  <a:close/>
                </a:path>
              </a:pathLst>
            </a:custGeom>
            <a:solidFill>
              <a:srgbClr val="FFFFFF"/>
            </a:solidFill>
          </p:spPr>
        </p:sp>
        <p:sp>
          <p:nvSpPr>
            <p:cNvPr name="Freeform 47" id="47"/>
            <p:cNvSpPr/>
            <p:nvPr/>
          </p:nvSpPr>
          <p:spPr>
            <a:xfrm flipH="false" flipV="false" rot="0">
              <a:off x="0" y="0"/>
              <a:ext cx="20664297" cy="1401572"/>
            </a:xfrm>
            <a:custGeom>
              <a:avLst/>
              <a:gdLst/>
              <a:ahLst/>
              <a:cxnLst/>
              <a:rect r="r" b="b" t="t" l="l"/>
              <a:pathLst>
                <a:path h="1401572" w="20664297">
                  <a:moveTo>
                    <a:pt x="17907" y="0"/>
                  </a:moveTo>
                  <a:lnTo>
                    <a:pt x="20646389" y="0"/>
                  </a:lnTo>
                  <a:cubicBezTo>
                    <a:pt x="20656296" y="0"/>
                    <a:pt x="20664297" y="8001"/>
                    <a:pt x="20664297" y="17907"/>
                  </a:cubicBezTo>
                  <a:lnTo>
                    <a:pt x="20664297" y="1383665"/>
                  </a:lnTo>
                  <a:cubicBezTo>
                    <a:pt x="20664297" y="1393571"/>
                    <a:pt x="20656296" y="1401572"/>
                    <a:pt x="20646389" y="1401572"/>
                  </a:cubicBezTo>
                  <a:lnTo>
                    <a:pt x="17907" y="1401572"/>
                  </a:lnTo>
                  <a:cubicBezTo>
                    <a:pt x="8001" y="1401572"/>
                    <a:pt x="0" y="1393571"/>
                    <a:pt x="0" y="1383665"/>
                  </a:cubicBezTo>
                  <a:lnTo>
                    <a:pt x="0" y="17907"/>
                  </a:lnTo>
                  <a:cubicBezTo>
                    <a:pt x="0" y="8001"/>
                    <a:pt x="8001" y="0"/>
                    <a:pt x="17907" y="0"/>
                  </a:cubicBezTo>
                  <a:moveTo>
                    <a:pt x="17907" y="35941"/>
                  </a:moveTo>
                  <a:lnTo>
                    <a:pt x="17907" y="17907"/>
                  </a:lnTo>
                  <a:lnTo>
                    <a:pt x="35941" y="17907"/>
                  </a:lnTo>
                  <a:lnTo>
                    <a:pt x="35941" y="1383665"/>
                  </a:lnTo>
                  <a:lnTo>
                    <a:pt x="17907" y="1383665"/>
                  </a:lnTo>
                  <a:lnTo>
                    <a:pt x="17907" y="1365758"/>
                  </a:lnTo>
                  <a:lnTo>
                    <a:pt x="20646389" y="1365758"/>
                  </a:lnTo>
                  <a:lnTo>
                    <a:pt x="20646389" y="1383665"/>
                  </a:lnTo>
                  <a:lnTo>
                    <a:pt x="20628482" y="1383665"/>
                  </a:lnTo>
                  <a:lnTo>
                    <a:pt x="20628482" y="17907"/>
                  </a:lnTo>
                  <a:lnTo>
                    <a:pt x="20646389" y="17907"/>
                  </a:lnTo>
                  <a:lnTo>
                    <a:pt x="20646389" y="35941"/>
                  </a:lnTo>
                  <a:lnTo>
                    <a:pt x="17907" y="35941"/>
                  </a:lnTo>
                  <a:close/>
                </a:path>
              </a:pathLst>
            </a:custGeom>
            <a:solidFill>
              <a:srgbClr val="C9D6E8"/>
            </a:solidFill>
          </p:spPr>
        </p:sp>
      </p:grpSp>
      <p:sp>
        <p:nvSpPr>
          <p:cNvPr name="TextBox 48" id="48"/>
          <p:cNvSpPr txBox="true"/>
          <p:nvPr/>
        </p:nvSpPr>
        <p:spPr>
          <a:xfrm rot="0">
            <a:off x="3852796" y="15756703"/>
            <a:ext cx="15076027" cy="551698"/>
          </a:xfrm>
          <a:prstGeom prst="rect">
            <a:avLst/>
          </a:prstGeom>
        </p:spPr>
        <p:txBody>
          <a:bodyPr anchor="t" rtlCol="false" tIns="0" lIns="0" bIns="0" rIns="0">
            <a:spAutoFit/>
          </a:bodyPr>
          <a:lstStyle/>
          <a:p>
            <a:pPr algn="l">
              <a:lnSpc>
                <a:spcPts val="3820"/>
              </a:lnSpc>
            </a:pPr>
            <a:r>
              <a:rPr lang="en-US" sz="3183">
                <a:solidFill>
                  <a:srgbClr val="1B2A44"/>
                </a:solidFill>
                <a:latin typeface="Georgia"/>
                <a:ea typeface="Georgia"/>
                <a:cs typeface="Georgia"/>
                <a:sym typeface="Georgia"/>
              </a:rPr>
              <a:t>Proposal generated</a:t>
            </a:r>
          </a:p>
        </p:txBody>
      </p:sp>
      <p:sp>
        <p:nvSpPr>
          <p:cNvPr name="TextBox 49" id="49"/>
          <p:cNvSpPr txBox="true"/>
          <p:nvPr/>
        </p:nvSpPr>
        <p:spPr>
          <a:xfrm rot="0">
            <a:off x="2532069" y="17104376"/>
            <a:ext cx="757799" cy="443884"/>
          </a:xfrm>
          <a:prstGeom prst="rect">
            <a:avLst/>
          </a:prstGeom>
        </p:spPr>
        <p:txBody>
          <a:bodyPr anchor="t" rtlCol="false" tIns="0" lIns="0" bIns="0" rIns="0">
            <a:spAutoFit/>
          </a:bodyPr>
          <a:lstStyle/>
          <a:p>
            <a:pPr algn="l">
              <a:lnSpc>
                <a:spcPts val="2801"/>
              </a:lnSpc>
            </a:pPr>
            <a:r>
              <a:rPr lang="en-US" sz="2334">
                <a:solidFill>
                  <a:srgbClr val="8494AB"/>
                </a:solidFill>
                <a:latin typeface="Georgia"/>
                <a:ea typeface="Georgia"/>
                <a:cs typeface="Georgia"/>
                <a:sym typeface="Georgia"/>
              </a:rPr>
              <a:t>08</a:t>
            </a:r>
          </a:p>
        </p:txBody>
      </p:sp>
      <p:grpSp>
        <p:nvGrpSpPr>
          <p:cNvPr name="Group 50" id="50"/>
          <p:cNvGrpSpPr/>
          <p:nvPr/>
        </p:nvGrpSpPr>
        <p:grpSpPr>
          <a:xfrm rot="0">
            <a:off x="3409617" y="16751579"/>
            <a:ext cx="15498242" cy="1051189"/>
            <a:chOff x="0" y="0"/>
            <a:chExt cx="20664322" cy="1401585"/>
          </a:xfrm>
        </p:grpSpPr>
        <p:sp>
          <p:nvSpPr>
            <p:cNvPr name="Freeform 51" id="51"/>
            <p:cNvSpPr/>
            <p:nvPr/>
          </p:nvSpPr>
          <p:spPr>
            <a:xfrm flipH="false" flipV="false" rot="0">
              <a:off x="17907" y="17907"/>
              <a:ext cx="20628482" cy="1365758"/>
            </a:xfrm>
            <a:custGeom>
              <a:avLst/>
              <a:gdLst/>
              <a:ahLst/>
              <a:cxnLst/>
              <a:rect r="r" b="b" t="t" l="l"/>
              <a:pathLst>
                <a:path h="1365758" w="20628482">
                  <a:moveTo>
                    <a:pt x="0" y="0"/>
                  </a:moveTo>
                  <a:lnTo>
                    <a:pt x="20628482" y="0"/>
                  </a:lnTo>
                  <a:lnTo>
                    <a:pt x="20628482" y="1365758"/>
                  </a:lnTo>
                  <a:lnTo>
                    <a:pt x="0" y="1365758"/>
                  </a:lnTo>
                  <a:close/>
                </a:path>
              </a:pathLst>
            </a:custGeom>
            <a:solidFill>
              <a:srgbClr val="FFFFFF"/>
            </a:solidFill>
          </p:spPr>
        </p:sp>
        <p:sp>
          <p:nvSpPr>
            <p:cNvPr name="Freeform 52" id="52"/>
            <p:cNvSpPr/>
            <p:nvPr/>
          </p:nvSpPr>
          <p:spPr>
            <a:xfrm flipH="false" flipV="false" rot="0">
              <a:off x="0" y="0"/>
              <a:ext cx="20664297" cy="1401572"/>
            </a:xfrm>
            <a:custGeom>
              <a:avLst/>
              <a:gdLst/>
              <a:ahLst/>
              <a:cxnLst/>
              <a:rect r="r" b="b" t="t" l="l"/>
              <a:pathLst>
                <a:path h="1401572" w="20664297">
                  <a:moveTo>
                    <a:pt x="17907" y="0"/>
                  </a:moveTo>
                  <a:lnTo>
                    <a:pt x="20646389" y="0"/>
                  </a:lnTo>
                  <a:cubicBezTo>
                    <a:pt x="20656296" y="0"/>
                    <a:pt x="20664297" y="8001"/>
                    <a:pt x="20664297" y="17907"/>
                  </a:cubicBezTo>
                  <a:lnTo>
                    <a:pt x="20664297" y="1383665"/>
                  </a:lnTo>
                  <a:cubicBezTo>
                    <a:pt x="20664297" y="1393571"/>
                    <a:pt x="20656296" y="1401572"/>
                    <a:pt x="20646389" y="1401572"/>
                  </a:cubicBezTo>
                  <a:lnTo>
                    <a:pt x="17907" y="1401572"/>
                  </a:lnTo>
                  <a:cubicBezTo>
                    <a:pt x="8001" y="1401572"/>
                    <a:pt x="0" y="1393571"/>
                    <a:pt x="0" y="1383665"/>
                  </a:cubicBezTo>
                  <a:lnTo>
                    <a:pt x="0" y="17907"/>
                  </a:lnTo>
                  <a:cubicBezTo>
                    <a:pt x="0" y="8001"/>
                    <a:pt x="8001" y="0"/>
                    <a:pt x="17907" y="0"/>
                  </a:cubicBezTo>
                  <a:moveTo>
                    <a:pt x="17907" y="35941"/>
                  </a:moveTo>
                  <a:lnTo>
                    <a:pt x="17907" y="17907"/>
                  </a:lnTo>
                  <a:lnTo>
                    <a:pt x="35941" y="17907"/>
                  </a:lnTo>
                  <a:lnTo>
                    <a:pt x="35941" y="1383665"/>
                  </a:lnTo>
                  <a:lnTo>
                    <a:pt x="17907" y="1383665"/>
                  </a:lnTo>
                  <a:lnTo>
                    <a:pt x="17907" y="1365758"/>
                  </a:lnTo>
                  <a:lnTo>
                    <a:pt x="20646389" y="1365758"/>
                  </a:lnTo>
                  <a:lnTo>
                    <a:pt x="20646389" y="1383665"/>
                  </a:lnTo>
                  <a:lnTo>
                    <a:pt x="20628482" y="1383665"/>
                  </a:lnTo>
                  <a:lnTo>
                    <a:pt x="20628482" y="17907"/>
                  </a:lnTo>
                  <a:lnTo>
                    <a:pt x="20646389" y="17907"/>
                  </a:lnTo>
                  <a:lnTo>
                    <a:pt x="20646389" y="35941"/>
                  </a:lnTo>
                  <a:lnTo>
                    <a:pt x="17907" y="35941"/>
                  </a:lnTo>
                  <a:close/>
                </a:path>
              </a:pathLst>
            </a:custGeom>
            <a:solidFill>
              <a:srgbClr val="C9D6E8"/>
            </a:solidFill>
          </p:spPr>
        </p:sp>
      </p:grpSp>
      <p:sp>
        <p:nvSpPr>
          <p:cNvPr name="TextBox 53" id="53"/>
          <p:cNvSpPr txBox="true"/>
          <p:nvPr/>
        </p:nvSpPr>
        <p:spPr>
          <a:xfrm rot="0">
            <a:off x="3852796" y="17050464"/>
            <a:ext cx="15076027" cy="551698"/>
          </a:xfrm>
          <a:prstGeom prst="rect">
            <a:avLst/>
          </a:prstGeom>
        </p:spPr>
        <p:txBody>
          <a:bodyPr anchor="t" rtlCol="false" tIns="0" lIns="0" bIns="0" rIns="0">
            <a:spAutoFit/>
          </a:bodyPr>
          <a:lstStyle/>
          <a:p>
            <a:pPr algn="l">
              <a:lnSpc>
                <a:spcPts val="3820"/>
              </a:lnSpc>
            </a:pPr>
            <a:r>
              <a:rPr lang="en-US" sz="3183">
                <a:solidFill>
                  <a:srgbClr val="1B2A44"/>
                </a:solidFill>
                <a:latin typeface="Georgia"/>
                <a:ea typeface="Georgia"/>
                <a:cs typeface="Georgia"/>
                <a:sym typeface="Georgia"/>
              </a:rPr>
              <a:t>CRM updated</a:t>
            </a:r>
          </a:p>
        </p:txBody>
      </p:sp>
      <p:sp>
        <p:nvSpPr>
          <p:cNvPr name="TextBox 54" id="54"/>
          <p:cNvSpPr txBox="true"/>
          <p:nvPr/>
        </p:nvSpPr>
        <p:spPr>
          <a:xfrm rot="0">
            <a:off x="2532069" y="18398138"/>
            <a:ext cx="757799" cy="443884"/>
          </a:xfrm>
          <a:prstGeom prst="rect">
            <a:avLst/>
          </a:prstGeom>
        </p:spPr>
        <p:txBody>
          <a:bodyPr anchor="t" rtlCol="false" tIns="0" lIns="0" bIns="0" rIns="0">
            <a:spAutoFit/>
          </a:bodyPr>
          <a:lstStyle/>
          <a:p>
            <a:pPr algn="l">
              <a:lnSpc>
                <a:spcPts val="2801"/>
              </a:lnSpc>
            </a:pPr>
            <a:r>
              <a:rPr lang="en-US" sz="2334">
                <a:solidFill>
                  <a:srgbClr val="8494AB"/>
                </a:solidFill>
                <a:latin typeface="Georgia"/>
                <a:ea typeface="Georgia"/>
                <a:cs typeface="Georgia"/>
                <a:sym typeface="Georgia"/>
              </a:rPr>
              <a:t>09</a:t>
            </a:r>
          </a:p>
        </p:txBody>
      </p:sp>
      <p:grpSp>
        <p:nvGrpSpPr>
          <p:cNvPr name="Group 55" id="55"/>
          <p:cNvGrpSpPr/>
          <p:nvPr/>
        </p:nvGrpSpPr>
        <p:grpSpPr>
          <a:xfrm rot="0">
            <a:off x="3409617" y="18045351"/>
            <a:ext cx="15498242" cy="1051189"/>
            <a:chOff x="0" y="0"/>
            <a:chExt cx="20664322" cy="1401585"/>
          </a:xfrm>
        </p:grpSpPr>
        <p:sp>
          <p:nvSpPr>
            <p:cNvPr name="Freeform 56" id="56"/>
            <p:cNvSpPr/>
            <p:nvPr/>
          </p:nvSpPr>
          <p:spPr>
            <a:xfrm flipH="false" flipV="false" rot="0">
              <a:off x="17907" y="17907"/>
              <a:ext cx="20628482" cy="1365758"/>
            </a:xfrm>
            <a:custGeom>
              <a:avLst/>
              <a:gdLst/>
              <a:ahLst/>
              <a:cxnLst/>
              <a:rect r="r" b="b" t="t" l="l"/>
              <a:pathLst>
                <a:path h="1365758" w="20628482">
                  <a:moveTo>
                    <a:pt x="0" y="0"/>
                  </a:moveTo>
                  <a:lnTo>
                    <a:pt x="20628482" y="0"/>
                  </a:lnTo>
                  <a:lnTo>
                    <a:pt x="20628482" y="1365758"/>
                  </a:lnTo>
                  <a:lnTo>
                    <a:pt x="0" y="1365758"/>
                  </a:lnTo>
                  <a:close/>
                </a:path>
              </a:pathLst>
            </a:custGeom>
            <a:solidFill>
              <a:srgbClr val="FFFFFF"/>
            </a:solidFill>
          </p:spPr>
        </p:sp>
        <p:sp>
          <p:nvSpPr>
            <p:cNvPr name="Freeform 57" id="57"/>
            <p:cNvSpPr/>
            <p:nvPr/>
          </p:nvSpPr>
          <p:spPr>
            <a:xfrm flipH="false" flipV="false" rot="0">
              <a:off x="0" y="0"/>
              <a:ext cx="20664297" cy="1401572"/>
            </a:xfrm>
            <a:custGeom>
              <a:avLst/>
              <a:gdLst/>
              <a:ahLst/>
              <a:cxnLst/>
              <a:rect r="r" b="b" t="t" l="l"/>
              <a:pathLst>
                <a:path h="1401572" w="20664297">
                  <a:moveTo>
                    <a:pt x="17907" y="0"/>
                  </a:moveTo>
                  <a:lnTo>
                    <a:pt x="20646389" y="0"/>
                  </a:lnTo>
                  <a:cubicBezTo>
                    <a:pt x="20656296" y="0"/>
                    <a:pt x="20664297" y="8001"/>
                    <a:pt x="20664297" y="17907"/>
                  </a:cubicBezTo>
                  <a:lnTo>
                    <a:pt x="20664297" y="1383665"/>
                  </a:lnTo>
                  <a:cubicBezTo>
                    <a:pt x="20664297" y="1393571"/>
                    <a:pt x="20656296" y="1401572"/>
                    <a:pt x="20646389" y="1401572"/>
                  </a:cubicBezTo>
                  <a:lnTo>
                    <a:pt x="17907" y="1401572"/>
                  </a:lnTo>
                  <a:cubicBezTo>
                    <a:pt x="8001" y="1401572"/>
                    <a:pt x="0" y="1393571"/>
                    <a:pt x="0" y="1383665"/>
                  </a:cubicBezTo>
                  <a:lnTo>
                    <a:pt x="0" y="17907"/>
                  </a:lnTo>
                  <a:cubicBezTo>
                    <a:pt x="0" y="8001"/>
                    <a:pt x="8001" y="0"/>
                    <a:pt x="17907" y="0"/>
                  </a:cubicBezTo>
                  <a:moveTo>
                    <a:pt x="17907" y="35941"/>
                  </a:moveTo>
                  <a:lnTo>
                    <a:pt x="17907" y="17907"/>
                  </a:lnTo>
                  <a:lnTo>
                    <a:pt x="35941" y="17907"/>
                  </a:lnTo>
                  <a:lnTo>
                    <a:pt x="35941" y="1383665"/>
                  </a:lnTo>
                  <a:lnTo>
                    <a:pt x="17907" y="1383665"/>
                  </a:lnTo>
                  <a:lnTo>
                    <a:pt x="17907" y="1365758"/>
                  </a:lnTo>
                  <a:lnTo>
                    <a:pt x="20646389" y="1365758"/>
                  </a:lnTo>
                  <a:lnTo>
                    <a:pt x="20646389" y="1383665"/>
                  </a:lnTo>
                  <a:lnTo>
                    <a:pt x="20628482" y="1383665"/>
                  </a:lnTo>
                  <a:lnTo>
                    <a:pt x="20628482" y="17907"/>
                  </a:lnTo>
                  <a:lnTo>
                    <a:pt x="20646389" y="17907"/>
                  </a:lnTo>
                  <a:lnTo>
                    <a:pt x="20646389" y="35941"/>
                  </a:lnTo>
                  <a:lnTo>
                    <a:pt x="17907" y="35941"/>
                  </a:lnTo>
                  <a:close/>
                </a:path>
              </a:pathLst>
            </a:custGeom>
            <a:solidFill>
              <a:srgbClr val="C9D6E8"/>
            </a:solidFill>
          </p:spPr>
        </p:sp>
      </p:grpSp>
      <p:sp>
        <p:nvSpPr>
          <p:cNvPr name="TextBox 58" id="58"/>
          <p:cNvSpPr txBox="true"/>
          <p:nvPr/>
        </p:nvSpPr>
        <p:spPr>
          <a:xfrm rot="0">
            <a:off x="3852796" y="18344236"/>
            <a:ext cx="15076027" cy="551698"/>
          </a:xfrm>
          <a:prstGeom prst="rect">
            <a:avLst/>
          </a:prstGeom>
        </p:spPr>
        <p:txBody>
          <a:bodyPr anchor="t" rtlCol="false" tIns="0" lIns="0" bIns="0" rIns="0">
            <a:spAutoFit/>
          </a:bodyPr>
          <a:lstStyle/>
          <a:p>
            <a:pPr algn="l">
              <a:lnSpc>
                <a:spcPts val="3820"/>
              </a:lnSpc>
            </a:pPr>
            <a:r>
              <a:rPr lang="en-US" sz="3183">
                <a:solidFill>
                  <a:srgbClr val="1B2A44"/>
                </a:solidFill>
                <a:latin typeface="Georgia"/>
                <a:ea typeface="Georgia"/>
                <a:cs typeface="Georgia"/>
                <a:sym typeface="Georgia"/>
              </a:rPr>
              <a:t>Team member notified</a:t>
            </a:r>
          </a:p>
        </p:txBody>
      </p:sp>
      <p:sp>
        <p:nvSpPr>
          <p:cNvPr name="TextBox 59" id="59"/>
          <p:cNvSpPr txBox="true"/>
          <p:nvPr/>
        </p:nvSpPr>
        <p:spPr>
          <a:xfrm rot="0">
            <a:off x="1750419" y="20394111"/>
            <a:ext cx="18438743" cy="1493653"/>
          </a:xfrm>
          <a:prstGeom prst="rect">
            <a:avLst/>
          </a:prstGeom>
        </p:spPr>
        <p:txBody>
          <a:bodyPr anchor="t" rtlCol="false" tIns="0" lIns="0" bIns="0" rIns="0">
            <a:spAutoFit/>
          </a:bodyPr>
          <a:lstStyle/>
          <a:p>
            <a:pPr algn="l">
              <a:lnSpc>
                <a:spcPts val="5252"/>
              </a:lnSpc>
            </a:pPr>
            <a:r>
              <a:rPr lang="en-US" sz="3183">
                <a:solidFill>
                  <a:srgbClr val="33425C"/>
                </a:solidFill>
                <a:latin typeface="Georgia"/>
                <a:ea typeface="Georgia"/>
                <a:cs typeface="Georgia"/>
                <a:sym typeface="Georgia"/>
              </a:rPr>
              <a:t>Other workflows may be automated depending on the Client’s actual business process. The objective is to reduce repetitive human work and create a more consistent operating workflow.</a:t>
            </a:r>
          </a:p>
        </p:txBody>
      </p:sp>
      <p:sp>
        <p:nvSpPr>
          <p:cNvPr name="TextBox 60" id="60"/>
          <p:cNvSpPr txBox="true"/>
          <p:nvPr/>
        </p:nvSpPr>
        <p:spPr>
          <a:xfrm rot="0">
            <a:off x="1750419" y="28014044"/>
            <a:ext cx="18438743" cy="827723"/>
          </a:xfrm>
          <a:prstGeom prst="rect">
            <a:avLst/>
          </a:prstGeom>
        </p:spPr>
        <p:txBody>
          <a:bodyPr anchor="t" rtlCol="false" tIns="0" lIns="0" bIns="0" rIns="0">
            <a:spAutoFit/>
          </a:bodyPr>
          <a:lstStyle/>
          <a:p>
            <a:pPr algn="l">
              <a:lnSpc>
                <a:spcPts val="5093"/>
              </a:lnSpc>
            </a:pPr>
            <a:r>
              <a:rPr lang="en-US" sz="3183" i="true">
                <a:solidFill>
                  <a:srgbClr val="5A6B85"/>
                </a:solidFill>
                <a:latin typeface="Georgia Italics"/>
                <a:ea typeface="Georgia Italics"/>
                <a:cs typeface="Georgia Italics"/>
                <a:sym typeface="Georgia Italics"/>
              </a:rPr>
              <a:t>Automation is subject to technical feasibility and the agreed implementation scope.</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725025" y="2102368"/>
            <a:ext cx="17951006" cy="26956"/>
            <a:chOff x="0" y="0"/>
            <a:chExt cx="23934674" cy="35941"/>
          </a:xfrm>
        </p:grpSpPr>
        <p:sp>
          <p:nvSpPr>
            <p:cNvPr name="Freeform 3" id="3"/>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E2E8F1"/>
            </a:solidFill>
          </p:spPr>
        </p:sp>
      </p:grpSp>
      <p:sp>
        <p:nvSpPr>
          <p:cNvPr name="TextBox 4" id="4"/>
          <p:cNvSpPr txBox="true"/>
          <p:nvPr/>
        </p:nvSpPr>
        <p:spPr>
          <a:xfrm rot="0">
            <a:off x="1750419" y="1525267"/>
            <a:ext cx="3195828"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LUMELUSH STUDIO</a:t>
            </a:r>
          </a:p>
        </p:txBody>
      </p:sp>
      <p:sp>
        <p:nvSpPr>
          <p:cNvPr name="TextBox 5" id="5"/>
          <p:cNvSpPr txBox="true"/>
          <p:nvPr/>
        </p:nvSpPr>
        <p:spPr>
          <a:xfrm rot="0">
            <a:off x="15847933" y="1525267"/>
            <a:ext cx="4188057"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COMMERCIAL PROPOSAL</a:t>
            </a:r>
          </a:p>
        </p:txBody>
      </p:sp>
      <p:grpSp>
        <p:nvGrpSpPr>
          <p:cNvPr name="Group 6" id="6"/>
          <p:cNvGrpSpPr/>
          <p:nvPr/>
        </p:nvGrpSpPr>
        <p:grpSpPr>
          <a:xfrm rot="0">
            <a:off x="1725025" y="4312558"/>
            <a:ext cx="17951006" cy="26956"/>
            <a:chOff x="0" y="0"/>
            <a:chExt cx="23934674" cy="35941"/>
          </a:xfrm>
        </p:grpSpPr>
        <p:sp>
          <p:nvSpPr>
            <p:cNvPr name="Freeform 7" id="7"/>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DCE3EE"/>
            </a:solidFill>
          </p:spPr>
        </p:sp>
      </p:grpSp>
      <p:sp>
        <p:nvSpPr>
          <p:cNvPr name="TextBox 8" id="8"/>
          <p:cNvSpPr txBox="true"/>
          <p:nvPr/>
        </p:nvSpPr>
        <p:spPr>
          <a:xfrm rot="0">
            <a:off x="1750419" y="3519830"/>
            <a:ext cx="628936" cy="470840"/>
          </a:xfrm>
          <a:prstGeom prst="rect">
            <a:avLst/>
          </a:prstGeom>
        </p:spPr>
        <p:txBody>
          <a:bodyPr anchor="t" rtlCol="false" tIns="0" lIns="0" bIns="0" rIns="0">
            <a:spAutoFit/>
          </a:bodyPr>
          <a:lstStyle/>
          <a:p>
            <a:pPr algn="l">
              <a:lnSpc>
                <a:spcPts val="3310"/>
              </a:lnSpc>
            </a:pPr>
            <a:r>
              <a:rPr lang="en-US" sz="2759" spc="387">
                <a:solidFill>
                  <a:srgbClr val="1546E0"/>
                </a:solidFill>
                <a:latin typeface="Georgia"/>
                <a:ea typeface="Georgia"/>
                <a:cs typeface="Georgia"/>
                <a:sym typeface="Georgia"/>
              </a:rPr>
              <a:t>10</a:t>
            </a:r>
          </a:p>
        </p:txBody>
      </p:sp>
      <p:sp>
        <p:nvSpPr>
          <p:cNvPr name="TextBox 9" id="9"/>
          <p:cNvSpPr txBox="true"/>
          <p:nvPr/>
        </p:nvSpPr>
        <p:spPr>
          <a:xfrm rot="0">
            <a:off x="2591876" y="2953807"/>
            <a:ext cx="5958640" cy="1171632"/>
          </a:xfrm>
          <a:prstGeom prst="rect">
            <a:avLst/>
          </a:prstGeom>
        </p:spPr>
        <p:txBody>
          <a:bodyPr anchor="t" rtlCol="false" tIns="0" lIns="0" bIns="0" rIns="0">
            <a:spAutoFit/>
          </a:bodyPr>
          <a:lstStyle/>
          <a:p>
            <a:pPr algn="l">
              <a:lnSpc>
                <a:spcPts val="7640"/>
              </a:lnSpc>
            </a:pPr>
            <a:r>
              <a:rPr lang="en-US" sz="6366" b="true">
                <a:solidFill>
                  <a:srgbClr val="1B2A44"/>
                </a:solidFill>
                <a:latin typeface="Playfair Display Bold"/>
                <a:ea typeface="Playfair Display Bold"/>
                <a:cs typeface="Playfair Display Bold"/>
                <a:sym typeface="Playfair Display Bold"/>
              </a:rPr>
              <a:t>Team Training</a:t>
            </a:r>
          </a:p>
        </p:txBody>
      </p:sp>
      <p:sp>
        <p:nvSpPr>
          <p:cNvPr name="TextBox 10" id="10"/>
          <p:cNvSpPr txBox="true"/>
          <p:nvPr/>
        </p:nvSpPr>
        <p:spPr>
          <a:xfrm rot="0">
            <a:off x="1750419" y="4751575"/>
            <a:ext cx="18438743" cy="3012577"/>
          </a:xfrm>
          <a:prstGeom prst="rect">
            <a:avLst/>
          </a:prstGeom>
        </p:spPr>
        <p:txBody>
          <a:bodyPr anchor="t" rtlCol="false" tIns="0" lIns="0" bIns="0" rIns="0">
            <a:spAutoFit/>
          </a:bodyPr>
          <a:lstStyle/>
          <a:p>
            <a:pPr algn="l">
              <a:lnSpc>
                <a:spcPts val="5661"/>
              </a:lnSpc>
            </a:pPr>
            <a:r>
              <a:rPr lang="en-US" sz="3395">
                <a:solidFill>
                  <a:srgbClr val="33425C"/>
                </a:solidFill>
                <a:latin typeface="Georgia"/>
                <a:ea typeface="Georgia"/>
                <a:cs typeface="Georgia"/>
                <a:sym typeface="Georgia"/>
              </a:rPr>
              <a:t>The Client’s relevant team members will be trained to use the completed systems — CRM, sales pipeline, customer dashboard, proposal generator, quotation generator, relevant automated workflows and basic system operation. The objective is for the Client’s team to operate the system independently.</a:t>
            </a:r>
          </a:p>
        </p:txBody>
      </p:sp>
      <p:grpSp>
        <p:nvGrpSpPr>
          <p:cNvPr name="Group 11" id="11"/>
          <p:cNvGrpSpPr/>
          <p:nvPr/>
        </p:nvGrpSpPr>
        <p:grpSpPr>
          <a:xfrm rot="0">
            <a:off x="1711547" y="8207331"/>
            <a:ext cx="17977961" cy="3800437"/>
            <a:chOff x="0" y="0"/>
            <a:chExt cx="23970615" cy="5067249"/>
          </a:xfrm>
        </p:grpSpPr>
        <p:sp>
          <p:nvSpPr>
            <p:cNvPr name="Freeform 12" id="12"/>
            <p:cNvSpPr/>
            <p:nvPr/>
          </p:nvSpPr>
          <p:spPr>
            <a:xfrm flipH="false" flipV="false" rot="0">
              <a:off x="17907" y="17907"/>
              <a:ext cx="23934801" cy="5031359"/>
            </a:xfrm>
            <a:custGeom>
              <a:avLst/>
              <a:gdLst/>
              <a:ahLst/>
              <a:cxnLst/>
              <a:rect r="r" b="b" t="t" l="l"/>
              <a:pathLst>
                <a:path h="5031359" w="23934801">
                  <a:moveTo>
                    <a:pt x="0" y="0"/>
                  </a:moveTo>
                  <a:lnTo>
                    <a:pt x="23934801" y="0"/>
                  </a:lnTo>
                  <a:lnTo>
                    <a:pt x="23934801" y="5031359"/>
                  </a:lnTo>
                  <a:lnTo>
                    <a:pt x="0" y="5031359"/>
                  </a:lnTo>
                  <a:close/>
                </a:path>
              </a:pathLst>
            </a:custGeom>
            <a:solidFill>
              <a:srgbClr val="F7FAFC"/>
            </a:solidFill>
          </p:spPr>
        </p:sp>
        <p:sp>
          <p:nvSpPr>
            <p:cNvPr name="Freeform 13" id="13"/>
            <p:cNvSpPr/>
            <p:nvPr/>
          </p:nvSpPr>
          <p:spPr>
            <a:xfrm flipH="false" flipV="false" rot="0">
              <a:off x="0" y="0"/>
              <a:ext cx="23970616" cy="5067174"/>
            </a:xfrm>
            <a:custGeom>
              <a:avLst/>
              <a:gdLst/>
              <a:ahLst/>
              <a:cxnLst/>
              <a:rect r="r" b="b" t="t" l="l"/>
              <a:pathLst>
                <a:path h="5067174" w="23970616">
                  <a:moveTo>
                    <a:pt x="17907" y="0"/>
                  </a:moveTo>
                  <a:lnTo>
                    <a:pt x="23952708" y="0"/>
                  </a:lnTo>
                  <a:cubicBezTo>
                    <a:pt x="23962615" y="0"/>
                    <a:pt x="23970616" y="8001"/>
                    <a:pt x="23970616" y="17907"/>
                  </a:cubicBezTo>
                  <a:lnTo>
                    <a:pt x="23970616" y="5049266"/>
                  </a:lnTo>
                  <a:cubicBezTo>
                    <a:pt x="23970616" y="5059172"/>
                    <a:pt x="23962615" y="5067173"/>
                    <a:pt x="23952708" y="5067173"/>
                  </a:cubicBezTo>
                  <a:lnTo>
                    <a:pt x="17907" y="5067173"/>
                  </a:lnTo>
                  <a:cubicBezTo>
                    <a:pt x="8001" y="5067300"/>
                    <a:pt x="0" y="5059172"/>
                    <a:pt x="0" y="5049266"/>
                  </a:cubicBezTo>
                  <a:lnTo>
                    <a:pt x="0" y="17907"/>
                  </a:lnTo>
                  <a:cubicBezTo>
                    <a:pt x="0" y="8001"/>
                    <a:pt x="8001" y="0"/>
                    <a:pt x="17907" y="0"/>
                  </a:cubicBezTo>
                  <a:moveTo>
                    <a:pt x="17907" y="35941"/>
                  </a:moveTo>
                  <a:lnTo>
                    <a:pt x="17907" y="17907"/>
                  </a:lnTo>
                  <a:lnTo>
                    <a:pt x="35941" y="17907"/>
                  </a:lnTo>
                  <a:lnTo>
                    <a:pt x="35941" y="5049266"/>
                  </a:lnTo>
                  <a:lnTo>
                    <a:pt x="17907" y="5049266"/>
                  </a:lnTo>
                  <a:lnTo>
                    <a:pt x="17907" y="5031359"/>
                  </a:lnTo>
                  <a:lnTo>
                    <a:pt x="23952708" y="5031359"/>
                  </a:lnTo>
                  <a:lnTo>
                    <a:pt x="23952708" y="5049266"/>
                  </a:lnTo>
                  <a:lnTo>
                    <a:pt x="23934801" y="5049266"/>
                  </a:lnTo>
                  <a:lnTo>
                    <a:pt x="23934801" y="17907"/>
                  </a:lnTo>
                  <a:lnTo>
                    <a:pt x="23952708" y="17907"/>
                  </a:lnTo>
                  <a:lnTo>
                    <a:pt x="23952708" y="35941"/>
                  </a:lnTo>
                  <a:lnTo>
                    <a:pt x="17907" y="35941"/>
                  </a:lnTo>
                  <a:close/>
                </a:path>
              </a:pathLst>
            </a:custGeom>
            <a:solidFill>
              <a:srgbClr val="C9D6E8"/>
            </a:solidFill>
          </p:spPr>
        </p:sp>
      </p:grpSp>
      <p:sp>
        <p:nvSpPr>
          <p:cNvPr name="TextBox 14" id="14"/>
          <p:cNvSpPr txBox="true"/>
          <p:nvPr/>
        </p:nvSpPr>
        <p:spPr>
          <a:xfrm rot="0">
            <a:off x="2424255" y="8856612"/>
            <a:ext cx="18212867" cy="389982"/>
          </a:xfrm>
          <a:prstGeom prst="rect">
            <a:avLst/>
          </a:prstGeom>
        </p:spPr>
        <p:txBody>
          <a:bodyPr anchor="t" rtlCol="false" tIns="0" lIns="0" bIns="0" rIns="0">
            <a:spAutoFit/>
          </a:bodyPr>
          <a:lstStyle/>
          <a:p>
            <a:pPr algn="l">
              <a:lnSpc>
                <a:spcPts val="2421"/>
              </a:lnSpc>
            </a:pPr>
            <a:r>
              <a:rPr lang="en-US" sz="2017" spc="322">
                <a:solidFill>
                  <a:srgbClr val="1546E0"/>
                </a:solidFill>
                <a:latin typeface="Georgia"/>
                <a:ea typeface="Georgia"/>
                <a:cs typeface="Georgia"/>
                <a:sym typeface="Georgia"/>
              </a:rPr>
              <a:t>IMPORTANT</a:t>
            </a:r>
          </a:p>
        </p:txBody>
      </p:sp>
      <p:sp>
        <p:nvSpPr>
          <p:cNvPr name="TextBox 15" id="15"/>
          <p:cNvSpPr txBox="true"/>
          <p:nvPr/>
        </p:nvSpPr>
        <p:spPr>
          <a:xfrm rot="0">
            <a:off x="2424255" y="9335291"/>
            <a:ext cx="17050636" cy="2121484"/>
          </a:xfrm>
          <a:prstGeom prst="rect">
            <a:avLst/>
          </a:prstGeom>
        </p:spPr>
        <p:txBody>
          <a:bodyPr anchor="t" rtlCol="false" tIns="0" lIns="0" bIns="0" rIns="0">
            <a:spAutoFit/>
          </a:bodyPr>
          <a:lstStyle/>
          <a:p>
            <a:pPr algn="l">
              <a:lnSpc>
                <a:spcPts val="5093"/>
              </a:lnSpc>
            </a:pPr>
            <a:r>
              <a:rPr lang="en-US" sz="3183">
                <a:solidFill>
                  <a:srgbClr val="33425C"/>
                </a:solidFill>
                <a:latin typeface="Georgia"/>
                <a:ea typeface="Georgia"/>
                <a:cs typeface="Georgia"/>
                <a:sym typeface="Georgia"/>
              </a:rPr>
              <a:t>The Care Plan does not mean Lumelush operates the Client’s CRM. The Client’s team uses the CRM. Lumelush maintains the underlying technical systems and agreed growth infrastructure under the Care Plan.</a:t>
            </a:r>
          </a:p>
        </p:txBody>
      </p:sp>
      <p:grpSp>
        <p:nvGrpSpPr>
          <p:cNvPr name="Group 16" id="16"/>
          <p:cNvGrpSpPr/>
          <p:nvPr/>
        </p:nvGrpSpPr>
        <p:grpSpPr>
          <a:xfrm rot="0">
            <a:off x="1725025" y="14150569"/>
            <a:ext cx="17951006" cy="26956"/>
            <a:chOff x="0" y="0"/>
            <a:chExt cx="23934674" cy="35941"/>
          </a:xfrm>
        </p:grpSpPr>
        <p:sp>
          <p:nvSpPr>
            <p:cNvPr name="Freeform 17" id="17"/>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DCE3EE"/>
            </a:solidFill>
          </p:spPr>
        </p:sp>
      </p:grpSp>
      <p:sp>
        <p:nvSpPr>
          <p:cNvPr name="TextBox 18" id="18"/>
          <p:cNvSpPr txBox="true"/>
          <p:nvPr/>
        </p:nvSpPr>
        <p:spPr>
          <a:xfrm rot="0">
            <a:off x="1750419" y="13384797"/>
            <a:ext cx="564080" cy="470840"/>
          </a:xfrm>
          <a:prstGeom prst="rect">
            <a:avLst/>
          </a:prstGeom>
        </p:spPr>
        <p:txBody>
          <a:bodyPr anchor="t" rtlCol="false" tIns="0" lIns="0" bIns="0" rIns="0">
            <a:spAutoFit/>
          </a:bodyPr>
          <a:lstStyle/>
          <a:p>
            <a:pPr algn="l">
              <a:lnSpc>
                <a:spcPts val="3310"/>
              </a:lnSpc>
            </a:pPr>
            <a:r>
              <a:rPr lang="en-US" sz="2759" spc="387">
                <a:solidFill>
                  <a:srgbClr val="1546E0"/>
                </a:solidFill>
                <a:latin typeface="Georgia"/>
                <a:ea typeface="Georgia"/>
                <a:cs typeface="Georgia"/>
                <a:sym typeface="Georgia"/>
              </a:rPr>
              <a:t>11</a:t>
            </a:r>
          </a:p>
        </p:txBody>
      </p:sp>
      <p:sp>
        <p:nvSpPr>
          <p:cNvPr name="TextBox 19" id="19"/>
          <p:cNvSpPr txBox="true"/>
          <p:nvPr/>
        </p:nvSpPr>
        <p:spPr>
          <a:xfrm rot="0">
            <a:off x="2527021" y="12926587"/>
            <a:ext cx="8476945" cy="1036863"/>
          </a:xfrm>
          <a:prstGeom prst="rect">
            <a:avLst/>
          </a:prstGeom>
        </p:spPr>
        <p:txBody>
          <a:bodyPr anchor="t" rtlCol="false" tIns="0" lIns="0" bIns="0" rIns="0">
            <a:spAutoFit/>
          </a:bodyPr>
          <a:lstStyle/>
          <a:p>
            <a:pPr algn="l">
              <a:lnSpc>
                <a:spcPts val="6621"/>
              </a:lnSpc>
            </a:pPr>
            <a:r>
              <a:rPr lang="en-US" sz="5518" b="true">
                <a:solidFill>
                  <a:srgbClr val="1B2A44"/>
                </a:solidFill>
                <a:latin typeface="Playfair Display Bold"/>
                <a:ea typeface="Playfair Display Bold"/>
                <a:cs typeface="Playfair Display Bold"/>
                <a:sym typeface="Playfair Display Bold"/>
              </a:rPr>
              <a:t>Outreach Infrastructure</a:t>
            </a:r>
          </a:p>
        </p:txBody>
      </p:sp>
      <p:sp>
        <p:nvSpPr>
          <p:cNvPr name="TextBox 20" id="20"/>
          <p:cNvSpPr txBox="true"/>
          <p:nvPr/>
        </p:nvSpPr>
        <p:spPr>
          <a:xfrm rot="0">
            <a:off x="1750419" y="14599120"/>
            <a:ext cx="18438743" cy="1493653"/>
          </a:xfrm>
          <a:prstGeom prst="rect">
            <a:avLst/>
          </a:prstGeom>
        </p:spPr>
        <p:txBody>
          <a:bodyPr anchor="t" rtlCol="false" tIns="0" lIns="0" bIns="0" rIns="0">
            <a:spAutoFit/>
          </a:bodyPr>
          <a:lstStyle/>
          <a:p>
            <a:pPr algn="l">
              <a:lnSpc>
                <a:spcPts val="5252"/>
              </a:lnSpc>
            </a:pPr>
            <a:r>
              <a:rPr lang="en-US" sz="3183">
                <a:solidFill>
                  <a:srgbClr val="33425C"/>
                </a:solidFill>
                <a:latin typeface="Georgia"/>
                <a:ea typeface="Georgia"/>
                <a:cs typeface="Georgia"/>
                <a:sym typeface="Georgia"/>
              </a:rPr>
              <a:t>The implementation includes the required outreach infrastructure for the agreed commercial outreach system. Included for the first 12 months:</a:t>
            </a:r>
          </a:p>
        </p:txBody>
      </p:sp>
      <p:sp>
        <p:nvSpPr>
          <p:cNvPr name="TextBox 21" id="21"/>
          <p:cNvSpPr txBox="true"/>
          <p:nvPr/>
        </p:nvSpPr>
        <p:spPr>
          <a:xfrm rot="0">
            <a:off x="1750419" y="16425672"/>
            <a:ext cx="470164" cy="745236"/>
          </a:xfrm>
          <a:prstGeom prst="rect">
            <a:avLst/>
          </a:prstGeom>
        </p:spPr>
        <p:txBody>
          <a:bodyPr anchor="t" rtlCol="false" tIns="0" lIns="0" bIns="0" rIns="0">
            <a:spAutoFit/>
          </a:bodyPr>
          <a:lstStyle/>
          <a:p>
            <a:pPr algn="l">
              <a:lnSpc>
                <a:spcPts val="4775"/>
              </a:lnSpc>
            </a:pPr>
            <a:r>
              <a:rPr lang="en-US" sz="3183">
                <a:solidFill>
                  <a:srgbClr val="1546E0"/>
                </a:solidFill>
                <a:latin typeface="Georgia"/>
                <a:ea typeface="Georgia"/>
                <a:cs typeface="Georgia"/>
                <a:sym typeface="Georgia"/>
              </a:rPr>
              <a:t>✓</a:t>
            </a:r>
          </a:p>
        </p:txBody>
      </p:sp>
      <p:sp>
        <p:nvSpPr>
          <p:cNvPr name="TextBox 22" id="22"/>
          <p:cNvSpPr txBox="true"/>
          <p:nvPr/>
        </p:nvSpPr>
        <p:spPr>
          <a:xfrm rot="0">
            <a:off x="2298335" y="16425672"/>
            <a:ext cx="3461156"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Outreach domains</a:t>
            </a:r>
          </a:p>
        </p:txBody>
      </p:sp>
      <p:sp>
        <p:nvSpPr>
          <p:cNvPr name="TextBox 23" id="23"/>
          <p:cNvSpPr txBox="true"/>
          <p:nvPr/>
        </p:nvSpPr>
        <p:spPr>
          <a:xfrm rot="0">
            <a:off x="11157185" y="16425672"/>
            <a:ext cx="470164" cy="745236"/>
          </a:xfrm>
          <a:prstGeom prst="rect">
            <a:avLst/>
          </a:prstGeom>
        </p:spPr>
        <p:txBody>
          <a:bodyPr anchor="t" rtlCol="false" tIns="0" lIns="0" bIns="0" rIns="0">
            <a:spAutoFit/>
          </a:bodyPr>
          <a:lstStyle/>
          <a:p>
            <a:pPr algn="l">
              <a:lnSpc>
                <a:spcPts val="4775"/>
              </a:lnSpc>
            </a:pPr>
            <a:r>
              <a:rPr lang="en-US" sz="3183">
                <a:solidFill>
                  <a:srgbClr val="1546E0"/>
                </a:solidFill>
                <a:latin typeface="Georgia"/>
                <a:ea typeface="Georgia"/>
                <a:cs typeface="Georgia"/>
                <a:sym typeface="Georgia"/>
              </a:rPr>
              <a:t>✓</a:t>
            </a:r>
          </a:p>
        </p:txBody>
      </p:sp>
      <p:sp>
        <p:nvSpPr>
          <p:cNvPr name="TextBox 24" id="24"/>
          <p:cNvSpPr txBox="true"/>
          <p:nvPr/>
        </p:nvSpPr>
        <p:spPr>
          <a:xfrm rot="0">
            <a:off x="11705092" y="16425672"/>
            <a:ext cx="7223817"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Outreach email accounts / mailboxes</a:t>
            </a:r>
          </a:p>
        </p:txBody>
      </p:sp>
      <p:sp>
        <p:nvSpPr>
          <p:cNvPr name="TextBox 25" id="25"/>
          <p:cNvSpPr txBox="true"/>
          <p:nvPr/>
        </p:nvSpPr>
        <p:spPr>
          <a:xfrm rot="0">
            <a:off x="1750419" y="17288180"/>
            <a:ext cx="470164" cy="745236"/>
          </a:xfrm>
          <a:prstGeom prst="rect">
            <a:avLst/>
          </a:prstGeom>
        </p:spPr>
        <p:txBody>
          <a:bodyPr anchor="t" rtlCol="false" tIns="0" lIns="0" bIns="0" rIns="0">
            <a:spAutoFit/>
          </a:bodyPr>
          <a:lstStyle/>
          <a:p>
            <a:pPr algn="l">
              <a:lnSpc>
                <a:spcPts val="4775"/>
              </a:lnSpc>
            </a:pPr>
            <a:r>
              <a:rPr lang="en-US" sz="3183">
                <a:solidFill>
                  <a:srgbClr val="1546E0"/>
                </a:solidFill>
                <a:latin typeface="Georgia"/>
                <a:ea typeface="Georgia"/>
                <a:cs typeface="Georgia"/>
                <a:sym typeface="Georgia"/>
              </a:rPr>
              <a:t>✓</a:t>
            </a:r>
          </a:p>
        </p:txBody>
      </p:sp>
      <p:sp>
        <p:nvSpPr>
          <p:cNvPr name="TextBox 26" id="26"/>
          <p:cNvSpPr txBox="true"/>
          <p:nvPr/>
        </p:nvSpPr>
        <p:spPr>
          <a:xfrm rot="0">
            <a:off x="2298335" y="17288180"/>
            <a:ext cx="6718392"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Email infrastructure configuration</a:t>
            </a:r>
          </a:p>
        </p:txBody>
      </p:sp>
      <p:sp>
        <p:nvSpPr>
          <p:cNvPr name="TextBox 27" id="27"/>
          <p:cNvSpPr txBox="true"/>
          <p:nvPr/>
        </p:nvSpPr>
        <p:spPr>
          <a:xfrm rot="0">
            <a:off x="11157185" y="17288180"/>
            <a:ext cx="470164" cy="745236"/>
          </a:xfrm>
          <a:prstGeom prst="rect">
            <a:avLst/>
          </a:prstGeom>
        </p:spPr>
        <p:txBody>
          <a:bodyPr anchor="t" rtlCol="false" tIns="0" lIns="0" bIns="0" rIns="0">
            <a:spAutoFit/>
          </a:bodyPr>
          <a:lstStyle/>
          <a:p>
            <a:pPr algn="l">
              <a:lnSpc>
                <a:spcPts val="4775"/>
              </a:lnSpc>
            </a:pPr>
            <a:r>
              <a:rPr lang="en-US" sz="3183">
                <a:solidFill>
                  <a:srgbClr val="1546E0"/>
                </a:solidFill>
                <a:latin typeface="Georgia"/>
                <a:ea typeface="Georgia"/>
                <a:cs typeface="Georgia"/>
                <a:sym typeface="Georgia"/>
              </a:rPr>
              <a:t>✓</a:t>
            </a:r>
          </a:p>
        </p:txBody>
      </p:sp>
      <p:sp>
        <p:nvSpPr>
          <p:cNvPr name="TextBox 28" id="28"/>
          <p:cNvSpPr txBox="true"/>
          <p:nvPr/>
        </p:nvSpPr>
        <p:spPr>
          <a:xfrm rot="0">
            <a:off x="11705092" y="17288180"/>
            <a:ext cx="6004046"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Outreach system configuration</a:t>
            </a:r>
          </a:p>
        </p:txBody>
      </p:sp>
      <p:grpSp>
        <p:nvGrpSpPr>
          <p:cNvPr name="Group 29" id="29"/>
          <p:cNvGrpSpPr/>
          <p:nvPr/>
        </p:nvGrpSpPr>
        <p:grpSpPr>
          <a:xfrm rot="0">
            <a:off x="1725025" y="21212375"/>
            <a:ext cx="17951006" cy="26956"/>
            <a:chOff x="0" y="0"/>
            <a:chExt cx="23934674" cy="35941"/>
          </a:xfrm>
        </p:grpSpPr>
        <p:sp>
          <p:nvSpPr>
            <p:cNvPr name="Freeform 30" id="30"/>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E2E8F1"/>
            </a:solidFill>
          </p:spPr>
        </p:sp>
      </p:grpSp>
      <p:grpSp>
        <p:nvGrpSpPr>
          <p:cNvPr name="Group 31" id="31"/>
          <p:cNvGrpSpPr/>
          <p:nvPr/>
        </p:nvGrpSpPr>
        <p:grpSpPr>
          <a:xfrm rot="0">
            <a:off x="1725025" y="18543984"/>
            <a:ext cx="17951006" cy="80858"/>
            <a:chOff x="0" y="0"/>
            <a:chExt cx="23934674" cy="107810"/>
          </a:xfrm>
        </p:grpSpPr>
        <p:sp>
          <p:nvSpPr>
            <p:cNvPr name="Freeform 32" id="32"/>
            <p:cNvSpPr/>
            <p:nvPr/>
          </p:nvSpPr>
          <p:spPr>
            <a:xfrm flipH="false" flipV="false" rot="0">
              <a:off x="0" y="0"/>
              <a:ext cx="23934674" cy="107823"/>
            </a:xfrm>
            <a:custGeom>
              <a:avLst/>
              <a:gdLst/>
              <a:ahLst/>
              <a:cxnLst/>
              <a:rect r="r" b="b" t="t" l="l"/>
              <a:pathLst>
                <a:path h="107823" w="23934674">
                  <a:moveTo>
                    <a:pt x="0" y="0"/>
                  </a:moveTo>
                  <a:lnTo>
                    <a:pt x="23934674" y="0"/>
                  </a:lnTo>
                  <a:lnTo>
                    <a:pt x="23934674" y="107823"/>
                  </a:lnTo>
                  <a:lnTo>
                    <a:pt x="0" y="107823"/>
                  </a:lnTo>
                  <a:close/>
                </a:path>
              </a:pathLst>
            </a:custGeom>
            <a:solidFill>
              <a:srgbClr val="16B3A8"/>
            </a:solidFill>
          </p:spPr>
        </p:sp>
      </p:grpSp>
      <p:grpSp>
        <p:nvGrpSpPr>
          <p:cNvPr name="Group 33" id="33"/>
          <p:cNvGrpSpPr/>
          <p:nvPr/>
        </p:nvGrpSpPr>
        <p:grpSpPr>
          <a:xfrm rot="0">
            <a:off x="1725025" y="18543984"/>
            <a:ext cx="26956" cy="2695346"/>
            <a:chOff x="0" y="0"/>
            <a:chExt cx="35941" cy="3593795"/>
          </a:xfrm>
        </p:grpSpPr>
        <p:sp>
          <p:nvSpPr>
            <p:cNvPr name="Freeform 34" id="34"/>
            <p:cNvSpPr/>
            <p:nvPr/>
          </p:nvSpPr>
          <p:spPr>
            <a:xfrm flipH="false" flipV="false" rot="0">
              <a:off x="0" y="0"/>
              <a:ext cx="35941" cy="3593846"/>
            </a:xfrm>
            <a:custGeom>
              <a:avLst/>
              <a:gdLst/>
              <a:ahLst/>
              <a:cxnLst/>
              <a:rect r="r" b="b" t="t" l="l"/>
              <a:pathLst>
                <a:path h="3593846" w="35941">
                  <a:moveTo>
                    <a:pt x="0" y="0"/>
                  </a:moveTo>
                  <a:lnTo>
                    <a:pt x="35941" y="0"/>
                  </a:lnTo>
                  <a:lnTo>
                    <a:pt x="35941" y="3593846"/>
                  </a:lnTo>
                  <a:lnTo>
                    <a:pt x="0" y="3593846"/>
                  </a:lnTo>
                  <a:close/>
                </a:path>
              </a:pathLst>
            </a:custGeom>
            <a:solidFill>
              <a:srgbClr val="E2E8F1"/>
            </a:solidFill>
          </p:spPr>
        </p:sp>
      </p:grpSp>
      <p:grpSp>
        <p:nvGrpSpPr>
          <p:cNvPr name="Group 35" id="35"/>
          <p:cNvGrpSpPr/>
          <p:nvPr/>
        </p:nvGrpSpPr>
        <p:grpSpPr>
          <a:xfrm rot="0">
            <a:off x="19649075" y="18543984"/>
            <a:ext cx="26956" cy="2695346"/>
            <a:chOff x="0" y="0"/>
            <a:chExt cx="35941" cy="3593795"/>
          </a:xfrm>
        </p:grpSpPr>
        <p:sp>
          <p:nvSpPr>
            <p:cNvPr name="Freeform 36" id="36"/>
            <p:cNvSpPr/>
            <p:nvPr/>
          </p:nvSpPr>
          <p:spPr>
            <a:xfrm flipH="false" flipV="false" rot="0">
              <a:off x="0" y="0"/>
              <a:ext cx="35941" cy="3593846"/>
            </a:xfrm>
            <a:custGeom>
              <a:avLst/>
              <a:gdLst/>
              <a:ahLst/>
              <a:cxnLst/>
              <a:rect r="r" b="b" t="t" l="l"/>
              <a:pathLst>
                <a:path h="3593846" w="35941">
                  <a:moveTo>
                    <a:pt x="0" y="0"/>
                  </a:moveTo>
                  <a:lnTo>
                    <a:pt x="35941" y="0"/>
                  </a:lnTo>
                  <a:lnTo>
                    <a:pt x="35941" y="3593846"/>
                  </a:lnTo>
                  <a:lnTo>
                    <a:pt x="0" y="3593846"/>
                  </a:lnTo>
                  <a:close/>
                </a:path>
              </a:pathLst>
            </a:custGeom>
            <a:solidFill>
              <a:srgbClr val="E2E8F1"/>
            </a:solidFill>
          </p:spPr>
        </p:sp>
      </p:grpSp>
      <p:sp>
        <p:nvSpPr>
          <p:cNvPr name="TextBox 37" id="37"/>
          <p:cNvSpPr txBox="true"/>
          <p:nvPr/>
        </p:nvSpPr>
        <p:spPr>
          <a:xfrm rot="0">
            <a:off x="2424255" y="19341513"/>
            <a:ext cx="3308690" cy="389982"/>
          </a:xfrm>
          <a:prstGeom prst="rect">
            <a:avLst/>
          </a:prstGeom>
        </p:spPr>
        <p:txBody>
          <a:bodyPr anchor="t" rtlCol="false" tIns="0" lIns="0" bIns="0" rIns="0">
            <a:spAutoFit/>
          </a:bodyPr>
          <a:lstStyle/>
          <a:p>
            <a:pPr algn="l">
              <a:lnSpc>
                <a:spcPts val="2421"/>
              </a:lnSpc>
            </a:pPr>
            <a:r>
              <a:rPr lang="en-US" sz="2017" spc="322">
                <a:solidFill>
                  <a:srgbClr val="8494AB"/>
                </a:solidFill>
                <a:latin typeface="Georgia"/>
                <a:ea typeface="Georgia"/>
                <a:cs typeface="Georgia"/>
                <a:sym typeface="Georgia"/>
              </a:rPr>
              <a:t>DESIGNED AROUND</a:t>
            </a:r>
          </a:p>
        </p:txBody>
      </p:sp>
      <p:sp>
        <p:nvSpPr>
          <p:cNvPr name="TextBox 38" id="38"/>
          <p:cNvSpPr txBox="true"/>
          <p:nvPr/>
        </p:nvSpPr>
        <p:spPr>
          <a:xfrm rot="0">
            <a:off x="2424255" y="19809247"/>
            <a:ext cx="18212867" cy="946480"/>
          </a:xfrm>
          <a:prstGeom prst="rect">
            <a:avLst/>
          </a:prstGeom>
        </p:spPr>
        <p:txBody>
          <a:bodyPr anchor="t" rtlCol="false" tIns="0" lIns="0" bIns="0" rIns="0">
            <a:spAutoFit/>
          </a:bodyPr>
          <a:lstStyle/>
          <a:p>
            <a:pPr algn="l">
              <a:lnSpc>
                <a:spcPts val="6112"/>
              </a:lnSpc>
            </a:pPr>
            <a:r>
              <a:rPr lang="en-US" sz="5093">
                <a:solidFill>
                  <a:srgbClr val="1B2A44"/>
                </a:solidFill>
                <a:latin typeface="Playfair Display"/>
                <a:ea typeface="Playfair Display"/>
                <a:cs typeface="Playfair Display"/>
                <a:sym typeface="Playfair Display"/>
              </a:rPr>
              <a:t>Up to 1,000 verified ICP prospects per month</a:t>
            </a:r>
          </a:p>
        </p:txBody>
      </p:sp>
      <p:sp>
        <p:nvSpPr>
          <p:cNvPr name="TextBox 39" id="39"/>
          <p:cNvSpPr txBox="true"/>
          <p:nvPr/>
        </p:nvSpPr>
        <p:spPr>
          <a:xfrm rot="0">
            <a:off x="1750419" y="28014044"/>
            <a:ext cx="18438743" cy="827723"/>
          </a:xfrm>
          <a:prstGeom prst="rect">
            <a:avLst/>
          </a:prstGeom>
        </p:spPr>
        <p:txBody>
          <a:bodyPr anchor="t" rtlCol="false" tIns="0" lIns="0" bIns="0" rIns="0">
            <a:spAutoFit/>
          </a:bodyPr>
          <a:lstStyle/>
          <a:p>
            <a:pPr algn="l">
              <a:lnSpc>
                <a:spcPts val="5093"/>
              </a:lnSpc>
            </a:pPr>
            <a:r>
              <a:rPr lang="en-US" sz="3183" i="true">
                <a:solidFill>
                  <a:srgbClr val="5A6B85"/>
                </a:solidFill>
                <a:latin typeface="Georgia Italics"/>
                <a:ea typeface="Georgia Italics"/>
                <a:cs typeface="Georgia Italics"/>
                <a:sym typeface="Georgia Italics"/>
              </a:rPr>
              <a:t>The initial 12-month period begins from the date the relevant infrastructure is provisioned.</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725025" y="2102368"/>
            <a:ext cx="17951006" cy="26956"/>
            <a:chOff x="0" y="0"/>
            <a:chExt cx="23934674" cy="35941"/>
          </a:xfrm>
        </p:grpSpPr>
        <p:sp>
          <p:nvSpPr>
            <p:cNvPr name="Freeform 3" id="3"/>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E2E8F1"/>
            </a:solidFill>
          </p:spPr>
        </p:sp>
      </p:grpSp>
      <p:sp>
        <p:nvSpPr>
          <p:cNvPr name="TextBox 4" id="4"/>
          <p:cNvSpPr txBox="true"/>
          <p:nvPr/>
        </p:nvSpPr>
        <p:spPr>
          <a:xfrm rot="0">
            <a:off x="1750419" y="1525267"/>
            <a:ext cx="3195828"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LUMELUSH STUDIO</a:t>
            </a:r>
          </a:p>
        </p:txBody>
      </p:sp>
      <p:sp>
        <p:nvSpPr>
          <p:cNvPr name="TextBox 5" id="5"/>
          <p:cNvSpPr txBox="true"/>
          <p:nvPr/>
        </p:nvSpPr>
        <p:spPr>
          <a:xfrm rot="0">
            <a:off x="15847933" y="1525267"/>
            <a:ext cx="4188057"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COMMERCIAL PROPOSAL</a:t>
            </a:r>
          </a:p>
        </p:txBody>
      </p:sp>
      <p:grpSp>
        <p:nvGrpSpPr>
          <p:cNvPr name="Group 6" id="6"/>
          <p:cNvGrpSpPr/>
          <p:nvPr/>
        </p:nvGrpSpPr>
        <p:grpSpPr>
          <a:xfrm rot="0">
            <a:off x="1725025" y="4312558"/>
            <a:ext cx="17951006" cy="26956"/>
            <a:chOff x="0" y="0"/>
            <a:chExt cx="23934674" cy="35941"/>
          </a:xfrm>
        </p:grpSpPr>
        <p:sp>
          <p:nvSpPr>
            <p:cNvPr name="Freeform 7" id="7"/>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DCE3EE"/>
            </a:solidFill>
          </p:spPr>
        </p:sp>
      </p:grpSp>
      <p:sp>
        <p:nvSpPr>
          <p:cNvPr name="TextBox 8" id="8"/>
          <p:cNvSpPr txBox="true"/>
          <p:nvPr/>
        </p:nvSpPr>
        <p:spPr>
          <a:xfrm rot="0">
            <a:off x="1750419" y="3519830"/>
            <a:ext cx="609562" cy="470840"/>
          </a:xfrm>
          <a:prstGeom prst="rect">
            <a:avLst/>
          </a:prstGeom>
        </p:spPr>
        <p:txBody>
          <a:bodyPr anchor="t" rtlCol="false" tIns="0" lIns="0" bIns="0" rIns="0">
            <a:spAutoFit/>
          </a:bodyPr>
          <a:lstStyle/>
          <a:p>
            <a:pPr algn="l">
              <a:lnSpc>
                <a:spcPts val="3310"/>
              </a:lnSpc>
            </a:pPr>
            <a:r>
              <a:rPr lang="en-US" sz="2759" spc="387">
                <a:solidFill>
                  <a:srgbClr val="1546E0"/>
                </a:solidFill>
                <a:latin typeface="Georgia"/>
                <a:ea typeface="Georgia"/>
                <a:cs typeface="Georgia"/>
                <a:sym typeface="Georgia"/>
              </a:rPr>
              <a:t>12</a:t>
            </a:r>
          </a:p>
        </p:txBody>
      </p:sp>
      <p:sp>
        <p:nvSpPr>
          <p:cNvPr name="TextBox 9" id="9"/>
          <p:cNvSpPr txBox="true"/>
          <p:nvPr/>
        </p:nvSpPr>
        <p:spPr>
          <a:xfrm rot="0">
            <a:off x="2572502" y="2953807"/>
            <a:ext cx="11320910" cy="1171632"/>
          </a:xfrm>
          <a:prstGeom prst="rect">
            <a:avLst/>
          </a:prstGeom>
        </p:spPr>
        <p:txBody>
          <a:bodyPr anchor="t" rtlCol="false" tIns="0" lIns="0" bIns="0" rIns="0">
            <a:spAutoFit/>
          </a:bodyPr>
          <a:lstStyle/>
          <a:p>
            <a:pPr algn="l">
              <a:lnSpc>
                <a:spcPts val="7640"/>
              </a:lnSpc>
            </a:pPr>
            <a:r>
              <a:rPr lang="en-US" sz="6366" b="true">
                <a:solidFill>
                  <a:srgbClr val="1B2A44"/>
                </a:solidFill>
                <a:latin typeface="Playfair Display Bold"/>
                <a:ea typeface="Playfair Display Bold"/>
                <a:cs typeface="Playfair Display Bold"/>
                <a:sym typeface="Playfair Display Bold"/>
              </a:rPr>
              <a:t>Implementation Deliverable</a:t>
            </a:r>
          </a:p>
        </p:txBody>
      </p:sp>
      <p:sp>
        <p:nvSpPr>
          <p:cNvPr name="TextBox 10" id="10"/>
          <p:cNvSpPr txBox="true"/>
          <p:nvPr/>
        </p:nvSpPr>
        <p:spPr>
          <a:xfrm rot="0">
            <a:off x="1750419" y="4805486"/>
            <a:ext cx="18438743" cy="910199"/>
          </a:xfrm>
          <a:prstGeom prst="rect">
            <a:avLst/>
          </a:prstGeom>
        </p:spPr>
        <p:txBody>
          <a:bodyPr anchor="t" rtlCol="false" tIns="0" lIns="0" bIns="0" rIns="0">
            <a:spAutoFit/>
          </a:bodyPr>
          <a:lstStyle/>
          <a:p>
            <a:pPr algn="l">
              <a:lnSpc>
                <a:spcPts val="5661"/>
              </a:lnSpc>
            </a:pPr>
            <a:r>
              <a:rPr lang="en-US" sz="3395">
                <a:solidFill>
                  <a:srgbClr val="33425C"/>
                </a:solidFill>
                <a:latin typeface="Georgia"/>
                <a:ea typeface="Georgia"/>
                <a:cs typeface="Georgia"/>
                <a:sym typeface="Georgia"/>
              </a:rPr>
              <a:t>At completion, the Client receives the configured:</a:t>
            </a:r>
          </a:p>
        </p:txBody>
      </p:sp>
      <p:grpSp>
        <p:nvGrpSpPr>
          <p:cNvPr name="Group 11" id="11"/>
          <p:cNvGrpSpPr/>
          <p:nvPr/>
        </p:nvGrpSpPr>
        <p:grpSpPr>
          <a:xfrm rot="0">
            <a:off x="1725025" y="6900091"/>
            <a:ext cx="17951006" cy="26956"/>
            <a:chOff x="0" y="0"/>
            <a:chExt cx="23934674" cy="35941"/>
          </a:xfrm>
        </p:grpSpPr>
        <p:sp>
          <p:nvSpPr>
            <p:cNvPr name="Freeform 12" id="12"/>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E2E8F1"/>
            </a:solidFill>
          </p:spPr>
        </p:sp>
      </p:grpSp>
      <p:sp>
        <p:nvSpPr>
          <p:cNvPr name="TextBox 13" id="13"/>
          <p:cNvSpPr txBox="true"/>
          <p:nvPr/>
        </p:nvSpPr>
        <p:spPr>
          <a:xfrm rot="0">
            <a:off x="1750419" y="6349937"/>
            <a:ext cx="18438743" cy="416938"/>
          </a:xfrm>
          <a:prstGeom prst="rect">
            <a:avLst/>
          </a:prstGeom>
        </p:spPr>
        <p:txBody>
          <a:bodyPr anchor="t" rtlCol="false" tIns="0" lIns="0" bIns="0" rIns="0">
            <a:spAutoFit/>
          </a:bodyPr>
          <a:lstStyle/>
          <a:p>
            <a:pPr algn="l">
              <a:lnSpc>
                <a:spcPts val="2546"/>
              </a:lnSpc>
            </a:pPr>
            <a:r>
              <a:rPr lang="en-US" sz="2122" spc="339">
                <a:solidFill>
                  <a:srgbClr val="16B3A8"/>
                </a:solidFill>
                <a:latin typeface="Georgia"/>
                <a:ea typeface="Georgia"/>
                <a:cs typeface="Georgia"/>
                <a:sym typeface="Georgia"/>
              </a:rPr>
              <a:t>GROWTH SYSTEM</a:t>
            </a:r>
          </a:p>
        </p:txBody>
      </p:sp>
      <p:sp>
        <p:nvSpPr>
          <p:cNvPr name="TextBox 14" id="14"/>
          <p:cNvSpPr txBox="true"/>
          <p:nvPr/>
        </p:nvSpPr>
        <p:spPr>
          <a:xfrm rot="0">
            <a:off x="1750419" y="7060054"/>
            <a:ext cx="18438743" cy="1566615"/>
          </a:xfrm>
          <a:prstGeom prst="rect">
            <a:avLst/>
          </a:prstGeom>
        </p:spPr>
        <p:txBody>
          <a:bodyPr anchor="t" rtlCol="false" tIns="0" lIns="0" bIns="0" rIns="0">
            <a:spAutoFit/>
          </a:bodyPr>
          <a:lstStyle/>
          <a:p>
            <a:pPr algn="l">
              <a:lnSpc>
                <a:spcPts val="5411"/>
              </a:lnSpc>
            </a:pPr>
            <a:r>
              <a:rPr lang="en-US" sz="3183">
                <a:solidFill>
                  <a:srgbClr val="33425C"/>
                </a:solidFill>
                <a:latin typeface="Georgia"/>
                <a:ea typeface="Georgia"/>
                <a:cs typeface="Georgia"/>
                <a:sym typeface="Georgia"/>
              </a:rPr>
              <a:t>Customer growth systems · Commercial outreach system · Email system · WhatsApp system · Campaign structures · Lead-generation system</a:t>
            </a:r>
          </a:p>
        </p:txBody>
      </p:sp>
      <p:grpSp>
        <p:nvGrpSpPr>
          <p:cNvPr name="Group 15" id="15"/>
          <p:cNvGrpSpPr/>
          <p:nvPr/>
        </p:nvGrpSpPr>
        <p:grpSpPr>
          <a:xfrm rot="0">
            <a:off x="1725025" y="9703251"/>
            <a:ext cx="17951006" cy="26956"/>
            <a:chOff x="0" y="0"/>
            <a:chExt cx="23934674" cy="35941"/>
          </a:xfrm>
        </p:grpSpPr>
        <p:sp>
          <p:nvSpPr>
            <p:cNvPr name="Freeform 16" id="16"/>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E2E8F1"/>
            </a:solidFill>
          </p:spPr>
        </p:sp>
      </p:grpSp>
      <p:sp>
        <p:nvSpPr>
          <p:cNvPr name="TextBox 17" id="17"/>
          <p:cNvSpPr txBox="true"/>
          <p:nvPr/>
        </p:nvSpPr>
        <p:spPr>
          <a:xfrm rot="0">
            <a:off x="1750419" y="9153096"/>
            <a:ext cx="18438743" cy="416938"/>
          </a:xfrm>
          <a:prstGeom prst="rect">
            <a:avLst/>
          </a:prstGeom>
        </p:spPr>
        <p:txBody>
          <a:bodyPr anchor="t" rtlCol="false" tIns="0" lIns="0" bIns="0" rIns="0">
            <a:spAutoFit/>
          </a:bodyPr>
          <a:lstStyle/>
          <a:p>
            <a:pPr algn="l">
              <a:lnSpc>
                <a:spcPts val="2546"/>
              </a:lnSpc>
            </a:pPr>
            <a:r>
              <a:rPr lang="en-US" sz="2122" spc="339">
                <a:solidFill>
                  <a:srgbClr val="1546E0"/>
                </a:solidFill>
                <a:latin typeface="Georgia"/>
                <a:ea typeface="Georgia"/>
                <a:cs typeface="Georgia"/>
                <a:sym typeface="Georgia"/>
              </a:rPr>
              <a:t>BUSINESS SYSTEM</a:t>
            </a:r>
          </a:p>
        </p:txBody>
      </p:sp>
      <p:sp>
        <p:nvSpPr>
          <p:cNvPr name="TextBox 18" id="18"/>
          <p:cNvSpPr txBox="true"/>
          <p:nvPr/>
        </p:nvSpPr>
        <p:spPr>
          <a:xfrm rot="0">
            <a:off x="1750419" y="9863214"/>
            <a:ext cx="18438743" cy="1566615"/>
          </a:xfrm>
          <a:prstGeom prst="rect">
            <a:avLst/>
          </a:prstGeom>
        </p:spPr>
        <p:txBody>
          <a:bodyPr anchor="t" rtlCol="false" tIns="0" lIns="0" bIns="0" rIns="0">
            <a:spAutoFit/>
          </a:bodyPr>
          <a:lstStyle/>
          <a:p>
            <a:pPr algn="l">
              <a:lnSpc>
                <a:spcPts val="5411"/>
              </a:lnSpc>
            </a:pPr>
            <a:r>
              <a:rPr lang="en-US" sz="3183">
                <a:solidFill>
                  <a:srgbClr val="33425C"/>
                </a:solidFill>
                <a:latin typeface="Georgia"/>
                <a:ea typeface="Georgia"/>
                <a:cs typeface="Georgia"/>
                <a:sym typeface="Georgia"/>
              </a:rPr>
              <a:t>Custom CRM · Sales pipeline · Customer dashboard · Sales dashboard · AI proposal generator · AI quotation generator · Agreed workflow automations · Relevant integrations</a:t>
            </a:r>
          </a:p>
        </p:txBody>
      </p:sp>
      <p:grpSp>
        <p:nvGrpSpPr>
          <p:cNvPr name="Group 19" id="19"/>
          <p:cNvGrpSpPr/>
          <p:nvPr/>
        </p:nvGrpSpPr>
        <p:grpSpPr>
          <a:xfrm rot="0">
            <a:off x="1725025" y="12506411"/>
            <a:ext cx="17951006" cy="26956"/>
            <a:chOff x="0" y="0"/>
            <a:chExt cx="23934674" cy="35941"/>
          </a:xfrm>
        </p:grpSpPr>
        <p:sp>
          <p:nvSpPr>
            <p:cNvPr name="Freeform 20" id="20"/>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E2E8F1"/>
            </a:solidFill>
          </p:spPr>
        </p:sp>
      </p:grpSp>
      <p:sp>
        <p:nvSpPr>
          <p:cNvPr name="TextBox 21" id="21"/>
          <p:cNvSpPr txBox="true"/>
          <p:nvPr/>
        </p:nvSpPr>
        <p:spPr>
          <a:xfrm rot="0">
            <a:off x="1750419" y="11956266"/>
            <a:ext cx="18438743" cy="416938"/>
          </a:xfrm>
          <a:prstGeom prst="rect">
            <a:avLst/>
          </a:prstGeom>
        </p:spPr>
        <p:txBody>
          <a:bodyPr anchor="t" rtlCol="false" tIns="0" lIns="0" bIns="0" rIns="0">
            <a:spAutoFit/>
          </a:bodyPr>
          <a:lstStyle/>
          <a:p>
            <a:pPr algn="l">
              <a:lnSpc>
                <a:spcPts val="2546"/>
              </a:lnSpc>
            </a:pPr>
            <a:r>
              <a:rPr lang="en-US" sz="2122" spc="339">
                <a:solidFill>
                  <a:srgbClr val="2E7D5B"/>
                </a:solidFill>
                <a:latin typeface="Georgia"/>
                <a:ea typeface="Georgia"/>
                <a:cs typeface="Georgia"/>
                <a:sym typeface="Georgia"/>
              </a:rPr>
              <a:t>FOUNDATION</a:t>
            </a:r>
          </a:p>
        </p:txBody>
      </p:sp>
      <p:sp>
        <p:nvSpPr>
          <p:cNvPr name="TextBox 22" id="22"/>
          <p:cNvSpPr txBox="true"/>
          <p:nvPr/>
        </p:nvSpPr>
        <p:spPr>
          <a:xfrm rot="0">
            <a:off x="1750419" y="12666374"/>
            <a:ext cx="18438743" cy="1566615"/>
          </a:xfrm>
          <a:prstGeom prst="rect">
            <a:avLst/>
          </a:prstGeom>
        </p:spPr>
        <p:txBody>
          <a:bodyPr anchor="t" rtlCol="false" tIns="0" lIns="0" bIns="0" rIns="0">
            <a:spAutoFit/>
          </a:bodyPr>
          <a:lstStyle/>
          <a:p>
            <a:pPr algn="l">
              <a:lnSpc>
                <a:spcPts val="5411"/>
              </a:lnSpc>
            </a:pPr>
            <a:r>
              <a:rPr lang="en-US" sz="3183">
                <a:solidFill>
                  <a:srgbClr val="33425C"/>
                </a:solidFill>
                <a:latin typeface="Georgia"/>
                <a:ea typeface="Georgia"/>
                <a:cs typeface="Georgia"/>
                <a:sym typeface="Georgia"/>
              </a:rPr>
              <a:t>Website / foundation where applicable · Google Business Profile where applicable · SEO / GEO foundation · Lead capture</a:t>
            </a:r>
          </a:p>
        </p:txBody>
      </p:sp>
      <p:grpSp>
        <p:nvGrpSpPr>
          <p:cNvPr name="Group 23" id="23"/>
          <p:cNvGrpSpPr/>
          <p:nvPr/>
        </p:nvGrpSpPr>
        <p:grpSpPr>
          <a:xfrm rot="0">
            <a:off x="1725025" y="15309571"/>
            <a:ext cx="17951006" cy="26956"/>
            <a:chOff x="0" y="0"/>
            <a:chExt cx="23934674" cy="35941"/>
          </a:xfrm>
        </p:grpSpPr>
        <p:sp>
          <p:nvSpPr>
            <p:cNvPr name="Freeform 24" id="24"/>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E2E8F1"/>
            </a:solidFill>
          </p:spPr>
        </p:sp>
      </p:grpSp>
      <p:sp>
        <p:nvSpPr>
          <p:cNvPr name="TextBox 25" id="25"/>
          <p:cNvSpPr txBox="true"/>
          <p:nvPr/>
        </p:nvSpPr>
        <p:spPr>
          <a:xfrm rot="0">
            <a:off x="1750419" y="14759426"/>
            <a:ext cx="18438743" cy="416938"/>
          </a:xfrm>
          <a:prstGeom prst="rect">
            <a:avLst/>
          </a:prstGeom>
        </p:spPr>
        <p:txBody>
          <a:bodyPr anchor="t" rtlCol="false" tIns="0" lIns="0" bIns="0" rIns="0">
            <a:spAutoFit/>
          </a:bodyPr>
          <a:lstStyle/>
          <a:p>
            <a:pPr algn="l">
              <a:lnSpc>
                <a:spcPts val="2546"/>
              </a:lnSpc>
            </a:pPr>
            <a:r>
              <a:rPr lang="en-US" sz="2122" spc="339">
                <a:solidFill>
                  <a:srgbClr val="5A6B85"/>
                </a:solidFill>
                <a:latin typeface="Georgia"/>
                <a:ea typeface="Georgia"/>
                <a:cs typeface="Georgia"/>
                <a:sym typeface="Georgia"/>
              </a:rPr>
              <a:t>HANDOVER</a:t>
            </a:r>
          </a:p>
        </p:txBody>
      </p:sp>
      <p:sp>
        <p:nvSpPr>
          <p:cNvPr name="TextBox 26" id="26"/>
          <p:cNvSpPr txBox="true"/>
          <p:nvPr/>
        </p:nvSpPr>
        <p:spPr>
          <a:xfrm rot="0">
            <a:off x="1750419" y="15469533"/>
            <a:ext cx="18438743" cy="892778"/>
          </a:xfrm>
          <a:prstGeom prst="rect">
            <a:avLst/>
          </a:prstGeom>
        </p:spPr>
        <p:txBody>
          <a:bodyPr anchor="t" rtlCol="false" tIns="0" lIns="0" bIns="0" rIns="0">
            <a:spAutoFit/>
          </a:bodyPr>
          <a:lstStyle/>
          <a:p>
            <a:pPr algn="l">
              <a:lnSpc>
                <a:spcPts val="5411"/>
              </a:lnSpc>
            </a:pPr>
            <a:r>
              <a:rPr lang="en-US" sz="3183">
                <a:solidFill>
                  <a:srgbClr val="33425C"/>
                </a:solidFill>
                <a:latin typeface="Georgia"/>
                <a:ea typeface="Georgia"/>
                <a:cs typeface="Georgia"/>
                <a:sym typeface="Georgia"/>
              </a:rPr>
              <a:t>System access · Team training · Handover information · Basic operating guidance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025" y="2102368"/>
            <a:ext cx="17951006" cy="26956"/>
            <a:chOff x="0" y="0"/>
            <a:chExt cx="23934674" cy="35941"/>
          </a:xfrm>
        </p:grpSpPr>
        <p:sp>
          <p:nvSpPr>
            <p:cNvPr name="Freeform 3" id="3"/>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E2E8F1"/>
            </a:solidFill>
          </p:spPr>
        </p:sp>
      </p:grpSp>
      <p:sp>
        <p:nvSpPr>
          <p:cNvPr name="TextBox 4" id="4"/>
          <p:cNvSpPr txBox="true"/>
          <p:nvPr/>
        </p:nvSpPr>
        <p:spPr>
          <a:xfrm rot="0">
            <a:off x="1750419" y="1525267"/>
            <a:ext cx="3195828"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LUMELUSH STUDIO</a:t>
            </a:r>
          </a:p>
        </p:txBody>
      </p:sp>
      <p:sp>
        <p:nvSpPr>
          <p:cNvPr name="TextBox 5" id="5"/>
          <p:cNvSpPr txBox="true"/>
          <p:nvPr/>
        </p:nvSpPr>
        <p:spPr>
          <a:xfrm rot="0">
            <a:off x="15847933" y="1525267"/>
            <a:ext cx="4188057"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COMMERCIAL PROPOSAL</a:t>
            </a:r>
          </a:p>
        </p:txBody>
      </p:sp>
      <p:grpSp>
        <p:nvGrpSpPr>
          <p:cNvPr name="Group 6" id="6"/>
          <p:cNvGrpSpPr/>
          <p:nvPr/>
        </p:nvGrpSpPr>
        <p:grpSpPr>
          <a:xfrm rot="0">
            <a:off x="1725025" y="4312558"/>
            <a:ext cx="17951006" cy="26956"/>
            <a:chOff x="0" y="0"/>
            <a:chExt cx="23934674" cy="35941"/>
          </a:xfrm>
        </p:grpSpPr>
        <p:sp>
          <p:nvSpPr>
            <p:cNvPr name="Freeform 7" id="7"/>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DCE3EE"/>
            </a:solidFill>
          </p:spPr>
        </p:sp>
      </p:grpSp>
      <p:sp>
        <p:nvSpPr>
          <p:cNvPr name="TextBox 8" id="8"/>
          <p:cNvSpPr txBox="true"/>
          <p:nvPr/>
        </p:nvSpPr>
        <p:spPr>
          <a:xfrm rot="0">
            <a:off x="1750419" y="3519830"/>
            <a:ext cx="607038" cy="470840"/>
          </a:xfrm>
          <a:prstGeom prst="rect">
            <a:avLst/>
          </a:prstGeom>
        </p:spPr>
        <p:txBody>
          <a:bodyPr anchor="t" rtlCol="false" tIns="0" lIns="0" bIns="0" rIns="0">
            <a:spAutoFit/>
          </a:bodyPr>
          <a:lstStyle/>
          <a:p>
            <a:pPr algn="l">
              <a:lnSpc>
                <a:spcPts val="3310"/>
              </a:lnSpc>
            </a:pPr>
            <a:r>
              <a:rPr lang="en-US" sz="2759" spc="387">
                <a:solidFill>
                  <a:srgbClr val="1546E0"/>
                </a:solidFill>
                <a:latin typeface="Georgia"/>
                <a:ea typeface="Georgia"/>
                <a:cs typeface="Georgia"/>
                <a:sym typeface="Georgia"/>
              </a:rPr>
              <a:t>13</a:t>
            </a:r>
          </a:p>
        </p:txBody>
      </p:sp>
      <p:sp>
        <p:nvSpPr>
          <p:cNvPr name="TextBox 9" id="9"/>
          <p:cNvSpPr txBox="true"/>
          <p:nvPr/>
        </p:nvSpPr>
        <p:spPr>
          <a:xfrm rot="0">
            <a:off x="2569978" y="2953807"/>
            <a:ext cx="10334625" cy="1171632"/>
          </a:xfrm>
          <a:prstGeom prst="rect">
            <a:avLst/>
          </a:prstGeom>
        </p:spPr>
        <p:txBody>
          <a:bodyPr anchor="t" rtlCol="false" tIns="0" lIns="0" bIns="0" rIns="0">
            <a:spAutoFit/>
          </a:bodyPr>
          <a:lstStyle/>
          <a:p>
            <a:pPr algn="l">
              <a:lnSpc>
                <a:spcPts val="7640"/>
              </a:lnSpc>
            </a:pPr>
            <a:r>
              <a:rPr lang="en-US" sz="6366" b="true">
                <a:solidFill>
                  <a:srgbClr val="1B2A44"/>
                </a:solidFill>
                <a:latin typeface="Playfair Display Bold"/>
                <a:ea typeface="Playfair Display Bold"/>
                <a:cs typeface="Playfair Display Bold"/>
                <a:sym typeface="Playfair Display Bold"/>
              </a:rPr>
              <a:t>Implementation Timeline</a:t>
            </a:r>
          </a:p>
        </p:txBody>
      </p:sp>
      <p:sp>
        <p:nvSpPr>
          <p:cNvPr name="TextBox 10" id="10"/>
          <p:cNvSpPr txBox="true"/>
          <p:nvPr/>
        </p:nvSpPr>
        <p:spPr>
          <a:xfrm rot="0">
            <a:off x="1750419" y="4571009"/>
            <a:ext cx="19695309" cy="470840"/>
          </a:xfrm>
          <a:prstGeom prst="rect">
            <a:avLst/>
          </a:prstGeom>
        </p:spPr>
        <p:txBody>
          <a:bodyPr anchor="t" rtlCol="false" tIns="0" lIns="0" bIns="0" rIns="0">
            <a:spAutoFit/>
          </a:bodyPr>
          <a:lstStyle/>
          <a:p>
            <a:pPr algn="l">
              <a:lnSpc>
                <a:spcPts val="3310"/>
              </a:lnSpc>
            </a:pPr>
            <a:r>
              <a:rPr lang="en-US" sz="2759">
                <a:solidFill>
                  <a:srgbClr val="2E7D5B"/>
                </a:solidFill>
                <a:latin typeface="Georgia"/>
                <a:ea typeface="Georgia"/>
                <a:cs typeface="Georgia"/>
                <a:sym typeface="Georgia"/>
              </a:rPr>
              <a:t>Estimated: 6–8 weeks</a:t>
            </a:r>
          </a:p>
        </p:txBody>
      </p:sp>
      <p:grpSp>
        <p:nvGrpSpPr>
          <p:cNvPr name="Group 11" id="11"/>
          <p:cNvGrpSpPr/>
          <p:nvPr/>
        </p:nvGrpSpPr>
        <p:grpSpPr>
          <a:xfrm rot="0">
            <a:off x="1725025" y="6495783"/>
            <a:ext cx="3234414" cy="40434"/>
            <a:chOff x="0" y="0"/>
            <a:chExt cx="4312552" cy="53912"/>
          </a:xfrm>
        </p:grpSpPr>
        <p:sp>
          <p:nvSpPr>
            <p:cNvPr name="Freeform 12" id="12"/>
            <p:cNvSpPr/>
            <p:nvPr/>
          </p:nvSpPr>
          <p:spPr>
            <a:xfrm flipH="false" flipV="false" rot="0">
              <a:off x="0" y="0"/>
              <a:ext cx="4312539" cy="53848"/>
            </a:xfrm>
            <a:custGeom>
              <a:avLst/>
              <a:gdLst/>
              <a:ahLst/>
              <a:cxnLst/>
              <a:rect r="r" b="b" t="t" l="l"/>
              <a:pathLst>
                <a:path h="53848" w="4312539">
                  <a:moveTo>
                    <a:pt x="0" y="0"/>
                  </a:moveTo>
                  <a:lnTo>
                    <a:pt x="4312539" y="0"/>
                  </a:lnTo>
                  <a:lnTo>
                    <a:pt x="4312539" y="53848"/>
                  </a:lnTo>
                  <a:lnTo>
                    <a:pt x="0" y="53848"/>
                  </a:lnTo>
                  <a:close/>
                </a:path>
              </a:pathLst>
            </a:custGeom>
            <a:solidFill>
              <a:srgbClr val="1B2A44"/>
            </a:solidFill>
          </p:spPr>
        </p:sp>
      </p:grpSp>
      <p:grpSp>
        <p:nvGrpSpPr>
          <p:cNvPr name="Group 13" id="13"/>
          <p:cNvGrpSpPr/>
          <p:nvPr/>
        </p:nvGrpSpPr>
        <p:grpSpPr>
          <a:xfrm rot="0">
            <a:off x="2048466" y="5929760"/>
            <a:ext cx="2803160" cy="404298"/>
            <a:chOff x="0" y="0"/>
            <a:chExt cx="3737546" cy="539064"/>
          </a:xfrm>
        </p:grpSpPr>
        <p:sp>
          <p:nvSpPr>
            <p:cNvPr name="Freeform 14" id="14"/>
            <p:cNvSpPr/>
            <p:nvPr/>
          </p:nvSpPr>
          <p:spPr>
            <a:xfrm flipH="false" flipV="false" rot="0">
              <a:off x="0" y="0"/>
              <a:ext cx="3737547" cy="539069"/>
            </a:xfrm>
            <a:custGeom>
              <a:avLst/>
              <a:gdLst/>
              <a:ahLst/>
              <a:cxnLst/>
              <a:rect r="r" b="b" t="t" l="l"/>
              <a:pathLst>
                <a:path h="539069" w="3737547">
                  <a:moveTo>
                    <a:pt x="0" y="0"/>
                  </a:moveTo>
                  <a:lnTo>
                    <a:pt x="3737547" y="0"/>
                  </a:lnTo>
                  <a:lnTo>
                    <a:pt x="3737547" y="539069"/>
                  </a:lnTo>
                  <a:lnTo>
                    <a:pt x="0" y="539069"/>
                  </a:lnTo>
                  <a:close/>
                </a:path>
              </a:pathLst>
            </a:custGeom>
            <a:blipFill>
              <a:blip r:embed="rId3">
                <a:alphaModFix amt="0"/>
              </a:blip>
              <a:stretch>
                <a:fillRect l="0" t="-85096" r="0" b="-85095"/>
              </a:stretch>
            </a:blipFill>
          </p:spPr>
        </p:sp>
        <p:sp>
          <p:nvSpPr>
            <p:cNvPr name="TextBox 15" id="15"/>
            <p:cNvSpPr txBox="true"/>
            <p:nvPr/>
          </p:nvSpPr>
          <p:spPr>
            <a:xfrm>
              <a:off x="0" y="-9525"/>
              <a:ext cx="3737546" cy="548589"/>
            </a:xfrm>
            <a:prstGeom prst="rect">
              <a:avLst/>
            </a:prstGeom>
          </p:spPr>
          <p:txBody>
            <a:bodyPr anchor="ctr" rtlCol="false" tIns="0" lIns="0" bIns="0" rIns="0"/>
            <a:lstStyle/>
            <a:p>
              <a:pPr algn="l">
                <a:lnSpc>
                  <a:spcPts val="2421"/>
                </a:lnSpc>
              </a:pPr>
              <a:r>
                <a:rPr lang="en-US" b="true" sz="2017" spc="322">
                  <a:solidFill>
                    <a:srgbClr val="8494AB"/>
                  </a:solidFill>
                  <a:latin typeface="Georgia Bold"/>
                  <a:ea typeface="Georgia Bold"/>
                  <a:cs typeface="Georgia Bold"/>
                  <a:sym typeface="Georgia Bold"/>
                </a:rPr>
                <a:t>STAGE</a:t>
              </a:r>
            </a:p>
          </p:txBody>
        </p:sp>
      </p:grpSp>
      <p:grpSp>
        <p:nvGrpSpPr>
          <p:cNvPr name="Group 16" id="16"/>
          <p:cNvGrpSpPr/>
          <p:nvPr/>
        </p:nvGrpSpPr>
        <p:grpSpPr>
          <a:xfrm rot="0">
            <a:off x="4959439" y="6495783"/>
            <a:ext cx="14716592" cy="40434"/>
            <a:chOff x="0" y="0"/>
            <a:chExt cx="19622122" cy="53912"/>
          </a:xfrm>
        </p:grpSpPr>
        <p:sp>
          <p:nvSpPr>
            <p:cNvPr name="Freeform 17" id="17"/>
            <p:cNvSpPr/>
            <p:nvPr/>
          </p:nvSpPr>
          <p:spPr>
            <a:xfrm flipH="false" flipV="false" rot="0">
              <a:off x="0" y="0"/>
              <a:ext cx="19622136" cy="53848"/>
            </a:xfrm>
            <a:custGeom>
              <a:avLst/>
              <a:gdLst/>
              <a:ahLst/>
              <a:cxnLst/>
              <a:rect r="r" b="b" t="t" l="l"/>
              <a:pathLst>
                <a:path h="53848" w="19622136">
                  <a:moveTo>
                    <a:pt x="0" y="0"/>
                  </a:moveTo>
                  <a:lnTo>
                    <a:pt x="19622136" y="0"/>
                  </a:lnTo>
                  <a:lnTo>
                    <a:pt x="19622136" y="53848"/>
                  </a:lnTo>
                  <a:lnTo>
                    <a:pt x="0" y="53848"/>
                  </a:lnTo>
                  <a:close/>
                </a:path>
              </a:pathLst>
            </a:custGeom>
            <a:solidFill>
              <a:srgbClr val="1B2A44"/>
            </a:solidFill>
          </p:spPr>
        </p:sp>
      </p:grpSp>
      <p:grpSp>
        <p:nvGrpSpPr>
          <p:cNvPr name="Group 18" id="18"/>
          <p:cNvGrpSpPr/>
          <p:nvPr/>
        </p:nvGrpSpPr>
        <p:grpSpPr>
          <a:xfrm rot="0">
            <a:off x="5282879" y="5929760"/>
            <a:ext cx="14511214" cy="404298"/>
            <a:chOff x="0" y="0"/>
            <a:chExt cx="19348285" cy="539064"/>
          </a:xfrm>
        </p:grpSpPr>
        <p:sp>
          <p:nvSpPr>
            <p:cNvPr name="Freeform 19" id="19"/>
            <p:cNvSpPr/>
            <p:nvPr/>
          </p:nvSpPr>
          <p:spPr>
            <a:xfrm flipH="false" flipV="false" rot="0">
              <a:off x="0" y="0"/>
              <a:ext cx="19348279" cy="539069"/>
            </a:xfrm>
            <a:custGeom>
              <a:avLst/>
              <a:gdLst/>
              <a:ahLst/>
              <a:cxnLst/>
              <a:rect r="r" b="b" t="t" l="l"/>
              <a:pathLst>
                <a:path h="539069" w="19348279">
                  <a:moveTo>
                    <a:pt x="0" y="0"/>
                  </a:moveTo>
                  <a:lnTo>
                    <a:pt x="19348279" y="0"/>
                  </a:lnTo>
                  <a:lnTo>
                    <a:pt x="19348279" y="539069"/>
                  </a:lnTo>
                  <a:lnTo>
                    <a:pt x="0" y="539069"/>
                  </a:lnTo>
                  <a:close/>
                </a:path>
              </a:pathLst>
            </a:custGeom>
            <a:blipFill>
              <a:blip r:embed="rId3">
                <a:alphaModFix amt="0"/>
              </a:blip>
              <a:stretch>
                <a:fillRect l="0" t="-649357" r="0" b="-649356"/>
              </a:stretch>
            </a:blipFill>
          </p:spPr>
        </p:sp>
        <p:sp>
          <p:nvSpPr>
            <p:cNvPr name="TextBox 20" id="20"/>
            <p:cNvSpPr txBox="true"/>
            <p:nvPr/>
          </p:nvSpPr>
          <p:spPr>
            <a:xfrm>
              <a:off x="0" y="-9525"/>
              <a:ext cx="19348285" cy="548589"/>
            </a:xfrm>
            <a:prstGeom prst="rect">
              <a:avLst/>
            </a:prstGeom>
          </p:spPr>
          <p:txBody>
            <a:bodyPr anchor="ctr" rtlCol="false" tIns="0" lIns="0" bIns="0" rIns="0"/>
            <a:lstStyle/>
            <a:p>
              <a:pPr algn="l">
                <a:lnSpc>
                  <a:spcPts val="2421"/>
                </a:lnSpc>
              </a:pPr>
              <a:r>
                <a:rPr lang="en-US" b="true" sz="2017" spc="322">
                  <a:solidFill>
                    <a:srgbClr val="8494AB"/>
                  </a:solidFill>
                  <a:latin typeface="Georgia Bold"/>
                  <a:ea typeface="Georgia Bold"/>
                  <a:cs typeface="Georgia Bold"/>
                  <a:sym typeface="Georgia Bold"/>
                </a:rPr>
                <a:t>ACTIVITY</a:t>
              </a:r>
            </a:p>
          </p:txBody>
        </p:sp>
      </p:grpSp>
      <p:grpSp>
        <p:nvGrpSpPr>
          <p:cNvPr name="Group 21" id="21"/>
          <p:cNvGrpSpPr/>
          <p:nvPr/>
        </p:nvGrpSpPr>
        <p:grpSpPr>
          <a:xfrm rot="0">
            <a:off x="1725025" y="7681741"/>
            <a:ext cx="3234414" cy="26956"/>
            <a:chOff x="0" y="0"/>
            <a:chExt cx="4312552" cy="35941"/>
          </a:xfrm>
        </p:grpSpPr>
        <p:sp>
          <p:nvSpPr>
            <p:cNvPr name="Freeform 22" id="22"/>
            <p:cNvSpPr/>
            <p:nvPr/>
          </p:nvSpPr>
          <p:spPr>
            <a:xfrm flipH="false" flipV="false" rot="0">
              <a:off x="0" y="0"/>
              <a:ext cx="4312539" cy="35941"/>
            </a:xfrm>
            <a:custGeom>
              <a:avLst/>
              <a:gdLst/>
              <a:ahLst/>
              <a:cxnLst/>
              <a:rect r="r" b="b" t="t" l="l"/>
              <a:pathLst>
                <a:path h="35941" w="4312539">
                  <a:moveTo>
                    <a:pt x="0" y="0"/>
                  </a:moveTo>
                  <a:lnTo>
                    <a:pt x="4312539" y="0"/>
                  </a:lnTo>
                  <a:lnTo>
                    <a:pt x="4312539" y="35941"/>
                  </a:lnTo>
                  <a:lnTo>
                    <a:pt x="0" y="35941"/>
                  </a:lnTo>
                  <a:close/>
                </a:path>
              </a:pathLst>
            </a:custGeom>
            <a:solidFill>
              <a:srgbClr val="E9EEF5"/>
            </a:solidFill>
          </p:spPr>
        </p:sp>
      </p:grpSp>
      <p:grpSp>
        <p:nvGrpSpPr>
          <p:cNvPr name="Group 23" id="23"/>
          <p:cNvGrpSpPr/>
          <p:nvPr/>
        </p:nvGrpSpPr>
        <p:grpSpPr>
          <a:xfrm rot="0">
            <a:off x="2048466" y="6859657"/>
            <a:ext cx="2803160" cy="606447"/>
            <a:chOff x="0" y="0"/>
            <a:chExt cx="3737546" cy="808596"/>
          </a:xfrm>
        </p:grpSpPr>
        <p:sp>
          <p:nvSpPr>
            <p:cNvPr name="Freeform 24" id="24"/>
            <p:cNvSpPr/>
            <p:nvPr/>
          </p:nvSpPr>
          <p:spPr>
            <a:xfrm flipH="false" flipV="false" rot="0">
              <a:off x="0" y="0"/>
              <a:ext cx="3737547" cy="808602"/>
            </a:xfrm>
            <a:custGeom>
              <a:avLst/>
              <a:gdLst/>
              <a:ahLst/>
              <a:cxnLst/>
              <a:rect r="r" b="b" t="t" l="l"/>
              <a:pathLst>
                <a:path h="808602" w="3737547">
                  <a:moveTo>
                    <a:pt x="0" y="0"/>
                  </a:moveTo>
                  <a:lnTo>
                    <a:pt x="3737547" y="0"/>
                  </a:lnTo>
                  <a:lnTo>
                    <a:pt x="3737547" y="808602"/>
                  </a:lnTo>
                  <a:lnTo>
                    <a:pt x="0" y="808602"/>
                  </a:lnTo>
                  <a:close/>
                </a:path>
              </a:pathLst>
            </a:custGeom>
            <a:blipFill>
              <a:blip r:embed="rId3">
                <a:alphaModFix amt="0"/>
              </a:blip>
              <a:stretch>
                <a:fillRect l="0" t="-40064" r="0" b="-40064"/>
              </a:stretch>
            </a:blipFill>
          </p:spPr>
        </p:sp>
        <p:sp>
          <p:nvSpPr>
            <p:cNvPr name="TextBox 25" id="25"/>
            <p:cNvSpPr txBox="true"/>
            <p:nvPr/>
          </p:nvSpPr>
          <p:spPr>
            <a:xfrm>
              <a:off x="0" y="-9525"/>
              <a:ext cx="3737546" cy="818121"/>
            </a:xfrm>
            <a:prstGeom prst="rect">
              <a:avLst/>
            </a:prstGeom>
          </p:spPr>
          <p:txBody>
            <a:bodyPr anchor="ctr" rtlCol="false" tIns="0" lIns="0" bIns="0" rIns="0"/>
            <a:lstStyle/>
            <a:p>
              <a:pPr algn="l">
                <a:lnSpc>
                  <a:spcPts val="3820"/>
                </a:lnSpc>
              </a:pPr>
              <a:r>
                <a:rPr lang="en-US" sz="3183">
                  <a:solidFill>
                    <a:srgbClr val="1546E0"/>
                  </a:solidFill>
                  <a:latin typeface="Georgia"/>
                  <a:ea typeface="Georgia"/>
                  <a:cs typeface="Georgia"/>
                  <a:sym typeface="Georgia"/>
                </a:rPr>
                <a:t>Week 1</a:t>
              </a:r>
            </a:p>
          </p:txBody>
        </p:sp>
      </p:grpSp>
      <p:grpSp>
        <p:nvGrpSpPr>
          <p:cNvPr name="Group 26" id="26"/>
          <p:cNvGrpSpPr/>
          <p:nvPr/>
        </p:nvGrpSpPr>
        <p:grpSpPr>
          <a:xfrm rot="0">
            <a:off x="4959439" y="7681741"/>
            <a:ext cx="14716592" cy="26956"/>
            <a:chOff x="0" y="0"/>
            <a:chExt cx="19622122" cy="35941"/>
          </a:xfrm>
        </p:grpSpPr>
        <p:sp>
          <p:nvSpPr>
            <p:cNvPr name="Freeform 27" id="27"/>
            <p:cNvSpPr/>
            <p:nvPr/>
          </p:nvSpPr>
          <p:spPr>
            <a:xfrm flipH="false" flipV="false" rot="0">
              <a:off x="0" y="0"/>
              <a:ext cx="19622136" cy="35941"/>
            </a:xfrm>
            <a:custGeom>
              <a:avLst/>
              <a:gdLst/>
              <a:ahLst/>
              <a:cxnLst/>
              <a:rect r="r" b="b" t="t" l="l"/>
              <a:pathLst>
                <a:path h="35941" w="19622136">
                  <a:moveTo>
                    <a:pt x="0" y="0"/>
                  </a:moveTo>
                  <a:lnTo>
                    <a:pt x="19622136" y="0"/>
                  </a:lnTo>
                  <a:lnTo>
                    <a:pt x="19622136" y="35941"/>
                  </a:lnTo>
                  <a:lnTo>
                    <a:pt x="0" y="35941"/>
                  </a:lnTo>
                  <a:close/>
                </a:path>
              </a:pathLst>
            </a:custGeom>
            <a:solidFill>
              <a:srgbClr val="E9EEF5"/>
            </a:solidFill>
          </p:spPr>
        </p:sp>
      </p:grpSp>
      <p:grpSp>
        <p:nvGrpSpPr>
          <p:cNvPr name="Group 28" id="28"/>
          <p:cNvGrpSpPr/>
          <p:nvPr/>
        </p:nvGrpSpPr>
        <p:grpSpPr>
          <a:xfrm rot="0">
            <a:off x="5282879" y="6859657"/>
            <a:ext cx="14511214" cy="606447"/>
            <a:chOff x="0" y="0"/>
            <a:chExt cx="19348285" cy="808596"/>
          </a:xfrm>
        </p:grpSpPr>
        <p:sp>
          <p:nvSpPr>
            <p:cNvPr name="Freeform 29" id="29"/>
            <p:cNvSpPr/>
            <p:nvPr/>
          </p:nvSpPr>
          <p:spPr>
            <a:xfrm flipH="false" flipV="false" rot="0">
              <a:off x="0" y="0"/>
              <a:ext cx="19348279" cy="808602"/>
            </a:xfrm>
            <a:custGeom>
              <a:avLst/>
              <a:gdLst/>
              <a:ahLst/>
              <a:cxnLst/>
              <a:rect r="r" b="b" t="t" l="l"/>
              <a:pathLst>
                <a:path h="808602" w="19348279">
                  <a:moveTo>
                    <a:pt x="0" y="0"/>
                  </a:moveTo>
                  <a:lnTo>
                    <a:pt x="19348279" y="0"/>
                  </a:lnTo>
                  <a:lnTo>
                    <a:pt x="19348279" y="808602"/>
                  </a:lnTo>
                  <a:lnTo>
                    <a:pt x="0" y="808602"/>
                  </a:lnTo>
                  <a:close/>
                </a:path>
              </a:pathLst>
            </a:custGeom>
            <a:blipFill>
              <a:blip r:embed="rId3">
                <a:alphaModFix amt="0"/>
              </a:blip>
              <a:stretch>
                <a:fillRect l="0" t="-416239" r="0" b="-416238"/>
              </a:stretch>
            </a:blipFill>
          </p:spPr>
        </p:sp>
        <p:sp>
          <p:nvSpPr>
            <p:cNvPr name="TextBox 30" id="30"/>
            <p:cNvSpPr txBox="true"/>
            <p:nvPr/>
          </p:nvSpPr>
          <p:spPr>
            <a:xfrm>
              <a:off x="0" y="-9525"/>
              <a:ext cx="19348285" cy="818121"/>
            </a:xfrm>
            <a:prstGeom prst="rect">
              <a:avLst/>
            </a:prstGeom>
          </p:spPr>
          <p:txBody>
            <a:bodyPr anchor="ctr" rtlCol="false" tIns="0" lIns="0" bIns="0" rIns="0"/>
            <a:lstStyle/>
            <a:p>
              <a:pPr algn="l">
                <a:lnSpc>
                  <a:spcPts val="3820"/>
                </a:lnSpc>
              </a:pPr>
              <a:r>
                <a:rPr lang="en-US" sz="3183">
                  <a:solidFill>
                    <a:srgbClr val="33425C"/>
                  </a:solidFill>
                  <a:latin typeface="Georgia"/>
                  <a:ea typeface="Georgia"/>
                  <a:cs typeface="Georgia"/>
                  <a:sym typeface="Georgia"/>
                </a:rPr>
                <a:t>Onboarding, business audit and workflow analysis</a:t>
              </a:r>
            </a:p>
          </p:txBody>
        </p:sp>
      </p:grpSp>
      <p:grpSp>
        <p:nvGrpSpPr>
          <p:cNvPr name="Group 31" id="31"/>
          <p:cNvGrpSpPr/>
          <p:nvPr/>
        </p:nvGrpSpPr>
        <p:grpSpPr>
          <a:xfrm rot="0">
            <a:off x="1725025" y="8840734"/>
            <a:ext cx="3234414" cy="26956"/>
            <a:chOff x="0" y="0"/>
            <a:chExt cx="4312552" cy="35941"/>
          </a:xfrm>
        </p:grpSpPr>
        <p:sp>
          <p:nvSpPr>
            <p:cNvPr name="Freeform 32" id="32"/>
            <p:cNvSpPr/>
            <p:nvPr/>
          </p:nvSpPr>
          <p:spPr>
            <a:xfrm flipH="false" flipV="false" rot="0">
              <a:off x="0" y="0"/>
              <a:ext cx="4312539" cy="35941"/>
            </a:xfrm>
            <a:custGeom>
              <a:avLst/>
              <a:gdLst/>
              <a:ahLst/>
              <a:cxnLst/>
              <a:rect r="r" b="b" t="t" l="l"/>
              <a:pathLst>
                <a:path h="35941" w="4312539">
                  <a:moveTo>
                    <a:pt x="0" y="0"/>
                  </a:moveTo>
                  <a:lnTo>
                    <a:pt x="4312539" y="0"/>
                  </a:lnTo>
                  <a:lnTo>
                    <a:pt x="4312539" y="35941"/>
                  </a:lnTo>
                  <a:lnTo>
                    <a:pt x="0" y="35941"/>
                  </a:lnTo>
                  <a:close/>
                </a:path>
              </a:pathLst>
            </a:custGeom>
            <a:solidFill>
              <a:srgbClr val="E9EEF5"/>
            </a:solidFill>
          </p:spPr>
        </p:sp>
      </p:grpSp>
      <p:grpSp>
        <p:nvGrpSpPr>
          <p:cNvPr name="Group 33" id="33"/>
          <p:cNvGrpSpPr/>
          <p:nvPr/>
        </p:nvGrpSpPr>
        <p:grpSpPr>
          <a:xfrm rot="0">
            <a:off x="2048466" y="8032137"/>
            <a:ext cx="2803160" cy="592979"/>
            <a:chOff x="0" y="0"/>
            <a:chExt cx="3737546" cy="790638"/>
          </a:xfrm>
        </p:grpSpPr>
        <p:sp>
          <p:nvSpPr>
            <p:cNvPr name="Freeform 34" id="34"/>
            <p:cNvSpPr/>
            <p:nvPr/>
          </p:nvSpPr>
          <p:spPr>
            <a:xfrm flipH="false" flipV="false" rot="0">
              <a:off x="0" y="0"/>
              <a:ext cx="3737547" cy="790635"/>
            </a:xfrm>
            <a:custGeom>
              <a:avLst/>
              <a:gdLst/>
              <a:ahLst/>
              <a:cxnLst/>
              <a:rect r="r" b="b" t="t" l="l"/>
              <a:pathLst>
                <a:path h="790635" w="3737547">
                  <a:moveTo>
                    <a:pt x="0" y="0"/>
                  </a:moveTo>
                  <a:lnTo>
                    <a:pt x="3737547" y="0"/>
                  </a:lnTo>
                  <a:lnTo>
                    <a:pt x="3737547" y="790635"/>
                  </a:lnTo>
                  <a:lnTo>
                    <a:pt x="0" y="790635"/>
                  </a:lnTo>
                  <a:close/>
                </a:path>
              </a:pathLst>
            </a:custGeom>
            <a:blipFill>
              <a:blip r:embed="rId3">
                <a:alphaModFix amt="0"/>
              </a:blip>
              <a:stretch>
                <a:fillRect l="0" t="-42110" r="0" b="-42111"/>
              </a:stretch>
            </a:blipFill>
          </p:spPr>
        </p:sp>
        <p:sp>
          <p:nvSpPr>
            <p:cNvPr name="TextBox 35" id="35"/>
            <p:cNvSpPr txBox="true"/>
            <p:nvPr/>
          </p:nvSpPr>
          <p:spPr>
            <a:xfrm>
              <a:off x="0" y="-9525"/>
              <a:ext cx="3737546" cy="800163"/>
            </a:xfrm>
            <a:prstGeom prst="rect">
              <a:avLst/>
            </a:prstGeom>
          </p:spPr>
          <p:txBody>
            <a:bodyPr anchor="ctr" rtlCol="false" tIns="0" lIns="0" bIns="0" rIns="0"/>
            <a:lstStyle/>
            <a:p>
              <a:pPr algn="l">
                <a:lnSpc>
                  <a:spcPts val="3820"/>
                </a:lnSpc>
              </a:pPr>
              <a:r>
                <a:rPr lang="en-US" sz="3183">
                  <a:solidFill>
                    <a:srgbClr val="1546E0"/>
                  </a:solidFill>
                  <a:latin typeface="Georgia"/>
                  <a:ea typeface="Georgia"/>
                  <a:cs typeface="Georgia"/>
                  <a:sym typeface="Georgia"/>
                </a:rPr>
                <a:t>Week 2</a:t>
              </a:r>
            </a:p>
          </p:txBody>
        </p:sp>
      </p:grpSp>
      <p:grpSp>
        <p:nvGrpSpPr>
          <p:cNvPr name="Group 36" id="36"/>
          <p:cNvGrpSpPr/>
          <p:nvPr/>
        </p:nvGrpSpPr>
        <p:grpSpPr>
          <a:xfrm rot="0">
            <a:off x="4959439" y="8840734"/>
            <a:ext cx="14716592" cy="26956"/>
            <a:chOff x="0" y="0"/>
            <a:chExt cx="19622122" cy="35941"/>
          </a:xfrm>
        </p:grpSpPr>
        <p:sp>
          <p:nvSpPr>
            <p:cNvPr name="Freeform 37" id="37"/>
            <p:cNvSpPr/>
            <p:nvPr/>
          </p:nvSpPr>
          <p:spPr>
            <a:xfrm flipH="false" flipV="false" rot="0">
              <a:off x="0" y="0"/>
              <a:ext cx="19622136" cy="35941"/>
            </a:xfrm>
            <a:custGeom>
              <a:avLst/>
              <a:gdLst/>
              <a:ahLst/>
              <a:cxnLst/>
              <a:rect r="r" b="b" t="t" l="l"/>
              <a:pathLst>
                <a:path h="35941" w="19622136">
                  <a:moveTo>
                    <a:pt x="0" y="0"/>
                  </a:moveTo>
                  <a:lnTo>
                    <a:pt x="19622136" y="0"/>
                  </a:lnTo>
                  <a:lnTo>
                    <a:pt x="19622136" y="35941"/>
                  </a:lnTo>
                  <a:lnTo>
                    <a:pt x="0" y="35941"/>
                  </a:lnTo>
                  <a:close/>
                </a:path>
              </a:pathLst>
            </a:custGeom>
            <a:solidFill>
              <a:srgbClr val="E9EEF5"/>
            </a:solidFill>
          </p:spPr>
        </p:sp>
      </p:grpSp>
      <p:grpSp>
        <p:nvGrpSpPr>
          <p:cNvPr name="Group 38" id="38"/>
          <p:cNvGrpSpPr/>
          <p:nvPr/>
        </p:nvGrpSpPr>
        <p:grpSpPr>
          <a:xfrm rot="0">
            <a:off x="5282879" y="8032137"/>
            <a:ext cx="14511214" cy="592979"/>
            <a:chOff x="0" y="0"/>
            <a:chExt cx="19348285" cy="790638"/>
          </a:xfrm>
        </p:grpSpPr>
        <p:sp>
          <p:nvSpPr>
            <p:cNvPr name="Freeform 39" id="39"/>
            <p:cNvSpPr/>
            <p:nvPr/>
          </p:nvSpPr>
          <p:spPr>
            <a:xfrm flipH="false" flipV="false" rot="0">
              <a:off x="0" y="0"/>
              <a:ext cx="19348279" cy="790635"/>
            </a:xfrm>
            <a:custGeom>
              <a:avLst/>
              <a:gdLst/>
              <a:ahLst/>
              <a:cxnLst/>
              <a:rect r="r" b="b" t="t" l="l"/>
              <a:pathLst>
                <a:path h="790635" w="19348279">
                  <a:moveTo>
                    <a:pt x="0" y="0"/>
                  </a:moveTo>
                  <a:lnTo>
                    <a:pt x="19348279" y="0"/>
                  </a:lnTo>
                  <a:lnTo>
                    <a:pt x="19348279" y="790635"/>
                  </a:lnTo>
                  <a:lnTo>
                    <a:pt x="0" y="790635"/>
                  </a:lnTo>
                  <a:close/>
                </a:path>
              </a:pathLst>
            </a:custGeom>
            <a:blipFill>
              <a:blip r:embed="rId3">
                <a:alphaModFix amt="0"/>
              </a:blip>
              <a:stretch>
                <a:fillRect l="0" t="-426834" r="0" b="-426834"/>
              </a:stretch>
            </a:blipFill>
          </p:spPr>
        </p:sp>
        <p:sp>
          <p:nvSpPr>
            <p:cNvPr name="TextBox 40" id="40"/>
            <p:cNvSpPr txBox="true"/>
            <p:nvPr/>
          </p:nvSpPr>
          <p:spPr>
            <a:xfrm>
              <a:off x="0" y="-9525"/>
              <a:ext cx="19348285" cy="800163"/>
            </a:xfrm>
            <a:prstGeom prst="rect">
              <a:avLst/>
            </a:prstGeom>
          </p:spPr>
          <p:txBody>
            <a:bodyPr anchor="ctr" rtlCol="false" tIns="0" lIns="0" bIns="0" rIns="0"/>
            <a:lstStyle/>
            <a:p>
              <a:pPr algn="l">
                <a:lnSpc>
                  <a:spcPts val="3820"/>
                </a:lnSpc>
              </a:pPr>
              <a:r>
                <a:rPr lang="en-US" sz="3183">
                  <a:solidFill>
                    <a:srgbClr val="33425C"/>
                  </a:solidFill>
                  <a:latin typeface="Georgia"/>
                  <a:ea typeface="Georgia"/>
                  <a:cs typeface="Georgia"/>
                  <a:sym typeface="Georgia"/>
                </a:rPr>
                <a:t>Growth-system and customer-data setup</a:t>
              </a:r>
            </a:p>
          </p:txBody>
        </p:sp>
      </p:grpSp>
      <p:grpSp>
        <p:nvGrpSpPr>
          <p:cNvPr name="Group 41" id="41"/>
          <p:cNvGrpSpPr/>
          <p:nvPr/>
        </p:nvGrpSpPr>
        <p:grpSpPr>
          <a:xfrm rot="0">
            <a:off x="1725025" y="9999736"/>
            <a:ext cx="3234414" cy="26956"/>
            <a:chOff x="0" y="0"/>
            <a:chExt cx="4312552" cy="35941"/>
          </a:xfrm>
        </p:grpSpPr>
        <p:sp>
          <p:nvSpPr>
            <p:cNvPr name="Freeform 42" id="42"/>
            <p:cNvSpPr/>
            <p:nvPr/>
          </p:nvSpPr>
          <p:spPr>
            <a:xfrm flipH="false" flipV="false" rot="0">
              <a:off x="0" y="0"/>
              <a:ext cx="4312539" cy="35941"/>
            </a:xfrm>
            <a:custGeom>
              <a:avLst/>
              <a:gdLst/>
              <a:ahLst/>
              <a:cxnLst/>
              <a:rect r="r" b="b" t="t" l="l"/>
              <a:pathLst>
                <a:path h="35941" w="4312539">
                  <a:moveTo>
                    <a:pt x="0" y="0"/>
                  </a:moveTo>
                  <a:lnTo>
                    <a:pt x="4312539" y="0"/>
                  </a:lnTo>
                  <a:lnTo>
                    <a:pt x="4312539" y="35941"/>
                  </a:lnTo>
                  <a:lnTo>
                    <a:pt x="0" y="35941"/>
                  </a:lnTo>
                  <a:close/>
                </a:path>
              </a:pathLst>
            </a:custGeom>
            <a:solidFill>
              <a:srgbClr val="E9EEF5"/>
            </a:solidFill>
          </p:spPr>
        </p:sp>
      </p:grpSp>
      <p:grpSp>
        <p:nvGrpSpPr>
          <p:cNvPr name="Group 43" id="43"/>
          <p:cNvGrpSpPr/>
          <p:nvPr/>
        </p:nvGrpSpPr>
        <p:grpSpPr>
          <a:xfrm rot="0">
            <a:off x="2048466" y="9191130"/>
            <a:ext cx="2803160" cy="592979"/>
            <a:chOff x="0" y="0"/>
            <a:chExt cx="3737546" cy="790638"/>
          </a:xfrm>
        </p:grpSpPr>
        <p:sp>
          <p:nvSpPr>
            <p:cNvPr name="Freeform 44" id="44"/>
            <p:cNvSpPr/>
            <p:nvPr/>
          </p:nvSpPr>
          <p:spPr>
            <a:xfrm flipH="false" flipV="false" rot="0">
              <a:off x="0" y="0"/>
              <a:ext cx="3737547" cy="790635"/>
            </a:xfrm>
            <a:custGeom>
              <a:avLst/>
              <a:gdLst/>
              <a:ahLst/>
              <a:cxnLst/>
              <a:rect r="r" b="b" t="t" l="l"/>
              <a:pathLst>
                <a:path h="790635" w="3737547">
                  <a:moveTo>
                    <a:pt x="0" y="0"/>
                  </a:moveTo>
                  <a:lnTo>
                    <a:pt x="3737547" y="0"/>
                  </a:lnTo>
                  <a:lnTo>
                    <a:pt x="3737547" y="790635"/>
                  </a:lnTo>
                  <a:lnTo>
                    <a:pt x="0" y="790635"/>
                  </a:lnTo>
                  <a:close/>
                </a:path>
              </a:pathLst>
            </a:custGeom>
            <a:blipFill>
              <a:blip r:embed="rId3">
                <a:alphaModFix amt="0"/>
              </a:blip>
              <a:stretch>
                <a:fillRect l="0" t="-42110" r="0" b="-42111"/>
              </a:stretch>
            </a:blipFill>
          </p:spPr>
        </p:sp>
        <p:sp>
          <p:nvSpPr>
            <p:cNvPr name="TextBox 45" id="45"/>
            <p:cNvSpPr txBox="true"/>
            <p:nvPr/>
          </p:nvSpPr>
          <p:spPr>
            <a:xfrm>
              <a:off x="0" y="-9525"/>
              <a:ext cx="3737546" cy="800163"/>
            </a:xfrm>
            <a:prstGeom prst="rect">
              <a:avLst/>
            </a:prstGeom>
          </p:spPr>
          <p:txBody>
            <a:bodyPr anchor="ctr" rtlCol="false" tIns="0" lIns="0" bIns="0" rIns="0"/>
            <a:lstStyle/>
            <a:p>
              <a:pPr algn="l">
                <a:lnSpc>
                  <a:spcPts val="3820"/>
                </a:lnSpc>
              </a:pPr>
              <a:r>
                <a:rPr lang="en-US" sz="3183">
                  <a:solidFill>
                    <a:srgbClr val="1546E0"/>
                  </a:solidFill>
                  <a:latin typeface="Georgia"/>
                  <a:ea typeface="Georgia"/>
                  <a:cs typeface="Georgia"/>
                  <a:sym typeface="Georgia"/>
                </a:rPr>
                <a:t>Week 3</a:t>
              </a:r>
            </a:p>
          </p:txBody>
        </p:sp>
      </p:grpSp>
      <p:grpSp>
        <p:nvGrpSpPr>
          <p:cNvPr name="Group 46" id="46"/>
          <p:cNvGrpSpPr/>
          <p:nvPr/>
        </p:nvGrpSpPr>
        <p:grpSpPr>
          <a:xfrm rot="0">
            <a:off x="4959439" y="9999736"/>
            <a:ext cx="14716592" cy="26956"/>
            <a:chOff x="0" y="0"/>
            <a:chExt cx="19622122" cy="35941"/>
          </a:xfrm>
        </p:grpSpPr>
        <p:sp>
          <p:nvSpPr>
            <p:cNvPr name="Freeform 47" id="47"/>
            <p:cNvSpPr/>
            <p:nvPr/>
          </p:nvSpPr>
          <p:spPr>
            <a:xfrm flipH="false" flipV="false" rot="0">
              <a:off x="0" y="0"/>
              <a:ext cx="19622136" cy="35941"/>
            </a:xfrm>
            <a:custGeom>
              <a:avLst/>
              <a:gdLst/>
              <a:ahLst/>
              <a:cxnLst/>
              <a:rect r="r" b="b" t="t" l="l"/>
              <a:pathLst>
                <a:path h="35941" w="19622136">
                  <a:moveTo>
                    <a:pt x="0" y="0"/>
                  </a:moveTo>
                  <a:lnTo>
                    <a:pt x="19622136" y="0"/>
                  </a:lnTo>
                  <a:lnTo>
                    <a:pt x="19622136" y="35941"/>
                  </a:lnTo>
                  <a:lnTo>
                    <a:pt x="0" y="35941"/>
                  </a:lnTo>
                  <a:close/>
                </a:path>
              </a:pathLst>
            </a:custGeom>
            <a:solidFill>
              <a:srgbClr val="E9EEF5"/>
            </a:solidFill>
          </p:spPr>
        </p:sp>
      </p:grpSp>
      <p:grpSp>
        <p:nvGrpSpPr>
          <p:cNvPr name="Group 48" id="48"/>
          <p:cNvGrpSpPr/>
          <p:nvPr/>
        </p:nvGrpSpPr>
        <p:grpSpPr>
          <a:xfrm rot="0">
            <a:off x="5282879" y="9191130"/>
            <a:ext cx="14511214" cy="592979"/>
            <a:chOff x="0" y="0"/>
            <a:chExt cx="19348285" cy="790638"/>
          </a:xfrm>
        </p:grpSpPr>
        <p:sp>
          <p:nvSpPr>
            <p:cNvPr name="Freeform 49" id="49"/>
            <p:cNvSpPr/>
            <p:nvPr/>
          </p:nvSpPr>
          <p:spPr>
            <a:xfrm flipH="false" flipV="false" rot="0">
              <a:off x="0" y="0"/>
              <a:ext cx="19348279" cy="790635"/>
            </a:xfrm>
            <a:custGeom>
              <a:avLst/>
              <a:gdLst/>
              <a:ahLst/>
              <a:cxnLst/>
              <a:rect r="r" b="b" t="t" l="l"/>
              <a:pathLst>
                <a:path h="790635" w="19348279">
                  <a:moveTo>
                    <a:pt x="0" y="0"/>
                  </a:moveTo>
                  <a:lnTo>
                    <a:pt x="19348279" y="0"/>
                  </a:lnTo>
                  <a:lnTo>
                    <a:pt x="19348279" y="790635"/>
                  </a:lnTo>
                  <a:lnTo>
                    <a:pt x="0" y="790635"/>
                  </a:lnTo>
                  <a:close/>
                </a:path>
              </a:pathLst>
            </a:custGeom>
            <a:blipFill>
              <a:blip r:embed="rId3">
                <a:alphaModFix amt="0"/>
              </a:blip>
              <a:stretch>
                <a:fillRect l="0" t="-426834" r="0" b="-426834"/>
              </a:stretch>
            </a:blipFill>
          </p:spPr>
        </p:sp>
        <p:sp>
          <p:nvSpPr>
            <p:cNvPr name="TextBox 50" id="50"/>
            <p:cNvSpPr txBox="true"/>
            <p:nvPr/>
          </p:nvSpPr>
          <p:spPr>
            <a:xfrm>
              <a:off x="0" y="-9525"/>
              <a:ext cx="19348285" cy="800163"/>
            </a:xfrm>
            <a:prstGeom prst="rect">
              <a:avLst/>
            </a:prstGeom>
          </p:spPr>
          <p:txBody>
            <a:bodyPr anchor="ctr" rtlCol="false" tIns="0" lIns="0" bIns="0" rIns="0"/>
            <a:lstStyle/>
            <a:p>
              <a:pPr algn="l">
                <a:lnSpc>
                  <a:spcPts val="3820"/>
                </a:lnSpc>
              </a:pPr>
              <a:r>
                <a:rPr lang="en-US" sz="3183">
                  <a:solidFill>
                    <a:srgbClr val="33425C"/>
                  </a:solidFill>
                  <a:latin typeface="Georgia"/>
                  <a:ea typeface="Georgia"/>
                  <a:cs typeface="Georgia"/>
                  <a:sym typeface="Georgia"/>
                </a:rPr>
                <a:t>WhatsApp, email, ICP and commercial outreach setup</a:t>
              </a:r>
            </a:p>
          </p:txBody>
        </p:sp>
      </p:grpSp>
      <p:grpSp>
        <p:nvGrpSpPr>
          <p:cNvPr name="Group 51" id="51"/>
          <p:cNvGrpSpPr/>
          <p:nvPr/>
        </p:nvGrpSpPr>
        <p:grpSpPr>
          <a:xfrm rot="0">
            <a:off x="1725025" y="11158738"/>
            <a:ext cx="3234414" cy="26956"/>
            <a:chOff x="0" y="0"/>
            <a:chExt cx="4312552" cy="35941"/>
          </a:xfrm>
        </p:grpSpPr>
        <p:sp>
          <p:nvSpPr>
            <p:cNvPr name="Freeform 52" id="52"/>
            <p:cNvSpPr/>
            <p:nvPr/>
          </p:nvSpPr>
          <p:spPr>
            <a:xfrm flipH="false" flipV="false" rot="0">
              <a:off x="0" y="0"/>
              <a:ext cx="4312539" cy="35941"/>
            </a:xfrm>
            <a:custGeom>
              <a:avLst/>
              <a:gdLst/>
              <a:ahLst/>
              <a:cxnLst/>
              <a:rect r="r" b="b" t="t" l="l"/>
              <a:pathLst>
                <a:path h="35941" w="4312539">
                  <a:moveTo>
                    <a:pt x="0" y="0"/>
                  </a:moveTo>
                  <a:lnTo>
                    <a:pt x="4312539" y="0"/>
                  </a:lnTo>
                  <a:lnTo>
                    <a:pt x="4312539" y="35941"/>
                  </a:lnTo>
                  <a:lnTo>
                    <a:pt x="0" y="35941"/>
                  </a:lnTo>
                  <a:close/>
                </a:path>
              </a:pathLst>
            </a:custGeom>
            <a:solidFill>
              <a:srgbClr val="E9EEF5"/>
            </a:solidFill>
          </p:spPr>
        </p:sp>
      </p:grpSp>
      <p:grpSp>
        <p:nvGrpSpPr>
          <p:cNvPr name="Group 53" id="53"/>
          <p:cNvGrpSpPr/>
          <p:nvPr/>
        </p:nvGrpSpPr>
        <p:grpSpPr>
          <a:xfrm rot="0">
            <a:off x="2048466" y="10350132"/>
            <a:ext cx="2803160" cy="592979"/>
            <a:chOff x="0" y="0"/>
            <a:chExt cx="3737546" cy="790638"/>
          </a:xfrm>
        </p:grpSpPr>
        <p:sp>
          <p:nvSpPr>
            <p:cNvPr name="Freeform 54" id="54"/>
            <p:cNvSpPr/>
            <p:nvPr/>
          </p:nvSpPr>
          <p:spPr>
            <a:xfrm flipH="false" flipV="false" rot="0">
              <a:off x="0" y="0"/>
              <a:ext cx="3737547" cy="790635"/>
            </a:xfrm>
            <a:custGeom>
              <a:avLst/>
              <a:gdLst/>
              <a:ahLst/>
              <a:cxnLst/>
              <a:rect r="r" b="b" t="t" l="l"/>
              <a:pathLst>
                <a:path h="790635" w="3737547">
                  <a:moveTo>
                    <a:pt x="0" y="0"/>
                  </a:moveTo>
                  <a:lnTo>
                    <a:pt x="3737547" y="0"/>
                  </a:lnTo>
                  <a:lnTo>
                    <a:pt x="3737547" y="790635"/>
                  </a:lnTo>
                  <a:lnTo>
                    <a:pt x="0" y="790635"/>
                  </a:lnTo>
                  <a:close/>
                </a:path>
              </a:pathLst>
            </a:custGeom>
            <a:blipFill>
              <a:blip r:embed="rId3">
                <a:alphaModFix amt="0"/>
              </a:blip>
              <a:stretch>
                <a:fillRect l="0" t="-42110" r="0" b="-42111"/>
              </a:stretch>
            </a:blipFill>
          </p:spPr>
        </p:sp>
        <p:sp>
          <p:nvSpPr>
            <p:cNvPr name="TextBox 55" id="55"/>
            <p:cNvSpPr txBox="true"/>
            <p:nvPr/>
          </p:nvSpPr>
          <p:spPr>
            <a:xfrm>
              <a:off x="0" y="-9525"/>
              <a:ext cx="3737546" cy="800163"/>
            </a:xfrm>
            <a:prstGeom prst="rect">
              <a:avLst/>
            </a:prstGeom>
          </p:spPr>
          <p:txBody>
            <a:bodyPr anchor="ctr" rtlCol="false" tIns="0" lIns="0" bIns="0" rIns="0"/>
            <a:lstStyle/>
            <a:p>
              <a:pPr algn="l">
                <a:lnSpc>
                  <a:spcPts val="3820"/>
                </a:lnSpc>
              </a:pPr>
              <a:r>
                <a:rPr lang="en-US" sz="3183">
                  <a:solidFill>
                    <a:srgbClr val="16B3A8"/>
                  </a:solidFill>
                  <a:latin typeface="Georgia"/>
                  <a:ea typeface="Georgia"/>
                  <a:cs typeface="Georgia"/>
                  <a:sym typeface="Georgia"/>
                </a:rPr>
                <a:t>Week 4</a:t>
              </a:r>
            </a:p>
          </p:txBody>
        </p:sp>
      </p:grpSp>
      <p:grpSp>
        <p:nvGrpSpPr>
          <p:cNvPr name="Group 56" id="56"/>
          <p:cNvGrpSpPr/>
          <p:nvPr/>
        </p:nvGrpSpPr>
        <p:grpSpPr>
          <a:xfrm rot="0">
            <a:off x="4959439" y="11158738"/>
            <a:ext cx="14716592" cy="26956"/>
            <a:chOff x="0" y="0"/>
            <a:chExt cx="19622122" cy="35941"/>
          </a:xfrm>
        </p:grpSpPr>
        <p:sp>
          <p:nvSpPr>
            <p:cNvPr name="Freeform 57" id="57"/>
            <p:cNvSpPr/>
            <p:nvPr/>
          </p:nvSpPr>
          <p:spPr>
            <a:xfrm flipH="false" flipV="false" rot="0">
              <a:off x="0" y="0"/>
              <a:ext cx="19622136" cy="35941"/>
            </a:xfrm>
            <a:custGeom>
              <a:avLst/>
              <a:gdLst/>
              <a:ahLst/>
              <a:cxnLst/>
              <a:rect r="r" b="b" t="t" l="l"/>
              <a:pathLst>
                <a:path h="35941" w="19622136">
                  <a:moveTo>
                    <a:pt x="0" y="0"/>
                  </a:moveTo>
                  <a:lnTo>
                    <a:pt x="19622136" y="0"/>
                  </a:lnTo>
                  <a:lnTo>
                    <a:pt x="19622136" y="35941"/>
                  </a:lnTo>
                  <a:lnTo>
                    <a:pt x="0" y="35941"/>
                  </a:lnTo>
                  <a:close/>
                </a:path>
              </a:pathLst>
            </a:custGeom>
            <a:solidFill>
              <a:srgbClr val="E9EEF5"/>
            </a:solidFill>
          </p:spPr>
        </p:sp>
      </p:grpSp>
      <p:grpSp>
        <p:nvGrpSpPr>
          <p:cNvPr name="Group 58" id="58"/>
          <p:cNvGrpSpPr/>
          <p:nvPr/>
        </p:nvGrpSpPr>
        <p:grpSpPr>
          <a:xfrm rot="0">
            <a:off x="5282879" y="10350132"/>
            <a:ext cx="14511214" cy="592979"/>
            <a:chOff x="0" y="0"/>
            <a:chExt cx="19348285" cy="790638"/>
          </a:xfrm>
        </p:grpSpPr>
        <p:sp>
          <p:nvSpPr>
            <p:cNvPr name="Freeform 59" id="59"/>
            <p:cNvSpPr/>
            <p:nvPr/>
          </p:nvSpPr>
          <p:spPr>
            <a:xfrm flipH="false" flipV="false" rot="0">
              <a:off x="0" y="0"/>
              <a:ext cx="19348279" cy="790635"/>
            </a:xfrm>
            <a:custGeom>
              <a:avLst/>
              <a:gdLst/>
              <a:ahLst/>
              <a:cxnLst/>
              <a:rect r="r" b="b" t="t" l="l"/>
              <a:pathLst>
                <a:path h="790635" w="19348279">
                  <a:moveTo>
                    <a:pt x="0" y="0"/>
                  </a:moveTo>
                  <a:lnTo>
                    <a:pt x="19348279" y="0"/>
                  </a:lnTo>
                  <a:lnTo>
                    <a:pt x="19348279" y="790635"/>
                  </a:lnTo>
                  <a:lnTo>
                    <a:pt x="0" y="790635"/>
                  </a:lnTo>
                  <a:close/>
                </a:path>
              </a:pathLst>
            </a:custGeom>
            <a:blipFill>
              <a:blip r:embed="rId3">
                <a:alphaModFix amt="0"/>
              </a:blip>
              <a:stretch>
                <a:fillRect l="0" t="-426834" r="0" b="-426834"/>
              </a:stretch>
            </a:blipFill>
          </p:spPr>
        </p:sp>
        <p:sp>
          <p:nvSpPr>
            <p:cNvPr name="TextBox 60" id="60"/>
            <p:cNvSpPr txBox="true"/>
            <p:nvPr/>
          </p:nvSpPr>
          <p:spPr>
            <a:xfrm>
              <a:off x="0" y="-9525"/>
              <a:ext cx="19348285" cy="800163"/>
            </a:xfrm>
            <a:prstGeom prst="rect">
              <a:avLst/>
            </a:prstGeom>
          </p:spPr>
          <p:txBody>
            <a:bodyPr anchor="ctr" rtlCol="false" tIns="0" lIns="0" bIns="0" rIns="0"/>
            <a:lstStyle/>
            <a:p>
              <a:pPr algn="l">
                <a:lnSpc>
                  <a:spcPts val="3820"/>
                </a:lnSpc>
              </a:pPr>
              <a:r>
                <a:rPr lang="en-US" sz="3183">
                  <a:solidFill>
                    <a:srgbClr val="33425C"/>
                  </a:solidFill>
                  <a:latin typeface="Georgia"/>
                  <a:ea typeface="Georgia"/>
                  <a:cs typeface="Georgia"/>
                  <a:sym typeface="Georgia"/>
                </a:rPr>
                <a:t>CRM and sales pipeline</a:t>
              </a:r>
            </a:p>
          </p:txBody>
        </p:sp>
      </p:grpSp>
      <p:grpSp>
        <p:nvGrpSpPr>
          <p:cNvPr name="Group 61" id="61"/>
          <p:cNvGrpSpPr/>
          <p:nvPr/>
        </p:nvGrpSpPr>
        <p:grpSpPr>
          <a:xfrm rot="0">
            <a:off x="1725025" y="12317740"/>
            <a:ext cx="3234414" cy="26956"/>
            <a:chOff x="0" y="0"/>
            <a:chExt cx="4312552" cy="35941"/>
          </a:xfrm>
        </p:grpSpPr>
        <p:sp>
          <p:nvSpPr>
            <p:cNvPr name="Freeform 62" id="62"/>
            <p:cNvSpPr/>
            <p:nvPr/>
          </p:nvSpPr>
          <p:spPr>
            <a:xfrm flipH="false" flipV="false" rot="0">
              <a:off x="0" y="0"/>
              <a:ext cx="4312539" cy="35941"/>
            </a:xfrm>
            <a:custGeom>
              <a:avLst/>
              <a:gdLst/>
              <a:ahLst/>
              <a:cxnLst/>
              <a:rect r="r" b="b" t="t" l="l"/>
              <a:pathLst>
                <a:path h="35941" w="4312539">
                  <a:moveTo>
                    <a:pt x="0" y="0"/>
                  </a:moveTo>
                  <a:lnTo>
                    <a:pt x="4312539" y="0"/>
                  </a:lnTo>
                  <a:lnTo>
                    <a:pt x="4312539" y="35941"/>
                  </a:lnTo>
                  <a:lnTo>
                    <a:pt x="0" y="35941"/>
                  </a:lnTo>
                  <a:close/>
                </a:path>
              </a:pathLst>
            </a:custGeom>
            <a:solidFill>
              <a:srgbClr val="E9EEF5"/>
            </a:solidFill>
          </p:spPr>
        </p:sp>
      </p:grpSp>
      <p:grpSp>
        <p:nvGrpSpPr>
          <p:cNvPr name="Group 63" id="63"/>
          <p:cNvGrpSpPr/>
          <p:nvPr/>
        </p:nvGrpSpPr>
        <p:grpSpPr>
          <a:xfrm rot="0">
            <a:off x="2048466" y="11509134"/>
            <a:ext cx="2803160" cy="592979"/>
            <a:chOff x="0" y="0"/>
            <a:chExt cx="3737546" cy="790638"/>
          </a:xfrm>
        </p:grpSpPr>
        <p:sp>
          <p:nvSpPr>
            <p:cNvPr name="Freeform 64" id="64"/>
            <p:cNvSpPr/>
            <p:nvPr/>
          </p:nvSpPr>
          <p:spPr>
            <a:xfrm flipH="false" flipV="false" rot="0">
              <a:off x="0" y="0"/>
              <a:ext cx="3737547" cy="790635"/>
            </a:xfrm>
            <a:custGeom>
              <a:avLst/>
              <a:gdLst/>
              <a:ahLst/>
              <a:cxnLst/>
              <a:rect r="r" b="b" t="t" l="l"/>
              <a:pathLst>
                <a:path h="790635" w="3737547">
                  <a:moveTo>
                    <a:pt x="0" y="0"/>
                  </a:moveTo>
                  <a:lnTo>
                    <a:pt x="3737547" y="0"/>
                  </a:lnTo>
                  <a:lnTo>
                    <a:pt x="3737547" y="790635"/>
                  </a:lnTo>
                  <a:lnTo>
                    <a:pt x="0" y="790635"/>
                  </a:lnTo>
                  <a:close/>
                </a:path>
              </a:pathLst>
            </a:custGeom>
            <a:blipFill>
              <a:blip r:embed="rId3">
                <a:alphaModFix amt="0"/>
              </a:blip>
              <a:stretch>
                <a:fillRect l="0" t="-42110" r="0" b="-42111"/>
              </a:stretch>
            </a:blipFill>
          </p:spPr>
        </p:sp>
        <p:sp>
          <p:nvSpPr>
            <p:cNvPr name="TextBox 65" id="65"/>
            <p:cNvSpPr txBox="true"/>
            <p:nvPr/>
          </p:nvSpPr>
          <p:spPr>
            <a:xfrm>
              <a:off x="0" y="-9525"/>
              <a:ext cx="3737546" cy="800163"/>
            </a:xfrm>
            <a:prstGeom prst="rect">
              <a:avLst/>
            </a:prstGeom>
          </p:spPr>
          <p:txBody>
            <a:bodyPr anchor="ctr" rtlCol="false" tIns="0" lIns="0" bIns="0" rIns="0"/>
            <a:lstStyle/>
            <a:p>
              <a:pPr algn="l">
                <a:lnSpc>
                  <a:spcPts val="3820"/>
                </a:lnSpc>
              </a:pPr>
              <a:r>
                <a:rPr lang="en-US" sz="3183">
                  <a:solidFill>
                    <a:srgbClr val="16B3A8"/>
                  </a:solidFill>
                  <a:latin typeface="Georgia"/>
                  <a:ea typeface="Georgia"/>
                  <a:cs typeface="Georgia"/>
                  <a:sym typeface="Georgia"/>
                </a:rPr>
                <a:t>Week 5</a:t>
              </a:r>
            </a:p>
          </p:txBody>
        </p:sp>
      </p:grpSp>
      <p:grpSp>
        <p:nvGrpSpPr>
          <p:cNvPr name="Group 66" id="66"/>
          <p:cNvGrpSpPr/>
          <p:nvPr/>
        </p:nvGrpSpPr>
        <p:grpSpPr>
          <a:xfrm rot="0">
            <a:off x="4959439" y="12317740"/>
            <a:ext cx="14716592" cy="26956"/>
            <a:chOff x="0" y="0"/>
            <a:chExt cx="19622122" cy="35941"/>
          </a:xfrm>
        </p:grpSpPr>
        <p:sp>
          <p:nvSpPr>
            <p:cNvPr name="Freeform 67" id="67"/>
            <p:cNvSpPr/>
            <p:nvPr/>
          </p:nvSpPr>
          <p:spPr>
            <a:xfrm flipH="false" flipV="false" rot="0">
              <a:off x="0" y="0"/>
              <a:ext cx="19622136" cy="35941"/>
            </a:xfrm>
            <a:custGeom>
              <a:avLst/>
              <a:gdLst/>
              <a:ahLst/>
              <a:cxnLst/>
              <a:rect r="r" b="b" t="t" l="l"/>
              <a:pathLst>
                <a:path h="35941" w="19622136">
                  <a:moveTo>
                    <a:pt x="0" y="0"/>
                  </a:moveTo>
                  <a:lnTo>
                    <a:pt x="19622136" y="0"/>
                  </a:lnTo>
                  <a:lnTo>
                    <a:pt x="19622136" y="35941"/>
                  </a:lnTo>
                  <a:lnTo>
                    <a:pt x="0" y="35941"/>
                  </a:lnTo>
                  <a:close/>
                </a:path>
              </a:pathLst>
            </a:custGeom>
            <a:solidFill>
              <a:srgbClr val="E9EEF5"/>
            </a:solidFill>
          </p:spPr>
        </p:sp>
      </p:grpSp>
      <p:grpSp>
        <p:nvGrpSpPr>
          <p:cNvPr name="Group 68" id="68"/>
          <p:cNvGrpSpPr/>
          <p:nvPr/>
        </p:nvGrpSpPr>
        <p:grpSpPr>
          <a:xfrm rot="0">
            <a:off x="5282879" y="11509134"/>
            <a:ext cx="14511214" cy="592979"/>
            <a:chOff x="0" y="0"/>
            <a:chExt cx="19348285" cy="790638"/>
          </a:xfrm>
        </p:grpSpPr>
        <p:sp>
          <p:nvSpPr>
            <p:cNvPr name="Freeform 69" id="69"/>
            <p:cNvSpPr/>
            <p:nvPr/>
          </p:nvSpPr>
          <p:spPr>
            <a:xfrm flipH="false" flipV="false" rot="0">
              <a:off x="0" y="0"/>
              <a:ext cx="19348279" cy="790635"/>
            </a:xfrm>
            <a:custGeom>
              <a:avLst/>
              <a:gdLst/>
              <a:ahLst/>
              <a:cxnLst/>
              <a:rect r="r" b="b" t="t" l="l"/>
              <a:pathLst>
                <a:path h="790635" w="19348279">
                  <a:moveTo>
                    <a:pt x="0" y="0"/>
                  </a:moveTo>
                  <a:lnTo>
                    <a:pt x="19348279" y="0"/>
                  </a:lnTo>
                  <a:lnTo>
                    <a:pt x="19348279" y="790635"/>
                  </a:lnTo>
                  <a:lnTo>
                    <a:pt x="0" y="790635"/>
                  </a:lnTo>
                  <a:close/>
                </a:path>
              </a:pathLst>
            </a:custGeom>
            <a:blipFill>
              <a:blip r:embed="rId3">
                <a:alphaModFix amt="0"/>
              </a:blip>
              <a:stretch>
                <a:fillRect l="0" t="-426834" r="0" b="-426834"/>
              </a:stretch>
            </a:blipFill>
          </p:spPr>
        </p:sp>
        <p:sp>
          <p:nvSpPr>
            <p:cNvPr name="TextBox 70" id="70"/>
            <p:cNvSpPr txBox="true"/>
            <p:nvPr/>
          </p:nvSpPr>
          <p:spPr>
            <a:xfrm>
              <a:off x="0" y="-9525"/>
              <a:ext cx="19348285" cy="800163"/>
            </a:xfrm>
            <a:prstGeom prst="rect">
              <a:avLst/>
            </a:prstGeom>
          </p:spPr>
          <p:txBody>
            <a:bodyPr anchor="ctr" rtlCol="false" tIns="0" lIns="0" bIns="0" rIns="0"/>
            <a:lstStyle/>
            <a:p>
              <a:pPr algn="l">
                <a:lnSpc>
                  <a:spcPts val="3820"/>
                </a:lnSpc>
              </a:pPr>
              <a:r>
                <a:rPr lang="en-US" sz="3183">
                  <a:solidFill>
                    <a:srgbClr val="33425C"/>
                  </a:solidFill>
                  <a:latin typeface="Georgia"/>
                  <a:ea typeface="Georgia"/>
                  <a:cs typeface="Georgia"/>
                  <a:sym typeface="Georgia"/>
                </a:rPr>
                <a:t>Dashboards and AI proposal / quotation systems</a:t>
              </a:r>
            </a:p>
          </p:txBody>
        </p:sp>
      </p:grpSp>
      <p:grpSp>
        <p:nvGrpSpPr>
          <p:cNvPr name="Group 71" id="71"/>
          <p:cNvGrpSpPr/>
          <p:nvPr/>
        </p:nvGrpSpPr>
        <p:grpSpPr>
          <a:xfrm rot="0">
            <a:off x="1725025" y="13476732"/>
            <a:ext cx="3234414" cy="26956"/>
            <a:chOff x="0" y="0"/>
            <a:chExt cx="4312552" cy="35941"/>
          </a:xfrm>
        </p:grpSpPr>
        <p:sp>
          <p:nvSpPr>
            <p:cNvPr name="Freeform 72" id="72"/>
            <p:cNvSpPr/>
            <p:nvPr/>
          </p:nvSpPr>
          <p:spPr>
            <a:xfrm flipH="false" flipV="false" rot="0">
              <a:off x="0" y="0"/>
              <a:ext cx="4312539" cy="35941"/>
            </a:xfrm>
            <a:custGeom>
              <a:avLst/>
              <a:gdLst/>
              <a:ahLst/>
              <a:cxnLst/>
              <a:rect r="r" b="b" t="t" l="l"/>
              <a:pathLst>
                <a:path h="35941" w="4312539">
                  <a:moveTo>
                    <a:pt x="0" y="0"/>
                  </a:moveTo>
                  <a:lnTo>
                    <a:pt x="4312539" y="0"/>
                  </a:lnTo>
                  <a:lnTo>
                    <a:pt x="4312539" y="35941"/>
                  </a:lnTo>
                  <a:lnTo>
                    <a:pt x="0" y="35941"/>
                  </a:lnTo>
                  <a:close/>
                </a:path>
              </a:pathLst>
            </a:custGeom>
            <a:solidFill>
              <a:srgbClr val="E9EEF5"/>
            </a:solidFill>
          </p:spPr>
        </p:sp>
      </p:grpSp>
      <p:grpSp>
        <p:nvGrpSpPr>
          <p:cNvPr name="Group 73" id="73"/>
          <p:cNvGrpSpPr/>
          <p:nvPr/>
        </p:nvGrpSpPr>
        <p:grpSpPr>
          <a:xfrm rot="0">
            <a:off x="2048466" y="12668126"/>
            <a:ext cx="2803160" cy="592979"/>
            <a:chOff x="0" y="0"/>
            <a:chExt cx="3737546" cy="790638"/>
          </a:xfrm>
        </p:grpSpPr>
        <p:sp>
          <p:nvSpPr>
            <p:cNvPr name="Freeform 74" id="74"/>
            <p:cNvSpPr/>
            <p:nvPr/>
          </p:nvSpPr>
          <p:spPr>
            <a:xfrm flipH="false" flipV="false" rot="0">
              <a:off x="0" y="0"/>
              <a:ext cx="3737547" cy="790635"/>
            </a:xfrm>
            <a:custGeom>
              <a:avLst/>
              <a:gdLst/>
              <a:ahLst/>
              <a:cxnLst/>
              <a:rect r="r" b="b" t="t" l="l"/>
              <a:pathLst>
                <a:path h="790635" w="3737547">
                  <a:moveTo>
                    <a:pt x="0" y="0"/>
                  </a:moveTo>
                  <a:lnTo>
                    <a:pt x="3737547" y="0"/>
                  </a:lnTo>
                  <a:lnTo>
                    <a:pt x="3737547" y="790635"/>
                  </a:lnTo>
                  <a:lnTo>
                    <a:pt x="0" y="790635"/>
                  </a:lnTo>
                  <a:close/>
                </a:path>
              </a:pathLst>
            </a:custGeom>
            <a:blipFill>
              <a:blip r:embed="rId3">
                <a:alphaModFix amt="0"/>
              </a:blip>
              <a:stretch>
                <a:fillRect l="0" t="-42110" r="0" b="-42111"/>
              </a:stretch>
            </a:blipFill>
          </p:spPr>
        </p:sp>
        <p:sp>
          <p:nvSpPr>
            <p:cNvPr name="TextBox 75" id="75"/>
            <p:cNvSpPr txBox="true"/>
            <p:nvPr/>
          </p:nvSpPr>
          <p:spPr>
            <a:xfrm>
              <a:off x="0" y="-9525"/>
              <a:ext cx="3737546" cy="800163"/>
            </a:xfrm>
            <a:prstGeom prst="rect">
              <a:avLst/>
            </a:prstGeom>
          </p:spPr>
          <p:txBody>
            <a:bodyPr anchor="ctr" rtlCol="false" tIns="0" lIns="0" bIns="0" rIns="0"/>
            <a:lstStyle/>
            <a:p>
              <a:pPr algn="l">
                <a:lnSpc>
                  <a:spcPts val="3820"/>
                </a:lnSpc>
              </a:pPr>
              <a:r>
                <a:rPr lang="en-US" sz="3183">
                  <a:solidFill>
                    <a:srgbClr val="16B3A8"/>
                  </a:solidFill>
                  <a:latin typeface="Georgia"/>
                  <a:ea typeface="Georgia"/>
                  <a:cs typeface="Georgia"/>
                  <a:sym typeface="Georgia"/>
                </a:rPr>
                <a:t>Week 6</a:t>
              </a:r>
            </a:p>
          </p:txBody>
        </p:sp>
      </p:grpSp>
      <p:grpSp>
        <p:nvGrpSpPr>
          <p:cNvPr name="Group 76" id="76"/>
          <p:cNvGrpSpPr/>
          <p:nvPr/>
        </p:nvGrpSpPr>
        <p:grpSpPr>
          <a:xfrm rot="0">
            <a:off x="4959439" y="13476732"/>
            <a:ext cx="14716592" cy="26956"/>
            <a:chOff x="0" y="0"/>
            <a:chExt cx="19622122" cy="35941"/>
          </a:xfrm>
        </p:grpSpPr>
        <p:sp>
          <p:nvSpPr>
            <p:cNvPr name="Freeform 77" id="77"/>
            <p:cNvSpPr/>
            <p:nvPr/>
          </p:nvSpPr>
          <p:spPr>
            <a:xfrm flipH="false" flipV="false" rot="0">
              <a:off x="0" y="0"/>
              <a:ext cx="19622136" cy="35941"/>
            </a:xfrm>
            <a:custGeom>
              <a:avLst/>
              <a:gdLst/>
              <a:ahLst/>
              <a:cxnLst/>
              <a:rect r="r" b="b" t="t" l="l"/>
              <a:pathLst>
                <a:path h="35941" w="19622136">
                  <a:moveTo>
                    <a:pt x="0" y="0"/>
                  </a:moveTo>
                  <a:lnTo>
                    <a:pt x="19622136" y="0"/>
                  </a:lnTo>
                  <a:lnTo>
                    <a:pt x="19622136" y="35941"/>
                  </a:lnTo>
                  <a:lnTo>
                    <a:pt x="0" y="35941"/>
                  </a:lnTo>
                  <a:close/>
                </a:path>
              </a:pathLst>
            </a:custGeom>
            <a:solidFill>
              <a:srgbClr val="E9EEF5"/>
            </a:solidFill>
          </p:spPr>
        </p:sp>
      </p:grpSp>
      <p:grpSp>
        <p:nvGrpSpPr>
          <p:cNvPr name="Group 78" id="78"/>
          <p:cNvGrpSpPr/>
          <p:nvPr/>
        </p:nvGrpSpPr>
        <p:grpSpPr>
          <a:xfrm rot="0">
            <a:off x="5282879" y="12668126"/>
            <a:ext cx="14511214" cy="592979"/>
            <a:chOff x="0" y="0"/>
            <a:chExt cx="19348285" cy="790638"/>
          </a:xfrm>
        </p:grpSpPr>
        <p:sp>
          <p:nvSpPr>
            <p:cNvPr name="Freeform 79" id="79"/>
            <p:cNvSpPr/>
            <p:nvPr/>
          </p:nvSpPr>
          <p:spPr>
            <a:xfrm flipH="false" flipV="false" rot="0">
              <a:off x="0" y="0"/>
              <a:ext cx="19348279" cy="790635"/>
            </a:xfrm>
            <a:custGeom>
              <a:avLst/>
              <a:gdLst/>
              <a:ahLst/>
              <a:cxnLst/>
              <a:rect r="r" b="b" t="t" l="l"/>
              <a:pathLst>
                <a:path h="790635" w="19348279">
                  <a:moveTo>
                    <a:pt x="0" y="0"/>
                  </a:moveTo>
                  <a:lnTo>
                    <a:pt x="19348279" y="0"/>
                  </a:lnTo>
                  <a:lnTo>
                    <a:pt x="19348279" y="790635"/>
                  </a:lnTo>
                  <a:lnTo>
                    <a:pt x="0" y="790635"/>
                  </a:lnTo>
                  <a:close/>
                </a:path>
              </a:pathLst>
            </a:custGeom>
            <a:blipFill>
              <a:blip r:embed="rId3">
                <a:alphaModFix amt="0"/>
              </a:blip>
              <a:stretch>
                <a:fillRect l="0" t="-426834" r="0" b="-426834"/>
              </a:stretch>
            </a:blipFill>
          </p:spPr>
        </p:sp>
        <p:sp>
          <p:nvSpPr>
            <p:cNvPr name="TextBox 80" id="80"/>
            <p:cNvSpPr txBox="true"/>
            <p:nvPr/>
          </p:nvSpPr>
          <p:spPr>
            <a:xfrm>
              <a:off x="0" y="-9525"/>
              <a:ext cx="19348285" cy="800163"/>
            </a:xfrm>
            <a:prstGeom prst="rect">
              <a:avLst/>
            </a:prstGeom>
          </p:spPr>
          <p:txBody>
            <a:bodyPr anchor="ctr" rtlCol="false" tIns="0" lIns="0" bIns="0" rIns="0"/>
            <a:lstStyle/>
            <a:p>
              <a:pPr algn="l">
                <a:lnSpc>
                  <a:spcPts val="3820"/>
                </a:lnSpc>
              </a:pPr>
              <a:r>
                <a:rPr lang="en-US" sz="3183">
                  <a:solidFill>
                    <a:srgbClr val="33425C"/>
                  </a:solidFill>
                  <a:latin typeface="Georgia"/>
                  <a:ea typeface="Georgia"/>
                  <a:cs typeface="Georgia"/>
                  <a:sym typeface="Georgia"/>
                </a:rPr>
                <a:t>Workflow automation and integrations</a:t>
              </a:r>
            </a:p>
          </p:txBody>
        </p:sp>
      </p:grpSp>
      <p:grpSp>
        <p:nvGrpSpPr>
          <p:cNvPr name="Group 81" id="81"/>
          <p:cNvGrpSpPr/>
          <p:nvPr/>
        </p:nvGrpSpPr>
        <p:grpSpPr>
          <a:xfrm rot="0">
            <a:off x="1725025" y="14635734"/>
            <a:ext cx="3234414" cy="26956"/>
            <a:chOff x="0" y="0"/>
            <a:chExt cx="4312552" cy="35941"/>
          </a:xfrm>
        </p:grpSpPr>
        <p:sp>
          <p:nvSpPr>
            <p:cNvPr name="Freeform 82" id="82"/>
            <p:cNvSpPr/>
            <p:nvPr/>
          </p:nvSpPr>
          <p:spPr>
            <a:xfrm flipH="false" flipV="false" rot="0">
              <a:off x="0" y="0"/>
              <a:ext cx="4312539" cy="35941"/>
            </a:xfrm>
            <a:custGeom>
              <a:avLst/>
              <a:gdLst/>
              <a:ahLst/>
              <a:cxnLst/>
              <a:rect r="r" b="b" t="t" l="l"/>
              <a:pathLst>
                <a:path h="35941" w="4312539">
                  <a:moveTo>
                    <a:pt x="0" y="0"/>
                  </a:moveTo>
                  <a:lnTo>
                    <a:pt x="4312539" y="0"/>
                  </a:lnTo>
                  <a:lnTo>
                    <a:pt x="4312539" y="35941"/>
                  </a:lnTo>
                  <a:lnTo>
                    <a:pt x="0" y="35941"/>
                  </a:lnTo>
                  <a:close/>
                </a:path>
              </a:pathLst>
            </a:custGeom>
            <a:solidFill>
              <a:srgbClr val="E9EEF5"/>
            </a:solidFill>
          </p:spPr>
        </p:sp>
      </p:grpSp>
      <p:grpSp>
        <p:nvGrpSpPr>
          <p:cNvPr name="Group 83" id="83"/>
          <p:cNvGrpSpPr/>
          <p:nvPr/>
        </p:nvGrpSpPr>
        <p:grpSpPr>
          <a:xfrm rot="0">
            <a:off x="2048466" y="13827128"/>
            <a:ext cx="2803160" cy="592979"/>
            <a:chOff x="0" y="0"/>
            <a:chExt cx="3737546" cy="790638"/>
          </a:xfrm>
        </p:grpSpPr>
        <p:sp>
          <p:nvSpPr>
            <p:cNvPr name="Freeform 84" id="84"/>
            <p:cNvSpPr/>
            <p:nvPr/>
          </p:nvSpPr>
          <p:spPr>
            <a:xfrm flipH="false" flipV="false" rot="0">
              <a:off x="0" y="0"/>
              <a:ext cx="3737547" cy="790635"/>
            </a:xfrm>
            <a:custGeom>
              <a:avLst/>
              <a:gdLst/>
              <a:ahLst/>
              <a:cxnLst/>
              <a:rect r="r" b="b" t="t" l="l"/>
              <a:pathLst>
                <a:path h="790635" w="3737547">
                  <a:moveTo>
                    <a:pt x="0" y="0"/>
                  </a:moveTo>
                  <a:lnTo>
                    <a:pt x="3737547" y="0"/>
                  </a:lnTo>
                  <a:lnTo>
                    <a:pt x="3737547" y="790635"/>
                  </a:lnTo>
                  <a:lnTo>
                    <a:pt x="0" y="790635"/>
                  </a:lnTo>
                  <a:close/>
                </a:path>
              </a:pathLst>
            </a:custGeom>
            <a:blipFill>
              <a:blip r:embed="rId3">
                <a:alphaModFix amt="0"/>
              </a:blip>
              <a:stretch>
                <a:fillRect l="0" t="-42110" r="0" b="-42111"/>
              </a:stretch>
            </a:blipFill>
          </p:spPr>
        </p:sp>
        <p:sp>
          <p:nvSpPr>
            <p:cNvPr name="TextBox 85" id="85"/>
            <p:cNvSpPr txBox="true"/>
            <p:nvPr/>
          </p:nvSpPr>
          <p:spPr>
            <a:xfrm>
              <a:off x="0" y="-9525"/>
              <a:ext cx="3737546" cy="800163"/>
            </a:xfrm>
            <a:prstGeom prst="rect">
              <a:avLst/>
            </a:prstGeom>
          </p:spPr>
          <p:txBody>
            <a:bodyPr anchor="ctr" rtlCol="false" tIns="0" lIns="0" bIns="0" rIns="0"/>
            <a:lstStyle/>
            <a:p>
              <a:pPr algn="l">
                <a:lnSpc>
                  <a:spcPts val="3820"/>
                </a:lnSpc>
              </a:pPr>
              <a:r>
                <a:rPr lang="en-US" sz="3183">
                  <a:solidFill>
                    <a:srgbClr val="2E7D5B"/>
                  </a:solidFill>
                  <a:latin typeface="Georgia"/>
                  <a:ea typeface="Georgia"/>
                  <a:cs typeface="Georgia"/>
                  <a:sym typeface="Georgia"/>
                </a:rPr>
                <a:t>Week 7</a:t>
              </a:r>
            </a:p>
          </p:txBody>
        </p:sp>
      </p:grpSp>
      <p:grpSp>
        <p:nvGrpSpPr>
          <p:cNvPr name="Group 86" id="86"/>
          <p:cNvGrpSpPr/>
          <p:nvPr/>
        </p:nvGrpSpPr>
        <p:grpSpPr>
          <a:xfrm rot="0">
            <a:off x="4959439" y="14635734"/>
            <a:ext cx="14716592" cy="26956"/>
            <a:chOff x="0" y="0"/>
            <a:chExt cx="19622122" cy="35941"/>
          </a:xfrm>
        </p:grpSpPr>
        <p:sp>
          <p:nvSpPr>
            <p:cNvPr name="Freeform 87" id="87"/>
            <p:cNvSpPr/>
            <p:nvPr/>
          </p:nvSpPr>
          <p:spPr>
            <a:xfrm flipH="false" flipV="false" rot="0">
              <a:off x="0" y="0"/>
              <a:ext cx="19622136" cy="35941"/>
            </a:xfrm>
            <a:custGeom>
              <a:avLst/>
              <a:gdLst/>
              <a:ahLst/>
              <a:cxnLst/>
              <a:rect r="r" b="b" t="t" l="l"/>
              <a:pathLst>
                <a:path h="35941" w="19622136">
                  <a:moveTo>
                    <a:pt x="0" y="0"/>
                  </a:moveTo>
                  <a:lnTo>
                    <a:pt x="19622136" y="0"/>
                  </a:lnTo>
                  <a:lnTo>
                    <a:pt x="19622136" y="35941"/>
                  </a:lnTo>
                  <a:lnTo>
                    <a:pt x="0" y="35941"/>
                  </a:lnTo>
                  <a:close/>
                </a:path>
              </a:pathLst>
            </a:custGeom>
            <a:solidFill>
              <a:srgbClr val="E9EEF5"/>
            </a:solidFill>
          </p:spPr>
        </p:sp>
      </p:grpSp>
      <p:grpSp>
        <p:nvGrpSpPr>
          <p:cNvPr name="Group 88" id="88"/>
          <p:cNvGrpSpPr/>
          <p:nvPr/>
        </p:nvGrpSpPr>
        <p:grpSpPr>
          <a:xfrm rot="0">
            <a:off x="5282879" y="13827128"/>
            <a:ext cx="14511214" cy="592979"/>
            <a:chOff x="0" y="0"/>
            <a:chExt cx="19348285" cy="790638"/>
          </a:xfrm>
        </p:grpSpPr>
        <p:sp>
          <p:nvSpPr>
            <p:cNvPr name="Freeform 89" id="89"/>
            <p:cNvSpPr/>
            <p:nvPr/>
          </p:nvSpPr>
          <p:spPr>
            <a:xfrm flipH="false" flipV="false" rot="0">
              <a:off x="0" y="0"/>
              <a:ext cx="19348279" cy="790635"/>
            </a:xfrm>
            <a:custGeom>
              <a:avLst/>
              <a:gdLst/>
              <a:ahLst/>
              <a:cxnLst/>
              <a:rect r="r" b="b" t="t" l="l"/>
              <a:pathLst>
                <a:path h="790635" w="19348279">
                  <a:moveTo>
                    <a:pt x="0" y="0"/>
                  </a:moveTo>
                  <a:lnTo>
                    <a:pt x="19348279" y="0"/>
                  </a:lnTo>
                  <a:lnTo>
                    <a:pt x="19348279" y="790635"/>
                  </a:lnTo>
                  <a:lnTo>
                    <a:pt x="0" y="790635"/>
                  </a:lnTo>
                  <a:close/>
                </a:path>
              </a:pathLst>
            </a:custGeom>
            <a:blipFill>
              <a:blip r:embed="rId3">
                <a:alphaModFix amt="0"/>
              </a:blip>
              <a:stretch>
                <a:fillRect l="0" t="-426834" r="0" b="-426834"/>
              </a:stretch>
            </a:blipFill>
          </p:spPr>
        </p:sp>
        <p:sp>
          <p:nvSpPr>
            <p:cNvPr name="TextBox 90" id="90"/>
            <p:cNvSpPr txBox="true"/>
            <p:nvPr/>
          </p:nvSpPr>
          <p:spPr>
            <a:xfrm>
              <a:off x="0" y="-9525"/>
              <a:ext cx="19348285" cy="800163"/>
            </a:xfrm>
            <a:prstGeom prst="rect">
              <a:avLst/>
            </a:prstGeom>
          </p:spPr>
          <p:txBody>
            <a:bodyPr anchor="ctr" rtlCol="false" tIns="0" lIns="0" bIns="0" rIns="0"/>
            <a:lstStyle/>
            <a:p>
              <a:pPr algn="l">
                <a:lnSpc>
                  <a:spcPts val="3820"/>
                </a:lnSpc>
              </a:pPr>
              <a:r>
                <a:rPr lang="en-US" sz="3183">
                  <a:solidFill>
                    <a:srgbClr val="33425C"/>
                  </a:solidFill>
                  <a:latin typeface="Georgia"/>
                  <a:ea typeface="Georgia"/>
                  <a:cs typeface="Georgia"/>
                  <a:sym typeface="Georgia"/>
                </a:rPr>
                <a:t>Testing, refinement and team training</a:t>
              </a:r>
            </a:p>
          </p:txBody>
        </p:sp>
      </p:grpSp>
      <p:grpSp>
        <p:nvGrpSpPr>
          <p:cNvPr name="Group 91" id="91"/>
          <p:cNvGrpSpPr/>
          <p:nvPr/>
        </p:nvGrpSpPr>
        <p:grpSpPr>
          <a:xfrm rot="0">
            <a:off x="1725025" y="15794736"/>
            <a:ext cx="3234414" cy="26956"/>
            <a:chOff x="0" y="0"/>
            <a:chExt cx="4312552" cy="35941"/>
          </a:xfrm>
        </p:grpSpPr>
        <p:sp>
          <p:nvSpPr>
            <p:cNvPr name="Freeform 92" id="92"/>
            <p:cNvSpPr/>
            <p:nvPr/>
          </p:nvSpPr>
          <p:spPr>
            <a:xfrm flipH="false" flipV="false" rot="0">
              <a:off x="0" y="0"/>
              <a:ext cx="4312539" cy="35941"/>
            </a:xfrm>
            <a:custGeom>
              <a:avLst/>
              <a:gdLst/>
              <a:ahLst/>
              <a:cxnLst/>
              <a:rect r="r" b="b" t="t" l="l"/>
              <a:pathLst>
                <a:path h="35941" w="4312539">
                  <a:moveTo>
                    <a:pt x="0" y="0"/>
                  </a:moveTo>
                  <a:lnTo>
                    <a:pt x="4312539" y="0"/>
                  </a:lnTo>
                  <a:lnTo>
                    <a:pt x="4312539" y="35941"/>
                  </a:lnTo>
                  <a:lnTo>
                    <a:pt x="0" y="35941"/>
                  </a:lnTo>
                  <a:close/>
                </a:path>
              </a:pathLst>
            </a:custGeom>
            <a:solidFill>
              <a:srgbClr val="E9EEF5"/>
            </a:solidFill>
          </p:spPr>
        </p:sp>
      </p:grpSp>
      <p:grpSp>
        <p:nvGrpSpPr>
          <p:cNvPr name="Group 93" id="93"/>
          <p:cNvGrpSpPr/>
          <p:nvPr/>
        </p:nvGrpSpPr>
        <p:grpSpPr>
          <a:xfrm rot="0">
            <a:off x="2048466" y="14986130"/>
            <a:ext cx="2803160" cy="592979"/>
            <a:chOff x="0" y="0"/>
            <a:chExt cx="3737546" cy="790638"/>
          </a:xfrm>
        </p:grpSpPr>
        <p:sp>
          <p:nvSpPr>
            <p:cNvPr name="Freeform 94" id="94"/>
            <p:cNvSpPr/>
            <p:nvPr/>
          </p:nvSpPr>
          <p:spPr>
            <a:xfrm flipH="false" flipV="false" rot="0">
              <a:off x="0" y="0"/>
              <a:ext cx="3737547" cy="790635"/>
            </a:xfrm>
            <a:custGeom>
              <a:avLst/>
              <a:gdLst/>
              <a:ahLst/>
              <a:cxnLst/>
              <a:rect r="r" b="b" t="t" l="l"/>
              <a:pathLst>
                <a:path h="790635" w="3737547">
                  <a:moveTo>
                    <a:pt x="0" y="0"/>
                  </a:moveTo>
                  <a:lnTo>
                    <a:pt x="3737547" y="0"/>
                  </a:lnTo>
                  <a:lnTo>
                    <a:pt x="3737547" y="790635"/>
                  </a:lnTo>
                  <a:lnTo>
                    <a:pt x="0" y="790635"/>
                  </a:lnTo>
                  <a:close/>
                </a:path>
              </a:pathLst>
            </a:custGeom>
            <a:blipFill>
              <a:blip r:embed="rId3">
                <a:alphaModFix amt="0"/>
              </a:blip>
              <a:stretch>
                <a:fillRect l="0" t="-42110" r="0" b="-42111"/>
              </a:stretch>
            </a:blipFill>
          </p:spPr>
        </p:sp>
        <p:sp>
          <p:nvSpPr>
            <p:cNvPr name="TextBox 95" id="95"/>
            <p:cNvSpPr txBox="true"/>
            <p:nvPr/>
          </p:nvSpPr>
          <p:spPr>
            <a:xfrm>
              <a:off x="0" y="-9525"/>
              <a:ext cx="3737546" cy="800163"/>
            </a:xfrm>
            <a:prstGeom prst="rect">
              <a:avLst/>
            </a:prstGeom>
          </p:spPr>
          <p:txBody>
            <a:bodyPr anchor="ctr" rtlCol="false" tIns="0" lIns="0" bIns="0" rIns="0"/>
            <a:lstStyle/>
            <a:p>
              <a:pPr algn="l">
                <a:lnSpc>
                  <a:spcPts val="3820"/>
                </a:lnSpc>
              </a:pPr>
              <a:r>
                <a:rPr lang="en-US" sz="3183">
                  <a:solidFill>
                    <a:srgbClr val="2E7D5B"/>
                  </a:solidFill>
                  <a:latin typeface="Georgia"/>
                  <a:ea typeface="Georgia"/>
                  <a:cs typeface="Georgia"/>
                  <a:sym typeface="Georgia"/>
                </a:rPr>
                <a:t>Week 8</a:t>
              </a:r>
            </a:p>
          </p:txBody>
        </p:sp>
      </p:grpSp>
      <p:grpSp>
        <p:nvGrpSpPr>
          <p:cNvPr name="Group 96" id="96"/>
          <p:cNvGrpSpPr/>
          <p:nvPr/>
        </p:nvGrpSpPr>
        <p:grpSpPr>
          <a:xfrm rot="0">
            <a:off x="4959439" y="15794736"/>
            <a:ext cx="14716592" cy="26956"/>
            <a:chOff x="0" y="0"/>
            <a:chExt cx="19622122" cy="35941"/>
          </a:xfrm>
        </p:grpSpPr>
        <p:sp>
          <p:nvSpPr>
            <p:cNvPr name="Freeform 97" id="97"/>
            <p:cNvSpPr/>
            <p:nvPr/>
          </p:nvSpPr>
          <p:spPr>
            <a:xfrm flipH="false" flipV="false" rot="0">
              <a:off x="0" y="0"/>
              <a:ext cx="19622136" cy="35941"/>
            </a:xfrm>
            <a:custGeom>
              <a:avLst/>
              <a:gdLst/>
              <a:ahLst/>
              <a:cxnLst/>
              <a:rect r="r" b="b" t="t" l="l"/>
              <a:pathLst>
                <a:path h="35941" w="19622136">
                  <a:moveTo>
                    <a:pt x="0" y="0"/>
                  </a:moveTo>
                  <a:lnTo>
                    <a:pt x="19622136" y="0"/>
                  </a:lnTo>
                  <a:lnTo>
                    <a:pt x="19622136" y="35941"/>
                  </a:lnTo>
                  <a:lnTo>
                    <a:pt x="0" y="35941"/>
                  </a:lnTo>
                  <a:close/>
                </a:path>
              </a:pathLst>
            </a:custGeom>
            <a:solidFill>
              <a:srgbClr val="E9EEF5"/>
            </a:solidFill>
          </p:spPr>
        </p:sp>
      </p:grpSp>
      <p:grpSp>
        <p:nvGrpSpPr>
          <p:cNvPr name="Group 98" id="98"/>
          <p:cNvGrpSpPr/>
          <p:nvPr/>
        </p:nvGrpSpPr>
        <p:grpSpPr>
          <a:xfrm rot="0">
            <a:off x="5282879" y="14986130"/>
            <a:ext cx="14511214" cy="592979"/>
            <a:chOff x="0" y="0"/>
            <a:chExt cx="19348285" cy="790638"/>
          </a:xfrm>
        </p:grpSpPr>
        <p:sp>
          <p:nvSpPr>
            <p:cNvPr name="Freeform 99" id="99"/>
            <p:cNvSpPr/>
            <p:nvPr/>
          </p:nvSpPr>
          <p:spPr>
            <a:xfrm flipH="false" flipV="false" rot="0">
              <a:off x="0" y="0"/>
              <a:ext cx="19348279" cy="790635"/>
            </a:xfrm>
            <a:custGeom>
              <a:avLst/>
              <a:gdLst/>
              <a:ahLst/>
              <a:cxnLst/>
              <a:rect r="r" b="b" t="t" l="l"/>
              <a:pathLst>
                <a:path h="790635" w="19348279">
                  <a:moveTo>
                    <a:pt x="0" y="0"/>
                  </a:moveTo>
                  <a:lnTo>
                    <a:pt x="19348279" y="0"/>
                  </a:lnTo>
                  <a:lnTo>
                    <a:pt x="19348279" y="790635"/>
                  </a:lnTo>
                  <a:lnTo>
                    <a:pt x="0" y="790635"/>
                  </a:lnTo>
                  <a:close/>
                </a:path>
              </a:pathLst>
            </a:custGeom>
            <a:blipFill>
              <a:blip r:embed="rId3">
                <a:alphaModFix amt="0"/>
              </a:blip>
              <a:stretch>
                <a:fillRect l="0" t="-426834" r="0" b="-426834"/>
              </a:stretch>
            </a:blipFill>
          </p:spPr>
        </p:sp>
        <p:sp>
          <p:nvSpPr>
            <p:cNvPr name="TextBox 100" id="100"/>
            <p:cNvSpPr txBox="true"/>
            <p:nvPr/>
          </p:nvSpPr>
          <p:spPr>
            <a:xfrm>
              <a:off x="0" y="-9525"/>
              <a:ext cx="19348285" cy="800163"/>
            </a:xfrm>
            <a:prstGeom prst="rect">
              <a:avLst/>
            </a:prstGeom>
          </p:spPr>
          <p:txBody>
            <a:bodyPr anchor="ctr" rtlCol="false" tIns="0" lIns="0" bIns="0" rIns="0"/>
            <a:lstStyle/>
            <a:p>
              <a:pPr algn="l">
                <a:lnSpc>
                  <a:spcPts val="3820"/>
                </a:lnSpc>
              </a:pPr>
              <a:r>
                <a:rPr lang="en-US" sz="3183">
                  <a:solidFill>
                    <a:srgbClr val="33425C"/>
                  </a:solidFill>
                  <a:latin typeface="Georgia"/>
                  <a:ea typeface="Georgia"/>
                  <a:cs typeface="Georgia"/>
                  <a:sym typeface="Georgia"/>
                </a:rPr>
                <a:t>Final testing, approval, handover and go-live</a:t>
              </a:r>
            </a:p>
          </p:txBody>
        </p:sp>
      </p:grpSp>
      <p:sp>
        <p:nvSpPr>
          <p:cNvPr name="TextBox 101" id="101"/>
          <p:cNvSpPr txBox="true"/>
          <p:nvPr/>
        </p:nvSpPr>
        <p:spPr>
          <a:xfrm rot="0">
            <a:off x="1750419" y="27367163"/>
            <a:ext cx="18438743" cy="1474603"/>
          </a:xfrm>
          <a:prstGeom prst="rect">
            <a:avLst/>
          </a:prstGeom>
        </p:spPr>
        <p:txBody>
          <a:bodyPr anchor="t" rtlCol="false" tIns="0" lIns="0" bIns="0" rIns="0">
            <a:spAutoFit/>
          </a:bodyPr>
          <a:lstStyle/>
          <a:p>
            <a:pPr algn="l">
              <a:lnSpc>
                <a:spcPts val="5093"/>
              </a:lnSpc>
            </a:pPr>
            <a:r>
              <a:rPr lang="en-US" sz="3183" i="true">
                <a:solidFill>
                  <a:srgbClr val="5A6B85"/>
                </a:solidFill>
                <a:latin typeface="Georgia Italics"/>
                <a:ea typeface="Georgia Italics"/>
                <a:cs typeface="Georgia Italics"/>
                <a:sym typeface="Georgia Italics"/>
              </a:rPr>
              <a:t>The exact sequence may be adjusted according to the Client’s workflow, technical dependencies and availability of required information / access.</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725025" y="2102368"/>
            <a:ext cx="17951006" cy="26956"/>
            <a:chOff x="0" y="0"/>
            <a:chExt cx="23934674" cy="35941"/>
          </a:xfrm>
        </p:grpSpPr>
        <p:sp>
          <p:nvSpPr>
            <p:cNvPr name="Freeform 3" id="3"/>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E2E8F1"/>
            </a:solidFill>
          </p:spPr>
        </p:sp>
      </p:grpSp>
      <p:sp>
        <p:nvSpPr>
          <p:cNvPr name="TextBox 4" id="4"/>
          <p:cNvSpPr txBox="true"/>
          <p:nvPr/>
        </p:nvSpPr>
        <p:spPr>
          <a:xfrm rot="0">
            <a:off x="1750419" y="1525267"/>
            <a:ext cx="3195828"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LUMELUSH STUDIO</a:t>
            </a:r>
          </a:p>
        </p:txBody>
      </p:sp>
      <p:sp>
        <p:nvSpPr>
          <p:cNvPr name="TextBox 5" id="5"/>
          <p:cNvSpPr txBox="true"/>
          <p:nvPr/>
        </p:nvSpPr>
        <p:spPr>
          <a:xfrm rot="0">
            <a:off x="15847933" y="1525267"/>
            <a:ext cx="4188057"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COMMERCIAL PROPOSAL</a:t>
            </a:r>
          </a:p>
        </p:txBody>
      </p:sp>
      <p:grpSp>
        <p:nvGrpSpPr>
          <p:cNvPr name="Group 6" id="6"/>
          <p:cNvGrpSpPr/>
          <p:nvPr/>
        </p:nvGrpSpPr>
        <p:grpSpPr>
          <a:xfrm rot="0">
            <a:off x="1725025" y="4258647"/>
            <a:ext cx="17951006" cy="26956"/>
            <a:chOff x="0" y="0"/>
            <a:chExt cx="23934674" cy="35941"/>
          </a:xfrm>
        </p:grpSpPr>
        <p:sp>
          <p:nvSpPr>
            <p:cNvPr name="Freeform 7" id="7"/>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DCE3EE"/>
            </a:solidFill>
          </p:spPr>
        </p:sp>
      </p:grpSp>
      <p:sp>
        <p:nvSpPr>
          <p:cNvPr name="TextBox 8" id="8"/>
          <p:cNvSpPr txBox="true"/>
          <p:nvPr/>
        </p:nvSpPr>
        <p:spPr>
          <a:xfrm rot="0">
            <a:off x="1750419" y="3465919"/>
            <a:ext cx="1600095" cy="470840"/>
          </a:xfrm>
          <a:prstGeom prst="rect">
            <a:avLst/>
          </a:prstGeom>
        </p:spPr>
        <p:txBody>
          <a:bodyPr anchor="t" rtlCol="false" tIns="0" lIns="0" bIns="0" rIns="0">
            <a:spAutoFit/>
          </a:bodyPr>
          <a:lstStyle/>
          <a:p>
            <a:pPr algn="l">
              <a:lnSpc>
                <a:spcPts val="3310"/>
              </a:lnSpc>
            </a:pPr>
            <a:r>
              <a:rPr lang="en-US" sz="2759" spc="387">
                <a:solidFill>
                  <a:srgbClr val="1546E0"/>
                </a:solidFill>
                <a:latin typeface="Georgia"/>
                <a:ea typeface="Georgia"/>
                <a:cs typeface="Georgia"/>
                <a:sym typeface="Georgia"/>
              </a:rPr>
              <a:t>14 – 16</a:t>
            </a:r>
          </a:p>
        </p:txBody>
      </p:sp>
      <p:sp>
        <p:nvSpPr>
          <p:cNvPr name="TextBox 9" id="9"/>
          <p:cNvSpPr txBox="true"/>
          <p:nvPr/>
        </p:nvSpPr>
        <p:spPr>
          <a:xfrm rot="0">
            <a:off x="3563045" y="2963332"/>
            <a:ext cx="12274306" cy="1108196"/>
          </a:xfrm>
          <a:prstGeom prst="rect">
            <a:avLst/>
          </a:prstGeom>
        </p:spPr>
        <p:txBody>
          <a:bodyPr anchor="t" rtlCol="false" tIns="0" lIns="0" bIns="0" rIns="0">
            <a:spAutoFit/>
          </a:bodyPr>
          <a:lstStyle/>
          <a:p>
            <a:pPr algn="l">
              <a:lnSpc>
                <a:spcPts val="7130"/>
              </a:lnSpc>
            </a:pPr>
            <a:r>
              <a:rPr lang="en-US" sz="5942" b="true">
                <a:solidFill>
                  <a:srgbClr val="1B2A44"/>
                </a:solidFill>
                <a:latin typeface="Playfair Display Bold"/>
                <a:ea typeface="Playfair Display Bold"/>
                <a:cs typeface="Playfair Display Bold"/>
                <a:sym typeface="Playfair Display Bold"/>
              </a:rPr>
              <a:t>Growth &amp; Automation Care Plan</a:t>
            </a:r>
          </a:p>
        </p:txBody>
      </p:sp>
      <p:grpSp>
        <p:nvGrpSpPr>
          <p:cNvPr name="Group 10" id="10"/>
          <p:cNvGrpSpPr/>
          <p:nvPr/>
        </p:nvGrpSpPr>
        <p:grpSpPr>
          <a:xfrm rot="0">
            <a:off x="1725025" y="7331345"/>
            <a:ext cx="17951006" cy="26956"/>
            <a:chOff x="0" y="0"/>
            <a:chExt cx="23934674" cy="35941"/>
          </a:xfrm>
        </p:grpSpPr>
        <p:sp>
          <p:nvSpPr>
            <p:cNvPr name="Freeform 11" id="11"/>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E2E8F1"/>
            </a:solidFill>
          </p:spPr>
        </p:sp>
      </p:grpSp>
      <p:grpSp>
        <p:nvGrpSpPr>
          <p:cNvPr name="Group 12" id="12"/>
          <p:cNvGrpSpPr/>
          <p:nvPr/>
        </p:nvGrpSpPr>
        <p:grpSpPr>
          <a:xfrm rot="0">
            <a:off x="1725025" y="4824670"/>
            <a:ext cx="17951006" cy="80858"/>
            <a:chOff x="0" y="0"/>
            <a:chExt cx="23934674" cy="107810"/>
          </a:xfrm>
        </p:grpSpPr>
        <p:sp>
          <p:nvSpPr>
            <p:cNvPr name="Freeform 13" id="13"/>
            <p:cNvSpPr/>
            <p:nvPr/>
          </p:nvSpPr>
          <p:spPr>
            <a:xfrm flipH="false" flipV="false" rot="0">
              <a:off x="0" y="0"/>
              <a:ext cx="23934674" cy="107823"/>
            </a:xfrm>
            <a:custGeom>
              <a:avLst/>
              <a:gdLst/>
              <a:ahLst/>
              <a:cxnLst/>
              <a:rect r="r" b="b" t="t" l="l"/>
              <a:pathLst>
                <a:path h="107823" w="23934674">
                  <a:moveTo>
                    <a:pt x="0" y="0"/>
                  </a:moveTo>
                  <a:lnTo>
                    <a:pt x="23934674" y="0"/>
                  </a:lnTo>
                  <a:lnTo>
                    <a:pt x="23934674" y="107823"/>
                  </a:lnTo>
                  <a:lnTo>
                    <a:pt x="0" y="107823"/>
                  </a:lnTo>
                  <a:close/>
                </a:path>
              </a:pathLst>
            </a:custGeom>
            <a:solidFill>
              <a:srgbClr val="2E7D5B"/>
            </a:solidFill>
          </p:spPr>
        </p:sp>
      </p:grpSp>
      <p:grpSp>
        <p:nvGrpSpPr>
          <p:cNvPr name="Group 14" id="14"/>
          <p:cNvGrpSpPr/>
          <p:nvPr/>
        </p:nvGrpSpPr>
        <p:grpSpPr>
          <a:xfrm rot="0">
            <a:off x="1725025" y="4824670"/>
            <a:ext cx="26956" cy="2533621"/>
            <a:chOff x="0" y="0"/>
            <a:chExt cx="35941" cy="3378162"/>
          </a:xfrm>
        </p:grpSpPr>
        <p:sp>
          <p:nvSpPr>
            <p:cNvPr name="Freeform 15" id="15"/>
            <p:cNvSpPr/>
            <p:nvPr/>
          </p:nvSpPr>
          <p:spPr>
            <a:xfrm flipH="false" flipV="false" rot="0">
              <a:off x="0" y="0"/>
              <a:ext cx="35941" cy="3378200"/>
            </a:xfrm>
            <a:custGeom>
              <a:avLst/>
              <a:gdLst/>
              <a:ahLst/>
              <a:cxnLst/>
              <a:rect r="r" b="b" t="t" l="l"/>
              <a:pathLst>
                <a:path h="3378200" w="35941">
                  <a:moveTo>
                    <a:pt x="0" y="0"/>
                  </a:moveTo>
                  <a:lnTo>
                    <a:pt x="35941" y="0"/>
                  </a:lnTo>
                  <a:lnTo>
                    <a:pt x="35941" y="3378200"/>
                  </a:lnTo>
                  <a:lnTo>
                    <a:pt x="0" y="3378200"/>
                  </a:lnTo>
                  <a:close/>
                </a:path>
              </a:pathLst>
            </a:custGeom>
            <a:solidFill>
              <a:srgbClr val="E2E8F1"/>
            </a:solidFill>
          </p:spPr>
        </p:sp>
      </p:grpSp>
      <p:grpSp>
        <p:nvGrpSpPr>
          <p:cNvPr name="Group 16" id="16"/>
          <p:cNvGrpSpPr/>
          <p:nvPr/>
        </p:nvGrpSpPr>
        <p:grpSpPr>
          <a:xfrm rot="0">
            <a:off x="19649075" y="4824670"/>
            <a:ext cx="26956" cy="2533621"/>
            <a:chOff x="0" y="0"/>
            <a:chExt cx="35941" cy="3378162"/>
          </a:xfrm>
        </p:grpSpPr>
        <p:sp>
          <p:nvSpPr>
            <p:cNvPr name="Freeform 17" id="17"/>
            <p:cNvSpPr/>
            <p:nvPr/>
          </p:nvSpPr>
          <p:spPr>
            <a:xfrm flipH="false" flipV="false" rot="0">
              <a:off x="0" y="0"/>
              <a:ext cx="35941" cy="3378200"/>
            </a:xfrm>
            <a:custGeom>
              <a:avLst/>
              <a:gdLst/>
              <a:ahLst/>
              <a:cxnLst/>
              <a:rect r="r" b="b" t="t" l="l"/>
              <a:pathLst>
                <a:path h="3378200" w="35941">
                  <a:moveTo>
                    <a:pt x="0" y="0"/>
                  </a:moveTo>
                  <a:lnTo>
                    <a:pt x="35941" y="0"/>
                  </a:lnTo>
                  <a:lnTo>
                    <a:pt x="35941" y="3378200"/>
                  </a:lnTo>
                  <a:lnTo>
                    <a:pt x="0" y="3378200"/>
                  </a:lnTo>
                  <a:close/>
                </a:path>
              </a:pathLst>
            </a:custGeom>
            <a:solidFill>
              <a:srgbClr val="E2E8F1"/>
            </a:solidFill>
          </p:spPr>
        </p:sp>
      </p:grpSp>
      <p:sp>
        <p:nvSpPr>
          <p:cNvPr name="TextBox 18" id="18"/>
          <p:cNvSpPr txBox="true"/>
          <p:nvPr/>
        </p:nvSpPr>
        <p:spPr>
          <a:xfrm rot="0">
            <a:off x="2424255" y="5689073"/>
            <a:ext cx="5374929" cy="754361"/>
          </a:xfrm>
          <a:prstGeom prst="rect">
            <a:avLst/>
          </a:prstGeom>
        </p:spPr>
        <p:txBody>
          <a:bodyPr anchor="t" rtlCol="false" tIns="0" lIns="0" bIns="0" rIns="0">
            <a:spAutoFit/>
          </a:bodyPr>
          <a:lstStyle/>
          <a:p>
            <a:pPr algn="l">
              <a:lnSpc>
                <a:spcPts val="6400"/>
              </a:lnSpc>
            </a:pPr>
            <a:r>
              <a:rPr lang="en-US" sz="7215">
                <a:solidFill>
                  <a:srgbClr val="2E7D5B"/>
                </a:solidFill>
                <a:latin typeface="Playfair Display"/>
                <a:ea typeface="Playfair Display"/>
                <a:cs typeface="Playfair Display"/>
                <a:sym typeface="Playfair Display"/>
              </a:rPr>
              <a:t>₹55,000 </a:t>
            </a:r>
            <a:r>
              <a:rPr lang="en-US" sz="7215">
                <a:solidFill>
                  <a:srgbClr val="5A6B85"/>
                </a:solidFill>
                <a:latin typeface="Playfair Display"/>
                <a:ea typeface="Playfair Display"/>
                <a:cs typeface="Playfair Display"/>
                <a:sym typeface="Playfair Display"/>
              </a:rPr>
              <a:t>/ month</a:t>
            </a:r>
          </a:p>
        </p:txBody>
      </p:sp>
      <p:sp>
        <p:nvSpPr>
          <p:cNvPr name="TextBox 19" id="19"/>
          <p:cNvSpPr txBox="true"/>
          <p:nvPr/>
        </p:nvSpPr>
        <p:spPr>
          <a:xfrm rot="0">
            <a:off x="12612672" y="5945638"/>
            <a:ext cx="6364129" cy="929049"/>
          </a:xfrm>
          <a:prstGeom prst="rect">
            <a:avLst/>
          </a:prstGeom>
        </p:spPr>
        <p:txBody>
          <a:bodyPr anchor="t" rtlCol="false" tIns="0" lIns="0" bIns="0" rIns="0">
            <a:spAutoFit/>
          </a:bodyPr>
          <a:lstStyle/>
          <a:p>
            <a:pPr algn="r">
              <a:lnSpc>
                <a:spcPts val="3439"/>
              </a:lnSpc>
            </a:pPr>
            <a:r>
              <a:rPr lang="en-US" sz="2866">
                <a:solidFill>
                  <a:srgbClr val="5A6B85"/>
                </a:solidFill>
                <a:latin typeface="Georgia"/>
                <a:ea typeface="Georgia"/>
                <a:cs typeface="Georgia"/>
                <a:sym typeface="Georgia"/>
              </a:rPr>
              <a:t>Optional · growth execution + system and automation maintenance</a:t>
            </a:r>
          </a:p>
        </p:txBody>
      </p:sp>
      <p:grpSp>
        <p:nvGrpSpPr>
          <p:cNvPr name="Group 20" id="20"/>
          <p:cNvGrpSpPr/>
          <p:nvPr/>
        </p:nvGrpSpPr>
        <p:grpSpPr>
          <a:xfrm rot="0">
            <a:off x="1725025" y="8571205"/>
            <a:ext cx="17951006" cy="26956"/>
            <a:chOff x="0" y="0"/>
            <a:chExt cx="23934674" cy="35941"/>
          </a:xfrm>
        </p:grpSpPr>
        <p:sp>
          <p:nvSpPr>
            <p:cNvPr name="Freeform 21" id="21"/>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E2E8F1"/>
            </a:solidFill>
          </p:spPr>
        </p:sp>
      </p:grpSp>
      <p:sp>
        <p:nvSpPr>
          <p:cNvPr name="TextBox 22" id="22"/>
          <p:cNvSpPr txBox="true"/>
          <p:nvPr/>
        </p:nvSpPr>
        <p:spPr>
          <a:xfrm rot="0">
            <a:off x="1750419" y="8021060"/>
            <a:ext cx="18438743" cy="416938"/>
          </a:xfrm>
          <a:prstGeom prst="rect">
            <a:avLst/>
          </a:prstGeom>
        </p:spPr>
        <p:txBody>
          <a:bodyPr anchor="t" rtlCol="false" tIns="0" lIns="0" bIns="0" rIns="0">
            <a:spAutoFit/>
          </a:bodyPr>
          <a:lstStyle/>
          <a:p>
            <a:pPr algn="l">
              <a:lnSpc>
                <a:spcPts val="2546"/>
              </a:lnSpc>
            </a:pPr>
            <a:r>
              <a:rPr lang="en-US" sz="2122" spc="339">
                <a:solidFill>
                  <a:srgbClr val="1546E0"/>
                </a:solidFill>
                <a:latin typeface="Georgia"/>
                <a:ea typeface="Georgia"/>
                <a:cs typeface="Georgia"/>
                <a:sym typeface="Georgia"/>
              </a:rPr>
              <a:t>GROWTH EXECUTION</a:t>
            </a:r>
          </a:p>
        </p:txBody>
      </p:sp>
      <p:sp>
        <p:nvSpPr>
          <p:cNvPr name="TextBox 23" id="23"/>
          <p:cNvSpPr txBox="true"/>
          <p:nvPr/>
        </p:nvSpPr>
        <p:spPr>
          <a:xfrm rot="0">
            <a:off x="1750419" y="8870794"/>
            <a:ext cx="460057" cy="699240"/>
          </a:xfrm>
          <a:prstGeom prst="rect">
            <a:avLst/>
          </a:prstGeom>
        </p:spPr>
        <p:txBody>
          <a:bodyPr anchor="t" rtlCol="false" tIns="0" lIns="0" bIns="0" rIns="0">
            <a:spAutoFit/>
          </a:bodyPr>
          <a:lstStyle/>
          <a:p>
            <a:pPr algn="l">
              <a:lnSpc>
                <a:spcPts val="4315"/>
              </a:lnSpc>
            </a:pPr>
            <a:r>
              <a:rPr lang="en-US" sz="3078">
                <a:solidFill>
                  <a:srgbClr val="1546E0"/>
                </a:solidFill>
                <a:latin typeface="Georgia"/>
                <a:ea typeface="Georgia"/>
                <a:cs typeface="Georgia"/>
                <a:sym typeface="Georgia"/>
              </a:rPr>
              <a:t>✓</a:t>
            </a:r>
          </a:p>
        </p:txBody>
      </p:sp>
      <p:sp>
        <p:nvSpPr>
          <p:cNvPr name="TextBox 24" id="24"/>
          <p:cNvSpPr txBox="true"/>
          <p:nvPr/>
        </p:nvSpPr>
        <p:spPr>
          <a:xfrm rot="0">
            <a:off x="2288229" y="8870794"/>
            <a:ext cx="8154505"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Up to 1,000 verified ICP prospects / month</a:t>
            </a:r>
          </a:p>
        </p:txBody>
      </p:sp>
      <p:sp>
        <p:nvSpPr>
          <p:cNvPr name="TextBox 25" id="25"/>
          <p:cNvSpPr txBox="true"/>
          <p:nvPr/>
        </p:nvSpPr>
        <p:spPr>
          <a:xfrm rot="0">
            <a:off x="11103273" y="8870794"/>
            <a:ext cx="460057" cy="699240"/>
          </a:xfrm>
          <a:prstGeom prst="rect">
            <a:avLst/>
          </a:prstGeom>
        </p:spPr>
        <p:txBody>
          <a:bodyPr anchor="t" rtlCol="false" tIns="0" lIns="0" bIns="0" rIns="0">
            <a:spAutoFit/>
          </a:bodyPr>
          <a:lstStyle/>
          <a:p>
            <a:pPr algn="l">
              <a:lnSpc>
                <a:spcPts val="4315"/>
              </a:lnSpc>
            </a:pPr>
            <a:r>
              <a:rPr lang="en-US" sz="3078">
                <a:solidFill>
                  <a:srgbClr val="1546E0"/>
                </a:solidFill>
                <a:latin typeface="Georgia"/>
                <a:ea typeface="Georgia"/>
                <a:cs typeface="Georgia"/>
                <a:sym typeface="Georgia"/>
              </a:rPr>
              <a:t>✓</a:t>
            </a:r>
          </a:p>
        </p:txBody>
      </p:sp>
      <p:sp>
        <p:nvSpPr>
          <p:cNvPr name="TextBox 26" id="26"/>
          <p:cNvSpPr txBox="true"/>
          <p:nvPr/>
        </p:nvSpPr>
        <p:spPr>
          <a:xfrm rot="0">
            <a:off x="11641084" y="8870794"/>
            <a:ext cx="7963186"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Prospect generation, verification, research</a:t>
            </a:r>
          </a:p>
        </p:txBody>
      </p:sp>
      <p:sp>
        <p:nvSpPr>
          <p:cNvPr name="TextBox 27" id="27"/>
          <p:cNvSpPr txBox="true"/>
          <p:nvPr/>
        </p:nvSpPr>
        <p:spPr>
          <a:xfrm rot="0">
            <a:off x="1750419" y="9652444"/>
            <a:ext cx="460057" cy="699240"/>
          </a:xfrm>
          <a:prstGeom prst="rect">
            <a:avLst/>
          </a:prstGeom>
        </p:spPr>
        <p:txBody>
          <a:bodyPr anchor="t" rtlCol="false" tIns="0" lIns="0" bIns="0" rIns="0">
            <a:spAutoFit/>
          </a:bodyPr>
          <a:lstStyle/>
          <a:p>
            <a:pPr algn="l">
              <a:lnSpc>
                <a:spcPts val="4315"/>
              </a:lnSpc>
            </a:pPr>
            <a:r>
              <a:rPr lang="en-US" sz="3078">
                <a:solidFill>
                  <a:srgbClr val="1546E0"/>
                </a:solidFill>
                <a:latin typeface="Georgia"/>
                <a:ea typeface="Georgia"/>
                <a:cs typeface="Georgia"/>
                <a:sym typeface="Georgia"/>
              </a:rPr>
              <a:t>✓</a:t>
            </a:r>
          </a:p>
        </p:txBody>
      </p:sp>
      <p:sp>
        <p:nvSpPr>
          <p:cNvPr name="TextBox 28" id="28"/>
          <p:cNvSpPr txBox="true"/>
          <p:nvPr/>
        </p:nvSpPr>
        <p:spPr>
          <a:xfrm rot="0">
            <a:off x="2288229" y="9652444"/>
            <a:ext cx="7387342"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Email campaign execution and sending</a:t>
            </a:r>
          </a:p>
        </p:txBody>
      </p:sp>
      <p:sp>
        <p:nvSpPr>
          <p:cNvPr name="TextBox 29" id="29"/>
          <p:cNvSpPr txBox="true"/>
          <p:nvPr/>
        </p:nvSpPr>
        <p:spPr>
          <a:xfrm rot="0">
            <a:off x="11103273" y="9652444"/>
            <a:ext cx="460057" cy="699240"/>
          </a:xfrm>
          <a:prstGeom prst="rect">
            <a:avLst/>
          </a:prstGeom>
        </p:spPr>
        <p:txBody>
          <a:bodyPr anchor="t" rtlCol="false" tIns="0" lIns="0" bIns="0" rIns="0">
            <a:spAutoFit/>
          </a:bodyPr>
          <a:lstStyle/>
          <a:p>
            <a:pPr algn="l">
              <a:lnSpc>
                <a:spcPts val="4315"/>
              </a:lnSpc>
            </a:pPr>
            <a:r>
              <a:rPr lang="en-US" sz="3078">
                <a:solidFill>
                  <a:srgbClr val="1546E0"/>
                </a:solidFill>
                <a:latin typeface="Georgia"/>
                <a:ea typeface="Georgia"/>
                <a:cs typeface="Georgia"/>
                <a:sym typeface="Georgia"/>
              </a:rPr>
              <a:t>✓</a:t>
            </a:r>
          </a:p>
        </p:txBody>
      </p:sp>
      <p:sp>
        <p:nvSpPr>
          <p:cNvPr name="TextBox 30" id="30"/>
          <p:cNvSpPr txBox="true"/>
          <p:nvPr/>
        </p:nvSpPr>
        <p:spPr>
          <a:xfrm rot="0">
            <a:off x="11641084" y="9652444"/>
            <a:ext cx="7745911"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Follow-up sequences and email warm-up</a:t>
            </a:r>
          </a:p>
        </p:txBody>
      </p:sp>
      <p:sp>
        <p:nvSpPr>
          <p:cNvPr name="TextBox 31" id="31"/>
          <p:cNvSpPr txBox="true"/>
          <p:nvPr/>
        </p:nvSpPr>
        <p:spPr>
          <a:xfrm rot="0">
            <a:off x="1750419" y="10434095"/>
            <a:ext cx="460057" cy="699240"/>
          </a:xfrm>
          <a:prstGeom prst="rect">
            <a:avLst/>
          </a:prstGeom>
        </p:spPr>
        <p:txBody>
          <a:bodyPr anchor="t" rtlCol="false" tIns="0" lIns="0" bIns="0" rIns="0">
            <a:spAutoFit/>
          </a:bodyPr>
          <a:lstStyle/>
          <a:p>
            <a:pPr algn="l">
              <a:lnSpc>
                <a:spcPts val="4315"/>
              </a:lnSpc>
            </a:pPr>
            <a:r>
              <a:rPr lang="en-US" sz="3078">
                <a:solidFill>
                  <a:srgbClr val="1546E0"/>
                </a:solidFill>
                <a:latin typeface="Georgia"/>
                <a:ea typeface="Georgia"/>
                <a:cs typeface="Georgia"/>
                <a:sym typeface="Georgia"/>
              </a:rPr>
              <a:t>✓</a:t>
            </a:r>
          </a:p>
        </p:txBody>
      </p:sp>
      <p:sp>
        <p:nvSpPr>
          <p:cNvPr name="TextBox 32" id="32"/>
          <p:cNvSpPr txBox="true"/>
          <p:nvPr/>
        </p:nvSpPr>
        <p:spPr>
          <a:xfrm rot="0">
            <a:off x="2288229" y="10434095"/>
            <a:ext cx="5103457"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Deliverability management</a:t>
            </a:r>
          </a:p>
        </p:txBody>
      </p:sp>
      <p:sp>
        <p:nvSpPr>
          <p:cNvPr name="TextBox 33" id="33"/>
          <p:cNvSpPr txBox="true"/>
          <p:nvPr/>
        </p:nvSpPr>
        <p:spPr>
          <a:xfrm rot="0">
            <a:off x="11103273" y="10434095"/>
            <a:ext cx="460057" cy="699240"/>
          </a:xfrm>
          <a:prstGeom prst="rect">
            <a:avLst/>
          </a:prstGeom>
        </p:spPr>
        <p:txBody>
          <a:bodyPr anchor="t" rtlCol="false" tIns="0" lIns="0" bIns="0" rIns="0">
            <a:spAutoFit/>
          </a:bodyPr>
          <a:lstStyle/>
          <a:p>
            <a:pPr algn="l">
              <a:lnSpc>
                <a:spcPts val="4315"/>
              </a:lnSpc>
            </a:pPr>
            <a:r>
              <a:rPr lang="en-US" sz="3078">
                <a:solidFill>
                  <a:srgbClr val="1546E0"/>
                </a:solidFill>
                <a:latin typeface="Georgia"/>
                <a:ea typeface="Georgia"/>
                <a:cs typeface="Georgia"/>
                <a:sym typeface="Georgia"/>
              </a:rPr>
              <a:t>✓</a:t>
            </a:r>
          </a:p>
        </p:txBody>
      </p:sp>
      <p:sp>
        <p:nvSpPr>
          <p:cNvPr name="TextBox 34" id="34"/>
          <p:cNvSpPr txBox="true"/>
          <p:nvPr/>
        </p:nvSpPr>
        <p:spPr>
          <a:xfrm rot="0">
            <a:off x="11641084" y="10434095"/>
            <a:ext cx="7474906"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Campaign monitoring and optimisation</a:t>
            </a:r>
          </a:p>
        </p:txBody>
      </p:sp>
      <p:sp>
        <p:nvSpPr>
          <p:cNvPr name="TextBox 35" id="35"/>
          <p:cNvSpPr txBox="true"/>
          <p:nvPr/>
        </p:nvSpPr>
        <p:spPr>
          <a:xfrm rot="0">
            <a:off x="1750419" y="11215754"/>
            <a:ext cx="460057" cy="699240"/>
          </a:xfrm>
          <a:prstGeom prst="rect">
            <a:avLst/>
          </a:prstGeom>
        </p:spPr>
        <p:txBody>
          <a:bodyPr anchor="t" rtlCol="false" tIns="0" lIns="0" bIns="0" rIns="0">
            <a:spAutoFit/>
          </a:bodyPr>
          <a:lstStyle/>
          <a:p>
            <a:pPr algn="l">
              <a:lnSpc>
                <a:spcPts val="4315"/>
              </a:lnSpc>
            </a:pPr>
            <a:r>
              <a:rPr lang="en-US" sz="3078">
                <a:solidFill>
                  <a:srgbClr val="16B3A8"/>
                </a:solidFill>
                <a:latin typeface="Georgia"/>
                <a:ea typeface="Georgia"/>
                <a:cs typeface="Georgia"/>
                <a:sym typeface="Georgia"/>
              </a:rPr>
              <a:t>✓</a:t>
            </a:r>
          </a:p>
        </p:txBody>
      </p:sp>
      <p:sp>
        <p:nvSpPr>
          <p:cNvPr name="TextBox 36" id="36"/>
          <p:cNvSpPr txBox="true"/>
          <p:nvPr/>
        </p:nvSpPr>
        <p:spPr>
          <a:xfrm rot="0">
            <a:off x="2288229" y="11215754"/>
            <a:ext cx="5850245"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WhatsApp broadcast execution</a:t>
            </a:r>
          </a:p>
        </p:txBody>
      </p:sp>
      <p:sp>
        <p:nvSpPr>
          <p:cNvPr name="TextBox 37" id="37"/>
          <p:cNvSpPr txBox="true"/>
          <p:nvPr/>
        </p:nvSpPr>
        <p:spPr>
          <a:xfrm rot="0">
            <a:off x="11103273" y="11215754"/>
            <a:ext cx="460057" cy="699240"/>
          </a:xfrm>
          <a:prstGeom prst="rect">
            <a:avLst/>
          </a:prstGeom>
        </p:spPr>
        <p:txBody>
          <a:bodyPr anchor="t" rtlCol="false" tIns="0" lIns="0" bIns="0" rIns="0">
            <a:spAutoFit/>
          </a:bodyPr>
          <a:lstStyle/>
          <a:p>
            <a:pPr algn="l">
              <a:lnSpc>
                <a:spcPts val="4315"/>
              </a:lnSpc>
            </a:pPr>
            <a:r>
              <a:rPr lang="en-US" sz="3078">
                <a:solidFill>
                  <a:srgbClr val="16B3A8"/>
                </a:solidFill>
                <a:latin typeface="Georgia"/>
                <a:ea typeface="Georgia"/>
                <a:cs typeface="Georgia"/>
                <a:sym typeface="Georgia"/>
              </a:rPr>
              <a:t>✓</a:t>
            </a:r>
          </a:p>
        </p:txBody>
      </p:sp>
      <p:sp>
        <p:nvSpPr>
          <p:cNvPr name="TextBox 38" id="38"/>
          <p:cNvSpPr txBox="true"/>
          <p:nvPr/>
        </p:nvSpPr>
        <p:spPr>
          <a:xfrm rot="0">
            <a:off x="11641084" y="11215754"/>
            <a:ext cx="8743321"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Referral, AMC and repeat-business campaigns</a:t>
            </a:r>
          </a:p>
        </p:txBody>
      </p:sp>
      <p:sp>
        <p:nvSpPr>
          <p:cNvPr name="TextBox 39" id="39"/>
          <p:cNvSpPr txBox="true"/>
          <p:nvPr/>
        </p:nvSpPr>
        <p:spPr>
          <a:xfrm rot="0">
            <a:off x="1750419" y="11997404"/>
            <a:ext cx="460057" cy="699240"/>
          </a:xfrm>
          <a:prstGeom prst="rect">
            <a:avLst/>
          </a:prstGeom>
        </p:spPr>
        <p:txBody>
          <a:bodyPr anchor="t" rtlCol="false" tIns="0" lIns="0" bIns="0" rIns="0">
            <a:spAutoFit/>
          </a:bodyPr>
          <a:lstStyle/>
          <a:p>
            <a:pPr algn="l">
              <a:lnSpc>
                <a:spcPts val="4315"/>
              </a:lnSpc>
            </a:pPr>
            <a:r>
              <a:rPr lang="en-US" sz="3078">
                <a:solidFill>
                  <a:srgbClr val="16B3A8"/>
                </a:solidFill>
                <a:latin typeface="Georgia"/>
                <a:ea typeface="Georgia"/>
                <a:cs typeface="Georgia"/>
                <a:sym typeface="Georgia"/>
              </a:rPr>
              <a:t>✓</a:t>
            </a:r>
          </a:p>
        </p:txBody>
      </p:sp>
      <p:sp>
        <p:nvSpPr>
          <p:cNvPr name="TextBox 40" id="40"/>
          <p:cNvSpPr txBox="true"/>
          <p:nvPr/>
        </p:nvSpPr>
        <p:spPr>
          <a:xfrm rot="0">
            <a:off x="2288229" y="11997404"/>
            <a:ext cx="7022754"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Reactivation and seasonal campaigns</a:t>
            </a:r>
          </a:p>
        </p:txBody>
      </p:sp>
      <p:sp>
        <p:nvSpPr>
          <p:cNvPr name="TextBox 41" id="41"/>
          <p:cNvSpPr txBox="true"/>
          <p:nvPr/>
        </p:nvSpPr>
        <p:spPr>
          <a:xfrm rot="0">
            <a:off x="11103273" y="11997404"/>
            <a:ext cx="460057" cy="699240"/>
          </a:xfrm>
          <a:prstGeom prst="rect">
            <a:avLst/>
          </a:prstGeom>
        </p:spPr>
        <p:txBody>
          <a:bodyPr anchor="t" rtlCol="false" tIns="0" lIns="0" bIns="0" rIns="0">
            <a:spAutoFit/>
          </a:bodyPr>
          <a:lstStyle/>
          <a:p>
            <a:pPr algn="l">
              <a:lnSpc>
                <a:spcPts val="4315"/>
              </a:lnSpc>
            </a:pPr>
            <a:r>
              <a:rPr lang="en-US" sz="3078">
                <a:solidFill>
                  <a:srgbClr val="2E7D5B"/>
                </a:solidFill>
                <a:latin typeface="Georgia"/>
                <a:ea typeface="Georgia"/>
                <a:cs typeface="Georgia"/>
                <a:sym typeface="Georgia"/>
              </a:rPr>
              <a:t>✓</a:t>
            </a:r>
          </a:p>
        </p:txBody>
      </p:sp>
      <p:sp>
        <p:nvSpPr>
          <p:cNvPr name="TextBox 42" id="42"/>
          <p:cNvSpPr txBox="true"/>
          <p:nvPr/>
        </p:nvSpPr>
        <p:spPr>
          <a:xfrm rot="0">
            <a:off x="11641084" y="11997404"/>
            <a:ext cx="4355754"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Ongoing SEO and GEO</a:t>
            </a:r>
          </a:p>
        </p:txBody>
      </p:sp>
      <p:sp>
        <p:nvSpPr>
          <p:cNvPr name="TextBox 43" id="43"/>
          <p:cNvSpPr txBox="true"/>
          <p:nvPr/>
        </p:nvSpPr>
        <p:spPr>
          <a:xfrm rot="0">
            <a:off x="1750419" y="12779054"/>
            <a:ext cx="460057" cy="699240"/>
          </a:xfrm>
          <a:prstGeom prst="rect">
            <a:avLst/>
          </a:prstGeom>
        </p:spPr>
        <p:txBody>
          <a:bodyPr anchor="t" rtlCol="false" tIns="0" lIns="0" bIns="0" rIns="0">
            <a:spAutoFit/>
          </a:bodyPr>
          <a:lstStyle/>
          <a:p>
            <a:pPr algn="l">
              <a:lnSpc>
                <a:spcPts val="4315"/>
              </a:lnSpc>
            </a:pPr>
            <a:r>
              <a:rPr lang="en-US" sz="3078">
                <a:solidFill>
                  <a:srgbClr val="2E7D5B"/>
                </a:solidFill>
                <a:latin typeface="Georgia"/>
                <a:ea typeface="Georgia"/>
                <a:cs typeface="Georgia"/>
                <a:sym typeface="Georgia"/>
              </a:rPr>
              <a:t>✓</a:t>
            </a:r>
          </a:p>
        </p:txBody>
      </p:sp>
      <p:sp>
        <p:nvSpPr>
          <p:cNvPr name="TextBox 44" id="44"/>
          <p:cNvSpPr txBox="true"/>
          <p:nvPr/>
        </p:nvSpPr>
        <p:spPr>
          <a:xfrm rot="0">
            <a:off x="2288229" y="12779054"/>
            <a:ext cx="6780933"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Google Business Profile and reviews</a:t>
            </a:r>
          </a:p>
        </p:txBody>
      </p:sp>
      <p:sp>
        <p:nvSpPr>
          <p:cNvPr name="TextBox 45" id="45"/>
          <p:cNvSpPr txBox="true"/>
          <p:nvPr/>
        </p:nvSpPr>
        <p:spPr>
          <a:xfrm rot="0">
            <a:off x="11103273" y="12779054"/>
            <a:ext cx="460057" cy="699240"/>
          </a:xfrm>
          <a:prstGeom prst="rect">
            <a:avLst/>
          </a:prstGeom>
        </p:spPr>
        <p:txBody>
          <a:bodyPr anchor="t" rtlCol="false" tIns="0" lIns="0" bIns="0" rIns="0">
            <a:spAutoFit/>
          </a:bodyPr>
          <a:lstStyle/>
          <a:p>
            <a:pPr algn="l">
              <a:lnSpc>
                <a:spcPts val="4315"/>
              </a:lnSpc>
            </a:pPr>
            <a:r>
              <a:rPr lang="en-US" sz="3078">
                <a:solidFill>
                  <a:srgbClr val="2E7D5B"/>
                </a:solidFill>
                <a:latin typeface="Georgia"/>
                <a:ea typeface="Georgia"/>
                <a:cs typeface="Georgia"/>
                <a:sym typeface="Georgia"/>
              </a:rPr>
              <a:t>✓</a:t>
            </a:r>
          </a:p>
        </p:txBody>
      </p:sp>
      <p:sp>
        <p:nvSpPr>
          <p:cNvPr name="TextBox 46" id="46"/>
          <p:cNvSpPr txBox="true"/>
          <p:nvPr/>
        </p:nvSpPr>
        <p:spPr>
          <a:xfrm rot="0">
            <a:off x="11641084" y="12779054"/>
            <a:ext cx="6766570"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Website updates and improvements</a:t>
            </a:r>
          </a:p>
        </p:txBody>
      </p:sp>
      <p:grpSp>
        <p:nvGrpSpPr>
          <p:cNvPr name="Group 47" id="47"/>
          <p:cNvGrpSpPr/>
          <p:nvPr/>
        </p:nvGrpSpPr>
        <p:grpSpPr>
          <a:xfrm rot="0">
            <a:off x="1725025" y="14554876"/>
            <a:ext cx="17951006" cy="26956"/>
            <a:chOff x="0" y="0"/>
            <a:chExt cx="23934674" cy="35941"/>
          </a:xfrm>
        </p:grpSpPr>
        <p:sp>
          <p:nvSpPr>
            <p:cNvPr name="Freeform 48" id="48"/>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E2E8F1"/>
            </a:solidFill>
          </p:spPr>
        </p:sp>
      </p:grpSp>
      <p:sp>
        <p:nvSpPr>
          <p:cNvPr name="TextBox 49" id="49"/>
          <p:cNvSpPr txBox="true"/>
          <p:nvPr/>
        </p:nvSpPr>
        <p:spPr>
          <a:xfrm rot="0">
            <a:off x="1750419" y="14004722"/>
            <a:ext cx="18438743" cy="416938"/>
          </a:xfrm>
          <a:prstGeom prst="rect">
            <a:avLst/>
          </a:prstGeom>
        </p:spPr>
        <p:txBody>
          <a:bodyPr anchor="t" rtlCol="false" tIns="0" lIns="0" bIns="0" rIns="0">
            <a:spAutoFit/>
          </a:bodyPr>
          <a:lstStyle/>
          <a:p>
            <a:pPr algn="l">
              <a:lnSpc>
                <a:spcPts val="2546"/>
              </a:lnSpc>
            </a:pPr>
            <a:r>
              <a:rPr lang="en-US" sz="2122" spc="339">
                <a:solidFill>
                  <a:srgbClr val="2E7D5B"/>
                </a:solidFill>
                <a:latin typeface="Georgia"/>
                <a:ea typeface="Georgia"/>
                <a:cs typeface="Georgia"/>
                <a:sym typeface="Georgia"/>
              </a:rPr>
              <a:t>SYSTEM &amp; AUTOMATION MAINTENANCE</a:t>
            </a:r>
          </a:p>
        </p:txBody>
      </p:sp>
      <p:sp>
        <p:nvSpPr>
          <p:cNvPr name="TextBox 50" id="50"/>
          <p:cNvSpPr txBox="true"/>
          <p:nvPr/>
        </p:nvSpPr>
        <p:spPr>
          <a:xfrm rot="0">
            <a:off x="1750419" y="14854466"/>
            <a:ext cx="460057" cy="699240"/>
          </a:xfrm>
          <a:prstGeom prst="rect">
            <a:avLst/>
          </a:prstGeom>
        </p:spPr>
        <p:txBody>
          <a:bodyPr anchor="t" rtlCol="false" tIns="0" lIns="0" bIns="0" rIns="0">
            <a:spAutoFit/>
          </a:bodyPr>
          <a:lstStyle/>
          <a:p>
            <a:pPr algn="l">
              <a:lnSpc>
                <a:spcPts val="4315"/>
              </a:lnSpc>
            </a:pPr>
            <a:r>
              <a:rPr lang="en-US" sz="3078">
                <a:solidFill>
                  <a:srgbClr val="2E7D5B"/>
                </a:solidFill>
                <a:latin typeface="Georgia"/>
                <a:ea typeface="Georgia"/>
                <a:cs typeface="Georgia"/>
                <a:sym typeface="Georgia"/>
              </a:rPr>
              <a:t>✓</a:t>
            </a:r>
          </a:p>
        </p:txBody>
      </p:sp>
      <p:sp>
        <p:nvSpPr>
          <p:cNvPr name="TextBox 51" id="51"/>
          <p:cNvSpPr txBox="true"/>
          <p:nvPr/>
        </p:nvSpPr>
        <p:spPr>
          <a:xfrm rot="0">
            <a:off x="2288229" y="14854466"/>
            <a:ext cx="5308683"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CRM technical maintenance</a:t>
            </a:r>
          </a:p>
        </p:txBody>
      </p:sp>
      <p:sp>
        <p:nvSpPr>
          <p:cNvPr name="TextBox 52" id="52"/>
          <p:cNvSpPr txBox="true"/>
          <p:nvPr/>
        </p:nvSpPr>
        <p:spPr>
          <a:xfrm rot="0">
            <a:off x="11103273" y="14854466"/>
            <a:ext cx="460057" cy="699240"/>
          </a:xfrm>
          <a:prstGeom prst="rect">
            <a:avLst/>
          </a:prstGeom>
        </p:spPr>
        <p:txBody>
          <a:bodyPr anchor="t" rtlCol="false" tIns="0" lIns="0" bIns="0" rIns="0">
            <a:spAutoFit/>
          </a:bodyPr>
          <a:lstStyle/>
          <a:p>
            <a:pPr algn="l">
              <a:lnSpc>
                <a:spcPts val="4315"/>
              </a:lnSpc>
            </a:pPr>
            <a:r>
              <a:rPr lang="en-US" sz="3078">
                <a:solidFill>
                  <a:srgbClr val="2E7D5B"/>
                </a:solidFill>
                <a:latin typeface="Georgia"/>
                <a:ea typeface="Georgia"/>
                <a:cs typeface="Georgia"/>
                <a:sym typeface="Georgia"/>
              </a:rPr>
              <a:t>✓</a:t>
            </a:r>
          </a:p>
        </p:txBody>
      </p:sp>
      <p:sp>
        <p:nvSpPr>
          <p:cNvPr name="TextBox 53" id="53"/>
          <p:cNvSpPr txBox="true"/>
          <p:nvPr/>
        </p:nvSpPr>
        <p:spPr>
          <a:xfrm rot="0">
            <a:off x="11641084" y="14854466"/>
            <a:ext cx="4598965"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Dashboard maintenance</a:t>
            </a:r>
          </a:p>
        </p:txBody>
      </p:sp>
      <p:sp>
        <p:nvSpPr>
          <p:cNvPr name="TextBox 54" id="54"/>
          <p:cNvSpPr txBox="true"/>
          <p:nvPr/>
        </p:nvSpPr>
        <p:spPr>
          <a:xfrm rot="0">
            <a:off x="1750419" y="15636116"/>
            <a:ext cx="460057" cy="699240"/>
          </a:xfrm>
          <a:prstGeom prst="rect">
            <a:avLst/>
          </a:prstGeom>
        </p:spPr>
        <p:txBody>
          <a:bodyPr anchor="t" rtlCol="false" tIns="0" lIns="0" bIns="0" rIns="0">
            <a:spAutoFit/>
          </a:bodyPr>
          <a:lstStyle/>
          <a:p>
            <a:pPr algn="l">
              <a:lnSpc>
                <a:spcPts val="4315"/>
              </a:lnSpc>
            </a:pPr>
            <a:r>
              <a:rPr lang="en-US" sz="3078">
                <a:solidFill>
                  <a:srgbClr val="2E7D5B"/>
                </a:solidFill>
                <a:latin typeface="Georgia"/>
                <a:ea typeface="Georgia"/>
                <a:cs typeface="Georgia"/>
                <a:sym typeface="Georgia"/>
              </a:rPr>
              <a:t>✓</a:t>
            </a:r>
          </a:p>
        </p:txBody>
      </p:sp>
      <p:sp>
        <p:nvSpPr>
          <p:cNvPr name="TextBox 55" id="55"/>
          <p:cNvSpPr txBox="true"/>
          <p:nvPr/>
        </p:nvSpPr>
        <p:spPr>
          <a:xfrm rot="0">
            <a:off x="2288229" y="15636116"/>
            <a:ext cx="6263469"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API and integration maintenance</a:t>
            </a:r>
          </a:p>
        </p:txBody>
      </p:sp>
      <p:sp>
        <p:nvSpPr>
          <p:cNvPr name="TextBox 56" id="56"/>
          <p:cNvSpPr txBox="true"/>
          <p:nvPr/>
        </p:nvSpPr>
        <p:spPr>
          <a:xfrm rot="0">
            <a:off x="11103273" y="15636116"/>
            <a:ext cx="460057" cy="699240"/>
          </a:xfrm>
          <a:prstGeom prst="rect">
            <a:avLst/>
          </a:prstGeom>
        </p:spPr>
        <p:txBody>
          <a:bodyPr anchor="t" rtlCol="false" tIns="0" lIns="0" bIns="0" rIns="0">
            <a:spAutoFit/>
          </a:bodyPr>
          <a:lstStyle/>
          <a:p>
            <a:pPr algn="l">
              <a:lnSpc>
                <a:spcPts val="4315"/>
              </a:lnSpc>
            </a:pPr>
            <a:r>
              <a:rPr lang="en-US" sz="3078">
                <a:solidFill>
                  <a:srgbClr val="2E7D5B"/>
                </a:solidFill>
                <a:latin typeface="Georgia"/>
                <a:ea typeface="Georgia"/>
                <a:cs typeface="Georgia"/>
                <a:sym typeface="Georgia"/>
              </a:rPr>
              <a:t>✓</a:t>
            </a:r>
          </a:p>
        </p:txBody>
      </p:sp>
      <p:sp>
        <p:nvSpPr>
          <p:cNvPr name="TextBox 57" id="57"/>
          <p:cNvSpPr txBox="true"/>
          <p:nvPr/>
        </p:nvSpPr>
        <p:spPr>
          <a:xfrm rot="0">
            <a:off x="11641084" y="15636116"/>
            <a:ext cx="4783807"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Automation maintenance</a:t>
            </a:r>
          </a:p>
        </p:txBody>
      </p:sp>
      <p:sp>
        <p:nvSpPr>
          <p:cNvPr name="TextBox 58" id="58"/>
          <p:cNvSpPr txBox="true"/>
          <p:nvPr/>
        </p:nvSpPr>
        <p:spPr>
          <a:xfrm rot="0">
            <a:off x="1750419" y="16417766"/>
            <a:ext cx="460057" cy="699240"/>
          </a:xfrm>
          <a:prstGeom prst="rect">
            <a:avLst/>
          </a:prstGeom>
        </p:spPr>
        <p:txBody>
          <a:bodyPr anchor="t" rtlCol="false" tIns="0" lIns="0" bIns="0" rIns="0">
            <a:spAutoFit/>
          </a:bodyPr>
          <a:lstStyle/>
          <a:p>
            <a:pPr algn="l">
              <a:lnSpc>
                <a:spcPts val="4315"/>
              </a:lnSpc>
            </a:pPr>
            <a:r>
              <a:rPr lang="en-US" sz="3078">
                <a:solidFill>
                  <a:srgbClr val="2E7D5B"/>
                </a:solidFill>
                <a:latin typeface="Georgia"/>
                <a:ea typeface="Georgia"/>
                <a:cs typeface="Georgia"/>
                <a:sym typeface="Georgia"/>
              </a:rPr>
              <a:t>✓</a:t>
            </a:r>
          </a:p>
        </p:txBody>
      </p:sp>
      <p:sp>
        <p:nvSpPr>
          <p:cNvPr name="TextBox 59" id="59"/>
          <p:cNvSpPr txBox="true"/>
          <p:nvPr/>
        </p:nvSpPr>
        <p:spPr>
          <a:xfrm rot="0">
            <a:off x="2288229" y="16417766"/>
            <a:ext cx="4944094"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Workflow troubleshooting</a:t>
            </a:r>
          </a:p>
        </p:txBody>
      </p:sp>
      <p:sp>
        <p:nvSpPr>
          <p:cNvPr name="TextBox 60" id="60"/>
          <p:cNvSpPr txBox="true"/>
          <p:nvPr/>
        </p:nvSpPr>
        <p:spPr>
          <a:xfrm rot="0">
            <a:off x="11103273" y="16417766"/>
            <a:ext cx="460057" cy="699240"/>
          </a:xfrm>
          <a:prstGeom prst="rect">
            <a:avLst/>
          </a:prstGeom>
        </p:spPr>
        <p:txBody>
          <a:bodyPr anchor="t" rtlCol="false" tIns="0" lIns="0" bIns="0" rIns="0">
            <a:spAutoFit/>
          </a:bodyPr>
          <a:lstStyle/>
          <a:p>
            <a:pPr algn="l">
              <a:lnSpc>
                <a:spcPts val="4315"/>
              </a:lnSpc>
            </a:pPr>
            <a:r>
              <a:rPr lang="en-US" sz="3078">
                <a:solidFill>
                  <a:srgbClr val="2E7D5B"/>
                </a:solidFill>
                <a:latin typeface="Georgia"/>
                <a:ea typeface="Georgia"/>
                <a:cs typeface="Georgia"/>
                <a:sym typeface="Georgia"/>
              </a:rPr>
              <a:t>✓</a:t>
            </a:r>
          </a:p>
        </p:txBody>
      </p:sp>
      <p:sp>
        <p:nvSpPr>
          <p:cNvPr name="TextBox 61" id="61"/>
          <p:cNvSpPr txBox="true"/>
          <p:nvPr/>
        </p:nvSpPr>
        <p:spPr>
          <a:xfrm rot="0">
            <a:off x="11641084" y="16417766"/>
            <a:ext cx="1921859"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Bug fixing</a:t>
            </a:r>
          </a:p>
        </p:txBody>
      </p:sp>
      <p:sp>
        <p:nvSpPr>
          <p:cNvPr name="TextBox 62" id="62"/>
          <p:cNvSpPr txBox="true"/>
          <p:nvPr/>
        </p:nvSpPr>
        <p:spPr>
          <a:xfrm rot="0">
            <a:off x="1750419" y="17199416"/>
            <a:ext cx="460057" cy="699240"/>
          </a:xfrm>
          <a:prstGeom prst="rect">
            <a:avLst/>
          </a:prstGeom>
        </p:spPr>
        <p:txBody>
          <a:bodyPr anchor="t" rtlCol="false" tIns="0" lIns="0" bIns="0" rIns="0">
            <a:spAutoFit/>
          </a:bodyPr>
          <a:lstStyle/>
          <a:p>
            <a:pPr algn="l">
              <a:lnSpc>
                <a:spcPts val="4315"/>
              </a:lnSpc>
            </a:pPr>
            <a:r>
              <a:rPr lang="en-US" sz="3078">
                <a:solidFill>
                  <a:srgbClr val="2E7D5B"/>
                </a:solidFill>
                <a:latin typeface="Georgia"/>
                <a:ea typeface="Georgia"/>
                <a:cs typeface="Georgia"/>
                <a:sym typeface="Georgia"/>
              </a:rPr>
              <a:t>✓</a:t>
            </a:r>
          </a:p>
        </p:txBody>
      </p:sp>
      <p:sp>
        <p:nvSpPr>
          <p:cNvPr name="TextBox 63" id="63"/>
          <p:cNvSpPr txBox="true"/>
          <p:nvPr/>
        </p:nvSpPr>
        <p:spPr>
          <a:xfrm rot="0">
            <a:off x="2288229" y="17199416"/>
            <a:ext cx="4095398"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AI / API maintenance</a:t>
            </a:r>
          </a:p>
        </p:txBody>
      </p:sp>
      <p:sp>
        <p:nvSpPr>
          <p:cNvPr name="TextBox 64" id="64"/>
          <p:cNvSpPr txBox="true"/>
          <p:nvPr/>
        </p:nvSpPr>
        <p:spPr>
          <a:xfrm rot="0">
            <a:off x="11103273" y="17199416"/>
            <a:ext cx="460057" cy="699240"/>
          </a:xfrm>
          <a:prstGeom prst="rect">
            <a:avLst/>
          </a:prstGeom>
        </p:spPr>
        <p:txBody>
          <a:bodyPr anchor="t" rtlCol="false" tIns="0" lIns="0" bIns="0" rIns="0">
            <a:spAutoFit/>
          </a:bodyPr>
          <a:lstStyle/>
          <a:p>
            <a:pPr algn="l">
              <a:lnSpc>
                <a:spcPts val="4315"/>
              </a:lnSpc>
            </a:pPr>
            <a:r>
              <a:rPr lang="en-US" sz="3078">
                <a:solidFill>
                  <a:srgbClr val="2E7D5B"/>
                </a:solidFill>
                <a:latin typeface="Georgia"/>
                <a:ea typeface="Georgia"/>
                <a:cs typeface="Georgia"/>
                <a:sym typeface="Georgia"/>
              </a:rPr>
              <a:t>✓</a:t>
            </a:r>
          </a:p>
        </p:txBody>
      </p:sp>
      <p:sp>
        <p:nvSpPr>
          <p:cNvPr name="TextBox 65" id="65"/>
          <p:cNvSpPr txBox="true"/>
          <p:nvPr/>
        </p:nvSpPr>
        <p:spPr>
          <a:xfrm rot="0">
            <a:off x="11641084" y="17199416"/>
            <a:ext cx="3458623"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System monitoring</a:t>
            </a:r>
          </a:p>
        </p:txBody>
      </p:sp>
      <p:sp>
        <p:nvSpPr>
          <p:cNvPr name="TextBox 66" id="66"/>
          <p:cNvSpPr txBox="true"/>
          <p:nvPr/>
        </p:nvSpPr>
        <p:spPr>
          <a:xfrm rot="0">
            <a:off x="1750419" y="17981066"/>
            <a:ext cx="460057" cy="699240"/>
          </a:xfrm>
          <a:prstGeom prst="rect">
            <a:avLst/>
          </a:prstGeom>
        </p:spPr>
        <p:txBody>
          <a:bodyPr anchor="t" rtlCol="false" tIns="0" lIns="0" bIns="0" rIns="0">
            <a:spAutoFit/>
          </a:bodyPr>
          <a:lstStyle/>
          <a:p>
            <a:pPr algn="l">
              <a:lnSpc>
                <a:spcPts val="4315"/>
              </a:lnSpc>
            </a:pPr>
            <a:r>
              <a:rPr lang="en-US" sz="3078">
                <a:solidFill>
                  <a:srgbClr val="2E7D5B"/>
                </a:solidFill>
                <a:latin typeface="Georgia"/>
                <a:ea typeface="Georgia"/>
                <a:cs typeface="Georgia"/>
                <a:sym typeface="Georgia"/>
              </a:rPr>
              <a:t>✓</a:t>
            </a:r>
          </a:p>
        </p:txBody>
      </p:sp>
      <p:sp>
        <p:nvSpPr>
          <p:cNvPr name="TextBox 67" id="67"/>
          <p:cNvSpPr txBox="true"/>
          <p:nvPr/>
        </p:nvSpPr>
        <p:spPr>
          <a:xfrm rot="0">
            <a:off x="2288229" y="17981066"/>
            <a:ext cx="3288906"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Technical updates</a:t>
            </a:r>
          </a:p>
        </p:txBody>
      </p:sp>
      <p:sp>
        <p:nvSpPr>
          <p:cNvPr name="TextBox 68" id="68"/>
          <p:cNvSpPr txBox="true"/>
          <p:nvPr/>
        </p:nvSpPr>
        <p:spPr>
          <a:xfrm rot="0">
            <a:off x="11103273" y="17981066"/>
            <a:ext cx="460057" cy="699240"/>
          </a:xfrm>
          <a:prstGeom prst="rect">
            <a:avLst/>
          </a:prstGeom>
        </p:spPr>
        <p:txBody>
          <a:bodyPr anchor="t" rtlCol="false" tIns="0" lIns="0" bIns="0" rIns="0">
            <a:spAutoFit/>
          </a:bodyPr>
          <a:lstStyle/>
          <a:p>
            <a:pPr algn="l">
              <a:lnSpc>
                <a:spcPts val="4315"/>
              </a:lnSpc>
            </a:pPr>
            <a:r>
              <a:rPr lang="en-US" sz="3078">
                <a:solidFill>
                  <a:srgbClr val="2E7D5B"/>
                </a:solidFill>
                <a:latin typeface="Georgia"/>
                <a:ea typeface="Georgia"/>
                <a:cs typeface="Georgia"/>
                <a:sym typeface="Georgia"/>
              </a:rPr>
              <a:t>✓</a:t>
            </a:r>
          </a:p>
        </p:txBody>
      </p:sp>
      <p:sp>
        <p:nvSpPr>
          <p:cNvPr name="TextBox 69" id="69"/>
          <p:cNvSpPr txBox="true"/>
          <p:nvPr/>
        </p:nvSpPr>
        <p:spPr>
          <a:xfrm rot="0">
            <a:off x="11641084" y="17981066"/>
            <a:ext cx="5993854"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Database / system maintenance</a:t>
            </a:r>
          </a:p>
        </p:txBody>
      </p:sp>
      <p:sp>
        <p:nvSpPr>
          <p:cNvPr name="TextBox 70" id="70"/>
          <p:cNvSpPr txBox="true"/>
          <p:nvPr/>
        </p:nvSpPr>
        <p:spPr>
          <a:xfrm rot="0">
            <a:off x="1750419" y="27367163"/>
            <a:ext cx="18438743" cy="1474603"/>
          </a:xfrm>
          <a:prstGeom prst="rect">
            <a:avLst/>
          </a:prstGeom>
        </p:spPr>
        <p:txBody>
          <a:bodyPr anchor="t" rtlCol="false" tIns="0" lIns="0" bIns="0" rIns="0">
            <a:spAutoFit/>
          </a:bodyPr>
          <a:lstStyle/>
          <a:p>
            <a:pPr algn="l">
              <a:lnSpc>
                <a:spcPts val="5093"/>
              </a:lnSpc>
            </a:pPr>
            <a:r>
              <a:rPr lang="en-US" sz="3183">
                <a:solidFill>
                  <a:srgbClr val="5A6B85"/>
                </a:solidFill>
                <a:latin typeface="Georgia"/>
                <a:ea typeface="Georgia"/>
                <a:cs typeface="Georgia"/>
                <a:sym typeface="Georgia"/>
              </a:rPr>
              <a:t>The purpose is to keep the implemented system functional and reduce the Client’s need to independently manage multiple technical tools and integrations.</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725025" y="2102368"/>
            <a:ext cx="17951006" cy="26956"/>
            <a:chOff x="0" y="0"/>
            <a:chExt cx="23934674" cy="35941"/>
          </a:xfrm>
        </p:grpSpPr>
        <p:sp>
          <p:nvSpPr>
            <p:cNvPr name="Freeform 3" id="3"/>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E2E8F1"/>
            </a:solidFill>
          </p:spPr>
        </p:sp>
      </p:grpSp>
      <p:sp>
        <p:nvSpPr>
          <p:cNvPr name="TextBox 4" id="4"/>
          <p:cNvSpPr txBox="true"/>
          <p:nvPr/>
        </p:nvSpPr>
        <p:spPr>
          <a:xfrm rot="0">
            <a:off x="1750419" y="1525267"/>
            <a:ext cx="3195828"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LUMELUSH STUDIO</a:t>
            </a:r>
          </a:p>
        </p:txBody>
      </p:sp>
      <p:sp>
        <p:nvSpPr>
          <p:cNvPr name="TextBox 5" id="5"/>
          <p:cNvSpPr txBox="true"/>
          <p:nvPr/>
        </p:nvSpPr>
        <p:spPr>
          <a:xfrm rot="0">
            <a:off x="15847933" y="1525267"/>
            <a:ext cx="4188057"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COMMERCIAL PROPOSAL</a:t>
            </a:r>
          </a:p>
        </p:txBody>
      </p:sp>
      <p:grpSp>
        <p:nvGrpSpPr>
          <p:cNvPr name="Group 6" id="6"/>
          <p:cNvGrpSpPr/>
          <p:nvPr/>
        </p:nvGrpSpPr>
        <p:grpSpPr>
          <a:xfrm rot="0">
            <a:off x="1725025" y="4258647"/>
            <a:ext cx="17951006" cy="26956"/>
            <a:chOff x="0" y="0"/>
            <a:chExt cx="23934674" cy="35941"/>
          </a:xfrm>
        </p:grpSpPr>
        <p:sp>
          <p:nvSpPr>
            <p:cNvPr name="Freeform 7" id="7"/>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DCE3EE"/>
            </a:solidFill>
          </p:spPr>
        </p:sp>
      </p:grpSp>
      <p:sp>
        <p:nvSpPr>
          <p:cNvPr name="TextBox 8" id="8"/>
          <p:cNvSpPr txBox="true"/>
          <p:nvPr/>
        </p:nvSpPr>
        <p:spPr>
          <a:xfrm rot="0">
            <a:off x="1750419" y="3465919"/>
            <a:ext cx="1578197" cy="470840"/>
          </a:xfrm>
          <a:prstGeom prst="rect">
            <a:avLst/>
          </a:prstGeom>
        </p:spPr>
        <p:txBody>
          <a:bodyPr anchor="t" rtlCol="false" tIns="0" lIns="0" bIns="0" rIns="0">
            <a:spAutoFit/>
          </a:bodyPr>
          <a:lstStyle/>
          <a:p>
            <a:pPr algn="l">
              <a:lnSpc>
                <a:spcPts val="3310"/>
              </a:lnSpc>
            </a:pPr>
            <a:r>
              <a:rPr lang="en-US" sz="2759" spc="387">
                <a:solidFill>
                  <a:srgbClr val="1546E0"/>
                </a:solidFill>
                <a:latin typeface="Georgia"/>
                <a:ea typeface="Georgia"/>
                <a:cs typeface="Georgia"/>
                <a:sym typeface="Georgia"/>
              </a:rPr>
              <a:t>17 – 19</a:t>
            </a:r>
          </a:p>
        </p:txBody>
      </p:sp>
      <p:sp>
        <p:nvSpPr>
          <p:cNvPr name="TextBox 9" id="9"/>
          <p:cNvSpPr txBox="true"/>
          <p:nvPr/>
        </p:nvSpPr>
        <p:spPr>
          <a:xfrm rot="0">
            <a:off x="3541138" y="2963332"/>
            <a:ext cx="11395500" cy="1108196"/>
          </a:xfrm>
          <a:prstGeom prst="rect">
            <a:avLst/>
          </a:prstGeom>
        </p:spPr>
        <p:txBody>
          <a:bodyPr anchor="t" rtlCol="false" tIns="0" lIns="0" bIns="0" rIns="0">
            <a:spAutoFit/>
          </a:bodyPr>
          <a:lstStyle/>
          <a:p>
            <a:pPr algn="l">
              <a:lnSpc>
                <a:spcPts val="7130"/>
              </a:lnSpc>
            </a:pPr>
            <a:r>
              <a:rPr lang="en-US" sz="5942" b="true">
                <a:solidFill>
                  <a:srgbClr val="1B2A44"/>
                </a:solidFill>
                <a:latin typeface="Playfair Display Bold"/>
                <a:ea typeface="Playfair Display Bold"/>
                <a:cs typeface="Playfair Display Bold"/>
                <a:sym typeface="Playfair Display Bold"/>
              </a:rPr>
              <a:t>Scope, Capacity &amp; Boundaries</a:t>
            </a:r>
          </a:p>
        </p:txBody>
      </p:sp>
      <p:sp>
        <p:nvSpPr>
          <p:cNvPr name="TextBox 10" id="10"/>
          <p:cNvSpPr txBox="true"/>
          <p:nvPr/>
        </p:nvSpPr>
        <p:spPr>
          <a:xfrm rot="0">
            <a:off x="1750419" y="4751575"/>
            <a:ext cx="18438743" cy="3713369"/>
          </a:xfrm>
          <a:prstGeom prst="rect">
            <a:avLst/>
          </a:prstGeom>
        </p:spPr>
        <p:txBody>
          <a:bodyPr anchor="t" rtlCol="false" tIns="0" lIns="0" bIns="0" rIns="0">
            <a:spAutoFit/>
          </a:bodyPr>
          <a:lstStyle/>
          <a:p>
            <a:pPr algn="l">
              <a:lnSpc>
                <a:spcPts val="5661"/>
              </a:lnSpc>
            </a:pPr>
            <a:r>
              <a:rPr lang="en-US" sz="3395">
                <a:solidFill>
                  <a:srgbClr val="33425C"/>
                </a:solidFill>
                <a:latin typeface="Georgia"/>
                <a:ea typeface="Georgia"/>
                <a:cs typeface="Georgia"/>
                <a:sym typeface="Georgia"/>
              </a:rPr>
              <a:t>The Care Plan is not CRM outsourcing. The Client’s team operates the CRM and uses the tools provided. Lumelush Studio maintains the agreed underlying systems, integrations, APIs, automations and growth infrastructure included within the Care Plan. If the Client requires a completely new system or materially different automation after implementation, that requirement may be separately scoped.</a:t>
            </a:r>
          </a:p>
        </p:txBody>
      </p:sp>
      <p:grpSp>
        <p:nvGrpSpPr>
          <p:cNvPr name="Group 11" id="11"/>
          <p:cNvGrpSpPr/>
          <p:nvPr/>
        </p:nvGrpSpPr>
        <p:grpSpPr>
          <a:xfrm rot="0">
            <a:off x="1711547" y="9015936"/>
            <a:ext cx="17977961" cy="1805883"/>
            <a:chOff x="0" y="0"/>
            <a:chExt cx="23970615" cy="2407844"/>
          </a:xfrm>
        </p:grpSpPr>
        <p:sp>
          <p:nvSpPr>
            <p:cNvPr name="Freeform 12" id="12"/>
            <p:cNvSpPr/>
            <p:nvPr/>
          </p:nvSpPr>
          <p:spPr>
            <a:xfrm flipH="false" flipV="false" rot="0">
              <a:off x="0" y="0"/>
              <a:ext cx="23970616" cy="2407793"/>
            </a:xfrm>
            <a:custGeom>
              <a:avLst/>
              <a:gdLst/>
              <a:ahLst/>
              <a:cxnLst/>
              <a:rect r="r" b="b" t="t" l="l"/>
              <a:pathLst>
                <a:path h="2407793" w="23970616">
                  <a:moveTo>
                    <a:pt x="17907" y="0"/>
                  </a:moveTo>
                  <a:lnTo>
                    <a:pt x="23952708" y="0"/>
                  </a:lnTo>
                  <a:cubicBezTo>
                    <a:pt x="23962615" y="0"/>
                    <a:pt x="23970616" y="8001"/>
                    <a:pt x="23970616" y="17907"/>
                  </a:cubicBezTo>
                  <a:lnTo>
                    <a:pt x="23970616" y="2389886"/>
                  </a:lnTo>
                  <a:cubicBezTo>
                    <a:pt x="23970616" y="2399792"/>
                    <a:pt x="23962615" y="2407793"/>
                    <a:pt x="23952708" y="2407793"/>
                  </a:cubicBezTo>
                  <a:lnTo>
                    <a:pt x="17907" y="2407793"/>
                  </a:lnTo>
                  <a:cubicBezTo>
                    <a:pt x="8001" y="2407793"/>
                    <a:pt x="0" y="2399792"/>
                    <a:pt x="0" y="2389886"/>
                  </a:cubicBezTo>
                  <a:lnTo>
                    <a:pt x="0" y="17907"/>
                  </a:lnTo>
                  <a:cubicBezTo>
                    <a:pt x="0" y="8001"/>
                    <a:pt x="8001" y="0"/>
                    <a:pt x="17907" y="0"/>
                  </a:cubicBezTo>
                  <a:moveTo>
                    <a:pt x="17907" y="35941"/>
                  </a:moveTo>
                  <a:lnTo>
                    <a:pt x="17907" y="17907"/>
                  </a:lnTo>
                  <a:lnTo>
                    <a:pt x="35941" y="17907"/>
                  </a:lnTo>
                  <a:lnTo>
                    <a:pt x="35941" y="2389886"/>
                  </a:lnTo>
                  <a:lnTo>
                    <a:pt x="17907" y="2389886"/>
                  </a:lnTo>
                  <a:lnTo>
                    <a:pt x="17907" y="2371979"/>
                  </a:lnTo>
                  <a:lnTo>
                    <a:pt x="23952708" y="2371979"/>
                  </a:lnTo>
                  <a:lnTo>
                    <a:pt x="23952708" y="2389886"/>
                  </a:lnTo>
                  <a:lnTo>
                    <a:pt x="23934801" y="2389886"/>
                  </a:lnTo>
                  <a:lnTo>
                    <a:pt x="23934801" y="17907"/>
                  </a:lnTo>
                  <a:lnTo>
                    <a:pt x="23952708" y="17907"/>
                  </a:lnTo>
                  <a:lnTo>
                    <a:pt x="23952708" y="35941"/>
                  </a:lnTo>
                  <a:lnTo>
                    <a:pt x="17907" y="35941"/>
                  </a:lnTo>
                  <a:close/>
                </a:path>
              </a:pathLst>
            </a:custGeom>
            <a:solidFill>
              <a:srgbClr val="E2E8F1"/>
            </a:solidFill>
          </p:spPr>
        </p:sp>
      </p:grpSp>
      <p:sp>
        <p:nvSpPr>
          <p:cNvPr name="TextBox 13" id="13"/>
          <p:cNvSpPr txBox="true"/>
          <p:nvPr/>
        </p:nvSpPr>
        <p:spPr>
          <a:xfrm rot="0">
            <a:off x="2370353" y="9907800"/>
            <a:ext cx="3729885" cy="389982"/>
          </a:xfrm>
          <a:prstGeom prst="rect">
            <a:avLst/>
          </a:prstGeom>
        </p:spPr>
        <p:txBody>
          <a:bodyPr anchor="t" rtlCol="false" tIns="0" lIns="0" bIns="0" rIns="0">
            <a:spAutoFit/>
          </a:bodyPr>
          <a:lstStyle/>
          <a:p>
            <a:pPr algn="l">
              <a:lnSpc>
                <a:spcPts val="2421"/>
              </a:lnSpc>
            </a:pPr>
            <a:r>
              <a:rPr lang="en-US" sz="2017" spc="322">
                <a:solidFill>
                  <a:srgbClr val="8494AB"/>
                </a:solidFill>
                <a:latin typeface="Georgia"/>
                <a:ea typeface="Georgia"/>
                <a:cs typeface="Georgia"/>
                <a:sym typeface="Georgia"/>
              </a:rPr>
              <a:t>OUTREACH CAPACITY</a:t>
            </a:r>
          </a:p>
        </p:txBody>
      </p:sp>
      <p:sp>
        <p:nvSpPr>
          <p:cNvPr name="TextBox 14" id="14"/>
          <p:cNvSpPr txBox="true"/>
          <p:nvPr/>
        </p:nvSpPr>
        <p:spPr>
          <a:xfrm rot="0">
            <a:off x="10235708" y="9566929"/>
            <a:ext cx="9679572" cy="811711"/>
          </a:xfrm>
          <a:prstGeom prst="rect">
            <a:avLst/>
          </a:prstGeom>
        </p:spPr>
        <p:txBody>
          <a:bodyPr anchor="t" rtlCol="false" tIns="0" lIns="0" bIns="0" rIns="0">
            <a:spAutoFit/>
          </a:bodyPr>
          <a:lstStyle/>
          <a:p>
            <a:pPr algn="l">
              <a:lnSpc>
                <a:spcPts val="5093"/>
              </a:lnSpc>
            </a:pPr>
            <a:r>
              <a:rPr lang="en-US" sz="4244">
                <a:solidFill>
                  <a:srgbClr val="1546E0"/>
                </a:solidFill>
                <a:latin typeface="Playfair Display"/>
                <a:ea typeface="Playfair Display"/>
                <a:cs typeface="Playfair Display"/>
                <a:sym typeface="Playfair Display"/>
              </a:rPr>
              <a:t>1,000 verified ICP prospects / month</a:t>
            </a:r>
          </a:p>
        </p:txBody>
      </p:sp>
      <p:grpSp>
        <p:nvGrpSpPr>
          <p:cNvPr name="Group 15" id="15"/>
          <p:cNvGrpSpPr/>
          <p:nvPr/>
        </p:nvGrpSpPr>
        <p:grpSpPr>
          <a:xfrm rot="0">
            <a:off x="1711547" y="11172215"/>
            <a:ext cx="17977961" cy="1805883"/>
            <a:chOff x="0" y="0"/>
            <a:chExt cx="23970615" cy="2407844"/>
          </a:xfrm>
        </p:grpSpPr>
        <p:sp>
          <p:nvSpPr>
            <p:cNvPr name="Freeform 16" id="16"/>
            <p:cNvSpPr/>
            <p:nvPr/>
          </p:nvSpPr>
          <p:spPr>
            <a:xfrm flipH="false" flipV="false" rot="0">
              <a:off x="0" y="0"/>
              <a:ext cx="23970616" cy="2407793"/>
            </a:xfrm>
            <a:custGeom>
              <a:avLst/>
              <a:gdLst/>
              <a:ahLst/>
              <a:cxnLst/>
              <a:rect r="r" b="b" t="t" l="l"/>
              <a:pathLst>
                <a:path h="2407793" w="23970616">
                  <a:moveTo>
                    <a:pt x="17907" y="0"/>
                  </a:moveTo>
                  <a:lnTo>
                    <a:pt x="23952708" y="0"/>
                  </a:lnTo>
                  <a:cubicBezTo>
                    <a:pt x="23962615" y="0"/>
                    <a:pt x="23970616" y="8001"/>
                    <a:pt x="23970616" y="17907"/>
                  </a:cubicBezTo>
                  <a:lnTo>
                    <a:pt x="23970616" y="2389886"/>
                  </a:lnTo>
                  <a:cubicBezTo>
                    <a:pt x="23970616" y="2399792"/>
                    <a:pt x="23962615" y="2407793"/>
                    <a:pt x="23952708" y="2407793"/>
                  </a:cubicBezTo>
                  <a:lnTo>
                    <a:pt x="17907" y="2407793"/>
                  </a:lnTo>
                  <a:cubicBezTo>
                    <a:pt x="8001" y="2407793"/>
                    <a:pt x="0" y="2399792"/>
                    <a:pt x="0" y="2389886"/>
                  </a:cubicBezTo>
                  <a:lnTo>
                    <a:pt x="0" y="17907"/>
                  </a:lnTo>
                  <a:cubicBezTo>
                    <a:pt x="0" y="8001"/>
                    <a:pt x="8001" y="0"/>
                    <a:pt x="17907" y="0"/>
                  </a:cubicBezTo>
                  <a:moveTo>
                    <a:pt x="17907" y="35941"/>
                  </a:moveTo>
                  <a:lnTo>
                    <a:pt x="17907" y="17907"/>
                  </a:lnTo>
                  <a:lnTo>
                    <a:pt x="35941" y="17907"/>
                  </a:lnTo>
                  <a:lnTo>
                    <a:pt x="35941" y="2389886"/>
                  </a:lnTo>
                  <a:lnTo>
                    <a:pt x="17907" y="2389886"/>
                  </a:lnTo>
                  <a:lnTo>
                    <a:pt x="17907" y="2371979"/>
                  </a:lnTo>
                  <a:lnTo>
                    <a:pt x="23952708" y="2371979"/>
                  </a:lnTo>
                  <a:lnTo>
                    <a:pt x="23952708" y="2389886"/>
                  </a:lnTo>
                  <a:lnTo>
                    <a:pt x="23934801" y="2389886"/>
                  </a:lnTo>
                  <a:lnTo>
                    <a:pt x="23934801" y="17907"/>
                  </a:lnTo>
                  <a:lnTo>
                    <a:pt x="23952708" y="17907"/>
                  </a:lnTo>
                  <a:lnTo>
                    <a:pt x="23952708" y="35941"/>
                  </a:lnTo>
                  <a:lnTo>
                    <a:pt x="17907" y="35941"/>
                  </a:lnTo>
                  <a:close/>
                </a:path>
              </a:pathLst>
            </a:custGeom>
            <a:solidFill>
              <a:srgbClr val="E2E8F1"/>
            </a:solidFill>
          </p:spPr>
        </p:sp>
      </p:grpSp>
      <p:sp>
        <p:nvSpPr>
          <p:cNvPr name="TextBox 17" id="17"/>
          <p:cNvSpPr txBox="true"/>
          <p:nvPr/>
        </p:nvSpPr>
        <p:spPr>
          <a:xfrm rot="0">
            <a:off x="2370353" y="12064079"/>
            <a:ext cx="2476510" cy="389982"/>
          </a:xfrm>
          <a:prstGeom prst="rect">
            <a:avLst/>
          </a:prstGeom>
        </p:spPr>
        <p:txBody>
          <a:bodyPr anchor="t" rtlCol="false" tIns="0" lIns="0" bIns="0" rIns="0">
            <a:spAutoFit/>
          </a:bodyPr>
          <a:lstStyle/>
          <a:p>
            <a:pPr algn="l">
              <a:lnSpc>
                <a:spcPts val="2421"/>
              </a:lnSpc>
            </a:pPr>
            <a:r>
              <a:rPr lang="en-US" sz="2017" spc="322">
                <a:solidFill>
                  <a:srgbClr val="8494AB"/>
                </a:solidFill>
                <a:latin typeface="Georgia"/>
                <a:ea typeface="Georgia"/>
                <a:cs typeface="Georgia"/>
                <a:sym typeface="Georgia"/>
              </a:rPr>
              <a:t>AI PROPOSALS</a:t>
            </a:r>
          </a:p>
        </p:txBody>
      </p:sp>
      <p:sp>
        <p:nvSpPr>
          <p:cNvPr name="TextBox 18" id="18"/>
          <p:cNvSpPr txBox="true"/>
          <p:nvPr/>
        </p:nvSpPr>
        <p:spPr>
          <a:xfrm rot="0">
            <a:off x="14711248" y="11723208"/>
            <a:ext cx="4756480" cy="811711"/>
          </a:xfrm>
          <a:prstGeom prst="rect">
            <a:avLst/>
          </a:prstGeom>
        </p:spPr>
        <p:txBody>
          <a:bodyPr anchor="t" rtlCol="false" tIns="0" lIns="0" bIns="0" rIns="0">
            <a:spAutoFit/>
          </a:bodyPr>
          <a:lstStyle/>
          <a:p>
            <a:pPr algn="l">
              <a:lnSpc>
                <a:spcPts val="5093"/>
              </a:lnSpc>
            </a:pPr>
            <a:r>
              <a:rPr lang="en-US" sz="4244">
                <a:solidFill>
                  <a:srgbClr val="16B3A8"/>
                </a:solidFill>
                <a:latin typeface="Playfair Display"/>
                <a:ea typeface="Playfair Display"/>
                <a:cs typeface="Playfair Display"/>
                <a:sym typeface="Playfair Display"/>
              </a:rPr>
              <a:t>Up to 500 / month</a:t>
            </a:r>
          </a:p>
        </p:txBody>
      </p:sp>
      <p:grpSp>
        <p:nvGrpSpPr>
          <p:cNvPr name="Group 19" id="19"/>
          <p:cNvGrpSpPr/>
          <p:nvPr/>
        </p:nvGrpSpPr>
        <p:grpSpPr>
          <a:xfrm rot="0">
            <a:off x="1711547" y="13328494"/>
            <a:ext cx="17977961" cy="1805883"/>
            <a:chOff x="0" y="0"/>
            <a:chExt cx="23970615" cy="2407844"/>
          </a:xfrm>
        </p:grpSpPr>
        <p:sp>
          <p:nvSpPr>
            <p:cNvPr name="Freeform 20" id="20"/>
            <p:cNvSpPr/>
            <p:nvPr/>
          </p:nvSpPr>
          <p:spPr>
            <a:xfrm flipH="false" flipV="false" rot="0">
              <a:off x="0" y="0"/>
              <a:ext cx="23970616" cy="2407793"/>
            </a:xfrm>
            <a:custGeom>
              <a:avLst/>
              <a:gdLst/>
              <a:ahLst/>
              <a:cxnLst/>
              <a:rect r="r" b="b" t="t" l="l"/>
              <a:pathLst>
                <a:path h="2407793" w="23970616">
                  <a:moveTo>
                    <a:pt x="17907" y="0"/>
                  </a:moveTo>
                  <a:lnTo>
                    <a:pt x="23952708" y="0"/>
                  </a:lnTo>
                  <a:cubicBezTo>
                    <a:pt x="23962615" y="0"/>
                    <a:pt x="23970616" y="8001"/>
                    <a:pt x="23970616" y="17907"/>
                  </a:cubicBezTo>
                  <a:lnTo>
                    <a:pt x="23970616" y="2389886"/>
                  </a:lnTo>
                  <a:cubicBezTo>
                    <a:pt x="23970616" y="2399792"/>
                    <a:pt x="23962615" y="2407793"/>
                    <a:pt x="23952708" y="2407793"/>
                  </a:cubicBezTo>
                  <a:lnTo>
                    <a:pt x="17907" y="2407793"/>
                  </a:lnTo>
                  <a:cubicBezTo>
                    <a:pt x="8001" y="2407793"/>
                    <a:pt x="0" y="2399792"/>
                    <a:pt x="0" y="2389886"/>
                  </a:cubicBezTo>
                  <a:lnTo>
                    <a:pt x="0" y="17907"/>
                  </a:lnTo>
                  <a:cubicBezTo>
                    <a:pt x="0" y="8001"/>
                    <a:pt x="8001" y="0"/>
                    <a:pt x="17907" y="0"/>
                  </a:cubicBezTo>
                  <a:moveTo>
                    <a:pt x="17907" y="35941"/>
                  </a:moveTo>
                  <a:lnTo>
                    <a:pt x="17907" y="17907"/>
                  </a:lnTo>
                  <a:lnTo>
                    <a:pt x="35941" y="17907"/>
                  </a:lnTo>
                  <a:lnTo>
                    <a:pt x="35941" y="2389886"/>
                  </a:lnTo>
                  <a:lnTo>
                    <a:pt x="17907" y="2389886"/>
                  </a:lnTo>
                  <a:lnTo>
                    <a:pt x="17907" y="2371979"/>
                  </a:lnTo>
                  <a:lnTo>
                    <a:pt x="23952708" y="2371979"/>
                  </a:lnTo>
                  <a:lnTo>
                    <a:pt x="23952708" y="2389886"/>
                  </a:lnTo>
                  <a:lnTo>
                    <a:pt x="23934801" y="2389886"/>
                  </a:lnTo>
                  <a:lnTo>
                    <a:pt x="23934801" y="17907"/>
                  </a:lnTo>
                  <a:lnTo>
                    <a:pt x="23952708" y="17907"/>
                  </a:lnTo>
                  <a:lnTo>
                    <a:pt x="23952708" y="35941"/>
                  </a:lnTo>
                  <a:lnTo>
                    <a:pt x="17907" y="35941"/>
                  </a:lnTo>
                  <a:close/>
                </a:path>
              </a:pathLst>
            </a:custGeom>
            <a:solidFill>
              <a:srgbClr val="E2E8F1"/>
            </a:solidFill>
          </p:spPr>
        </p:sp>
      </p:grpSp>
      <p:sp>
        <p:nvSpPr>
          <p:cNvPr name="TextBox 21" id="21"/>
          <p:cNvSpPr txBox="true"/>
          <p:nvPr/>
        </p:nvSpPr>
        <p:spPr>
          <a:xfrm rot="0">
            <a:off x="2370353" y="14220349"/>
            <a:ext cx="2724560" cy="389982"/>
          </a:xfrm>
          <a:prstGeom prst="rect">
            <a:avLst/>
          </a:prstGeom>
        </p:spPr>
        <p:txBody>
          <a:bodyPr anchor="t" rtlCol="false" tIns="0" lIns="0" bIns="0" rIns="0">
            <a:spAutoFit/>
          </a:bodyPr>
          <a:lstStyle/>
          <a:p>
            <a:pPr algn="l">
              <a:lnSpc>
                <a:spcPts val="2421"/>
              </a:lnSpc>
            </a:pPr>
            <a:r>
              <a:rPr lang="en-US" sz="2017" spc="322">
                <a:solidFill>
                  <a:srgbClr val="8494AB"/>
                </a:solidFill>
                <a:latin typeface="Georgia"/>
                <a:ea typeface="Georgia"/>
                <a:cs typeface="Georgia"/>
                <a:sym typeface="Georgia"/>
              </a:rPr>
              <a:t>AI QUOTATIONS</a:t>
            </a:r>
          </a:p>
        </p:txBody>
      </p:sp>
      <p:sp>
        <p:nvSpPr>
          <p:cNvPr name="TextBox 22" id="22"/>
          <p:cNvSpPr txBox="true"/>
          <p:nvPr/>
        </p:nvSpPr>
        <p:spPr>
          <a:xfrm rot="0">
            <a:off x="14711248" y="13879487"/>
            <a:ext cx="4756480" cy="811711"/>
          </a:xfrm>
          <a:prstGeom prst="rect">
            <a:avLst/>
          </a:prstGeom>
        </p:spPr>
        <p:txBody>
          <a:bodyPr anchor="t" rtlCol="false" tIns="0" lIns="0" bIns="0" rIns="0">
            <a:spAutoFit/>
          </a:bodyPr>
          <a:lstStyle/>
          <a:p>
            <a:pPr algn="l">
              <a:lnSpc>
                <a:spcPts val="5093"/>
              </a:lnSpc>
            </a:pPr>
            <a:r>
              <a:rPr lang="en-US" sz="4244">
                <a:solidFill>
                  <a:srgbClr val="2E7D5B"/>
                </a:solidFill>
                <a:latin typeface="Playfair Display"/>
                <a:ea typeface="Playfair Display"/>
                <a:cs typeface="Playfair Display"/>
                <a:sym typeface="Playfair Display"/>
              </a:rPr>
              <a:t>Up to 500 / month</a:t>
            </a:r>
          </a:p>
        </p:txBody>
      </p:sp>
      <p:sp>
        <p:nvSpPr>
          <p:cNvPr name="TextBox 23" id="23"/>
          <p:cNvSpPr txBox="true"/>
          <p:nvPr/>
        </p:nvSpPr>
        <p:spPr>
          <a:xfrm rot="0">
            <a:off x="1750419" y="15669358"/>
            <a:ext cx="18438743" cy="2121484"/>
          </a:xfrm>
          <a:prstGeom prst="rect">
            <a:avLst/>
          </a:prstGeom>
        </p:spPr>
        <p:txBody>
          <a:bodyPr anchor="t" rtlCol="false" tIns="0" lIns="0" bIns="0" rIns="0">
            <a:spAutoFit/>
          </a:bodyPr>
          <a:lstStyle/>
          <a:p>
            <a:pPr algn="l">
              <a:lnSpc>
                <a:spcPts val="5093"/>
              </a:lnSpc>
            </a:pPr>
            <a:r>
              <a:rPr lang="en-US" sz="3183">
                <a:solidFill>
                  <a:srgbClr val="33425C"/>
                </a:solidFill>
                <a:latin typeface="Georgia"/>
                <a:ea typeface="Georgia"/>
                <a:cs typeface="Georgia"/>
                <a:sym typeface="Georgia"/>
              </a:rPr>
              <a:t>Prospect capacity is the agreed generation capacity. It is not a guarantee of replies, enquiries, meetings, sales or revenue. Results depend on targeting, market conditions, offer, prospect behaviour, sales execution and other external factors.</a:t>
            </a:r>
          </a:p>
        </p:txBody>
      </p:sp>
      <p:sp>
        <p:nvSpPr>
          <p:cNvPr name="TextBox 24" id="24"/>
          <p:cNvSpPr txBox="true"/>
          <p:nvPr/>
        </p:nvSpPr>
        <p:spPr>
          <a:xfrm rot="0">
            <a:off x="1750419" y="27367163"/>
            <a:ext cx="18438743" cy="1474603"/>
          </a:xfrm>
          <a:prstGeom prst="rect">
            <a:avLst/>
          </a:prstGeom>
        </p:spPr>
        <p:txBody>
          <a:bodyPr anchor="t" rtlCol="false" tIns="0" lIns="0" bIns="0" rIns="0">
            <a:spAutoFit/>
          </a:bodyPr>
          <a:lstStyle/>
          <a:p>
            <a:pPr algn="l">
              <a:lnSpc>
                <a:spcPts val="5093"/>
              </a:lnSpc>
            </a:pPr>
            <a:r>
              <a:rPr lang="en-US" sz="3183" i="true">
                <a:solidFill>
                  <a:srgbClr val="5A6B85"/>
                </a:solidFill>
                <a:latin typeface="Georgia Italics"/>
                <a:ea typeface="Georgia Italics"/>
                <a:cs typeface="Georgia Italics"/>
                <a:sym typeface="Georgia Italics"/>
              </a:rPr>
              <a:t>Requirements materially exceeding the stated AI limits may require additional infrastructure, usage or scope.</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725025" y="2102368"/>
            <a:ext cx="17951006" cy="26956"/>
            <a:chOff x="0" y="0"/>
            <a:chExt cx="23934674" cy="35941"/>
          </a:xfrm>
        </p:grpSpPr>
        <p:sp>
          <p:nvSpPr>
            <p:cNvPr name="Freeform 3" id="3"/>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E2E8F1"/>
            </a:solidFill>
          </p:spPr>
        </p:sp>
      </p:grpSp>
      <p:sp>
        <p:nvSpPr>
          <p:cNvPr name="TextBox 4" id="4"/>
          <p:cNvSpPr txBox="true"/>
          <p:nvPr/>
        </p:nvSpPr>
        <p:spPr>
          <a:xfrm rot="0">
            <a:off x="1750419" y="1525267"/>
            <a:ext cx="3195828"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LUMELUSH STUDIO</a:t>
            </a:r>
          </a:p>
        </p:txBody>
      </p:sp>
      <p:sp>
        <p:nvSpPr>
          <p:cNvPr name="TextBox 5" id="5"/>
          <p:cNvSpPr txBox="true"/>
          <p:nvPr/>
        </p:nvSpPr>
        <p:spPr>
          <a:xfrm rot="0">
            <a:off x="15847933" y="1525267"/>
            <a:ext cx="4188057"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COMMERCIAL PROPOSAL</a:t>
            </a:r>
          </a:p>
        </p:txBody>
      </p:sp>
      <p:grpSp>
        <p:nvGrpSpPr>
          <p:cNvPr name="Group 6" id="6"/>
          <p:cNvGrpSpPr/>
          <p:nvPr/>
        </p:nvGrpSpPr>
        <p:grpSpPr>
          <a:xfrm rot="0">
            <a:off x="1725025" y="4258647"/>
            <a:ext cx="17951006" cy="26956"/>
            <a:chOff x="0" y="0"/>
            <a:chExt cx="23934674" cy="35941"/>
          </a:xfrm>
        </p:grpSpPr>
        <p:sp>
          <p:nvSpPr>
            <p:cNvPr name="Freeform 7" id="7"/>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DCE3EE"/>
            </a:solidFill>
          </p:spPr>
        </p:sp>
      </p:grpSp>
      <p:sp>
        <p:nvSpPr>
          <p:cNvPr name="TextBox 8" id="8"/>
          <p:cNvSpPr txBox="true"/>
          <p:nvPr/>
        </p:nvSpPr>
        <p:spPr>
          <a:xfrm rot="0">
            <a:off x="1750419" y="3465919"/>
            <a:ext cx="673999" cy="470840"/>
          </a:xfrm>
          <a:prstGeom prst="rect">
            <a:avLst/>
          </a:prstGeom>
        </p:spPr>
        <p:txBody>
          <a:bodyPr anchor="t" rtlCol="false" tIns="0" lIns="0" bIns="0" rIns="0">
            <a:spAutoFit/>
          </a:bodyPr>
          <a:lstStyle/>
          <a:p>
            <a:pPr algn="l">
              <a:lnSpc>
                <a:spcPts val="3310"/>
              </a:lnSpc>
            </a:pPr>
            <a:r>
              <a:rPr lang="en-US" sz="2759" spc="387">
                <a:solidFill>
                  <a:srgbClr val="1546E0"/>
                </a:solidFill>
                <a:latin typeface="Georgia"/>
                <a:ea typeface="Georgia"/>
                <a:cs typeface="Georgia"/>
                <a:sym typeface="Georgia"/>
              </a:rPr>
              <a:t>20</a:t>
            </a:r>
          </a:p>
        </p:txBody>
      </p:sp>
      <p:sp>
        <p:nvSpPr>
          <p:cNvPr name="TextBox 9" id="9"/>
          <p:cNvSpPr txBox="true"/>
          <p:nvPr/>
        </p:nvSpPr>
        <p:spPr>
          <a:xfrm rot="0">
            <a:off x="2636939" y="2963332"/>
            <a:ext cx="12542530" cy="1108196"/>
          </a:xfrm>
          <a:prstGeom prst="rect">
            <a:avLst/>
          </a:prstGeom>
        </p:spPr>
        <p:txBody>
          <a:bodyPr anchor="t" rtlCol="false" tIns="0" lIns="0" bIns="0" rIns="0">
            <a:spAutoFit/>
          </a:bodyPr>
          <a:lstStyle/>
          <a:p>
            <a:pPr algn="l">
              <a:lnSpc>
                <a:spcPts val="7130"/>
              </a:lnSpc>
            </a:pPr>
            <a:r>
              <a:rPr lang="en-US" sz="5942" b="true">
                <a:solidFill>
                  <a:srgbClr val="1B2A44"/>
                </a:solidFill>
                <a:latin typeface="Playfair Display Bold"/>
                <a:ea typeface="Playfair Display Bold"/>
                <a:cs typeface="Playfair Display Bold"/>
                <a:sym typeface="Playfair Display Bold"/>
              </a:rPr>
              <a:t>Outreach Infrastructure Renewal</a:t>
            </a:r>
          </a:p>
        </p:txBody>
      </p:sp>
      <p:sp>
        <p:nvSpPr>
          <p:cNvPr name="TextBox 10" id="10"/>
          <p:cNvSpPr txBox="true"/>
          <p:nvPr/>
        </p:nvSpPr>
        <p:spPr>
          <a:xfrm rot="0">
            <a:off x="1750419" y="4697673"/>
            <a:ext cx="18438743" cy="3012577"/>
          </a:xfrm>
          <a:prstGeom prst="rect">
            <a:avLst/>
          </a:prstGeom>
        </p:spPr>
        <p:txBody>
          <a:bodyPr anchor="t" rtlCol="false" tIns="0" lIns="0" bIns="0" rIns="0">
            <a:spAutoFit/>
          </a:bodyPr>
          <a:lstStyle/>
          <a:p>
            <a:pPr algn="l">
              <a:lnSpc>
                <a:spcPts val="5661"/>
              </a:lnSpc>
            </a:pPr>
            <a:r>
              <a:rPr lang="en-US" sz="3395">
                <a:solidFill>
                  <a:srgbClr val="33425C"/>
                </a:solidFill>
                <a:latin typeface="Georgia"/>
                <a:ea typeface="Georgia"/>
                <a:cs typeface="Georgia"/>
                <a:sym typeface="Georgia"/>
              </a:rPr>
              <a:t>The outreach domains and email accounts included in the implementation are covered for the first 12 months. After the initial 12-month period, domain renewal costs and email account / mailbox renewal costs will be payable separately if the Client wishes to continue using the same infrastructure. Applicable renewal requirements will be communicated in advance.</a:t>
            </a:r>
          </a:p>
        </p:txBody>
      </p:sp>
      <p:grpSp>
        <p:nvGrpSpPr>
          <p:cNvPr name="Group 11" id="11"/>
          <p:cNvGrpSpPr/>
          <p:nvPr/>
        </p:nvGrpSpPr>
        <p:grpSpPr>
          <a:xfrm rot="0">
            <a:off x="1711547" y="8099517"/>
            <a:ext cx="17977961" cy="4447318"/>
            <a:chOff x="0" y="0"/>
            <a:chExt cx="23970615" cy="5929757"/>
          </a:xfrm>
        </p:grpSpPr>
        <p:sp>
          <p:nvSpPr>
            <p:cNvPr name="Freeform 12" id="12"/>
            <p:cNvSpPr/>
            <p:nvPr/>
          </p:nvSpPr>
          <p:spPr>
            <a:xfrm flipH="false" flipV="false" rot="0">
              <a:off x="17907" y="17907"/>
              <a:ext cx="23934801" cy="5893943"/>
            </a:xfrm>
            <a:custGeom>
              <a:avLst/>
              <a:gdLst/>
              <a:ahLst/>
              <a:cxnLst/>
              <a:rect r="r" b="b" t="t" l="l"/>
              <a:pathLst>
                <a:path h="5893943" w="23934801">
                  <a:moveTo>
                    <a:pt x="0" y="0"/>
                  </a:moveTo>
                  <a:lnTo>
                    <a:pt x="23934801" y="0"/>
                  </a:lnTo>
                  <a:lnTo>
                    <a:pt x="23934801" y="5893943"/>
                  </a:lnTo>
                  <a:lnTo>
                    <a:pt x="0" y="5893943"/>
                  </a:lnTo>
                  <a:close/>
                </a:path>
              </a:pathLst>
            </a:custGeom>
            <a:solidFill>
              <a:srgbClr val="F7FAFC"/>
            </a:solidFill>
          </p:spPr>
        </p:sp>
        <p:sp>
          <p:nvSpPr>
            <p:cNvPr name="Freeform 13" id="13"/>
            <p:cNvSpPr/>
            <p:nvPr/>
          </p:nvSpPr>
          <p:spPr>
            <a:xfrm flipH="false" flipV="false" rot="0">
              <a:off x="0" y="0"/>
              <a:ext cx="23970616" cy="5929757"/>
            </a:xfrm>
            <a:custGeom>
              <a:avLst/>
              <a:gdLst/>
              <a:ahLst/>
              <a:cxnLst/>
              <a:rect r="r" b="b" t="t" l="l"/>
              <a:pathLst>
                <a:path h="5929757" w="23970616">
                  <a:moveTo>
                    <a:pt x="17907" y="0"/>
                  </a:moveTo>
                  <a:lnTo>
                    <a:pt x="23952708" y="0"/>
                  </a:lnTo>
                  <a:cubicBezTo>
                    <a:pt x="23962615" y="0"/>
                    <a:pt x="23970616" y="8001"/>
                    <a:pt x="23970616" y="17907"/>
                  </a:cubicBezTo>
                  <a:lnTo>
                    <a:pt x="23970616" y="5911850"/>
                  </a:lnTo>
                  <a:cubicBezTo>
                    <a:pt x="23970616" y="5921756"/>
                    <a:pt x="23962615" y="5929757"/>
                    <a:pt x="23952708" y="5929757"/>
                  </a:cubicBezTo>
                  <a:lnTo>
                    <a:pt x="17907" y="5929757"/>
                  </a:lnTo>
                  <a:cubicBezTo>
                    <a:pt x="8001" y="5929757"/>
                    <a:pt x="0" y="5921756"/>
                    <a:pt x="0" y="5911850"/>
                  </a:cubicBezTo>
                  <a:lnTo>
                    <a:pt x="0" y="17907"/>
                  </a:lnTo>
                  <a:cubicBezTo>
                    <a:pt x="0" y="8001"/>
                    <a:pt x="8001" y="0"/>
                    <a:pt x="17907" y="0"/>
                  </a:cubicBezTo>
                  <a:moveTo>
                    <a:pt x="17907" y="35941"/>
                  </a:moveTo>
                  <a:lnTo>
                    <a:pt x="17907" y="17907"/>
                  </a:lnTo>
                  <a:lnTo>
                    <a:pt x="35941" y="17907"/>
                  </a:lnTo>
                  <a:lnTo>
                    <a:pt x="35941" y="5911850"/>
                  </a:lnTo>
                  <a:lnTo>
                    <a:pt x="17907" y="5911850"/>
                  </a:lnTo>
                  <a:lnTo>
                    <a:pt x="17907" y="5893943"/>
                  </a:lnTo>
                  <a:lnTo>
                    <a:pt x="23952708" y="5893943"/>
                  </a:lnTo>
                  <a:lnTo>
                    <a:pt x="23952708" y="5911850"/>
                  </a:lnTo>
                  <a:lnTo>
                    <a:pt x="23934801" y="5911850"/>
                  </a:lnTo>
                  <a:lnTo>
                    <a:pt x="23934801" y="17907"/>
                  </a:lnTo>
                  <a:lnTo>
                    <a:pt x="23952708" y="17907"/>
                  </a:lnTo>
                  <a:lnTo>
                    <a:pt x="23952708" y="35941"/>
                  </a:lnTo>
                  <a:lnTo>
                    <a:pt x="17907" y="35941"/>
                  </a:lnTo>
                  <a:close/>
                </a:path>
              </a:pathLst>
            </a:custGeom>
            <a:solidFill>
              <a:srgbClr val="C9D6E8"/>
            </a:solidFill>
          </p:spPr>
        </p:sp>
      </p:grpSp>
      <p:sp>
        <p:nvSpPr>
          <p:cNvPr name="TextBox 14" id="14"/>
          <p:cNvSpPr txBox="true"/>
          <p:nvPr/>
        </p:nvSpPr>
        <p:spPr>
          <a:xfrm rot="0">
            <a:off x="2424255" y="8748798"/>
            <a:ext cx="18212867" cy="389982"/>
          </a:xfrm>
          <a:prstGeom prst="rect">
            <a:avLst/>
          </a:prstGeom>
        </p:spPr>
        <p:txBody>
          <a:bodyPr anchor="t" rtlCol="false" tIns="0" lIns="0" bIns="0" rIns="0">
            <a:spAutoFit/>
          </a:bodyPr>
          <a:lstStyle/>
          <a:p>
            <a:pPr algn="l">
              <a:lnSpc>
                <a:spcPts val="2421"/>
              </a:lnSpc>
            </a:pPr>
            <a:r>
              <a:rPr lang="en-US" sz="2017" spc="322">
                <a:solidFill>
                  <a:srgbClr val="1546E0"/>
                </a:solidFill>
                <a:latin typeface="Georgia"/>
                <a:ea typeface="Georgia"/>
                <a:cs typeface="Georgia"/>
                <a:sym typeface="Georgia"/>
              </a:rPr>
              <a:t>IMPORTANT</a:t>
            </a:r>
          </a:p>
        </p:txBody>
      </p:sp>
      <p:sp>
        <p:nvSpPr>
          <p:cNvPr name="TextBox 15" id="15"/>
          <p:cNvSpPr txBox="true"/>
          <p:nvPr/>
        </p:nvSpPr>
        <p:spPr>
          <a:xfrm rot="0">
            <a:off x="2424255" y="9227477"/>
            <a:ext cx="17050636" cy="2768375"/>
          </a:xfrm>
          <a:prstGeom prst="rect">
            <a:avLst/>
          </a:prstGeom>
        </p:spPr>
        <p:txBody>
          <a:bodyPr anchor="t" rtlCol="false" tIns="0" lIns="0" bIns="0" rIns="0">
            <a:spAutoFit/>
          </a:bodyPr>
          <a:lstStyle/>
          <a:p>
            <a:pPr algn="l">
              <a:lnSpc>
                <a:spcPts val="5093"/>
              </a:lnSpc>
            </a:pPr>
            <a:r>
              <a:rPr lang="en-US" sz="3183">
                <a:solidFill>
                  <a:srgbClr val="33425C"/>
                </a:solidFill>
                <a:latin typeface="Georgia"/>
                <a:ea typeface="Georgia"/>
                <a:cs typeface="Georgia"/>
                <a:sym typeface="Georgia"/>
              </a:rPr>
              <a:t>The Care Plan covers the ongoing operation of the outreach infrastructure — warm-up, deliverability management, campaign execution, sending, follow-ups, monitoring and maintenance. The annual renewal of the underlying domains and email accounts after the initial 12-month period is separate.</a:t>
            </a:r>
          </a:p>
        </p:txBody>
      </p:sp>
      <p:grpSp>
        <p:nvGrpSpPr>
          <p:cNvPr name="Group 16" id="16"/>
          <p:cNvGrpSpPr/>
          <p:nvPr/>
        </p:nvGrpSpPr>
        <p:grpSpPr>
          <a:xfrm rot="0">
            <a:off x="1725025" y="14689636"/>
            <a:ext cx="17951006" cy="26956"/>
            <a:chOff x="0" y="0"/>
            <a:chExt cx="23934674" cy="35941"/>
          </a:xfrm>
        </p:grpSpPr>
        <p:sp>
          <p:nvSpPr>
            <p:cNvPr name="Freeform 17" id="17"/>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DCE3EE"/>
            </a:solidFill>
          </p:spPr>
        </p:sp>
      </p:grpSp>
      <p:sp>
        <p:nvSpPr>
          <p:cNvPr name="TextBox 18" id="18"/>
          <p:cNvSpPr txBox="true"/>
          <p:nvPr/>
        </p:nvSpPr>
        <p:spPr>
          <a:xfrm rot="0">
            <a:off x="1750419" y="13923864"/>
            <a:ext cx="609562" cy="470840"/>
          </a:xfrm>
          <a:prstGeom prst="rect">
            <a:avLst/>
          </a:prstGeom>
        </p:spPr>
        <p:txBody>
          <a:bodyPr anchor="t" rtlCol="false" tIns="0" lIns="0" bIns="0" rIns="0">
            <a:spAutoFit/>
          </a:bodyPr>
          <a:lstStyle/>
          <a:p>
            <a:pPr algn="l">
              <a:lnSpc>
                <a:spcPts val="3310"/>
              </a:lnSpc>
            </a:pPr>
            <a:r>
              <a:rPr lang="en-US" sz="2759" spc="387">
                <a:solidFill>
                  <a:srgbClr val="1546E0"/>
                </a:solidFill>
                <a:latin typeface="Georgia"/>
                <a:ea typeface="Georgia"/>
                <a:cs typeface="Georgia"/>
                <a:sym typeface="Georgia"/>
              </a:rPr>
              <a:t>21</a:t>
            </a:r>
          </a:p>
        </p:txBody>
      </p:sp>
      <p:sp>
        <p:nvSpPr>
          <p:cNvPr name="TextBox 19" id="19"/>
          <p:cNvSpPr txBox="true"/>
          <p:nvPr/>
        </p:nvSpPr>
        <p:spPr>
          <a:xfrm rot="0">
            <a:off x="2572502" y="13465654"/>
            <a:ext cx="14259382" cy="1036863"/>
          </a:xfrm>
          <a:prstGeom prst="rect">
            <a:avLst/>
          </a:prstGeom>
        </p:spPr>
        <p:txBody>
          <a:bodyPr anchor="t" rtlCol="false" tIns="0" lIns="0" bIns="0" rIns="0">
            <a:spAutoFit/>
          </a:bodyPr>
          <a:lstStyle/>
          <a:p>
            <a:pPr algn="l">
              <a:lnSpc>
                <a:spcPts val="6621"/>
              </a:lnSpc>
            </a:pPr>
            <a:r>
              <a:rPr lang="en-US" sz="5518" b="true">
                <a:solidFill>
                  <a:srgbClr val="1B2A44"/>
                </a:solidFill>
                <a:latin typeface="Playfair Display Bold"/>
                <a:ea typeface="Playfair Display Bold"/>
                <a:cs typeface="Playfair Display Bold"/>
                <a:sym typeface="Playfair Display Bold"/>
              </a:rPr>
              <a:t>If the Client Does Not Take the Care Plan</a:t>
            </a:r>
          </a:p>
        </p:txBody>
      </p:sp>
      <p:sp>
        <p:nvSpPr>
          <p:cNvPr name="TextBox 20" id="20"/>
          <p:cNvSpPr txBox="true"/>
          <p:nvPr/>
        </p:nvSpPr>
        <p:spPr>
          <a:xfrm rot="0">
            <a:off x="1750419" y="15138187"/>
            <a:ext cx="18438743" cy="2787425"/>
          </a:xfrm>
          <a:prstGeom prst="rect">
            <a:avLst/>
          </a:prstGeom>
        </p:spPr>
        <p:txBody>
          <a:bodyPr anchor="t" rtlCol="false" tIns="0" lIns="0" bIns="0" rIns="0">
            <a:spAutoFit/>
          </a:bodyPr>
          <a:lstStyle/>
          <a:p>
            <a:pPr algn="l">
              <a:lnSpc>
                <a:spcPts val="5252"/>
              </a:lnSpc>
            </a:pPr>
            <a:r>
              <a:rPr lang="en-US" sz="3183">
                <a:solidFill>
                  <a:srgbClr val="33425C"/>
                </a:solidFill>
                <a:latin typeface="Georgia"/>
                <a:ea typeface="Georgia"/>
                <a:cs typeface="Georgia"/>
                <a:sym typeface="Georgia"/>
              </a:rPr>
              <a:t>The ₹2,75,000 implementation remains complete and handover-ready. The Client receives the custom CRM, sales pipeline, dashboards, AI proposal generator, AI quotation generator, workflow automation, growth systems, training, configured integrations and the agreed outreach infrastructure for the initial included period, and can operate the system internally.</a:t>
            </a:r>
          </a:p>
        </p:txBody>
      </p:sp>
      <p:sp>
        <p:nvSpPr>
          <p:cNvPr name="TextBox 21" id="21"/>
          <p:cNvSpPr txBox="true"/>
          <p:nvPr/>
        </p:nvSpPr>
        <p:spPr>
          <a:xfrm rot="0">
            <a:off x="1750419" y="18103072"/>
            <a:ext cx="18438743" cy="2140534"/>
          </a:xfrm>
          <a:prstGeom prst="rect">
            <a:avLst/>
          </a:prstGeom>
        </p:spPr>
        <p:txBody>
          <a:bodyPr anchor="t" rtlCol="false" tIns="0" lIns="0" bIns="0" rIns="0">
            <a:spAutoFit/>
          </a:bodyPr>
          <a:lstStyle/>
          <a:p>
            <a:pPr algn="l">
              <a:lnSpc>
                <a:spcPts val="5252"/>
              </a:lnSpc>
            </a:pPr>
            <a:r>
              <a:rPr lang="en-US" sz="3183">
                <a:solidFill>
                  <a:srgbClr val="33425C"/>
                </a:solidFill>
                <a:latin typeface="Georgia"/>
                <a:ea typeface="Georgia"/>
                <a:cs typeface="Georgia"/>
                <a:sym typeface="Georgia"/>
              </a:rPr>
              <a:t>Without the Care Plan, the Client becomes responsible for managing the underlying APIs, AI services, automation platforms, email infrastructure, outreach tools, technical maintenance, bugs, integration issues and future system updates.</a:t>
            </a:r>
          </a:p>
        </p:txBody>
      </p:sp>
      <p:sp>
        <p:nvSpPr>
          <p:cNvPr name="TextBox 22" id="22"/>
          <p:cNvSpPr txBox="true"/>
          <p:nvPr/>
        </p:nvSpPr>
        <p:spPr>
          <a:xfrm rot="0">
            <a:off x="1750419" y="28014044"/>
            <a:ext cx="18438743" cy="827723"/>
          </a:xfrm>
          <a:prstGeom prst="rect">
            <a:avLst/>
          </a:prstGeom>
        </p:spPr>
        <p:txBody>
          <a:bodyPr anchor="t" rtlCol="false" tIns="0" lIns="0" bIns="0" rIns="0">
            <a:spAutoFit/>
          </a:bodyPr>
          <a:lstStyle/>
          <a:p>
            <a:pPr algn="l">
              <a:lnSpc>
                <a:spcPts val="5093"/>
              </a:lnSpc>
            </a:pPr>
            <a:r>
              <a:rPr lang="en-US" sz="3183" i="true">
                <a:solidFill>
                  <a:srgbClr val="2E7D5B"/>
                </a:solidFill>
                <a:latin typeface="Georgia Italics"/>
                <a:ea typeface="Georgia Italics"/>
                <a:cs typeface="Georgia Italics"/>
                <a:sym typeface="Georgia Italics"/>
              </a:rPr>
              <a:t>The Care Plan exists to remove this ongoing technical and execution burden.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025" y="2102368"/>
            <a:ext cx="17951006" cy="26956"/>
            <a:chOff x="0" y="0"/>
            <a:chExt cx="23934674" cy="35941"/>
          </a:xfrm>
        </p:grpSpPr>
        <p:sp>
          <p:nvSpPr>
            <p:cNvPr name="Freeform 3" id="3"/>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E2E8F1"/>
            </a:solidFill>
          </p:spPr>
        </p:sp>
      </p:grpSp>
      <p:sp>
        <p:nvSpPr>
          <p:cNvPr name="TextBox 4" id="4"/>
          <p:cNvSpPr txBox="true"/>
          <p:nvPr/>
        </p:nvSpPr>
        <p:spPr>
          <a:xfrm rot="0">
            <a:off x="1750419" y="1525267"/>
            <a:ext cx="3195828"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LUMELUSH STUDIO</a:t>
            </a:r>
          </a:p>
        </p:txBody>
      </p:sp>
      <p:sp>
        <p:nvSpPr>
          <p:cNvPr name="TextBox 5" id="5"/>
          <p:cNvSpPr txBox="true"/>
          <p:nvPr/>
        </p:nvSpPr>
        <p:spPr>
          <a:xfrm rot="0">
            <a:off x="15847933" y="1525267"/>
            <a:ext cx="4188057"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COMMERCIAL PROPOSAL</a:t>
            </a:r>
          </a:p>
        </p:txBody>
      </p:sp>
      <p:grpSp>
        <p:nvGrpSpPr>
          <p:cNvPr name="Group 6" id="6"/>
          <p:cNvGrpSpPr/>
          <p:nvPr/>
        </p:nvGrpSpPr>
        <p:grpSpPr>
          <a:xfrm rot="0">
            <a:off x="1725025" y="4312558"/>
            <a:ext cx="17951006" cy="26956"/>
            <a:chOff x="0" y="0"/>
            <a:chExt cx="23934674" cy="35941"/>
          </a:xfrm>
        </p:grpSpPr>
        <p:sp>
          <p:nvSpPr>
            <p:cNvPr name="Freeform 7" id="7"/>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DCE3EE"/>
            </a:solidFill>
          </p:spPr>
        </p:sp>
      </p:grpSp>
      <p:sp>
        <p:nvSpPr>
          <p:cNvPr name="TextBox 8" id="8"/>
          <p:cNvSpPr txBox="true"/>
          <p:nvPr/>
        </p:nvSpPr>
        <p:spPr>
          <a:xfrm rot="0">
            <a:off x="1750419" y="3519830"/>
            <a:ext cx="1683487" cy="470840"/>
          </a:xfrm>
          <a:prstGeom prst="rect">
            <a:avLst/>
          </a:prstGeom>
        </p:spPr>
        <p:txBody>
          <a:bodyPr anchor="t" rtlCol="false" tIns="0" lIns="0" bIns="0" rIns="0">
            <a:spAutoFit/>
          </a:bodyPr>
          <a:lstStyle/>
          <a:p>
            <a:pPr algn="l">
              <a:lnSpc>
                <a:spcPts val="3310"/>
              </a:lnSpc>
            </a:pPr>
            <a:r>
              <a:rPr lang="en-US" sz="2759" spc="387">
                <a:solidFill>
                  <a:srgbClr val="1546E0"/>
                </a:solidFill>
                <a:latin typeface="Georgia"/>
                <a:ea typeface="Georgia"/>
                <a:cs typeface="Georgia"/>
                <a:sym typeface="Georgia"/>
              </a:rPr>
              <a:t>22 – 23</a:t>
            </a:r>
          </a:p>
        </p:txBody>
      </p:sp>
      <p:sp>
        <p:nvSpPr>
          <p:cNvPr name="TextBox 9" id="9"/>
          <p:cNvSpPr txBox="true"/>
          <p:nvPr/>
        </p:nvSpPr>
        <p:spPr>
          <a:xfrm rot="0">
            <a:off x="3646427" y="2953807"/>
            <a:ext cx="5351307" cy="1171632"/>
          </a:xfrm>
          <a:prstGeom prst="rect">
            <a:avLst/>
          </a:prstGeom>
        </p:spPr>
        <p:txBody>
          <a:bodyPr anchor="t" rtlCol="false" tIns="0" lIns="0" bIns="0" rIns="0">
            <a:spAutoFit/>
          </a:bodyPr>
          <a:lstStyle/>
          <a:p>
            <a:pPr algn="l">
              <a:lnSpc>
                <a:spcPts val="7640"/>
              </a:lnSpc>
            </a:pPr>
            <a:r>
              <a:rPr lang="en-US" sz="6366" b="true">
                <a:solidFill>
                  <a:srgbClr val="1B2A44"/>
                </a:solidFill>
                <a:latin typeface="Playfair Display Bold"/>
                <a:ea typeface="Playfair Display Bold"/>
                <a:cs typeface="Playfair Display Bold"/>
                <a:sym typeface="Playfair Display Bold"/>
              </a:rPr>
              <a:t>Commercials</a:t>
            </a:r>
          </a:p>
        </p:txBody>
      </p:sp>
      <p:sp>
        <p:nvSpPr>
          <p:cNvPr name="TextBox 10" id="10"/>
          <p:cNvSpPr txBox="true"/>
          <p:nvPr/>
        </p:nvSpPr>
        <p:spPr>
          <a:xfrm rot="0">
            <a:off x="1750419" y="5002263"/>
            <a:ext cx="19695309" cy="389982"/>
          </a:xfrm>
          <a:prstGeom prst="rect">
            <a:avLst/>
          </a:prstGeom>
        </p:spPr>
        <p:txBody>
          <a:bodyPr anchor="t" rtlCol="false" tIns="0" lIns="0" bIns="0" rIns="0">
            <a:spAutoFit/>
          </a:bodyPr>
          <a:lstStyle/>
          <a:p>
            <a:pPr algn="l">
              <a:lnSpc>
                <a:spcPts val="2421"/>
              </a:lnSpc>
            </a:pPr>
            <a:r>
              <a:rPr lang="en-US" sz="2017" spc="322">
                <a:solidFill>
                  <a:srgbClr val="8494AB"/>
                </a:solidFill>
                <a:latin typeface="Georgia"/>
                <a:ea typeface="Georgia"/>
                <a:cs typeface="Georgia"/>
                <a:sym typeface="Georgia"/>
              </a:rPr>
              <a:t>IMPLEMENTATION FEE — ₹2,75,000 ONE-TIME</a:t>
            </a:r>
          </a:p>
        </p:txBody>
      </p:sp>
      <p:grpSp>
        <p:nvGrpSpPr>
          <p:cNvPr name="Group 11" id="11"/>
          <p:cNvGrpSpPr/>
          <p:nvPr/>
        </p:nvGrpSpPr>
        <p:grpSpPr>
          <a:xfrm rot="0">
            <a:off x="1725025" y="6414926"/>
            <a:ext cx="5451758" cy="40434"/>
            <a:chOff x="0" y="0"/>
            <a:chExt cx="7269010" cy="53912"/>
          </a:xfrm>
        </p:grpSpPr>
        <p:sp>
          <p:nvSpPr>
            <p:cNvPr name="Freeform 12" id="12"/>
            <p:cNvSpPr/>
            <p:nvPr/>
          </p:nvSpPr>
          <p:spPr>
            <a:xfrm flipH="false" flipV="false" rot="0">
              <a:off x="0" y="0"/>
              <a:ext cx="7268972" cy="53848"/>
            </a:xfrm>
            <a:custGeom>
              <a:avLst/>
              <a:gdLst/>
              <a:ahLst/>
              <a:cxnLst/>
              <a:rect r="r" b="b" t="t" l="l"/>
              <a:pathLst>
                <a:path h="53848" w="7268972">
                  <a:moveTo>
                    <a:pt x="0" y="0"/>
                  </a:moveTo>
                  <a:lnTo>
                    <a:pt x="7268972" y="0"/>
                  </a:lnTo>
                  <a:lnTo>
                    <a:pt x="7268972" y="53848"/>
                  </a:lnTo>
                  <a:lnTo>
                    <a:pt x="0" y="53848"/>
                  </a:lnTo>
                  <a:close/>
                </a:path>
              </a:pathLst>
            </a:custGeom>
            <a:solidFill>
              <a:srgbClr val="1B2A44"/>
            </a:solidFill>
          </p:spPr>
        </p:sp>
      </p:grpSp>
      <p:grpSp>
        <p:nvGrpSpPr>
          <p:cNvPr name="Group 13" id="13"/>
          <p:cNvGrpSpPr/>
          <p:nvPr/>
        </p:nvGrpSpPr>
        <p:grpSpPr>
          <a:xfrm rot="0">
            <a:off x="2048466" y="5848902"/>
            <a:ext cx="5020504" cy="404298"/>
            <a:chOff x="0" y="0"/>
            <a:chExt cx="6694005" cy="539064"/>
          </a:xfrm>
        </p:grpSpPr>
        <p:sp>
          <p:nvSpPr>
            <p:cNvPr name="Freeform 14" id="14"/>
            <p:cNvSpPr/>
            <p:nvPr/>
          </p:nvSpPr>
          <p:spPr>
            <a:xfrm flipH="false" flipV="false" rot="0">
              <a:off x="0" y="0"/>
              <a:ext cx="6694006" cy="539069"/>
            </a:xfrm>
            <a:custGeom>
              <a:avLst/>
              <a:gdLst/>
              <a:ahLst/>
              <a:cxnLst/>
              <a:rect r="r" b="b" t="t" l="l"/>
              <a:pathLst>
                <a:path h="539069" w="6694006">
                  <a:moveTo>
                    <a:pt x="0" y="0"/>
                  </a:moveTo>
                  <a:lnTo>
                    <a:pt x="6694006" y="0"/>
                  </a:lnTo>
                  <a:lnTo>
                    <a:pt x="6694006" y="539069"/>
                  </a:lnTo>
                  <a:lnTo>
                    <a:pt x="0" y="539069"/>
                  </a:lnTo>
                  <a:close/>
                </a:path>
              </a:pathLst>
            </a:custGeom>
            <a:blipFill>
              <a:blip r:embed="rId3">
                <a:alphaModFix amt="0"/>
              </a:blip>
              <a:stretch>
                <a:fillRect l="0" t="-191959" r="0" b="-191958"/>
              </a:stretch>
            </a:blipFill>
          </p:spPr>
        </p:sp>
        <p:sp>
          <p:nvSpPr>
            <p:cNvPr name="TextBox 15" id="15"/>
            <p:cNvSpPr txBox="true"/>
            <p:nvPr/>
          </p:nvSpPr>
          <p:spPr>
            <a:xfrm>
              <a:off x="0" y="-9525"/>
              <a:ext cx="6694005" cy="548589"/>
            </a:xfrm>
            <a:prstGeom prst="rect">
              <a:avLst/>
            </a:prstGeom>
          </p:spPr>
          <p:txBody>
            <a:bodyPr anchor="ctr" rtlCol="false" tIns="0" lIns="0" bIns="0" rIns="0"/>
            <a:lstStyle/>
            <a:p>
              <a:pPr algn="l">
                <a:lnSpc>
                  <a:spcPts val="2421"/>
                </a:lnSpc>
              </a:pPr>
              <a:r>
                <a:rPr lang="en-US" b="true" sz="2017" spc="322">
                  <a:solidFill>
                    <a:srgbClr val="8494AB"/>
                  </a:solidFill>
                  <a:latin typeface="Georgia Bold"/>
                  <a:ea typeface="Georgia Bold"/>
                  <a:cs typeface="Georgia Bold"/>
                  <a:sym typeface="Georgia Bold"/>
                </a:rPr>
                <a:t>PAYMENT</a:t>
              </a:r>
            </a:p>
          </p:txBody>
        </p:sp>
      </p:grpSp>
      <p:grpSp>
        <p:nvGrpSpPr>
          <p:cNvPr name="Group 16" id="16"/>
          <p:cNvGrpSpPr/>
          <p:nvPr/>
        </p:nvGrpSpPr>
        <p:grpSpPr>
          <a:xfrm rot="0">
            <a:off x="7176783" y="6414926"/>
            <a:ext cx="3925519" cy="40434"/>
            <a:chOff x="0" y="0"/>
            <a:chExt cx="5234026" cy="53912"/>
          </a:xfrm>
        </p:grpSpPr>
        <p:sp>
          <p:nvSpPr>
            <p:cNvPr name="Freeform 17" id="17"/>
            <p:cNvSpPr/>
            <p:nvPr/>
          </p:nvSpPr>
          <p:spPr>
            <a:xfrm flipH="false" flipV="false" rot="0">
              <a:off x="0" y="0"/>
              <a:ext cx="5234051" cy="53848"/>
            </a:xfrm>
            <a:custGeom>
              <a:avLst/>
              <a:gdLst/>
              <a:ahLst/>
              <a:cxnLst/>
              <a:rect r="r" b="b" t="t" l="l"/>
              <a:pathLst>
                <a:path h="53848" w="5234051">
                  <a:moveTo>
                    <a:pt x="0" y="0"/>
                  </a:moveTo>
                  <a:lnTo>
                    <a:pt x="5234051" y="0"/>
                  </a:lnTo>
                  <a:lnTo>
                    <a:pt x="5234051" y="53848"/>
                  </a:lnTo>
                  <a:lnTo>
                    <a:pt x="0" y="53848"/>
                  </a:lnTo>
                  <a:close/>
                </a:path>
              </a:pathLst>
            </a:custGeom>
            <a:solidFill>
              <a:srgbClr val="1B2A44"/>
            </a:solidFill>
          </p:spPr>
        </p:sp>
      </p:grpSp>
      <p:grpSp>
        <p:nvGrpSpPr>
          <p:cNvPr name="Group 18" id="18"/>
          <p:cNvGrpSpPr/>
          <p:nvPr/>
        </p:nvGrpSpPr>
        <p:grpSpPr>
          <a:xfrm rot="0">
            <a:off x="7284596" y="5848902"/>
            <a:ext cx="3494265" cy="404298"/>
            <a:chOff x="0" y="0"/>
            <a:chExt cx="4659020" cy="539064"/>
          </a:xfrm>
        </p:grpSpPr>
        <p:sp>
          <p:nvSpPr>
            <p:cNvPr name="Freeform 19" id="19"/>
            <p:cNvSpPr/>
            <p:nvPr/>
          </p:nvSpPr>
          <p:spPr>
            <a:xfrm flipH="false" flipV="false" rot="0">
              <a:off x="0" y="0"/>
              <a:ext cx="4659019" cy="539069"/>
            </a:xfrm>
            <a:custGeom>
              <a:avLst/>
              <a:gdLst/>
              <a:ahLst/>
              <a:cxnLst/>
              <a:rect r="r" b="b" t="t" l="l"/>
              <a:pathLst>
                <a:path h="539069" w="4659019">
                  <a:moveTo>
                    <a:pt x="0" y="0"/>
                  </a:moveTo>
                  <a:lnTo>
                    <a:pt x="4659019" y="0"/>
                  </a:lnTo>
                  <a:lnTo>
                    <a:pt x="4659019" y="539069"/>
                  </a:lnTo>
                  <a:lnTo>
                    <a:pt x="0" y="539069"/>
                  </a:lnTo>
                  <a:close/>
                </a:path>
              </a:pathLst>
            </a:custGeom>
            <a:blipFill>
              <a:blip r:embed="rId3">
                <a:alphaModFix amt="0"/>
              </a:blip>
              <a:stretch>
                <a:fillRect l="0" t="-118404" r="0" b="-118403"/>
              </a:stretch>
            </a:blipFill>
          </p:spPr>
        </p:sp>
        <p:sp>
          <p:nvSpPr>
            <p:cNvPr name="TextBox 20" id="20"/>
            <p:cNvSpPr txBox="true"/>
            <p:nvPr/>
          </p:nvSpPr>
          <p:spPr>
            <a:xfrm>
              <a:off x="0" y="-9525"/>
              <a:ext cx="4659020" cy="548589"/>
            </a:xfrm>
            <a:prstGeom prst="rect">
              <a:avLst/>
            </a:prstGeom>
          </p:spPr>
          <p:txBody>
            <a:bodyPr anchor="ctr" rtlCol="false" tIns="0" lIns="0" bIns="0" rIns="0"/>
            <a:lstStyle/>
            <a:p>
              <a:pPr algn="r">
                <a:lnSpc>
                  <a:spcPts val="2421"/>
                </a:lnSpc>
              </a:pPr>
              <a:r>
                <a:rPr lang="en-US" b="true" sz="2017" spc="322">
                  <a:solidFill>
                    <a:srgbClr val="8494AB"/>
                  </a:solidFill>
                  <a:latin typeface="Georgia Bold"/>
                  <a:ea typeface="Georgia Bold"/>
                  <a:cs typeface="Georgia Bold"/>
                  <a:sym typeface="Georgia Bold"/>
                </a:rPr>
                <a:t>AMOUNT</a:t>
              </a:r>
            </a:p>
          </p:txBody>
        </p:sp>
      </p:grpSp>
      <p:grpSp>
        <p:nvGrpSpPr>
          <p:cNvPr name="Group 21" id="21"/>
          <p:cNvGrpSpPr/>
          <p:nvPr/>
        </p:nvGrpSpPr>
        <p:grpSpPr>
          <a:xfrm rot="0">
            <a:off x="11102302" y="6414926"/>
            <a:ext cx="8574576" cy="40434"/>
            <a:chOff x="0" y="0"/>
            <a:chExt cx="11432769" cy="53912"/>
          </a:xfrm>
        </p:grpSpPr>
        <p:sp>
          <p:nvSpPr>
            <p:cNvPr name="Freeform 22" id="22"/>
            <p:cNvSpPr/>
            <p:nvPr/>
          </p:nvSpPr>
          <p:spPr>
            <a:xfrm flipH="false" flipV="false" rot="0">
              <a:off x="0" y="0"/>
              <a:ext cx="11432794" cy="53848"/>
            </a:xfrm>
            <a:custGeom>
              <a:avLst/>
              <a:gdLst/>
              <a:ahLst/>
              <a:cxnLst/>
              <a:rect r="r" b="b" t="t" l="l"/>
              <a:pathLst>
                <a:path h="53848" w="11432794">
                  <a:moveTo>
                    <a:pt x="0" y="0"/>
                  </a:moveTo>
                  <a:lnTo>
                    <a:pt x="11432794" y="0"/>
                  </a:lnTo>
                  <a:lnTo>
                    <a:pt x="11432794" y="53848"/>
                  </a:lnTo>
                  <a:lnTo>
                    <a:pt x="0" y="53848"/>
                  </a:lnTo>
                  <a:close/>
                </a:path>
              </a:pathLst>
            </a:custGeom>
            <a:solidFill>
              <a:srgbClr val="1B2A44"/>
            </a:solidFill>
          </p:spPr>
        </p:sp>
      </p:grpSp>
      <p:grpSp>
        <p:nvGrpSpPr>
          <p:cNvPr name="Group 23" id="23"/>
          <p:cNvGrpSpPr/>
          <p:nvPr/>
        </p:nvGrpSpPr>
        <p:grpSpPr>
          <a:xfrm rot="0">
            <a:off x="11425742" y="5848902"/>
            <a:ext cx="8184928" cy="404298"/>
            <a:chOff x="0" y="0"/>
            <a:chExt cx="10913237" cy="539064"/>
          </a:xfrm>
        </p:grpSpPr>
        <p:sp>
          <p:nvSpPr>
            <p:cNvPr name="Freeform 24" id="24"/>
            <p:cNvSpPr/>
            <p:nvPr/>
          </p:nvSpPr>
          <p:spPr>
            <a:xfrm flipH="false" flipV="false" rot="0">
              <a:off x="0" y="0"/>
              <a:ext cx="10913235" cy="539069"/>
            </a:xfrm>
            <a:custGeom>
              <a:avLst/>
              <a:gdLst/>
              <a:ahLst/>
              <a:cxnLst/>
              <a:rect r="r" b="b" t="t" l="l"/>
              <a:pathLst>
                <a:path h="539069" w="10913235">
                  <a:moveTo>
                    <a:pt x="0" y="0"/>
                  </a:moveTo>
                  <a:lnTo>
                    <a:pt x="10913235" y="0"/>
                  </a:lnTo>
                  <a:lnTo>
                    <a:pt x="10913235" y="539069"/>
                  </a:lnTo>
                  <a:lnTo>
                    <a:pt x="0" y="539069"/>
                  </a:lnTo>
                  <a:close/>
                </a:path>
              </a:pathLst>
            </a:custGeom>
            <a:blipFill>
              <a:blip r:embed="rId3">
                <a:alphaModFix amt="0"/>
              </a:blip>
              <a:stretch>
                <a:fillRect l="0" t="-344467" r="0" b="-344466"/>
              </a:stretch>
            </a:blipFill>
          </p:spPr>
        </p:sp>
        <p:sp>
          <p:nvSpPr>
            <p:cNvPr name="TextBox 25" id="25"/>
            <p:cNvSpPr txBox="true"/>
            <p:nvPr/>
          </p:nvSpPr>
          <p:spPr>
            <a:xfrm>
              <a:off x="0" y="-9525"/>
              <a:ext cx="10913237" cy="548589"/>
            </a:xfrm>
            <a:prstGeom prst="rect">
              <a:avLst/>
            </a:prstGeom>
          </p:spPr>
          <p:txBody>
            <a:bodyPr anchor="ctr" rtlCol="false" tIns="0" lIns="0" bIns="0" rIns="0"/>
            <a:lstStyle/>
            <a:p>
              <a:pPr algn="l">
                <a:lnSpc>
                  <a:spcPts val="2421"/>
                </a:lnSpc>
              </a:pPr>
              <a:r>
                <a:rPr lang="en-US" b="true" sz="2017" spc="322">
                  <a:solidFill>
                    <a:srgbClr val="8494AB"/>
                  </a:solidFill>
                  <a:latin typeface="Georgia Bold"/>
                  <a:ea typeface="Georgia Bold"/>
                  <a:cs typeface="Georgia Bold"/>
                  <a:sym typeface="Georgia Bold"/>
                </a:rPr>
                <a:t>DUE</a:t>
              </a:r>
            </a:p>
          </p:txBody>
        </p:sp>
      </p:grpSp>
      <p:grpSp>
        <p:nvGrpSpPr>
          <p:cNvPr name="Group 26" id="26"/>
          <p:cNvGrpSpPr/>
          <p:nvPr/>
        </p:nvGrpSpPr>
        <p:grpSpPr>
          <a:xfrm rot="0">
            <a:off x="1725025" y="7600874"/>
            <a:ext cx="5451758" cy="26956"/>
            <a:chOff x="0" y="0"/>
            <a:chExt cx="7269010" cy="35941"/>
          </a:xfrm>
        </p:grpSpPr>
        <p:sp>
          <p:nvSpPr>
            <p:cNvPr name="Freeform 27" id="27"/>
            <p:cNvSpPr/>
            <p:nvPr/>
          </p:nvSpPr>
          <p:spPr>
            <a:xfrm flipH="false" flipV="false" rot="0">
              <a:off x="0" y="0"/>
              <a:ext cx="7268972" cy="35941"/>
            </a:xfrm>
            <a:custGeom>
              <a:avLst/>
              <a:gdLst/>
              <a:ahLst/>
              <a:cxnLst/>
              <a:rect r="r" b="b" t="t" l="l"/>
              <a:pathLst>
                <a:path h="35941" w="7268972">
                  <a:moveTo>
                    <a:pt x="0" y="0"/>
                  </a:moveTo>
                  <a:lnTo>
                    <a:pt x="7268972" y="0"/>
                  </a:lnTo>
                  <a:lnTo>
                    <a:pt x="7268972" y="35941"/>
                  </a:lnTo>
                  <a:lnTo>
                    <a:pt x="0" y="35941"/>
                  </a:lnTo>
                  <a:close/>
                </a:path>
              </a:pathLst>
            </a:custGeom>
            <a:solidFill>
              <a:srgbClr val="E9EEF5"/>
            </a:solidFill>
          </p:spPr>
        </p:sp>
      </p:grpSp>
      <p:grpSp>
        <p:nvGrpSpPr>
          <p:cNvPr name="Group 28" id="28"/>
          <p:cNvGrpSpPr/>
          <p:nvPr/>
        </p:nvGrpSpPr>
        <p:grpSpPr>
          <a:xfrm rot="0">
            <a:off x="2048466" y="6778800"/>
            <a:ext cx="5020504" cy="606447"/>
            <a:chOff x="0" y="0"/>
            <a:chExt cx="6694005" cy="808596"/>
          </a:xfrm>
        </p:grpSpPr>
        <p:sp>
          <p:nvSpPr>
            <p:cNvPr name="Freeform 29" id="29"/>
            <p:cNvSpPr/>
            <p:nvPr/>
          </p:nvSpPr>
          <p:spPr>
            <a:xfrm flipH="false" flipV="false" rot="0">
              <a:off x="0" y="0"/>
              <a:ext cx="6694006" cy="808602"/>
            </a:xfrm>
            <a:custGeom>
              <a:avLst/>
              <a:gdLst/>
              <a:ahLst/>
              <a:cxnLst/>
              <a:rect r="r" b="b" t="t" l="l"/>
              <a:pathLst>
                <a:path h="808602" w="6694006">
                  <a:moveTo>
                    <a:pt x="0" y="0"/>
                  </a:moveTo>
                  <a:lnTo>
                    <a:pt x="6694006" y="0"/>
                  </a:lnTo>
                  <a:lnTo>
                    <a:pt x="6694006" y="808602"/>
                  </a:lnTo>
                  <a:lnTo>
                    <a:pt x="0" y="808602"/>
                  </a:lnTo>
                  <a:close/>
                </a:path>
              </a:pathLst>
            </a:custGeom>
            <a:blipFill>
              <a:blip r:embed="rId3">
                <a:alphaModFix amt="0"/>
              </a:blip>
              <a:stretch>
                <a:fillRect l="0" t="-111307" r="0" b="-111306"/>
              </a:stretch>
            </a:blipFill>
          </p:spPr>
        </p:sp>
        <p:sp>
          <p:nvSpPr>
            <p:cNvPr name="TextBox 30" id="30"/>
            <p:cNvSpPr txBox="true"/>
            <p:nvPr/>
          </p:nvSpPr>
          <p:spPr>
            <a:xfrm>
              <a:off x="0" y="-9525"/>
              <a:ext cx="6694005" cy="818121"/>
            </a:xfrm>
            <a:prstGeom prst="rect">
              <a:avLst/>
            </a:prstGeom>
          </p:spPr>
          <p:txBody>
            <a:bodyPr anchor="ctr" rtlCol="false" tIns="0" lIns="0" bIns="0" rIns="0"/>
            <a:lstStyle/>
            <a:p>
              <a:pPr algn="l">
                <a:lnSpc>
                  <a:spcPts val="3820"/>
                </a:lnSpc>
              </a:pPr>
              <a:r>
                <a:rPr lang="en-US" sz="3183">
                  <a:solidFill>
                    <a:srgbClr val="33425C"/>
                  </a:solidFill>
                  <a:latin typeface="Georgia"/>
                  <a:ea typeface="Georgia"/>
                  <a:cs typeface="Georgia"/>
                  <a:sym typeface="Georgia"/>
                </a:rPr>
                <a:t>Advance — 60%</a:t>
              </a:r>
            </a:p>
          </p:txBody>
        </p:sp>
      </p:grpSp>
      <p:grpSp>
        <p:nvGrpSpPr>
          <p:cNvPr name="Group 31" id="31"/>
          <p:cNvGrpSpPr/>
          <p:nvPr/>
        </p:nvGrpSpPr>
        <p:grpSpPr>
          <a:xfrm rot="0">
            <a:off x="7176783" y="7600874"/>
            <a:ext cx="3925519" cy="26956"/>
            <a:chOff x="0" y="0"/>
            <a:chExt cx="5234026" cy="35941"/>
          </a:xfrm>
        </p:grpSpPr>
        <p:sp>
          <p:nvSpPr>
            <p:cNvPr name="Freeform 32" id="32"/>
            <p:cNvSpPr/>
            <p:nvPr/>
          </p:nvSpPr>
          <p:spPr>
            <a:xfrm flipH="false" flipV="false" rot="0">
              <a:off x="0" y="0"/>
              <a:ext cx="5234051" cy="35941"/>
            </a:xfrm>
            <a:custGeom>
              <a:avLst/>
              <a:gdLst/>
              <a:ahLst/>
              <a:cxnLst/>
              <a:rect r="r" b="b" t="t" l="l"/>
              <a:pathLst>
                <a:path h="35941" w="5234051">
                  <a:moveTo>
                    <a:pt x="0" y="0"/>
                  </a:moveTo>
                  <a:lnTo>
                    <a:pt x="5234051" y="0"/>
                  </a:lnTo>
                  <a:lnTo>
                    <a:pt x="5234051" y="35941"/>
                  </a:lnTo>
                  <a:lnTo>
                    <a:pt x="0" y="35941"/>
                  </a:lnTo>
                  <a:close/>
                </a:path>
              </a:pathLst>
            </a:custGeom>
            <a:solidFill>
              <a:srgbClr val="E9EEF5"/>
            </a:solidFill>
          </p:spPr>
        </p:sp>
      </p:grpSp>
      <p:grpSp>
        <p:nvGrpSpPr>
          <p:cNvPr name="Group 33" id="33"/>
          <p:cNvGrpSpPr/>
          <p:nvPr/>
        </p:nvGrpSpPr>
        <p:grpSpPr>
          <a:xfrm rot="0">
            <a:off x="7284596" y="6778800"/>
            <a:ext cx="3494265" cy="606447"/>
            <a:chOff x="0" y="0"/>
            <a:chExt cx="4659020" cy="808596"/>
          </a:xfrm>
        </p:grpSpPr>
        <p:sp>
          <p:nvSpPr>
            <p:cNvPr name="Freeform 34" id="34"/>
            <p:cNvSpPr/>
            <p:nvPr/>
          </p:nvSpPr>
          <p:spPr>
            <a:xfrm flipH="false" flipV="false" rot="0">
              <a:off x="0" y="0"/>
              <a:ext cx="4659019" cy="808602"/>
            </a:xfrm>
            <a:custGeom>
              <a:avLst/>
              <a:gdLst/>
              <a:ahLst/>
              <a:cxnLst/>
              <a:rect r="r" b="b" t="t" l="l"/>
              <a:pathLst>
                <a:path h="808602" w="4659019">
                  <a:moveTo>
                    <a:pt x="0" y="0"/>
                  </a:moveTo>
                  <a:lnTo>
                    <a:pt x="4659019" y="0"/>
                  </a:lnTo>
                  <a:lnTo>
                    <a:pt x="4659019" y="808602"/>
                  </a:lnTo>
                  <a:lnTo>
                    <a:pt x="0" y="808602"/>
                  </a:lnTo>
                  <a:close/>
                </a:path>
              </a:pathLst>
            </a:custGeom>
            <a:blipFill>
              <a:blip r:embed="rId3">
                <a:alphaModFix amt="0"/>
              </a:blip>
              <a:stretch>
                <a:fillRect l="0" t="-62269" r="0" b="-62268"/>
              </a:stretch>
            </a:blipFill>
          </p:spPr>
        </p:sp>
        <p:sp>
          <p:nvSpPr>
            <p:cNvPr name="TextBox 35" id="35"/>
            <p:cNvSpPr txBox="true"/>
            <p:nvPr/>
          </p:nvSpPr>
          <p:spPr>
            <a:xfrm>
              <a:off x="0" y="-9525"/>
              <a:ext cx="4659020" cy="818121"/>
            </a:xfrm>
            <a:prstGeom prst="rect">
              <a:avLst/>
            </a:prstGeom>
          </p:spPr>
          <p:txBody>
            <a:bodyPr anchor="ctr" rtlCol="false" tIns="0" lIns="0" bIns="0" rIns="0"/>
            <a:lstStyle/>
            <a:p>
              <a:pPr algn="r">
                <a:lnSpc>
                  <a:spcPts val="3820"/>
                </a:lnSpc>
              </a:pPr>
              <a:r>
                <a:rPr lang="en-US" sz="3183">
                  <a:solidFill>
                    <a:srgbClr val="33425C"/>
                  </a:solidFill>
                  <a:latin typeface="Georgia"/>
                  <a:ea typeface="Georgia"/>
                  <a:cs typeface="Georgia"/>
                  <a:sym typeface="Georgia"/>
                </a:rPr>
                <a:t>₹1,65,000</a:t>
              </a:r>
            </a:p>
          </p:txBody>
        </p:sp>
      </p:grpSp>
      <p:grpSp>
        <p:nvGrpSpPr>
          <p:cNvPr name="Group 36" id="36"/>
          <p:cNvGrpSpPr/>
          <p:nvPr/>
        </p:nvGrpSpPr>
        <p:grpSpPr>
          <a:xfrm rot="0">
            <a:off x="11102302" y="7600874"/>
            <a:ext cx="8574576" cy="26956"/>
            <a:chOff x="0" y="0"/>
            <a:chExt cx="11432769" cy="35941"/>
          </a:xfrm>
        </p:grpSpPr>
        <p:sp>
          <p:nvSpPr>
            <p:cNvPr name="Freeform 37" id="37"/>
            <p:cNvSpPr/>
            <p:nvPr/>
          </p:nvSpPr>
          <p:spPr>
            <a:xfrm flipH="false" flipV="false" rot="0">
              <a:off x="0" y="0"/>
              <a:ext cx="11432794" cy="35941"/>
            </a:xfrm>
            <a:custGeom>
              <a:avLst/>
              <a:gdLst/>
              <a:ahLst/>
              <a:cxnLst/>
              <a:rect r="r" b="b" t="t" l="l"/>
              <a:pathLst>
                <a:path h="35941" w="11432794">
                  <a:moveTo>
                    <a:pt x="0" y="0"/>
                  </a:moveTo>
                  <a:lnTo>
                    <a:pt x="11432794" y="0"/>
                  </a:lnTo>
                  <a:lnTo>
                    <a:pt x="11432794" y="35941"/>
                  </a:lnTo>
                  <a:lnTo>
                    <a:pt x="0" y="35941"/>
                  </a:lnTo>
                  <a:close/>
                </a:path>
              </a:pathLst>
            </a:custGeom>
            <a:solidFill>
              <a:srgbClr val="E9EEF5"/>
            </a:solidFill>
          </p:spPr>
        </p:sp>
      </p:grpSp>
      <p:grpSp>
        <p:nvGrpSpPr>
          <p:cNvPr name="Group 38" id="38"/>
          <p:cNvGrpSpPr/>
          <p:nvPr/>
        </p:nvGrpSpPr>
        <p:grpSpPr>
          <a:xfrm rot="0">
            <a:off x="11425742" y="6778800"/>
            <a:ext cx="8184928" cy="606447"/>
            <a:chOff x="0" y="0"/>
            <a:chExt cx="10913237" cy="808596"/>
          </a:xfrm>
        </p:grpSpPr>
        <p:sp>
          <p:nvSpPr>
            <p:cNvPr name="Freeform 39" id="39"/>
            <p:cNvSpPr/>
            <p:nvPr/>
          </p:nvSpPr>
          <p:spPr>
            <a:xfrm flipH="false" flipV="false" rot="0">
              <a:off x="0" y="0"/>
              <a:ext cx="10913235" cy="808602"/>
            </a:xfrm>
            <a:custGeom>
              <a:avLst/>
              <a:gdLst/>
              <a:ahLst/>
              <a:cxnLst/>
              <a:rect r="r" b="b" t="t" l="l"/>
              <a:pathLst>
                <a:path h="808602" w="10913235">
                  <a:moveTo>
                    <a:pt x="0" y="0"/>
                  </a:moveTo>
                  <a:lnTo>
                    <a:pt x="10913235" y="0"/>
                  </a:lnTo>
                  <a:lnTo>
                    <a:pt x="10913235" y="808602"/>
                  </a:lnTo>
                  <a:lnTo>
                    <a:pt x="0" y="808602"/>
                  </a:lnTo>
                  <a:close/>
                </a:path>
              </a:pathLst>
            </a:custGeom>
            <a:blipFill>
              <a:blip r:embed="rId3">
                <a:alphaModFix amt="0"/>
              </a:blip>
              <a:stretch>
                <a:fillRect l="0" t="-212978" r="0" b="-212977"/>
              </a:stretch>
            </a:blipFill>
          </p:spPr>
        </p:sp>
        <p:sp>
          <p:nvSpPr>
            <p:cNvPr name="TextBox 40" id="40"/>
            <p:cNvSpPr txBox="true"/>
            <p:nvPr/>
          </p:nvSpPr>
          <p:spPr>
            <a:xfrm>
              <a:off x="0" y="-9525"/>
              <a:ext cx="10913237" cy="818121"/>
            </a:xfrm>
            <a:prstGeom prst="rect">
              <a:avLst/>
            </a:prstGeom>
          </p:spPr>
          <p:txBody>
            <a:bodyPr anchor="ctr" rtlCol="false" tIns="0" lIns="0" bIns="0" rIns="0"/>
            <a:lstStyle/>
            <a:p>
              <a:pPr algn="l">
                <a:lnSpc>
                  <a:spcPts val="3820"/>
                </a:lnSpc>
              </a:pPr>
              <a:r>
                <a:rPr lang="en-US" sz="3183">
                  <a:solidFill>
                    <a:srgbClr val="33425C"/>
                  </a:solidFill>
                  <a:latin typeface="Georgia"/>
                  <a:ea typeface="Georgia"/>
                  <a:cs typeface="Georgia"/>
                  <a:sym typeface="Georgia"/>
                </a:rPr>
                <a:t>At project confirmation</a:t>
              </a:r>
            </a:p>
          </p:txBody>
        </p:sp>
      </p:grpSp>
      <p:grpSp>
        <p:nvGrpSpPr>
          <p:cNvPr name="Group 41" id="41"/>
          <p:cNvGrpSpPr/>
          <p:nvPr/>
        </p:nvGrpSpPr>
        <p:grpSpPr>
          <a:xfrm rot="0">
            <a:off x="1725025" y="8759876"/>
            <a:ext cx="5451758" cy="26956"/>
            <a:chOff x="0" y="0"/>
            <a:chExt cx="7269010" cy="35941"/>
          </a:xfrm>
        </p:grpSpPr>
        <p:sp>
          <p:nvSpPr>
            <p:cNvPr name="Freeform 42" id="42"/>
            <p:cNvSpPr/>
            <p:nvPr/>
          </p:nvSpPr>
          <p:spPr>
            <a:xfrm flipH="false" flipV="false" rot="0">
              <a:off x="0" y="0"/>
              <a:ext cx="7268972" cy="35941"/>
            </a:xfrm>
            <a:custGeom>
              <a:avLst/>
              <a:gdLst/>
              <a:ahLst/>
              <a:cxnLst/>
              <a:rect r="r" b="b" t="t" l="l"/>
              <a:pathLst>
                <a:path h="35941" w="7268972">
                  <a:moveTo>
                    <a:pt x="0" y="0"/>
                  </a:moveTo>
                  <a:lnTo>
                    <a:pt x="7268972" y="0"/>
                  </a:lnTo>
                  <a:lnTo>
                    <a:pt x="7268972" y="35941"/>
                  </a:lnTo>
                  <a:lnTo>
                    <a:pt x="0" y="35941"/>
                  </a:lnTo>
                  <a:close/>
                </a:path>
              </a:pathLst>
            </a:custGeom>
            <a:solidFill>
              <a:srgbClr val="E9EEF5"/>
            </a:solidFill>
          </p:spPr>
        </p:sp>
      </p:grpSp>
      <p:grpSp>
        <p:nvGrpSpPr>
          <p:cNvPr name="Group 43" id="43"/>
          <p:cNvGrpSpPr/>
          <p:nvPr/>
        </p:nvGrpSpPr>
        <p:grpSpPr>
          <a:xfrm rot="0">
            <a:off x="2048466" y="7951270"/>
            <a:ext cx="5020504" cy="592979"/>
            <a:chOff x="0" y="0"/>
            <a:chExt cx="6694005" cy="790638"/>
          </a:xfrm>
        </p:grpSpPr>
        <p:sp>
          <p:nvSpPr>
            <p:cNvPr name="Freeform 44" id="44"/>
            <p:cNvSpPr/>
            <p:nvPr/>
          </p:nvSpPr>
          <p:spPr>
            <a:xfrm flipH="false" flipV="false" rot="0">
              <a:off x="0" y="0"/>
              <a:ext cx="6694006" cy="790635"/>
            </a:xfrm>
            <a:custGeom>
              <a:avLst/>
              <a:gdLst/>
              <a:ahLst/>
              <a:cxnLst/>
              <a:rect r="r" b="b" t="t" l="l"/>
              <a:pathLst>
                <a:path h="790635" w="6694006">
                  <a:moveTo>
                    <a:pt x="0" y="0"/>
                  </a:moveTo>
                  <a:lnTo>
                    <a:pt x="6694006" y="0"/>
                  </a:lnTo>
                  <a:lnTo>
                    <a:pt x="6694006" y="790635"/>
                  </a:lnTo>
                  <a:lnTo>
                    <a:pt x="0" y="790635"/>
                  </a:lnTo>
                  <a:close/>
                </a:path>
              </a:pathLst>
            </a:custGeom>
            <a:blipFill>
              <a:blip r:embed="rId3">
                <a:alphaModFix amt="0"/>
              </a:blip>
              <a:stretch>
                <a:fillRect l="0" t="-114972" r="0" b="-114972"/>
              </a:stretch>
            </a:blipFill>
          </p:spPr>
        </p:sp>
        <p:sp>
          <p:nvSpPr>
            <p:cNvPr name="TextBox 45" id="45"/>
            <p:cNvSpPr txBox="true"/>
            <p:nvPr/>
          </p:nvSpPr>
          <p:spPr>
            <a:xfrm>
              <a:off x="0" y="-9525"/>
              <a:ext cx="6694005" cy="800163"/>
            </a:xfrm>
            <a:prstGeom prst="rect">
              <a:avLst/>
            </a:prstGeom>
          </p:spPr>
          <p:txBody>
            <a:bodyPr anchor="ctr" rtlCol="false" tIns="0" lIns="0" bIns="0" rIns="0"/>
            <a:lstStyle/>
            <a:p>
              <a:pPr algn="l">
                <a:lnSpc>
                  <a:spcPts val="3820"/>
                </a:lnSpc>
              </a:pPr>
              <a:r>
                <a:rPr lang="en-US" sz="3183">
                  <a:solidFill>
                    <a:srgbClr val="33425C"/>
                  </a:solidFill>
                  <a:latin typeface="Georgia"/>
                  <a:ea typeface="Georgia"/>
                  <a:cs typeface="Georgia"/>
                  <a:sym typeface="Georgia"/>
                </a:rPr>
                <a:t>Final — 40%</a:t>
              </a:r>
            </a:p>
          </p:txBody>
        </p:sp>
      </p:grpSp>
      <p:grpSp>
        <p:nvGrpSpPr>
          <p:cNvPr name="Group 46" id="46"/>
          <p:cNvGrpSpPr/>
          <p:nvPr/>
        </p:nvGrpSpPr>
        <p:grpSpPr>
          <a:xfrm rot="0">
            <a:off x="7176783" y="8759876"/>
            <a:ext cx="3925519" cy="26956"/>
            <a:chOff x="0" y="0"/>
            <a:chExt cx="5234026" cy="35941"/>
          </a:xfrm>
        </p:grpSpPr>
        <p:sp>
          <p:nvSpPr>
            <p:cNvPr name="Freeform 47" id="47"/>
            <p:cNvSpPr/>
            <p:nvPr/>
          </p:nvSpPr>
          <p:spPr>
            <a:xfrm flipH="false" flipV="false" rot="0">
              <a:off x="0" y="0"/>
              <a:ext cx="5234051" cy="35941"/>
            </a:xfrm>
            <a:custGeom>
              <a:avLst/>
              <a:gdLst/>
              <a:ahLst/>
              <a:cxnLst/>
              <a:rect r="r" b="b" t="t" l="l"/>
              <a:pathLst>
                <a:path h="35941" w="5234051">
                  <a:moveTo>
                    <a:pt x="0" y="0"/>
                  </a:moveTo>
                  <a:lnTo>
                    <a:pt x="5234051" y="0"/>
                  </a:lnTo>
                  <a:lnTo>
                    <a:pt x="5234051" y="35941"/>
                  </a:lnTo>
                  <a:lnTo>
                    <a:pt x="0" y="35941"/>
                  </a:lnTo>
                  <a:close/>
                </a:path>
              </a:pathLst>
            </a:custGeom>
            <a:solidFill>
              <a:srgbClr val="E9EEF5"/>
            </a:solidFill>
          </p:spPr>
        </p:sp>
      </p:grpSp>
      <p:grpSp>
        <p:nvGrpSpPr>
          <p:cNvPr name="Group 48" id="48"/>
          <p:cNvGrpSpPr/>
          <p:nvPr/>
        </p:nvGrpSpPr>
        <p:grpSpPr>
          <a:xfrm rot="0">
            <a:off x="7284596" y="7951270"/>
            <a:ext cx="3494265" cy="592979"/>
            <a:chOff x="0" y="0"/>
            <a:chExt cx="4659020" cy="790638"/>
          </a:xfrm>
        </p:grpSpPr>
        <p:sp>
          <p:nvSpPr>
            <p:cNvPr name="Freeform 49" id="49"/>
            <p:cNvSpPr/>
            <p:nvPr/>
          </p:nvSpPr>
          <p:spPr>
            <a:xfrm flipH="false" flipV="false" rot="0">
              <a:off x="0" y="0"/>
              <a:ext cx="4659019" cy="790635"/>
            </a:xfrm>
            <a:custGeom>
              <a:avLst/>
              <a:gdLst/>
              <a:ahLst/>
              <a:cxnLst/>
              <a:rect r="r" b="b" t="t" l="l"/>
              <a:pathLst>
                <a:path h="790635" w="4659019">
                  <a:moveTo>
                    <a:pt x="0" y="0"/>
                  </a:moveTo>
                  <a:lnTo>
                    <a:pt x="4659019" y="0"/>
                  </a:lnTo>
                  <a:lnTo>
                    <a:pt x="4659019" y="790635"/>
                  </a:lnTo>
                  <a:lnTo>
                    <a:pt x="0" y="790635"/>
                  </a:lnTo>
                  <a:close/>
                </a:path>
              </a:pathLst>
            </a:custGeom>
            <a:blipFill>
              <a:blip r:embed="rId3">
                <a:alphaModFix amt="0"/>
              </a:blip>
              <a:stretch>
                <a:fillRect l="0" t="-64820" r="0" b="-64820"/>
              </a:stretch>
            </a:blipFill>
          </p:spPr>
        </p:sp>
        <p:sp>
          <p:nvSpPr>
            <p:cNvPr name="TextBox 50" id="50"/>
            <p:cNvSpPr txBox="true"/>
            <p:nvPr/>
          </p:nvSpPr>
          <p:spPr>
            <a:xfrm>
              <a:off x="0" y="-9525"/>
              <a:ext cx="4659020" cy="800163"/>
            </a:xfrm>
            <a:prstGeom prst="rect">
              <a:avLst/>
            </a:prstGeom>
          </p:spPr>
          <p:txBody>
            <a:bodyPr anchor="ctr" rtlCol="false" tIns="0" lIns="0" bIns="0" rIns="0"/>
            <a:lstStyle/>
            <a:p>
              <a:pPr algn="r">
                <a:lnSpc>
                  <a:spcPts val="3820"/>
                </a:lnSpc>
              </a:pPr>
              <a:r>
                <a:rPr lang="en-US" sz="3183">
                  <a:solidFill>
                    <a:srgbClr val="33425C"/>
                  </a:solidFill>
                  <a:latin typeface="Georgia"/>
                  <a:ea typeface="Georgia"/>
                  <a:cs typeface="Georgia"/>
                  <a:sym typeface="Georgia"/>
                </a:rPr>
                <a:t>₹1,10,000</a:t>
              </a:r>
            </a:p>
          </p:txBody>
        </p:sp>
      </p:grpSp>
      <p:grpSp>
        <p:nvGrpSpPr>
          <p:cNvPr name="Group 51" id="51"/>
          <p:cNvGrpSpPr/>
          <p:nvPr/>
        </p:nvGrpSpPr>
        <p:grpSpPr>
          <a:xfrm rot="0">
            <a:off x="11102302" y="8759876"/>
            <a:ext cx="8574576" cy="26956"/>
            <a:chOff x="0" y="0"/>
            <a:chExt cx="11432769" cy="35941"/>
          </a:xfrm>
        </p:grpSpPr>
        <p:sp>
          <p:nvSpPr>
            <p:cNvPr name="Freeform 52" id="52"/>
            <p:cNvSpPr/>
            <p:nvPr/>
          </p:nvSpPr>
          <p:spPr>
            <a:xfrm flipH="false" flipV="false" rot="0">
              <a:off x="0" y="0"/>
              <a:ext cx="11432794" cy="35941"/>
            </a:xfrm>
            <a:custGeom>
              <a:avLst/>
              <a:gdLst/>
              <a:ahLst/>
              <a:cxnLst/>
              <a:rect r="r" b="b" t="t" l="l"/>
              <a:pathLst>
                <a:path h="35941" w="11432794">
                  <a:moveTo>
                    <a:pt x="0" y="0"/>
                  </a:moveTo>
                  <a:lnTo>
                    <a:pt x="11432794" y="0"/>
                  </a:lnTo>
                  <a:lnTo>
                    <a:pt x="11432794" y="35941"/>
                  </a:lnTo>
                  <a:lnTo>
                    <a:pt x="0" y="35941"/>
                  </a:lnTo>
                  <a:close/>
                </a:path>
              </a:pathLst>
            </a:custGeom>
            <a:solidFill>
              <a:srgbClr val="E9EEF5"/>
            </a:solidFill>
          </p:spPr>
        </p:sp>
      </p:grpSp>
      <p:grpSp>
        <p:nvGrpSpPr>
          <p:cNvPr name="Group 53" id="53"/>
          <p:cNvGrpSpPr/>
          <p:nvPr/>
        </p:nvGrpSpPr>
        <p:grpSpPr>
          <a:xfrm rot="0">
            <a:off x="11425742" y="7951270"/>
            <a:ext cx="8184928" cy="592979"/>
            <a:chOff x="0" y="0"/>
            <a:chExt cx="10913237" cy="790638"/>
          </a:xfrm>
        </p:grpSpPr>
        <p:sp>
          <p:nvSpPr>
            <p:cNvPr name="Freeform 54" id="54"/>
            <p:cNvSpPr/>
            <p:nvPr/>
          </p:nvSpPr>
          <p:spPr>
            <a:xfrm flipH="false" flipV="false" rot="0">
              <a:off x="0" y="0"/>
              <a:ext cx="10913235" cy="790635"/>
            </a:xfrm>
            <a:custGeom>
              <a:avLst/>
              <a:gdLst/>
              <a:ahLst/>
              <a:cxnLst/>
              <a:rect r="r" b="b" t="t" l="l"/>
              <a:pathLst>
                <a:path h="790635" w="10913235">
                  <a:moveTo>
                    <a:pt x="0" y="0"/>
                  </a:moveTo>
                  <a:lnTo>
                    <a:pt x="10913235" y="0"/>
                  </a:lnTo>
                  <a:lnTo>
                    <a:pt x="10913235" y="790635"/>
                  </a:lnTo>
                  <a:lnTo>
                    <a:pt x="0" y="790635"/>
                  </a:lnTo>
                  <a:close/>
                </a:path>
              </a:pathLst>
            </a:custGeom>
            <a:blipFill>
              <a:blip r:embed="rId3">
                <a:alphaModFix amt="0"/>
              </a:blip>
              <a:stretch>
                <a:fillRect l="0" t="-218954" r="0" b="-218954"/>
              </a:stretch>
            </a:blipFill>
          </p:spPr>
        </p:sp>
        <p:sp>
          <p:nvSpPr>
            <p:cNvPr name="TextBox 55" id="55"/>
            <p:cNvSpPr txBox="true"/>
            <p:nvPr/>
          </p:nvSpPr>
          <p:spPr>
            <a:xfrm>
              <a:off x="0" y="-9525"/>
              <a:ext cx="10913237" cy="800163"/>
            </a:xfrm>
            <a:prstGeom prst="rect">
              <a:avLst/>
            </a:prstGeom>
          </p:spPr>
          <p:txBody>
            <a:bodyPr anchor="ctr" rtlCol="false" tIns="0" lIns="0" bIns="0" rIns="0"/>
            <a:lstStyle/>
            <a:p>
              <a:pPr algn="l">
                <a:lnSpc>
                  <a:spcPts val="3820"/>
                </a:lnSpc>
              </a:pPr>
              <a:r>
                <a:rPr lang="en-US" sz="3183">
                  <a:solidFill>
                    <a:srgbClr val="33425C"/>
                  </a:solidFill>
                  <a:latin typeface="Georgia"/>
                  <a:ea typeface="Georgia"/>
                  <a:cs typeface="Georgia"/>
                  <a:sym typeface="Georgia"/>
                </a:rPr>
                <a:t>On completion and sign-off</a:t>
              </a:r>
            </a:p>
          </p:txBody>
        </p:sp>
      </p:grpSp>
      <p:grpSp>
        <p:nvGrpSpPr>
          <p:cNvPr name="Group 56" id="56"/>
          <p:cNvGrpSpPr/>
          <p:nvPr/>
        </p:nvGrpSpPr>
        <p:grpSpPr>
          <a:xfrm rot="0">
            <a:off x="1725025" y="9905400"/>
            <a:ext cx="5451758" cy="40434"/>
            <a:chOff x="0" y="0"/>
            <a:chExt cx="7269010" cy="53912"/>
          </a:xfrm>
        </p:grpSpPr>
        <p:sp>
          <p:nvSpPr>
            <p:cNvPr name="Freeform 57" id="57"/>
            <p:cNvSpPr/>
            <p:nvPr/>
          </p:nvSpPr>
          <p:spPr>
            <a:xfrm flipH="false" flipV="false" rot="0">
              <a:off x="0" y="0"/>
              <a:ext cx="7268972" cy="53848"/>
            </a:xfrm>
            <a:custGeom>
              <a:avLst/>
              <a:gdLst/>
              <a:ahLst/>
              <a:cxnLst/>
              <a:rect r="r" b="b" t="t" l="l"/>
              <a:pathLst>
                <a:path h="53848" w="7268972">
                  <a:moveTo>
                    <a:pt x="0" y="0"/>
                  </a:moveTo>
                  <a:lnTo>
                    <a:pt x="7268972" y="0"/>
                  </a:lnTo>
                  <a:lnTo>
                    <a:pt x="7268972" y="53848"/>
                  </a:lnTo>
                  <a:lnTo>
                    <a:pt x="0" y="53848"/>
                  </a:lnTo>
                  <a:close/>
                </a:path>
              </a:pathLst>
            </a:custGeom>
            <a:solidFill>
              <a:srgbClr val="1B2A44"/>
            </a:solidFill>
          </p:spPr>
        </p:sp>
      </p:grpSp>
      <p:grpSp>
        <p:nvGrpSpPr>
          <p:cNvPr name="Group 58" id="58"/>
          <p:cNvGrpSpPr/>
          <p:nvPr/>
        </p:nvGrpSpPr>
        <p:grpSpPr>
          <a:xfrm rot="0">
            <a:off x="2048466" y="9110272"/>
            <a:ext cx="5020504" cy="579501"/>
            <a:chOff x="0" y="0"/>
            <a:chExt cx="6694005" cy="772668"/>
          </a:xfrm>
        </p:grpSpPr>
        <p:sp>
          <p:nvSpPr>
            <p:cNvPr name="Freeform 59" id="59"/>
            <p:cNvSpPr/>
            <p:nvPr/>
          </p:nvSpPr>
          <p:spPr>
            <a:xfrm flipH="false" flipV="false" rot="0">
              <a:off x="0" y="0"/>
              <a:ext cx="6694006" cy="772668"/>
            </a:xfrm>
            <a:custGeom>
              <a:avLst/>
              <a:gdLst/>
              <a:ahLst/>
              <a:cxnLst/>
              <a:rect r="r" b="b" t="t" l="l"/>
              <a:pathLst>
                <a:path h="772668" w="6694006">
                  <a:moveTo>
                    <a:pt x="0" y="0"/>
                  </a:moveTo>
                  <a:lnTo>
                    <a:pt x="6694006" y="0"/>
                  </a:lnTo>
                  <a:lnTo>
                    <a:pt x="6694006" y="772668"/>
                  </a:lnTo>
                  <a:lnTo>
                    <a:pt x="0" y="772668"/>
                  </a:lnTo>
                  <a:close/>
                </a:path>
              </a:pathLst>
            </a:custGeom>
            <a:blipFill>
              <a:blip r:embed="rId3">
                <a:alphaModFix amt="0"/>
              </a:blip>
              <a:stretch>
                <a:fillRect l="0" t="-118808" r="0" b="-118808"/>
              </a:stretch>
            </a:blipFill>
          </p:spPr>
        </p:sp>
        <p:sp>
          <p:nvSpPr>
            <p:cNvPr name="TextBox 60" id="60"/>
            <p:cNvSpPr txBox="true"/>
            <p:nvPr/>
          </p:nvSpPr>
          <p:spPr>
            <a:xfrm>
              <a:off x="0" y="-9525"/>
              <a:ext cx="6694005" cy="782193"/>
            </a:xfrm>
            <a:prstGeom prst="rect">
              <a:avLst/>
            </a:prstGeom>
          </p:spPr>
          <p:txBody>
            <a:bodyPr anchor="ctr" rtlCol="false" tIns="0" lIns="0" bIns="0" rIns="0"/>
            <a:lstStyle/>
            <a:p>
              <a:pPr algn="l">
                <a:lnSpc>
                  <a:spcPts val="3820"/>
                </a:lnSpc>
              </a:pPr>
              <a:r>
                <a:rPr lang="en-US" sz="3183">
                  <a:solidFill>
                    <a:srgbClr val="1B2A44"/>
                  </a:solidFill>
                  <a:latin typeface="Georgia"/>
                  <a:ea typeface="Georgia"/>
                  <a:cs typeface="Georgia"/>
                  <a:sym typeface="Georgia"/>
                </a:rPr>
                <a:t>Total</a:t>
              </a:r>
            </a:p>
          </p:txBody>
        </p:sp>
      </p:grpSp>
      <p:grpSp>
        <p:nvGrpSpPr>
          <p:cNvPr name="Group 61" id="61"/>
          <p:cNvGrpSpPr/>
          <p:nvPr/>
        </p:nvGrpSpPr>
        <p:grpSpPr>
          <a:xfrm rot="0">
            <a:off x="7176783" y="9905400"/>
            <a:ext cx="3925519" cy="40434"/>
            <a:chOff x="0" y="0"/>
            <a:chExt cx="5234026" cy="53912"/>
          </a:xfrm>
        </p:grpSpPr>
        <p:sp>
          <p:nvSpPr>
            <p:cNvPr name="Freeform 62" id="62"/>
            <p:cNvSpPr/>
            <p:nvPr/>
          </p:nvSpPr>
          <p:spPr>
            <a:xfrm flipH="false" flipV="false" rot="0">
              <a:off x="0" y="0"/>
              <a:ext cx="5234051" cy="53848"/>
            </a:xfrm>
            <a:custGeom>
              <a:avLst/>
              <a:gdLst/>
              <a:ahLst/>
              <a:cxnLst/>
              <a:rect r="r" b="b" t="t" l="l"/>
              <a:pathLst>
                <a:path h="53848" w="5234051">
                  <a:moveTo>
                    <a:pt x="0" y="0"/>
                  </a:moveTo>
                  <a:lnTo>
                    <a:pt x="5234051" y="0"/>
                  </a:lnTo>
                  <a:lnTo>
                    <a:pt x="5234051" y="53848"/>
                  </a:lnTo>
                  <a:lnTo>
                    <a:pt x="0" y="53848"/>
                  </a:lnTo>
                  <a:close/>
                </a:path>
              </a:pathLst>
            </a:custGeom>
            <a:solidFill>
              <a:srgbClr val="1B2A44"/>
            </a:solidFill>
          </p:spPr>
        </p:sp>
      </p:grpSp>
      <p:grpSp>
        <p:nvGrpSpPr>
          <p:cNvPr name="Group 63" id="63"/>
          <p:cNvGrpSpPr/>
          <p:nvPr/>
        </p:nvGrpSpPr>
        <p:grpSpPr>
          <a:xfrm rot="0">
            <a:off x="7284596" y="9110272"/>
            <a:ext cx="3494265" cy="579501"/>
            <a:chOff x="0" y="0"/>
            <a:chExt cx="4659020" cy="772668"/>
          </a:xfrm>
        </p:grpSpPr>
        <p:sp>
          <p:nvSpPr>
            <p:cNvPr name="Freeform 64" id="64"/>
            <p:cNvSpPr/>
            <p:nvPr/>
          </p:nvSpPr>
          <p:spPr>
            <a:xfrm flipH="false" flipV="false" rot="0">
              <a:off x="0" y="0"/>
              <a:ext cx="4659019" cy="772668"/>
            </a:xfrm>
            <a:custGeom>
              <a:avLst/>
              <a:gdLst/>
              <a:ahLst/>
              <a:cxnLst/>
              <a:rect r="r" b="b" t="t" l="l"/>
              <a:pathLst>
                <a:path h="772668" w="4659019">
                  <a:moveTo>
                    <a:pt x="0" y="0"/>
                  </a:moveTo>
                  <a:lnTo>
                    <a:pt x="4659019" y="0"/>
                  </a:lnTo>
                  <a:lnTo>
                    <a:pt x="4659019" y="772668"/>
                  </a:lnTo>
                  <a:lnTo>
                    <a:pt x="0" y="772668"/>
                  </a:lnTo>
                  <a:close/>
                </a:path>
              </a:pathLst>
            </a:custGeom>
            <a:blipFill>
              <a:blip r:embed="rId3">
                <a:alphaModFix amt="0"/>
              </a:blip>
              <a:stretch>
                <a:fillRect l="0" t="-67490" r="0" b="-67490"/>
              </a:stretch>
            </a:blipFill>
          </p:spPr>
        </p:sp>
        <p:sp>
          <p:nvSpPr>
            <p:cNvPr name="TextBox 65" id="65"/>
            <p:cNvSpPr txBox="true"/>
            <p:nvPr/>
          </p:nvSpPr>
          <p:spPr>
            <a:xfrm>
              <a:off x="0" y="-9525"/>
              <a:ext cx="4659020" cy="782193"/>
            </a:xfrm>
            <a:prstGeom prst="rect">
              <a:avLst/>
            </a:prstGeom>
          </p:spPr>
          <p:txBody>
            <a:bodyPr anchor="ctr" rtlCol="false" tIns="0" lIns="0" bIns="0" rIns="0"/>
            <a:lstStyle/>
            <a:p>
              <a:pPr algn="r">
                <a:lnSpc>
                  <a:spcPts val="3820"/>
                </a:lnSpc>
              </a:pPr>
              <a:r>
                <a:rPr lang="en-US" sz="3183">
                  <a:solidFill>
                    <a:srgbClr val="1546E0"/>
                  </a:solidFill>
                  <a:latin typeface="Georgia"/>
                  <a:ea typeface="Georgia"/>
                  <a:cs typeface="Georgia"/>
                  <a:sym typeface="Georgia"/>
                </a:rPr>
                <a:t>₹2,75,000</a:t>
              </a:r>
            </a:p>
          </p:txBody>
        </p:sp>
      </p:grpSp>
      <p:grpSp>
        <p:nvGrpSpPr>
          <p:cNvPr name="Group 66" id="66"/>
          <p:cNvGrpSpPr/>
          <p:nvPr/>
        </p:nvGrpSpPr>
        <p:grpSpPr>
          <a:xfrm rot="0">
            <a:off x="11102302" y="9905400"/>
            <a:ext cx="8574576" cy="40434"/>
            <a:chOff x="0" y="0"/>
            <a:chExt cx="11432769" cy="53912"/>
          </a:xfrm>
        </p:grpSpPr>
        <p:sp>
          <p:nvSpPr>
            <p:cNvPr name="Freeform 67" id="67"/>
            <p:cNvSpPr/>
            <p:nvPr/>
          </p:nvSpPr>
          <p:spPr>
            <a:xfrm flipH="false" flipV="false" rot="0">
              <a:off x="0" y="0"/>
              <a:ext cx="11432794" cy="53848"/>
            </a:xfrm>
            <a:custGeom>
              <a:avLst/>
              <a:gdLst/>
              <a:ahLst/>
              <a:cxnLst/>
              <a:rect r="r" b="b" t="t" l="l"/>
              <a:pathLst>
                <a:path h="53848" w="11432794">
                  <a:moveTo>
                    <a:pt x="0" y="0"/>
                  </a:moveTo>
                  <a:lnTo>
                    <a:pt x="11432794" y="0"/>
                  </a:lnTo>
                  <a:lnTo>
                    <a:pt x="11432794" y="53848"/>
                  </a:lnTo>
                  <a:lnTo>
                    <a:pt x="0" y="53848"/>
                  </a:lnTo>
                  <a:close/>
                </a:path>
              </a:pathLst>
            </a:custGeom>
            <a:solidFill>
              <a:srgbClr val="1B2A44"/>
            </a:solidFill>
          </p:spPr>
        </p:sp>
      </p:grpSp>
      <p:sp>
        <p:nvSpPr>
          <p:cNvPr name="TextBox 68" id="68"/>
          <p:cNvSpPr txBox="true"/>
          <p:nvPr/>
        </p:nvSpPr>
        <p:spPr>
          <a:xfrm rot="0">
            <a:off x="1750419" y="10521239"/>
            <a:ext cx="18438743" cy="827723"/>
          </a:xfrm>
          <a:prstGeom prst="rect">
            <a:avLst/>
          </a:prstGeom>
        </p:spPr>
        <p:txBody>
          <a:bodyPr anchor="t" rtlCol="false" tIns="0" lIns="0" bIns="0" rIns="0">
            <a:spAutoFit/>
          </a:bodyPr>
          <a:lstStyle/>
          <a:p>
            <a:pPr algn="l">
              <a:lnSpc>
                <a:spcPts val="5093"/>
              </a:lnSpc>
            </a:pPr>
            <a:r>
              <a:rPr lang="en-US" sz="3183">
                <a:solidFill>
                  <a:srgbClr val="33425C"/>
                </a:solidFill>
                <a:latin typeface="Georgia"/>
                <a:ea typeface="Georgia"/>
                <a:cs typeface="Georgia"/>
                <a:sym typeface="Georgia"/>
              </a:rPr>
              <a:t>Implementation begins after receipt of the advance and required Client inputs / access.</a:t>
            </a:r>
          </a:p>
        </p:txBody>
      </p:sp>
      <p:sp>
        <p:nvSpPr>
          <p:cNvPr name="TextBox 69" id="69"/>
          <p:cNvSpPr txBox="true"/>
          <p:nvPr/>
        </p:nvSpPr>
        <p:spPr>
          <a:xfrm rot="0">
            <a:off x="1750419" y="12091025"/>
            <a:ext cx="19695309" cy="389982"/>
          </a:xfrm>
          <a:prstGeom prst="rect">
            <a:avLst/>
          </a:prstGeom>
        </p:spPr>
        <p:txBody>
          <a:bodyPr anchor="t" rtlCol="false" tIns="0" lIns="0" bIns="0" rIns="0">
            <a:spAutoFit/>
          </a:bodyPr>
          <a:lstStyle/>
          <a:p>
            <a:pPr algn="l">
              <a:lnSpc>
                <a:spcPts val="2421"/>
              </a:lnSpc>
            </a:pPr>
            <a:r>
              <a:rPr lang="en-US" sz="2017" spc="322">
                <a:solidFill>
                  <a:srgbClr val="8494AB"/>
                </a:solidFill>
                <a:latin typeface="Georgia"/>
                <a:ea typeface="Georgia"/>
                <a:cs typeface="Georgia"/>
                <a:sym typeface="Georgia"/>
              </a:rPr>
              <a:t>CARE PLAN — ₹55,000 / MONTH</a:t>
            </a:r>
          </a:p>
        </p:txBody>
      </p:sp>
      <p:sp>
        <p:nvSpPr>
          <p:cNvPr name="TextBox 70" id="70"/>
          <p:cNvSpPr txBox="true"/>
          <p:nvPr/>
        </p:nvSpPr>
        <p:spPr>
          <a:xfrm rot="0">
            <a:off x="1750419" y="12652191"/>
            <a:ext cx="278120" cy="745236"/>
          </a:xfrm>
          <a:prstGeom prst="rect">
            <a:avLst/>
          </a:prstGeom>
        </p:spPr>
        <p:txBody>
          <a:bodyPr anchor="t" rtlCol="false" tIns="0" lIns="0" bIns="0" rIns="0">
            <a:spAutoFit/>
          </a:bodyPr>
          <a:lstStyle/>
          <a:p>
            <a:pPr algn="l">
              <a:lnSpc>
                <a:spcPts val="4775"/>
              </a:lnSpc>
            </a:pPr>
            <a:r>
              <a:rPr lang="en-US" sz="3183">
                <a:solidFill>
                  <a:srgbClr val="2E7D5B"/>
                </a:solidFill>
                <a:latin typeface="Georgia"/>
                <a:ea typeface="Georgia"/>
                <a:cs typeface="Georgia"/>
                <a:sym typeface="Georgia"/>
              </a:rPr>
              <a:t>·</a:t>
            </a:r>
          </a:p>
        </p:txBody>
      </p:sp>
      <p:sp>
        <p:nvSpPr>
          <p:cNvPr name="TextBox 71" id="71"/>
          <p:cNvSpPr txBox="true"/>
          <p:nvPr/>
        </p:nvSpPr>
        <p:spPr>
          <a:xfrm rot="0">
            <a:off x="2106292" y="12652191"/>
            <a:ext cx="1731074"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Optional</a:t>
            </a:r>
          </a:p>
        </p:txBody>
      </p:sp>
      <p:sp>
        <p:nvSpPr>
          <p:cNvPr name="TextBox 72" id="72"/>
          <p:cNvSpPr txBox="true"/>
          <p:nvPr/>
        </p:nvSpPr>
        <p:spPr>
          <a:xfrm rot="0">
            <a:off x="11157185" y="12652191"/>
            <a:ext cx="278120" cy="745236"/>
          </a:xfrm>
          <a:prstGeom prst="rect">
            <a:avLst/>
          </a:prstGeom>
        </p:spPr>
        <p:txBody>
          <a:bodyPr anchor="t" rtlCol="false" tIns="0" lIns="0" bIns="0" rIns="0">
            <a:spAutoFit/>
          </a:bodyPr>
          <a:lstStyle/>
          <a:p>
            <a:pPr algn="l">
              <a:lnSpc>
                <a:spcPts val="4775"/>
              </a:lnSpc>
            </a:pPr>
            <a:r>
              <a:rPr lang="en-US" sz="3183">
                <a:solidFill>
                  <a:srgbClr val="2E7D5B"/>
                </a:solidFill>
                <a:latin typeface="Georgia"/>
                <a:ea typeface="Georgia"/>
                <a:cs typeface="Georgia"/>
                <a:sym typeface="Georgia"/>
              </a:rPr>
              <a:t>·</a:t>
            </a:r>
          </a:p>
        </p:txBody>
      </p:sp>
      <p:sp>
        <p:nvSpPr>
          <p:cNvPr name="TextBox 73" id="73"/>
          <p:cNvSpPr txBox="true"/>
          <p:nvPr/>
        </p:nvSpPr>
        <p:spPr>
          <a:xfrm rot="0">
            <a:off x="11513048" y="12652191"/>
            <a:ext cx="5067329"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Billed monthly in advance</a:t>
            </a:r>
          </a:p>
        </p:txBody>
      </p:sp>
      <p:sp>
        <p:nvSpPr>
          <p:cNvPr name="TextBox 74" id="74"/>
          <p:cNvSpPr txBox="true"/>
          <p:nvPr/>
        </p:nvSpPr>
        <p:spPr>
          <a:xfrm rot="0">
            <a:off x="1750419" y="13514699"/>
            <a:ext cx="278120" cy="745236"/>
          </a:xfrm>
          <a:prstGeom prst="rect">
            <a:avLst/>
          </a:prstGeom>
        </p:spPr>
        <p:txBody>
          <a:bodyPr anchor="t" rtlCol="false" tIns="0" lIns="0" bIns="0" rIns="0">
            <a:spAutoFit/>
          </a:bodyPr>
          <a:lstStyle/>
          <a:p>
            <a:pPr algn="l">
              <a:lnSpc>
                <a:spcPts val="4775"/>
              </a:lnSpc>
            </a:pPr>
            <a:r>
              <a:rPr lang="en-US" sz="3183">
                <a:solidFill>
                  <a:srgbClr val="2E7D5B"/>
                </a:solidFill>
                <a:latin typeface="Georgia"/>
                <a:ea typeface="Georgia"/>
                <a:cs typeface="Georgia"/>
                <a:sym typeface="Georgia"/>
              </a:rPr>
              <a:t>·</a:t>
            </a:r>
          </a:p>
        </p:txBody>
      </p:sp>
      <p:sp>
        <p:nvSpPr>
          <p:cNvPr name="TextBox 75" id="75"/>
          <p:cNvSpPr txBox="true"/>
          <p:nvPr/>
        </p:nvSpPr>
        <p:spPr>
          <a:xfrm rot="0">
            <a:off x="2106292" y="13514699"/>
            <a:ext cx="3219412"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Month-to-month</a:t>
            </a:r>
          </a:p>
        </p:txBody>
      </p:sp>
      <p:sp>
        <p:nvSpPr>
          <p:cNvPr name="TextBox 76" id="76"/>
          <p:cNvSpPr txBox="true"/>
          <p:nvPr/>
        </p:nvSpPr>
        <p:spPr>
          <a:xfrm rot="0">
            <a:off x="11157185" y="13514699"/>
            <a:ext cx="278120" cy="745236"/>
          </a:xfrm>
          <a:prstGeom prst="rect">
            <a:avLst/>
          </a:prstGeom>
        </p:spPr>
        <p:txBody>
          <a:bodyPr anchor="t" rtlCol="false" tIns="0" lIns="0" bIns="0" rIns="0">
            <a:spAutoFit/>
          </a:bodyPr>
          <a:lstStyle/>
          <a:p>
            <a:pPr algn="l">
              <a:lnSpc>
                <a:spcPts val="4775"/>
              </a:lnSpc>
            </a:pPr>
            <a:r>
              <a:rPr lang="en-US" sz="3183">
                <a:solidFill>
                  <a:srgbClr val="2E7D5B"/>
                </a:solidFill>
                <a:latin typeface="Georgia"/>
                <a:ea typeface="Georgia"/>
                <a:cs typeface="Georgia"/>
                <a:sym typeface="Georgia"/>
              </a:rPr>
              <a:t>·</a:t>
            </a:r>
          </a:p>
        </p:txBody>
      </p:sp>
      <p:sp>
        <p:nvSpPr>
          <p:cNvPr name="TextBox 77" id="77"/>
          <p:cNvSpPr txBox="true"/>
          <p:nvPr/>
        </p:nvSpPr>
        <p:spPr>
          <a:xfrm rot="0">
            <a:off x="11513048" y="13514699"/>
            <a:ext cx="7321096" cy="745236"/>
          </a:xfrm>
          <a:prstGeom prst="rect">
            <a:avLst/>
          </a:prstGeom>
        </p:spPr>
        <p:txBody>
          <a:bodyPr anchor="t" rtlCol="false" tIns="0" lIns="0" bIns="0" rIns="0">
            <a:spAutoFit/>
          </a:bodyPr>
          <a:lstStyle/>
          <a:p>
            <a:pPr algn="l">
              <a:lnSpc>
                <a:spcPts val="4775"/>
              </a:lnSpc>
            </a:pPr>
            <a:r>
              <a:rPr lang="en-US" sz="3183">
                <a:solidFill>
                  <a:srgbClr val="33425C"/>
                </a:solidFill>
                <a:latin typeface="Georgia"/>
                <a:ea typeface="Georgia"/>
                <a:cs typeface="Georgia"/>
                <a:sym typeface="Georgia"/>
              </a:rPr>
              <a:t>No fixed 6- or 12-month commitment</a:t>
            </a:r>
          </a:p>
        </p:txBody>
      </p:sp>
      <p:sp>
        <p:nvSpPr>
          <p:cNvPr name="TextBox 78" id="78"/>
          <p:cNvSpPr txBox="true"/>
          <p:nvPr/>
        </p:nvSpPr>
        <p:spPr>
          <a:xfrm rot="0">
            <a:off x="1750419" y="27931558"/>
            <a:ext cx="18438743" cy="910199"/>
          </a:xfrm>
          <a:prstGeom prst="rect">
            <a:avLst/>
          </a:prstGeom>
        </p:spPr>
        <p:txBody>
          <a:bodyPr anchor="t" rtlCol="false" tIns="0" lIns="0" bIns="0" rIns="0">
            <a:spAutoFit/>
          </a:bodyPr>
          <a:lstStyle/>
          <a:p>
            <a:pPr algn="l">
              <a:lnSpc>
                <a:spcPts val="5661"/>
              </a:lnSpc>
            </a:pPr>
            <a:r>
              <a:rPr lang="en-US" sz="3395">
                <a:solidFill>
                  <a:srgbClr val="33425C"/>
                </a:solidFill>
                <a:latin typeface="Georgia"/>
                <a:ea typeface="Georgia"/>
                <a:cs typeface="Georgia"/>
                <a:sym typeface="Georgia"/>
              </a:rPr>
              <a:t>Either party may discontinue the Care Plan with </a:t>
            </a:r>
            <a:r>
              <a:rPr lang="en-US" sz="3395" b="true">
                <a:solidFill>
                  <a:srgbClr val="1B2A44"/>
                </a:solidFill>
                <a:latin typeface="Georgia Bold"/>
                <a:ea typeface="Georgia Bold"/>
                <a:cs typeface="Georgia Bold"/>
                <a:sym typeface="Georgia Bold"/>
              </a:rPr>
              <a:t>30 days’ written notice</a:t>
            </a:r>
            <a:r>
              <a:rPr lang="en-US" sz="3395">
                <a:solidFill>
                  <a:srgbClr val="33425C"/>
                </a:solidFill>
                <a:latin typeface="Georgia"/>
                <a:ea typeface="Georgia"/>
                <a:cs typeface="Georgia"/>
                <a:sym typeface="Georgia"/>
              </a:rPr>
              <a:t>.</a:t>
            </a: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725025" y="2102368"/>
            <a:ext cx="17951006" cy="26956"/>
            <a:chOff x="0" y="0"/>
            <a:chExt cx="23934674" cy="35941"/>
          </a:xfrm>
        </p:grpSpPr>
        <p:sp>
          <p:nvSpPr>
            <p:cNvPr name="Freeform 3" id="3"/>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E2E8F1"/>
            </a:solidFill>
          </p:spPr>
        </p:sp>
      </p:grpSp>
      <p:sp>
        <p:nvSpPr>
          <p:cNvPr name="TextBox 4" id="4"/>
          <p:cNvSpPr txBox="true"/>
          <p:nvPr/>
        </p:nvSpPr>
        <p:spPr>
          <a:xfrm rot="0">
            <a:off x="1750419" y="1525267"/>
            <a:ext cx="3195828"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LUMELUSH STUDIO</a:t>
            </a:r>
          </a:p>
        </p:txBody>
      </p:sp>
      <p:sp>
        <p:nvSpPr>
          <p:cNvPr name="TextBox 5" id="5"/>
          <p:cNvSpPr txBox="true"/>
          <p:nvPr/>
        </p:nvSpPr>
        <p:spPr>
          <a:xfrm rot="0">
            <a:off x="15847933" y="1525267"/>
            <a:ext cx="4188057"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COMMERCIAL PROPOSAL</a:t>
            </a:r>
          </a:p>
        </p:txBody>
      </p:sp>
      <p:grpSp>
        <p:nvGrpSpPr>
          <p:cNvPr name="Group 6" id="6"/>
          <p:cNvGrpSpPr/>
          <p:nvPr/>
        </p:nvGrpSpPr>
        <p:grpSpPr>
          <a:xfrm rot="0">
            <a:off x="1725025" y="4258647"/>
            <a:ext cx="17951006" cy="26956"/>
            <a:chOff x="0" y="0"/>
            <a:chExt cx="23934674" cy="35941"/>
          </a:xfrm>
        </p:grpSpPr>
        <p:sp>
          <p:nvSpPr>
            <p:cNvPr name="Freeform 7" id="7"/>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DCE3EE"/>
            </a:solidFill>
          </p:spPr>
        </p:sp>
      </p:grpSp>
      <p:sp>
        <p:nvSpPr>
          <p:cNvPr name="TextBox 8" id="8"/>
          <p:cNvSpPr txBox="true"/>
          <p:nvPr/>
        </p:nvSpPr>
        <p:spPr>
          <a:xfrm rot="0">
            <a:off x="1750419" y="3465919"/>
            <a:ext cx="1677172" cy="470840"/>
          </a:xfrm>
          <a:prstGeom prst="rect">
            <a:avLst/>
          </a:prstGeom>
        </p:spPr>
        <p:txBody>
          <a:bodyPr anchor="t" rtlCol="false" tIns="0" lIns="0" bIns="0" rIns="0">
            <a:spAutoFit/>
          </a:bodyPr>
          <a:lstStyle/>
          <a:p>
            <a:pPr algn="l">
              <a:lnSpc>
                <a:spcPts val="3310"/>
              </a:lnSpc>
            </a:pPr>
            <a:r>
              <a:rPr lang="en-US" sz="2759" spc="387">
                <a:solidFill>
                  <a:srgbClr val="1546E0"/>
                </a:solidFill>
                <a:latin typeface="Georgia"/>
                <a:ea typeface="Georgia"/>
                <a:cs typeface="Georgia"/>
                <a:sym typeface="Georgia"/>
              </a:rPr>
              <a:t>24 – 25</a:t>
            </a:r>
          </a:p>
        </p:txBody>
      </p:sp>
      <p:sp>
        <p:nvSpPr>
          <p:cNvPr name="TextBox 9" id="9"/>
          <p:cNvSpPr txBox="true"/>
          <p:nvPr/>
        </p:nvSpPr>
        <p:spPr>
          <a:xfrm rot="0">
            <a:off x="3640112" y="2963332"/>
            <a:ext cx="13694207" cy="1108196"/>
          </a:xfrm>
          <a:prstGeom prst="rect">
            <a:avLst/>
          </a:prstGeom>
        </p:spPr>
        <p:txBody>
          <a:bodyPr anchor="t" rtlCol="false" tIns="0" lIns="0" bIns="0" rIns="0">
            <a:spAutoFit/>
          </a:bodyPr>
          <a:lstStyle/>
          <a:p>
            <a:pPr algn="l">
              <a:lnSpc>
                <a:spcPts val="7130"/>
              </a:lnSpc>
            </a:pPr>
            <a:r>
              <a:rPr lang="en-US" sz="5942" b="true">
                <a:solidFill>
                  <a:srgbClr val="1B2A44"/>
                </a:solidFill>
                <a:latin typeface="Playfair Display Bold"/>
                <a:ea typeface="Playfair Display Bold"/>
                <a:cs typeface="Playfair Display Bold"/>
                <a:sym typeface="Playfair Display Bold"/>
              </a:rPr>
              <a:t>Exclusions &amp; Client Responsibilities</a:t>
            </a:r>
          </a:p>
        </p:txBody>
      </p:sp>
      <p:grpSp>
        <p:nvGrpSpPr>
          <p:cNvPr name="Group 10" id="10"/>
          <p:cNvGrpSpPr/>
          <p:nvPr/>
        </p:nvGrpSpPr>
        <p:grpSpPr>
          <a:xfrm rot="0">
            <a:off x="1725025" y="5498506"/>
            <a:ext cx="17951006" cy="26956"/>
            <a:chOff x="0" y="0"/>
            <a:chExt cx="23934674" cy="35941"/>
          </a:xfrm>
        </p:grpSpPr>
        <p:sp>
          <p:nvSpPr>
            <p:cNvPr name="Freeform 11" id="11"/>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E2E8F1"/>
            </a:solidFill>
          </p:spPr>
        </p:sp>
      </p:grpSp>
      <p:sp>
        <p:nvSpPr>
          <p:cNvPr name="TextBox 12" id="12"/>
          <p:cNvSpPr txBox="true"/>
          <p:nvPr/>
        </p:nvSpPr>
        <p:spPr>
          <a:xfrm rot="0">
            <a:off x="1750419" y="4948361"/>
            <a:ext cx="18438743" cy="416938"/>
          </a:xfrm>
          <a:prstGeom prst="rect">
            <a:avLst/>
          </a:prstGeom>
        </p:spPr>
        <p:txBody>
          <a:bodyPr anchor="t" rtlCol="false" tIns="0" lIns="0" bIns="0" rIns="0">
            <a:spAutoFit/>
          </a:bodyPr>
          <a:lstStyle/>
          <a:p>
            <a:pPr algn="l">
              <a:lnSpc>
                <a:spcPts val="2546"/>
              </a:lnSpc>
            </a:pPr>
            <a:r>
              <a:rPr lang="en-US" sz="2122" spc="339">
                <a:solidFill>
                  <a:srgbClr val="8494AB"/>
                </a:solidFill>
                <a:latin typeface="Georgia"/>
                <a:ea typeface="Georgia"/>
                <a:cs typeface="Georgia"/>
                <a:sym typeface="Georgia"/>
              </a:rPr>
              <a:t>OUTSIDE SCOPE UNLESS EXPRESSLY INCLUDED</a:t>
            </a:r>
          </a:p>
        </p:txBody>
      </p:sp>
      <p:sp>
        <p:nvSpPr>
          <p:cNvPr name="TextBox 13" id="13"/>
          <p:cNvSpPr txBox="true"/>
          <p:nvPr/>
        </p:nvSpPr>
        <p:spPr>
          <a:xfrm rot="0">
            <a:off x="1750419" y="5798106"/>
            <a:ext cx="416252" cy="699240"/>
          </a:xfrm>
          <a:prstGeom prst="rect">
            <a:avLst/>
          </a:prstGeom>
        </p:spPr>
        <p:txBody>
          <a:bodyPr anchor="t" rtlCol="false" tIns="0" lIns="0" bIns="0" rIns="0">
            <a:spAutoFit/>
          </a:bodyPr>
          <a:lstStyle/>
          <a:p>
            <a:pPr algn="l">
              <a:lnSpc>
                <a:spcPts val="4315"/>
              </a:lnSpc>
            </a:pPr>
            <a:r>
              <a:rPr lang="en-US" sz="3078">
                <a:solidFill>
                  <a:srgbClr val="A6B3C6"/>
                </a:solidFill>
                <a:latin typeface="Georgia"/>
                <a:ea typeface="Georgia"/>
                <a:cs typeface="Georgia"/>
                <a:sym typeface="Georgia"/>
              </a:rPr>
              <a:t>×</a:t>
            </a:r>
          </a:p>
        </p:txBody>
      </p:sp>
      <p:sp>
        <p:nvSpPr>
          <p:cNvPr name="TextBox 14" id="14"/>
          <p:cNvSpPr txBox="true"/>
          <p:nvPr/>
        </p:nvSpPr>
        <p:spPr>
          <a:xfrm rot="0">
            <a:off x="2244423" y="5798106"/>
            <a:ext cx="4268667"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Paid advertising spend</a:t>
            </a:r>
          </a:p>
        </p:txBody>
      </p:sp>
      <p:sp>
        <p:nvSpPr>
          <p:cNvPr name="TextBox 15" id="15"/>
          <p:cNvSpPr txBox="true"/>
          <p:nvPr/>
        </p:nvSpPr>
        <p:spPr>
          <a:xfrm rot="0">
            <a:off x="11103273" y="5798106"/>
            <a:ext cx="416252" cy="699240"/>
          </a:xfrm>
          <a:prstGeom prst="rect">
            <a:avLst/>
          </a:prstGeom>
        </p:spPr>
        <p:txBody>
          <a:bodyPr anchor="t" rtlCol="false" tIns="0" lIns="0" bIns="0" rIns="0">
            <a:spAutoFit/>
          </a:bodyPr>
          <a:lstStyle/>
          <a:p>
            <a:pPr algn="l">
              <a:lnSpc>
                <a:spcPts val="4315"/>
              </a:lnSpc>
            </a:pPr>
            <a:r>
              <a:rPr lang="en-US" sz="3078">
                <a:solidFill>
                  <a:srgbClr val="A6B3C6"/>
                </a:solidFill>
                <a:latin typeface="Georgia"/>
                <a:ea typeface="Georgia"/>
                <a:cs typeface="Georgia"/>
                <a:sym typeface="Georgia"/>
              </a:rPr>
              <a:t>×</a:t>
            </a:r>
          </a:p>
        </p:txBody>
      </p:sp>
      <p:sp>
        <p:nvSpPr>
          <p:cNvPr name="TextBox 16" id="16"/>
          <p:cNvSpPr txBox="true"/>
          <p:nvPr/>
        </p:nvSpPr>
        <p:spPr>
          <a:xfrm rot="0">
            <a:off x="11597278" y="5798106"/>
            <a:ext cx="5146548"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Photography / videography</a:t>
            </a:r>
          </a:p>
        </p:txBody>
      </p:sp>
      <p:sp>
        <p:nvSpPr>
          <p:cNvPr name="TextBox 17" id="17"/>
          <p:cNvSpPr txBox="true"/>
          <p:nvPr/>
        </p:nvSpPr>
        <p:spPr>
          <a:xfrm rot="0">
            <a:off x="1750419" y="6579756"/>
            <a:ext cx="416252" cy="1265263"/>
          </a:xfrm>
          <a:prstGeom prst="rect">
            <a:avLst/>
          </a:prstGeom>
        </p:spPr>
        <p:txBody>
          <a:bodyPr anchor="t" rtlCol="false" tIns="0" lIns="0" bIns="0" rIns="0">
            <a:spAutoFit/>
          </a:bodyPr>
          <a:lstStyle/>
          <a:p>
            <a:pPr algn="l">
              <a:lnSpc>
                <a:spcPts val="4315"/>
              </a:lnSpc>
            </a:pPr>
            <a:r>
              <a:rPr lang="en-US" sz="3078">
                <a:solidFill>
                  <a:srgbClr val="A6B3C6"/>
                </a:solidFill>
                <a:latin typeface="Georgia"/>
                <a:ea typeface="Georgia"/>
                <a:cs typeface="Georgia"/>
                <a:sym typeface="Georgia"/>
              </a:rPr>
              <a:t>×</a:t>
            </a:r>
          </a:p>
        </p:txBody>
      </p:sp>
      <p:sp>
        <p:nvSpPr>
          <p:cNvPr name="TextBox 18" id="18"/>
          <p:cNvSpPr txBox="true"/>
          <p:nvPr/>
        </p:nvSpPr>
        <p:spPr>
          <a:xfrm rot="0">
            <a:off x="2244423" y="6579756"/>
            <a:ext cx="8296475" cy="1265263"/>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New software products outside the agreed system</a:t>
            </a:r>
          </a:p>
        </p:txBody>
      </p:sp>
      <p:sp>
        <p:nvSpPr>
          <p:cNvPr name="TextBox 19" id="19"/>
          <p:cNvSpPr txBox="true"/>
          <p:nvPr/>
        </p:nvSpPr>
        <p:spPr>
          <a:xfrm rot="0">
            <a:off x="11103273" y="6579756"/>
            <a:ext cx="416252" cy="1265263"/>
          </a:xfrm>
          <a:prstGeom prst="rect">
            <a:avLst/>
          </a:prstGeom>
        </p:spPr>
        <p:txBody>
          <a:bodyPr anchor="t" rtlCol="false" tIns="0" lIns="0" bIns="0" rIns="0">
            <a:spAutoFit/>
          </a:bodyPr>
          <a:lstStyle/>
          <a:p>
            <a:pPr algn="l">
              <a:lnSpc>
                <a:spcPts val="4315"/>
              </a:lnSpc>
            </a:pPr>
            <a:r>
              <a:rPr lang="en-US" sz="3078">
                <a:solidFill>
                  <a:srgbClr val="A6B3C6"/>
                </a:solidFill>
                <a:latin typeface="Georgia"/>
                <a:ea typeface="Georgia"/>
                <a:cs typeface="Georgia"/>
                <a:sym typeface="Georgia"/>
              </a:rPr>
              <a:t>×</a:t>
            </a:r>
          </a:p>
        </p:txBody>
      </p:sp>
      <p:sp>
        <p:nvSpPr>
          <p:cNvPr name="TextBox 20" id="20"/>
          <p:cNvSpPr txBox="true"/>
          <p:nvPr/>
        </p:nvSpPr>
        <p:spPr>
          <a:xfrm rot="0">
            <a:off x="11597278" y="6579756"/>
            <a:ext cx="4561618" cy="1265263"/>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Major new CRM modules</a:t>
            </a:r>
          </a:p>
        </p:txBody>
      </p:sp>
      <p:sp>
        <p:nvSpPr>
          <p:cNvPr name="TextBox 21" id="21"/>
          <p:cNvSpPr txBox="true"/>
          <p:nvPr/>
        </p:nvSpPr>
        <p:spPr>
          <a:xfrm rot="0">
            <a:off x="1750419" y="7927429"/>
            <a:ext cx="416252" cy="1265263"/>
          </a:xfrm>
          <a:prstGeom prst="rect">
            <a:avLst/>
          </a:prstGeom>
        </p:spPr>
        <p:txBody>
          <a:bodyPr anchor="t" rtlCol="false" tIns="0" lIns="0" bIns="0" rIns="0">
            <a:spAutoFit/>
          </a:bodyPr>
          <a:lstStyle/>
          <a:p>
            <a:pPr algn="l">
              <a:lnSpc>
                <a:spcPts val="4315"/>
              </a:lnSpc>
            </a:pPr>
            <a:r>
              <a:rPr lang="en-US" sz="3078">
                <a:solidFill>
                  <a:srgbClr val="A6B3C6"/>
                </a:solidFill>
                <a:latin typeface="Georgia"/>
                <a:ea typeface="Georgia"/>
                <a:cs typeface="Georgia"/>
                <a:sym typeface="Georgia"/>
              </a:rPr>
              <a:t>×</a:t>
            </a:r>
          </a:p>
        </p:txBody>
      </p:sp>
      <p:sp>
        <p:nvSpPr>
          <p:cNvPr name="TextBox 22" id="22"/>
          <p:cNvSpPr txBox="true"/>
          <p:nvPr/>
        </p:nvSpPr>
        <p:spPr>
          <a:xfrm rot="0">
            <a:off x="2244423" y="7927429"/>
            <a:ext cx="8296475" cy="1265263"/>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Major new automation systems after implementation</a:t>
            </a:r>
          </a:p>
        </p:txBody>
      </p:sp>
      <p:sp>
        <p:nvSpPr>
          <p:cNvPr name="TextBox 23" id="23"/>
          <p:cNvSpPr txBox="true"/>
          <p:nvPr/>
        </p:nvSpPr>
        <p:spPr>
          <a:xfrm rot="0">
            <a:off x="11103273" y="7927429"/>
            <a:ext cx="416252" cy="1265263"/>
          </a:xfrm>
          <a:prstGeom prst="rect">
            <a:avLst/>
          </a:prstGeom>
        </p:spPr>
        <p:txBody>
          <a:bodyPr anchor="t" rtlCol="false" tIns="0" lIns="0" bIns="0" rIns="0">
            <a:spAutoFit/>
          </a:bodyPr>
          <a:lstStyle/>
          <a:p>
            <a:pPr algn="l">
              <a:lnSpc>
                <a:spcPts val="4315"/>
              </a:lnSpc>
            </a:pPr>
            <a:r>
              <a:rPr lang="en-US" sz="3078">
                <a:solidFill>
                  <a:srgbClr val="A6B3C6"/>
                </a:solidFill>
                <a:latin typeface="Georgia"/>
                <a:ea typeface="Georgia"/>
                <a:cs typeface="Georgia"/>
                <a:sym typeface="Georgia"/>
              </a:rPr>
              <a:t>×</a:t>
            </a:r>
          </a:p>
        </p:txBody>
      </p:sp>
      <p:sp>
        <p:nvSpPr>
          <p:cNvPr name="TextBox 24" id="24"/>
          <p:cNvSpPr txBox="true"/>
          <p:nvPr/>
        </p:nvSpPr>
        <p:spPr>
          <a:xfrm rot="0">
            <a:off x="11597278" y="7927429"/>
            <a:ext cx="8296475" cy="1265263"/>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Additional prospect capacity beyond the agreed limit</a:t>
            </a:r>
          </a:p>
        </p:txBody>
      </p:sp>
      <p:sp>
        <p:nvSpPr>
          <p:cNvPr name="TextBox 25" id="25"/>
          <p:cNvSpPr txBox="true"/>
          <p:nvPr/>
        </p:nvSpPr>
        <p:spPr>
          <a:xfrm rot="0">
            <a:off x="1750419" y="9275102"/>
            <a:ext cx="416252" cy="699240"/>
          </a:xfrm>
          <a:prstGeom prst="rect">
            <a:avLst/>
          </a:prstGeom>
        </p:spPr>
        <p:txBody>
          <a:bodyPr anchor="t" rtlCol="false" tIns="0" lIns="0" bIns="0" rIns="0">
            <a:spAutoFit/>
          </a:bodyPr>
          <a:lstStyle/>
          <a:p>
            <a:pPr algn="l">
              <a:lnSpc>
                <a:spcPts val="4315"/>
              </a:lnSpc>
            </a:pPr>
            <a:r>
              <a:rPr lang="en-US" sz="3078">
                <a:solidFill>
                  <a:srgbClr val="A6B3C6"/>
                </a:solidFill>
                <a:latin typeface="Georgia"/>
                <a:ea typeface="Georgia"/>
                <a:cs typeface="Georgia"/>
                <a:sym typeface="Georgia"/>
              </a:rPr>
              <a:t>×</a:t>
            </a:r>
          </a:p>
        </p:txBody>
      </p:sp>
      <p:sp>
        <p:nvSpPr>
          <p:cNvPr name="TextBox 26" id="26"/>
          <p:cNvSpPr txBox="true"/>
          <p:nvPr/>
        </p:nvSpPr>
        <p:spPr>
          <a:xfrm rot="0">
            <a:off x="2244423" y="9275102"/>
            <a:ext cx="8639080"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AI usage materially exceeding agreed capacity</a:t>
            </a:r>
          </a:p>
        </p:txBody>
      </p:sp>
      <p:sp>
        <p:nvSpPr>
          <p:cNvPr name="TextBox 27" id="27"/>
          <p:cNvSpPr txBox="true"/>
          <p:nvPr/>
        </p:nvSpPr>
        <p:spPr>
          <a:xfrm rot="0">
            <a:off x="11103273" y="9275102"/>
            <a:ext cx="416252" cy="699240"/>
          </a:xfrm>
          <a:prstGeom prst="rect">
            <a:avLst/>
          </a:prstGeom>
        </p:spPr>
        <p:txBody>
          <a:bodyPr anchor="t" rtlCol="false" tIns="0" lIns="0" bIns="0" rIns="0">
            <a:spAutoFit/>
          </a:bodyPr>
          <a:lstStyle/>
          <a:p>
            <a:pPr algn="l">
              <a:lnSpc>
                <a:spcPts val="4315"/>
              </a:lnSpc>
            </a:pPr>
            <a:r>
              <a:rPr lang="en-US" sz="3078">
                <a:solidFill>
                  <a:srgbClr val="A6B3C6"/>
                </a:solidFill>
                <a:latin typeface="Georgia"/>
                <a:ea typeface="Georgia"/>
                <a:cs typeface="Georgia"/>
                <a:sym typeface="Georgia"/>
              </a:rPr>
              <a:t>×</a:t>
            </a:r>
          </a:p>
        </p:txBody>
      </p:sp>
      <p:sp>
        <p:nvSpPr>
          <p:cNvPr name="TextBox 28" id="28"/>
          <p:cNvSpPr txBox="true"/>
          <p:nvPr/>
        </p:nvSpPr>
        <p:spPr>
          <a:xfrm rot="0">
            <a:off x="11597278" y="9275102"/>
            <a:ext cx="6475181"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Major redesigns or redevelopment</a:t>
            </a:r>
          </a:p>
        </p:txBody>
      </p:sp>
      <p:sp>
        <p:nvSpPr>
          <p:cNvPr name="TextBox 29" id="29"/>
          <p:cNvSpPr txBox="true"/>
          <p:nvPr/>
        </p:nvSpPr>
        <p:spPr>
          <a:xfrm rot="0">
            <a:off x="1750419" y="10056752"/>
            <a:ext cx="416252" cy="699240"/>
          </a:xfrm>
          <a:prstGeom prst="rect">
            <a:avLst/>
          </a:prstGeom>
        </p:spPr>
        <p:txBody>
          <a:bodyPr anchor="t" rtlCol="false" tIns="0" lIns="0" bIns="0" rIns="0">
            <a:spAutoFit/>
          </a:bodyPr>
          <a:lstStyle/>
          <a:p>
            <a:pPr algn="l">
              <a:lnSpc>
                <a:spcPts val="4315"/>
              </a:lnSpc>
            </a:pPr>
            <a:r>
              <a:rPr lang="en-US" sz="3078">
                <a:solidFill>
                  <a:srgbClr val="A6B3C6"/>
                </a:solidFill>
                <a:latin typeface="Georgia"/>
                <a:ea typeface="Georgia"/>
                <a:cs typeface="Georgia"/>
                <a:sym typeface="Georgia"/>
              </a:rPr>
              <a:t>×</a:t>
            </a:r>
          </a:p>
        </p:txBody>
      </p:sp>
      <p:sp>
        <p:nvSpPr>
          <p:cNvPr name="TextBox 30" id="30"/>
          <p:cNvSpPr txBox="true"/>
          <p:nvPr/>
        </p:nvSpPr>
        <p:spPr>
          <a:xfrm rot="0">
            <a:off x="2244423" y="10056752"/>
            <a:ext cx="8304143"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Services not expressly listed in this proposal</a:t>
            </a:r>
          </a:p>
        </p:txBody>
      </p:sp>
      <p:sp>
        <p:nvSpPr>
          <p:cNvPr name="TextBox 31" id="31"/>
          <p:cNvSpPr txBox="true"/>
          <p:nvPr/>
        </p:nvSpPr>
        <p:spPr>
          <a:xfrm rot="0">
            <a:off x="1750419" y="10962018"/>
            <a:ext cx="19695309" cy="791242"/>
          </a:xfrm>
          <a:prstGeom prst="rect">
            <a:avLst/>
          </a:prstGeom>
        </p:spPr>
        <p:txBody>
          <a:bodyPr anchor="t" rtlCol="false" tIns="0" lIns="0" bIns="0" rIns="0">
            <a:spAutoFit/>
          </a:bodyPr>
          <a:lstStyle/>
          <a:p>
            <a:pPr algn="l">
              <a:lnSpc>
                <a:spcPts val="4761"/>
              </a:lnSpc>
            </a:pPr>
            <a:r>
              <a:rPr lang="en-US" sz="3078" i="true">
                <a:solidFill>
                  <a:srgbClr val="5A6B85"/>
                </a:solidFill>
                <a:latin typeface="Georgia Italics"/>
                <a:ea typeface="Georgia Italics"/>
                <a:cs typeface="Georgia Italics"/>
                <a:sym typeface="Georgia Italics"/>
              </a:rPr>
              <a:t>Additional requirements may be separately scoped and approved.</a:t>
            </a:r>
          </a:p>
        </p:txBody>
      </p:sp>
      <p:grpSp>
        <p:nvGrpSpPr>
          <p:cNvPr name="Group 32" id="32"/>
          <p:cNvGrpSpPr/>
          <p:nvPr/>
        </p:nvGrpSpPr>
        <p:grpSpPr>
          <a:xfrm rot="0">
            <a:off x="1725025" y="13045478"/>
            <a:ext cx="17951006" cy="26956"/>
            <a:chOff x="0" y="0"/>
            <a:chExt cx="23934674" cy="35941"/>
          </a:xfrm>
        </p:grpSpPr>
        <p:sp>
          <p:nvSpPr>
            <p:cNvPr name="Freeform 33" id="33"/>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E2E8F1"/>
            </a:solidFill>
          </p:spPr>
        </p:sp>
      </p:grpSp>
      <p:sp>
        <p:nvSpPr>
          <p:cNvPr name="TextBox 34" id="34"/>
          <p:cNvSpPr txBox="true"/>
          <p:nvPr/>
        </p:nvSpPr>
        <p:spPr>
          <a:xfrm rot="0">
            <a:off x="1750419" y="12495333"/>
            <a:ext cx="18438743" cy="416938"/>
          </a:xfrm>
          <a:prstGeom prst="rect">
            <a:avLst/>
          </a:prstGeom>
        </p:spPr>
        <p:txBody>
          <a:bodyPr anchor="t" rtlCol="false" tIns="0" lIns="0" bIns="0" rIns="0">
            <a:spAutoFit/>
          </a:bodyPr>
          <a:lstStyle/>
          <a:p>
            <a:pPr algn="l">
              <a:lnSpc>
                <a:spcPts val="2546"/>
              </a:lnSpc>
            </a:pPr>
            <a:r>
              <a:rPr lang="en-US" sz="2122" spc="339">
                <a:solidFill>
                  <a:srgbClr val="8494AB"/>
                </a:solidFill>
                <a:latin typeface="Georgia"/>
                <a:ea typeface="Georgia"/>
                <a:cs typeface="Georgia"/>
                <a:sym typeface="Georgia"/>
              </a:rPr>
              <a:t>THE CLIENT WILL PROVIDE</a:t>
            </a:r>
          </a:p>
        </p:txBody>
      </p:sp>
      <p:sp>
        <p:nvSpPr>
          <p:cNvPr name="TextBox 35" id="35"/>
          <p:cNvSpPr txBox="true"/>
          <p:nvPr/>
        </p:nvSpPr>
        <p:spPr>
          <a:xfrm rot="0">
            <a:off x="1750419" y="13345077"/>
            <a:ext cx="274330" cy="699240"/>
          </a:xfrm>
          <a:prstGeom prst="rect">
            <a:avLst/>
          </a:prstGeom>
        </p:spPr>
        <p:txBody>
          <a:bodyPr anchor="t" rtlCol="false" tIns="0" lIns="0" bIns="0" rIns="0">
            <a:spAutoFit/>
          </a:bodyPr>
          <a:lstStyle/>
          <a:p>
            <a:pPr algn="l">
              <a:lnSpc>
                <a:spcPts val="4315"/>
              </a:lnSpc>
            </a:pPr>
            <a:r>
              <a:rPr lang="en-US" sz="3078">
                <a:solidFill>
                  <a:srgbClr val="16B3A8"/>
                </a:solidFill>
                <a:latin typeface="Georgia"/>
                <a:ea typeface="Georgia"/>
                <a:cs typeface="Georgia"/>
                <a:sym typeface="Georgia"/>
              </a:rPr>
              <a:t>·</a:t>
            </a:r>
          </a:p>
        </p:txBody>
      </p:sp>
      <p:sp>
        <p:nvSpPr>
          <p:cNvPr name="TextBox 36" id="36"/>
          <p:cNvSpPr txBox="true"/>
          <p:nvPr/>
        </p:nvSpPr>
        <p:spPr>
          <a:xfrm rot="0">
            <a:off x="2102501" y="13345077"/>
            <a:ext cx="4009701"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Business information</a:t>
            </a:r>
          </a:p>
        </p:txBody>
      </p:sp>
      <p:sp>
        <p:nvSpPr>
          <p:cNvPr name="TextBox 37" id="37"/>
          <p:cNvSpPr txBox="true"/>
          <p:nvPr/>
        </p:nvSpPr>
        <p:spPr>
          <a:xfrm rot="0">
            <a:off x="11103273" y="13345077"/>
            <a:ext cx="274330" cy="699240"/>
          </a:xfrm>
          <a:prstGeom prst="rect">
            <a:avLst/>
          </a:prstGeom>
        </p:spPr>
        <p:txBody>
          <a:bodyPr anchor="t" rtlCol="false" tIns="0" lIns="0" bIns="0" rIns="0">
            <a:spAutoFit/>
          </a:bodyPr>
          <a:lstStyle/>
          <a:p>
            <a:pPr algn="l">
              <a:lnSpc>
                <a:spcPts val="4315"/>
              </a:lnSpc>
            </a:pPr>
            <a:r>
              <a:rPr lang="en-US" sz="3078">
                <a:solidFill>
                  <a:srgbClr val="16B3A8"/>
                </a:solidFill>
                <a:latin typeface="Georgia"/>
                <a:ea typeface="Georgia"/>
                <a:cs typeface="Georgia"/>
                <a:sym typeface="Georgia"/>
              </a:rPr>
              <a:t>·</a:t>
            </a:r>
          </a:p>
        </p:txBody>
      </p:sp>
      <p:sp>
        <p:nvSpPr>
          <p:cNvPr name="TextBox 38" id="38"/>
          <p:cNvSpPr txBox="true"/>
          <p:nvPr/>
        </p:nvSpPr>
        <p:spPr>
          <a:xfrm rot="0">
            <a:off x="11455356" y="13345077"/>
            <a:ext cx="6155998"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Services and pricing information</a:t>
            </a:r>
          </a:p>
        </p:txBody>
      </p:sp>
      <p:sp>
        <p:nvSpPr>
          <p:cNvPr name="TextBox 39" id="39"/>
          <p:cNvSpPr txBox="true"/>
          <p:nvPr/>
        </p:nvSpPr>
        <p:spPr>
          <a:xfrm rot="0">
            <a:off x="1750419" y="14126728"/>
            <a:ext cx="274330" cy="699240"/>
          </a:xfrm>
          <a:prstGeom prst="rect">
            <a:avLst/>
          </a:prstGeom>
        </p:spPr>
        <p:txBody>
          <a:bodyPr anchor="t" rtlCol="false" tIns="0" lIns="0" bIns="0" rIns="0">
            <a:spAutoFit/>
          </a:bodyPr>
          <a:lstStyle/>
          <a:p>
            <a:pPr algn="l">
              <a:lnSpc>
                <a:spcPts val="4315"/>
              </a:lnSpc>
            </a:pPr>
            <a:r>
              <a:rPr lang="en-US" sz="3078">
                <a:solidFill>
                  <a:srgbClr val="16B3A8"/>
                </a:solidFill>
                <a:latin typeface="Georgia"/>
                <a:ea typeface="Georgia"/>
                <a:cs typeface="Georgia"/>
                <a:sym typeface="Georgia"/>
              </a:rPr>
              <a:t>·</a:t>
            </a:r>
          </a:p>
        </p:txBody>
      </p:sp>
      <p:sp>
        <p:nvSpPr>
          <p:cNvPr name="TextBox 40" id="40"/>
          <p:cNvSpPr txBox="true"/>
          <p:nvPr/>
        </p:nvSpPr>
        <p:spPr>
          <a:xfrm rot="0">
            <a:off x="2102501" y="14126728"/>
            <a:ext cx="5920197"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Customer information required</a:t>
            </a:r>
          </a:p>
        </p:txBody>
      </p:sp>
      <p:sp>
        <p:nvSpPr>
          <p:cNvPr name="TextBox 41" id="41"/>
          <p:cNvSpPr txBox="true"/>
          <p:nvPr/>
        </p:nvSpPr>
        <p:spPr>
          <a:xfrm rot="0">
            <a:off x="11103273" y="14126728"/>
            <a:ext cx="274330" cy="699240"/>
          </a:xfrm>
          <a:prstGeom prst="rect">
            <a:avLst/>
          </a:prstGeom>
        </p:spPr>
        <p:txBody>
          <a:bodyPr anchor="t" rtlCol="false" tIns="0" lIns="0" bIns="0" rIns="0">
            <a:spAutoFit/>
          </a:bodyPr>
          <a:lstStyle/>
          <a:p>
            <a:pPr algn="l">
              <a:lnSpc>
                <a:spcPts val="4315"/>
              </a:lnSpc>
            </a:pPr>
            <a:r>
              <a:rPr lang="en-US" sz="3078">
                <a:solidFill>
                  <a:srgbClr val="16B3A8"/>
                </a:solidFill>
                <a:latin typeface="Georgia"/>
                <a:ea typeface="Georgia"/>
                <a:cs typeface="Georgia"/>
                <a:sym typeface="Georgia"/>
              </a:rPr>
              <a:t>·</a:t>
            </a:r>
          </a:p>
        </p:txBody>
      </p:sp>
      <p:sp>
        <p:nvSpPr>
          <p:cNvPr name="TextBox 42" id="42"/>
          <p:cNvSpPr txBox="true"/>
          <p:nvPr/>
        </p:nvSpPr>
        <p:spPr>
          <a:xfrm rot="0">
            <a:off x="11455356" y="14126728"/>
            <a:ext cx="6752673"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Existing sales / process information</a:t>
            </a:r>
          </a:p>
        </p:txBody>
      </p:sp>
      <p:sp>
        <p:nvSpPr>
          <p:cNvPr name="TextBox 43" id="43"/>
          <p:cNvSpPr txBox="true"/>
          <p:nvPr/>
        </p:nvSpPr>
        <p:spPr>
          <a:xfrm rot="0">
            <a:off x="1750419" y="14908378"/>
            <a:ext cx="274330" cy="699240"/>
          </a:xfrm>
          <a:prstGeom prst="rect">
            <a:avLst/>
          </a:prstGeom>
        </p:spPr>
        <p:txBody>
          <a:bodyPr anchor="t" rtlCol="false" tIns="0" lIns="0" bIns="0" rIns="0">
            <a:spAutoFit/>
          </a:bodyPr>
          <a:lstStyle/>
          <a:p>
            <a:pPr algn="l">
              <a:lnSpc>
                <a:spcPts val="4315"/>
              </a:lnSpc>
            </a:pPr>
            <a:r>
              <a:rPr lang="en-US" sz="3078">
                <a:solidFill>
                  <a:srgbClr val="16B3A8"/>
                </a:solidFill>
                <a:latin typeface="Georgia"/>
                <a:ea typeface="Georgia"/>
                <a:cs typeface="Georgia"/>
                <a:sym typeface="Georgia"/>
              </a:rPr>
              <a:t>·</a:t>
            </a:r>
          </a:p>
        </p:txBody>
      </p:sp>
      <p:sp>
        <p:nvSpPr>
          <p:cNvPr name="TextBox 44" id="44"/>
          <p:cNvSpPr txBox="true"/>
          <p:nvPr/>
        </p:nvSpPr>
        <p:spPr>
          <a:xfrm rot="0">
            <a:off x="2102501" y="14908378"/>
            <a:ext cx="6460817"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Workflow and project information</a:t>
            </a:r>
          </a:p>
        </p:txBody>
      </p:sp>
      <p:sp>
        <p:nvSpPr>
          <p:cNvPr name="TextBox 45" id="45"/>
          <p:cNvSpPr txBox="true"/>
          <p:nvPr/>
        </p:nvSpPr>
        <p:spPr>
          <a:xfrm rot="0">
            <a:off x="11103273" y="14908378"/>
            <a:ext cx="274330" cy="699240"/>
          </a:xfrm>
          <a:prstGeom prst="rect">
            <a:avLst/>
          </a:prstGeom>
        </p:spPr>
        <p:txBody>
          <a:bodyPr anchor="t" rtlCol="false" tIns="0" lIns="0" bIns="0" rIns="0">
            <a:spAutoFit/>
          </a:bodyPr>
          <a:lstStyle/>
          <a:p>
            <a:pPr algn="l">
              <a:lnSpc>
                <a:spcPts val="4315"/>
              </a:lnSpc>
            </a:pPr>
            <a:r>
              <a:rPr lang="en-US" sz="3078">
                <a:solidFill>
                  <a:srgbClr val="16B3A8"/>
                </a:solidFill>
                <a:latin typeface="Georgia"/>
                <a:ea typeface="Georgia"/>
                <a:cs typeface="Georgia"/>
                <a:sym typeface="Georgia"/>
              </a:rPr>
              <a:t>·</a:t>
            </a:r>
          </a:p>
        </p:txBody>
      </p:sp>
      <p:sp>
        <p:nvSpPr>
          <p:cNvPr name="TextBox 46" id="46"/>
          <p:cNvSpPr txBox="true"/>
          <p:nvPr/>
        </p:nvSpPr>
        <p:spPr>
          <a:xfrm rot="0">
            <a:off x="11455356" y="14908378"/>
            <a:ext cx="5858580"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Images / assets where required</a:t>
            </a:r>
          </a:p>
        </p:txBody>
      </p:sp>
      <p:sp>
        <p:nvSpPr>
          <p:cNvPr name="TextBox 47" id="47"/>
          <p:cNvSpPr txBox="true"/>
          <p:nvPr/>
        </p:nvSpPr>
        <p:spPr>
          <a:xfrm rot="0">
            <a:off x="1750419" y="15690028"/>
            <a:ext cx="274330" cy="699240"/>
          </a:xfrm>
          <a:prstGeom prst="rect">
            <a:avLst/>
          </a:prstGeom>
        </p:spPr>
        <p:txBody>
          <a:bodyPr anchor="t" rtlCol="false" tIns="0" lIns="0" bIns="0" rIns="0">
            <a:spAutoFit/>
          </a:bodyPr>
          <a:lstStyle/>
          <a:p>
            <a:pPr algn="l">
              <a:lnSpc>
                <a:spcPts val="4315"/>
              </a:lnSpc>
            </a:pPr>
            <a:r>
              <a:rPr lang="en-US" sz="3078">
                <a:solidFill>
                  <a:srgbClr val="16B3A8"/>
                </a:solidFill>
                <a:latin typeface="Georgia"/>
                <a:ea typeface="Georgia"/>
                <a:cs typeface="Georgia"/>
                <a:sym typeface="Georgia"/>
              </a:rPr>
              <a:t>·</a:t>
            </a:r>
          </a:p>
        </p:txBody>
      </p:sp>
      <p:sp>
        <p:nvSpPr>
          <p:cNvPr name="TextBox 48" id="48"/>
          <p:cNvSpPr txBox="true"/>
          <p:nvPr/>
        </p:nvSpPr>
        <p:spPr>
          <a:xfrm rot="0">
            <a:off x="2102501" y="15690028"/>
            <a:ext cx="7365111"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Required account access and approvals</a:t>
            </a:r>
          </a:p>
        </p:txBody>
      </p:sp>
      <p:sp>
        <p:nvSpPr>
          <p:cNvPr name="TextBox 49" id="49"/>
          <p:cNvSpPr txBox="true"/>
          <p:nvPr/>
        </p:nvSpPr>
        <p:spPr>
          <a:xfrm rot="0">
            <a:off x="11103273" y="15690028"/>
            <a:ext cx="274330" cy="699240"/>
          </a:xfrm>
          <a:prstGeom prst="rect">
            <a:avLst/>
          </a:prstGeom>
        </p:spPr>
        <p:txBody>
          <a:bodyPr anchor="t" rtlCol="false" tIns="0" lIns="0" bIns="0" rIns="0">
            <a:spAutoFit/>
          </a:bodyPr>
          <a:lstStyle/>
          <a:p>
            <a:pPr algn="l">
              <a:lnSpc>
                <a:spcPts val="4315"/>
              </a:lnSpc>
            </a:pPr>
            <a:r>
              <a:rPr lang="en-US" sz="3078">
                <a:solidFill>
                  <a:srgbClr val="16B3A8"/>
                </a:solidFill>
                <a:latin typeface="Georgia"/>
                <a:ea typeface="Georgia"/>
                <a:cs typeface="Georgia"/>
                <a:sym typeface="Georgia"/>
              </a:rPr>
              <a:t>·</a:t>
            </a:r>
          </a:p>
        </p:txBody>
      </p:sp>
      <p:sp>
        <p:nvSpPr>
          <p:cNvPr name="TextBox 50" id="50"/>
          <p:cNvSpPr txBox="true"/>
          <p:nvPr/>
        </p:nvSpPr>
        <p:spPr>
          <a:xfrm rot="0">
            <a:off x="11455356" y="15690028"/>
            <a:ext cx="7354919"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Team availability for workflow analysis</a:t>
            </a:r>
          </a:p>
        </p:txBody>
      </p:sp>
      <p:sp>
        <p:nvSpPr>
          <p:cNvPr name="TextBox 51" id="51"/>
          <p:cNvSpPr txBox="true"/>
          <p:nvPr/>
        </p:nvSpPr>
        <p:spPr>
          <a:xfrm rot="0">
            <a:off x="1750419" y="16471678"/>
            <a:ext cx="274330" cy="699240"/>
          </a:xfrm>
          <a:prstGeom prst="rect">
            <a:avLst/>
          </a:prstGeom>
        </p:spPr>
        <p:txBody>
          <a:bodyPr anchor="t" rtlCol="false" tIns="0" lIns="0" bIns="0" rIns="0">
            <a:spAutoFit/>
          </a:bodyPr>
          <a:lstStyle/>
          <a:p>
            <a:pPr algn="l">
              <a:lnSpc>
                <a:spcPts val="4315"/>
              </a:lnSpc>
            </a:pPr>
            <a:r>
              <a:rPr lang="en-US" sz="3078">
                <a:solidFill>
                  <a:srgbClr val="16B3A8"/>
                </a:solidFill>
                <a:latin typeface="Georgia"/>
                <a:ea typeface="Georgia"/>
                <a:cs typeface="Georgia"/>
                <a:sym typeface="Georgia"/>
              </a:rPr>
              <a:t>·</a:t>
            </a:r>
          </a:p>
        </p:txBody>
      </p:sp>
      <p:sp>
        <p:nvSpPr>
          <p:cNvPr name="TextBox 52" id="52"/>
          <p:cNvSpPr txBox="true"/>
          <p:nvPr/>
        </p:nvSpPr>
        <p:spPr>
          <a:xfrm rot="0">
            <a:off x="2102501" y="16471678"/>
            <a:ext cx="7295617" cy="699240"/>
          </a:xfrm>
          <a:prstGeom prst="rect">
            <a:avLst/>
          </a:prstGeom>
        </p:spPr>
        <p:txBody>
          <a:bodyPr anchor="t" rtlCol="false" tIns="0" lIns="0" bIns="0" rIns="0">
            <a:spAutoFit/>
          </a:bodyPr>
          <a:lstStyle/>
          <a:p>
            <a:pPr algn="l">
              <a:lnSpc>
                <a:spcPts val="4315"/>
              </a:lnSpc>
            </a:pPr>
            <a:r>
              <a:rPr lang="en-US" sz="3078">
                <a:solidFill>
                  <a:srgbClr val="33425C"/>
                </a:solidFill>
                <a:latin typeface="Georgia"/>
                <a:ea typeface="Georgia"/>
                <a:cs typeface="Georgia"/>
                <a:sym typeface="Georgia"/>
              </a:rPr>
              <a:t>Information required to define the ICP</a:t>
            </a:r>
          </a:p>
        </p:txBody>
      </p:sp>
      <p:sp>
        <p:nvSpPr>
          <p:cNvPr name="TextBox 53" id="53"/>
          <p:cNvSpPr txBox="true"/>
          <p:nvPr/>
        </p:nvSpPr>
        <p:spPr>
          <a:xfrm rot="0">
            <a:off x="1750419" y="17376943"/>
            <a:ext cx="19695309" cy="791242"/>
          </a:xfrm>
          <a:prstGeom prst="rect">
            <a:avLst/>
          </a:prstGeom>
        </p:spPr>
        <p:txBody>
          <a:bodyPr anchor="t" rtlCol="false" tIns="0" lIns="0" bIns="0" rIns="0">
            <a:spAutoFit/>
          </a:bodyPr>
          <a:lstStyle/>
          <a:p>
            <a:pPr algn="l">
              <a:lnSpc>
                <a:spcPts val="4761"/>
              </a:lnSpc>
            </a:pPr>
            <a:r>
              <a:rPr lang="en-US" sz="3078" i="true">
                <a:solidFill>
                  <a:srgbClr val="5A6B85"/>
                </a:solidFill>
                <a:latin typeface="Georgia Italics"/>
                <a:ea typeface="Georgia Italics"/>
                <a:cs typeface="Georgia Italics"/>
                <a:sym typeface="Georgia Italics"/>
              </a:rPr>
              <a:t>The Client is responsible for providing accurate information and timely approvals.</a:t>
            </a:r>
          </a:p>
        </p:txBody>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725025" y="2102368"/>
            <a:ext cx="17951006" cy="26956"/>
            <a:chOff x="0" y="0"/>
            <a:chExt cx="23934674" cy="35941"/>
          </a:xfrm>
        </p:grpSpPr>
        <p:sp>
          <p:nvSpPr>
            <p:cNvPr name="Freeform 3" id="3"/>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E2E8F1"/>
            </a:solidFill>
          </p:spPr>
        </p:sp>
      </p:grpSp>
      <p:sp>
        <p:nvSpPr>
          <p:cNvPr name="TextBox 4" id="4"/>
          <p:cNvSpPr txBox="true"/>
          <p:nvPr/>
        </p:nvSpPr>
        <p:spPr>
          <a:xfrm rot="0">
            <a:off x="1750419" y="1525267"/>
            <a:ext cx="3195828"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LUMELUSH STUDIO</a:t>
            </a:r>
          </a:p>
        </p:txBody>
      </p:sp>
      <p:sp>
        <p:nvSpPr>
          <p:cNvPr name="TextBox 5" id="5"/>
          <p:cNvSpPr txBox="true"/>
          <p:nvPr/>
        </p:nvSpPr>
        <p:spPr>
          <a:xfrm rot="0">
            <a:off x="15847933" y="1525267"/>
            <a:ext cx="4188057"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COMMERCIAL PROPOSAL</a:t>
            </a:r>
          </a:p>
        </p:txBody>
      </p:sp>
      <p:grpSp>
        <p:nvGrpSpPr>
          <p:cNvPr name="Group 6" id="6"/>
          <p:cNvGrpSpPr/>
          <p:nvPr/>
        </p:nvGrpSpPr>
        <p:grpSpPr>
          <a:xfrm rot="0">
            <a:off x="1725025" y="4258647"/>
            <a:ext cx="17951006" cy="26956"/>
            <a:chOff x="0" y="0"/>
            <a:chExt cx="23934674" cy="35941"/>
          </a:xfrm>
        </p:grpSpPr>
        <p:sp>
          <p:nvSpPr>
            <p:cNvPr name="Freeform 7" id="7"/>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DCE3EE"/>
            </a:solidFill>
          </p:spPr>
        </p:sp>
      </p:grpSp>
      <p:sp>
        <p:nvSpPr>
          <p:cNvPr name="TextBox 8" id="8"/>
          <p:cNvSpPr txBox="true"/>
          <p:nvPr/>
        </p:nvSpPr>
        <p:spPr>
          <a:xfrm rot="0">
            <a:off x="1750419" y="3465919"/>
            <a:ext cx="1668742" cy="470840"/>
          </a:xfrm>
          <a:prstGeom prst="rect">
            <a:avLst/>
          </a:prstGeom>
        </p:spPr>
        <p:txBody>
          <a:bodyPr anchor="t" rtlCol="false" tIns="0" lIns="0" bIns="0" rIns="0">
            <a:spAutoFit/>
          </a:bodyPr>
          <a:lstStyle/>
          <a:p>
            <a:pPr algn="l">
              <a:lnSpc>
                <a:spcPts val="3310"/>
              </a:lnSpc>
            </a:pPr>
            <a:r>
              <a:rPr lang="en-US" sz="2759" spc="387">
                <a:solidFill>
                  <a:srgbClr val="1546E0"/>
                </a:solidFill>
                <a:latin typeface="Georgia"/>
                <a:ea typeface="Georgia"/>
                <a:cs typeface="Georgia"/>
                <a:sym typeface="Georgia"/>
              </a:rPr>
              <a:t>26 – 27</a:t>
            </a:r>
          </a:p>
        </p:txBody>
      </p:sp>
      <p:sp>
        <p:nvSpPr>
          <p:cNvPr name="TextBox 9" id="9"/>
          <p:cNvSpPr txBox="true"/>
          <p:nvPr/>
        </p:nvSpPr>
        <p:spPr>
          <a:xfrm rot="0">
            <a:off x="3631692" y="2963332"/>
            <a:ext cx="14673082" cy="1108196"/>
          </a:xfrm>
          <a:prstGeom prst="rect">
            <a:avLst/>
          </a:prstGeom>
        </p:spPr>
        <p:txBody>
          <a:bodyPr anchor="t" rtlCol="false" tIns="0" lIns="0" bIns="0" rIns="0">
            <a:spAutoFit/>
          </a:bodyPr>
          <a:lstStyle/>
          <a:p>
            <a:pPr algn="l">
              <a:lnSpc>
                <a:spcPts val="7130"/>
              </a:lnSpc>
            </a:pPr>
            <a:r>
              <a:rPr lang="en-US" sz="5942" b="true">
                <a:solidFill>
                  <a:srgbClr val="1B2A44"/>
                </a:solidFill>
                <a:latin typeface="Playfair Display Bold"/>
                <a:ea typeface="Playfair Display Bold"/>
                <a:cs typeface="Playfair Display Bold"/>
                <a:sym typeface="Playfair Display Bold"/>
              </a:rPr>
              <a:t>Ownership, Handover &amp; Master Terms</a:t>
            </a:r>
          </a:p>
        </p:txBody>
      </p:sp>
      <p:sp>
        <p:nvSpPr>
          <p:cNvPr name="TextBox 10" id="10"/>
          <p:cNvSpPr txBox="true"/>
          <p:nvPr/>
        </p:nvSpPr>
        <p:spPr>
          <a:xfrm rot="0">
            <a:off x="1750419" y="4805486"/>
            <a:ext cx="18438743" cy="3012577"/>
          </a:xfrm>
          <a:prstGeom prst="rect">
            <a:avLst/>
          </a:prstGeom>
        </p:spPr>
        <p:txBody>
          <a:bodyPr anchor="t" rtlCol="false" tIns="0" lIns="0" bIns="0" rIns="0">
            <a:spAutoFit/>
          </a:bodyPr>
          <a:lstStyle/>
          <a:p>
            <a:pPr algn="l">
              <a:lnSpc>
                <a:spcPts val="5661"/>
              </a:lnSpc>
            </a:pPr>
            <a:r>
              <a:rPr lang="en-US" sz="3395">
                <a:solidFill>
                  <a:srgbClr val="33425C"/>
                </a:solidFill>
                <a:latin typeface="Georgia"/>
                <a:ea typeface="Georgia"/>
                <a:cs typeface="Georgia"/>
                <a:sym typeface="Georgia"/>
              </a:rPr>
              <a:t>Upon receipt of all implementation payments due: final Client-specific deliverables belong to the Client; CRM records and Client business data remain the Client’s property; relevant system access will be provided; team training will be completed; and handover information will be provided.</a:t>
            </a:r>
          </a:p>
        </p:txBody>
      </p:sp>
      <p:sp>
        <p:nvSpPr>
          <p:cNvPr name="TextBox 11" id="11"/>
          <p:cNvSpPr txBox="true"/>
          <p:nvPr/>
        </p:nvSpPr>
        <p:spPr>
          <a:xfrm rot="0">
            <a:off x="1750419" y="8093812"/>
            <a:ext cx="18438743" cy="2311784"/>
          </a:xfrm>
          <a:prstGeom prst="rect">
            <a:avLst/>
          </a:prstGeom>
        </p:spPr>
        <p:txBody>
          <a:bodyPr anchor="t" rtlCol="false" tIns="0" lIns="0" bIns="0" rIns="0">
            <a:spAutoFit/>
          </a:bodyPr>
          <a:lstStyle/>
          <a:p>
            <a:pPr algn="l">
              <a:lnSpc>
                <a:spcPts val="5661"/>
              </a:lnSpc>
            </a:pPr>
            <a:r>
              <a:rPr lang="en-US" sz="3395">
                <a:solidFill>
                  <a:srgbClr val="33425C"/>
                </a:solidFill>
                <a:latin typeface="Georgia"/>
                <a:ea typeface="Georgia"/>
                <a:cs typeface="Georgia"/>
                <a:sym typeface="Georgia"/>
              </a:rPr>
              <a:t>Third-party software, APIs and platforms remain subject to their respective licences and terms. Lumelush retains ownership of its general frameworks, methods, reusable components and non-client-specific technology.</a:t>
            </a:r>
          </a:p>
        </p:txBody>
      </p:sp>
      <p:sp>
        <p:nvSpPr>
          <p:cNvPr name="TextBox 12" id="12"/>
          <p:cNvSpPr txBox="true"/>
          <p:nvPr/>
        </p:nvSpPr>
        <p:spPr>
          <a:xfrm rot="0">
            <a:off x="1750419" y="10681345"/>
            <a:ext cx="18438743" cy="3012577"/>
          </a:xfrm>
          <a:prstGeom prst="rect">
            <a:avLst/>
          </a:prstGeom>
        </p:spPr>
        <p:txBody>
          <a:bodyPr anchor="t" rtlCol="false" tIns="0" lIns="0" bIns="0" rIns="0">
            <a:spAutoFit/>
          </a:bodyPr>
          <a:lstStyle/>
          <a:p>
            <a:pPr algn="l">
              <a:lnSpc>
                <a:spcPts val="5661"/>
              </a:lnSpc>
            </a:pPr>
            <a:r>
              <a:rPr lang="en-US" sz="3395">
                <a:solidFill>
                  <a:srgbClr val="33425C"/>
                </a:solidFill>
                <a:latin typeface="Georgia"/>
                <a:ea typeface="Georgia"/>
                <a:cs typeface="Georgia"/>
                <a:sym typeface="Georgia"/>
              </a:rPr>
              <a:t>This Commercial Proposal is governed by the </a:t>
            </a:r>
            <a:r>
              <a:rPr lang="en-US" sz="3395" b="true">
                <a:solidFill>
                  <a:srgbClr val="1B2A44"/>
                </a:solidFill>
                <a:latin typeface="Georgia Bold"/>
                <a:ea typeface="Georgia Bold"/>
                <a:cs typeface="Georgia Bold"/>
                <a:sym typeface="Georgia Bold"/>
              </a:rPr>
              <a:t>Lumelush Studio Master Terms &amp; Conditions </a:t>
            </a:r>
            <a:r>
              <a:rPr lang="en-US" sz="3395">
                <a:solidFill>
                  <a:srgbClr val="33425C"/>
                </a:solidFill>
                <a:latin typeface="Georgia"/>
                <a:ea typeface="Georgia"/>
                <a:cs typeface="Georgia"/>
                <a:sym typeface="Georgia"/>
              </a:rPr>
              <a:t>, which cover scope, payment, refunds, Client responsibilities, timelines, revisions, Care Plans, tools and infrastructure, annual renewals, data handling, ownership, confidentiality, performance and results, termination, liability and governing law.</a:t>
            </a:r>
          </a:p>
        </p:txBody>
      </p:sp>
      <p:sp>
        <p:nvSpPr>
          <p:cNvPr name="TextBox 13" id="13"/>
          <p:cNvSpPr txBox="true"/>
          <p:nvPr/>
        </p:nvSpPr>
        <p:spPr>
          <a:xfrm rot="0">
            <a:off x="1750419" y="13969660"/>
            <a:ext cx="18438743" cy="910199"/>
          </a:xfrm>
          <a:prstGeom prst="rect">
            <a:avLst/>
          </a:prstGeom>
        </p:spPr>
        <p:txBody>
          <a:bodyPr anchor="t" rtlCol="false" tIns="0" lIns="0" bIns="0" rIns="0">
            <a:spAutoFit/>
          </a:bodyPr>
          <a:lstStyle/>
          <a:p>
            <a:pPr algn="l">
              <a:lnSpc>
                <a:spcPts val="5661"/>
              </a:lnSpc>
            </a:pPr>
            <a:r>
              <a:rPr lang="en-US" sz="3395" u="sng">
                <a:solidFill>
                  <a:srgbClr val="1546E0"/>
                </a:solidFill>
                <a:latin typeface="Georgia"/>
                <a:ea typeface="Georgia"/>
                <a:cs typeface="Georgia"/>
                <a:sym typeface="Georgia"/>
                <a:hlinkClick xmlns:r="http://schemas.openxmlformats.org/officeDocument/2006/relationships" r:id="rId3"/>
              </a:rPr>
              <a:t>Master Terms &amp; Conditions</a:t>
            </a:r>
          </a:p>
        </p:txBody>
      </p:sp>
      <p:sp>
        <p:nvSpPr>
          <p:cNvPr name="TextBox 14" id="14"/>
          <p:cNvSpPr txBox="true"/>
          <p:nvPr/>
        </p:nvSpPr>
        <p:spPr>
          <a:xfrm rot="0">
            <a:off x="1750419" y="26720273"/>
            <a:ext cx="18438743" cy="2121484"/>
          </a:xfrm>
          <a:prstGeom prst="rect">
            <a:avLst/>
          </a:prstGeom>
        </p:spPr>
        <p:txBody>
          <a:bodyPr anchor="t" rtlCol="false" tIns="0" lIns="0" bIns="0" rIns="0">
            <a:spAutoFit/>
          </a:bodyPr>
          <a:lstStyle/>
          <a:p>
            <a:pPr algn="l">
              <a:lnSpc>
                <a:spcPts val="5093"/>
              </a:lnSpc>
            </a:pPr>
            <a:r>
              <a:rPr lang="en-US" sz="3183" i="true">
                <a:solidFill>
                  <a:srgbClr val="5A6B85"/>
                </a:solidFill>
                <a:latin typeface="Georgia Italics"/>
                <a:ea typeface="Georgia Italics"/>
                <a:cs typeface="Georgia Italics"/>
                <a:sym typeface="Georgia Italics"/>
              </a:rPr>
              <a:t>The Master Terms and this Commercial Proposal together constitute the agreement for this engagement. Where this proposal contains a package-specific provision that differs from the Master Terms, this proposal governs for that specific provision.</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025" y="2102368"/>
            <a:ext cx="17951006" cy="26956"/>
            <a:chOff x="0" y="0"/>
            <a:chExt cx="23934674" cy="35941"/>
          </a:xfrm>
        </p:grpSpPr>
        <p:sp>
          <p:nvSpPr>
            <p:cNvPr name="Freeform 3" id="3"/>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E2E8F1"/>
            </a:solidFill>
          </p:spPr>
        </p:sp>
      </p:grpSp>
      <p:grpSp>
        <p:nvGrpSpPr>
          <p:cNvPr name="Group 4" id="4"/>
          <p:cNvGrpSpPr/>
          <p:nvPr/>
        </p:nvGrpSpPr>
        <p:grpSpPr>
          <a:xfrm rot="0">
            <a:off x="1725025" y="4258647"/>
            <a:ext cx="17951006" cy="26956"/>
            <a:chOff x="0" y="0"/>
            <a:chExt cx="23934674" cy="35941"/>
          </a:xfrm>
        </p:grpSpPr>
        <p:sp>
          <p:nvSpPr>
            <p:cNvPr name="Freeform 5" id="5"/>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DCE3EE"/>
            </a:solidFill>
          </p:spPr>
        </p:sp>
      </p:grpSp>
      <p:grpSp>
        <p:nvGrpSpPr>
          <p:cNvPr name="Group 6" id="6"/>
          <p:cNvGrpSpPr/>
          <p:nvPr/>
        </p:nvGrpSpPr>
        <p:grpSpPr>
          <a:xfrm rot="0">
            <a:off x="1725025" y="5660231"/>
            <a:ext cx="12982308" cy="40434"/>
            <a:chOff x="0" y="0"/>
            <a:chExt cx="17309744" cy="53912"/>
          </a:xfrm>
        </p:grpSpPr>
        <p:sp>
          <p:nvSpPr>
            <p:cNvPr name="Freeform 7" id="7"/>
            <p:cNvSpPr/>
            <p:nvPr/>
          </p:nvSpPr>
          <p:spPr>
            <a:xfrm flipH="false" flipV="false" rot="0">
              <a:off x="0" y="0"/>
              <a:ext cx="17309719" cy="53848"/>
            </a:xfrm>
            <a:custGeom>
              <a:avLst/>
              <a:gdLst/>
              <a:ahLst/>
              <a:cxnLst/>
              <a:rect r="r" b="b" t="t" l="l"/>
              <a:pathLst>
                <a:path h="53848" w="17309719">
                  <a:moveTo>
                    <a:pt x="0" y="0"/>
                  </a:moveTo>
                  <a:lnTo>
                    <a:pt x="17309719" y="0"/>
                  </a:lnTo>
                  <a:lnTo>
                    <a:pt x="17309719" y="53848"/>
                  </a:lnTo>
                  <a:lnTo>
                    <a:pt x="0" y="53848"/>
                  </a:lnTo>
                  <a:close/>
                </a:path>
              </a:pathLst>
            </a:custGeom>
            <a:solidFill>
              <a:srgbClr val="1B2A44"/>
            </a:solidFill>
          </p:spPr>
        </p:sp>
      </p:grpSp>
      <p:grpSp>
        <p:nvGrpSpPr>
          <p:cNvPr name="Group 8" id="8"/>
          <p:cNvGrpSpPr/>
          <p:nvPr/>
        </p:nvGrpSpPr>
        <p:grpSpPr>
          <a:xfrm rot="0">
            <a:off x="2048466" y="5094208"/>
            <a:ext cx="12724895" cy="404298"/>
            <a:chOff x="0" y="0"/>
            <a:chExt cx="16966527" cy="539064"/>
          </a:xfrm>
        </p:grpSpPr>
        <p:sp>
          <p:nvSpPr>
            <p:cNvPr name="Freeform 9" id="9"/>
            <p:cNvSpPr/>
            <p:nvPr/>
          </p:nvSpPr>
          <p:spPr>
            <a:xfrm flipH="false" flipV="false" rot="0">
              <a:off x="0" y="0"/>
              <a:ext cx="16966523" cy="539069"/>
            </a:xfrm>
            <a:custGeom>
              <a:avLst/>
              <a:gdLst/>
              <a:ahLst/>
              <a:cxnLst/>
              <a:rect r="r" b="b" t="t" l="l"/>
              <a:pathLst>
                <a:path h="539069" w="16966523">
                  <a:moveTo>
                    <a:pt x="0" y="0"/>
                  </a:moveTo>
                  <a:lnTo>
                    <a:pt x="16966523" y="0"/>
                  </a:lnTo>
                  <a:lnTo>
                    <a:pt x="16966523" y="539069"/>
                  </a:lnTo>
                  <a:lnTo>
                    <a:pt x="0" y="539069"/>
                  </a:lnTo>
                  <a:close/>
                </a:path>
              </a:pathLst>
            </a:custGeom>
            <a:blipFill>
              <a:blip r:embed="rId3">
                <a:alphaModFix amt="0"/>
              </a:blip>
              <a:stretch>
                <a:fillRect l="0" t="-563267" r="0" b="-563266"/>
              </a:stretch>
            </a:blipFill>
          </p:spPr>
        </p:sp>
        <p:sp>
          <p:nvSpPr>
            <p:cNvPr name="TextBox 10" id="10"/>
            <p:cNvSpPr txBox="true"/>
            <p:nvPr/>
          </p:nvSpPr>
          <p:spPr>
            <a:xfrm>
              <a:off x="0" y="-9525"/>
              <a:ext cx="16966527" cy="548589"/>
            </a:xfrm>
            <a:prstGeom prst="rect">
              <a:avLst/>
            </a:prstGeom>
          </p:spPr>
          <p:txBody>
            <a:bodyPr anchor="ctr" rtlCol="false" tIns="0" lIns="0" bIns="0" rIns="0"/>
            <a:lstStyle/>
            <a:p>
              <a:pPr algn="l">
                <a:lnSpc>
                  <a:spcPts val="2421"/>
                </a:lnSpc>
              </a:pPr>
              <a:r>
                <a:rPr lang="en-US" b="true" sz="2017" spc="322">
                  <a:solidFill>
                    <a:srgbClr val="8494AB"/>
                  </a:solidFill>
                  <a:latin typeface="Georgia Bold"/>
                  <a:ea typeface="Georgia Bold"/>
                  <a:cs typeface="Georgia Bold"/>
                  <a:sym typeface="Georgia Bold"/>
                </a:rPr>
                <a:t>COMPONENT</a:t>
              </a:r>
            </a:p>
          </p:txBody>
        </p:sp>
      </p:grpSp>
      <p:grpSp>
        <p:nvGrpSpPr>
          <p:cNvPr name="Group 11" id="11"/>
          <p:cNvGrpSpPr/>
          <p:nvPr/>
        </p:nvGrpSpPr>
        <p:grpSpPr>
          <a:xfrm rot="0">
            <a:off x="14707333" y="5660231"/>
            <a:ext cx="4969126" cy="40434"/>
            <a:chOff x="0" y="0"/>
            <a:chExt cx="6625501" cy="53912"/>
          </a:xfrm>
        </p:grpSpPr>
        <p:sp>
          <p:nvSpPr>
            <p:cNvPr name="Freeform 12" id="12"/>
            <p:cNvSpPr/>
            <p:nvPr/>
          </p:nvSpPr>
          <p:spPr>
            <a:xfrm flipH="false" flipV="false" rot="0">
              <a:off x="0" y="0"/>
              <a:ext cx="6625463" cy="53848"/>
            </a:xfrm>
            <a:custGeom>
              <a:avLst/>
              <a:gdLst/>
              <a:ahLst/>
              <a:cxnLst/>
              <a:rect r="r" b="b" t="t" l="l"/>
              <a:pathLst>
                <a:path h="53848" w="6625463">
                  <a:moveTo>
                    <a:pt x="0" y="0"/>
                  </a:moveTo>
                  <a:lnTo>
                    <a:pt x="6625463" y="0"/>
                  </a:lnTo>
                  <a:lnTo>
                    <a:pt x="6625463" y="53848"/>
                  </a:lnTo>
                  <a:lnTo>
                    <a:pt x="0" y="53848"/>
                  </a:lnTo>
                  <a:close/>
                </a:path>
              </a:pathLst>
            </a:custGeom>
            <a:solidFill>
              <a:srgbClr val="1B2A44"/>
            </a:solidFill>
          </p:spPr>
        </p:sp>
      </p:grpSp>
      <p:grpSp>
        <p:nvGrpSpPr>
          <p:cNvPr name="Group 13" id="13"/>
          <p:cNvGrpSpPr/>
          <p:nvPr/>
        </p:nvGrpSpPr>
        <p:grpSpPr>
          <a:xfrm rot="0">
            <a:off x="14815147" y="5094208"/>
            <a:ext cx="4537872" cy="404298"/>
            <a:chOff x="0" y="0"/>
            <a:chExt cx="6050496" cy="539064"/>
          </a:xfrm>
        </p:grpSpPr>
        <p:sp>
          <p:nvSpPr>
            <p:cNvPr name="Freeform 14" id="14"/>
            <p:cNvSpPr/>
            <p:nvPr/>
          </p:nvSpPr>
          <p:spPr>
            <a:xfrm flipH="false" flipV="false" rot="0">
              <a:off x="0" y="0"/>
              <a:ext cx="6050492" cy="539069"/>
            </a:xfrm>
            <a:custGeom>
              <a:avLst/>
              <a:gdLst/>
              <a:ahLst/>
              <a:cxnLst/>
              <a:rect r="r" b="b" t="t" l="l"/>
              <a:pathLst>
                <a:path h="539069" w="6050492">
                  <a:moveTo>
                    <a:pt x="0" y="0"/>
                  </a:moveTo>
                  <a:lnTo>
                    <a:pt x="6050492" y="0"/>
                  </a:lnTo>
                  <a:lnTo>
                    <a:pt x="6050492" y="539069"/>
                  </a:lnTo>
                  <a:lnTo>
                    <a:pt x="0" y="539069"/>
                  </a:lnTo>
                  <a:close/>
                </a:path>
              </a:pathLst>
            </a:custGeom>
            <a:blipFill>
              <a:blip r:embed="rId3">
                <a:alphaModFix amt="0"/>
              </a:blip>
              <a:stretch>
                <a:fillRect l="0" t="-168699" r="0" b="-168698"/>
              </a:stretch>
            </a:blipFill>
          </p:spPr>
        </p:sp>
        <p:sp>
          <p:nvSpPr>
            <p:cNvPr name="TextBox 15" id="15"/>
            <p:cNvSpPr txBox="true"/>
            <p:nvPr/>
          </p:nvSpPr>
          <p:spPr>
            <a:xfrm>
              <a:off x="0" y="-9525"/>
              <a:ext cx="6050496" cy="548589"/>
            </a:xfrm>
            <a:prstGeom prst="rect">
              <a:avLst/>
            </a:prstGeom>
          </p:spPr>
          <p:txBody>
            <a:bodyPr anchor="ctr" rtlCol="false" tIns="0" lIns="0" bIns="0" rIns="0"/>
            <a:lstStyle/>
            <a:p>
              <a:pPr algn="r">
                <a:lnSpc>
                  <a:spcPts val="2421"/>
                </a:lnSpc>
              </a:pPr>
              <a:r>
                <a:rPr lang="en-US" b="true" sz="2017" spc="322">
                  <a:solidFill>
                    <a:srgbClr val="8494AB"/>
                  </a:solidFill>
                  <a:latin typeface="Georgia Bold"/>
                  <a:ea typeface="Georgia Bold"/>
                  <a:cs typeface="Georgia Bold"/>
                  <a:sym typeface="Georgia Bold"/>
                </a:rPr>
                <a:t>FEE</a:t>
              </a:r>
            </a:p>
          </p:txBody>
        </p:sp>
      </p:grpSp>
      <p:grpSp>
        <p:nvGrpSpPr>
          <p:cNvPr name="Group 16" id="16"/>
          <p:cNvGrpSpPr/>
          <p:nvPr/>
        </p:nvGrpSpPr>
        <p:grpSpPr>
          <a:xfrm rot="0">
            <a:off x="1725025" y="6846179"/>
            <a:ext cx="12982308" cy="26956"/>
            <a:chOff x="0" y="0"/>
            <a:chExt cx="17309744" cy="35941"/>
          </a:xfrm>
        </p:grpSpPr>
        <p:sp>
          <p:nvSpPr>
            <p:cNvPr name="Freeform 17" id="17"/>
            <p:cNvSpPr/>
            <p:nvPr/>
          </p:nvSpPr>
          <p:spPr>
            <a:xfrm flipH="false" flipV="false" rot="0">
              <a:off x="0" y="0"/>
              <a:ext cx="17309719" cy="35941"/>
            </a:xfrm>
            <a:custGeom>
              <a:avLst/>
              <a:gdLst/>
              <a:ahLst/>
              <a:cxnLst/>
              <a:rect r="r" b="b" t="t" l="l"/>
              <a:pathLst>
                <a:path h="35941" w="17309719">
                  <a:moveTo>
                    <a:pt x="0" y="0"/>
                  </a:moveTo>
                  <a:lnTo>
                    <a:pt x="17309719" y="0"/>
                  </a:lnTo>
                  <a:lnTo>
                    <a:pt x="17309719" y="35941"/>
                  </a:lnTo>
                  <a:lnTo>
                    <a:pt x="0" y="35941"/>
                  </a:lnTo>
                  <a:close/>
                </a:path>
              </a:pathLst>
            </a:custGeom>
            <a:solidFill>
              <a:srgbClr val="E9EEF5"/>
            </a:solidFill>
          </p:spPr>
        </p:sp>
      </p:grpSp>
      <p:grpSp>
        <p:nvGrpSpPr>
          <p:cNvPr name="Group 18" id="18"/>
          <p:cNvGrpSpPr/>
          <p:nvPr/>
        </p:nvGrpSpPr>
        <p:grpSpPr>
          <a:xfrm rot="0">
            <a:off x="2048466" y="6024105"/>
            <a:ext cx="12724895" cy="606447"/>
            <a:chOff x="0" y="0"/>
            <a:chExt cx="16966527" cy="808596"/>
          </a:xfrm>
        </p:grpSpPr>
        <p:sp>
          <p:nvSpPr>
            <p:cNvPr name="Freeform 19" id="19"/>
            <p:cNvSpPr/>
            <p:nvPr/>
          </p:nvSpPr>
          <p:spPr>
            <a:xfrm flipH="false" flipV="false" rot="0">
              <a:off x="0" y="0"/>
              <a:ext cx="16966523" cy="808602"/>
            </a:xfrm>
            <a:custGeom>
              <a:avLst/>
              <a:gdLst/>
              <a:ahLst/>
              <a:cxnLst/>
              <a:rect r="r" b="b" t="t" l="l"/>
              <a:pathLst>
                <a:path h="808602" w="16966523">
                  <a:moveTo>
                    <a:pt x="0" y="0"/>
                  </a:moveTo>
                  <a:lnTo>
                    <a:pt x="16966523" y="0"/>
                  </a:lnTo>
                  <a:lnTo>
                    <a:pt x="16966523" y="808602"/>
                  </a:lnTo>
                  <a:lnTo>
                    <a:pt x="0" y="808602"/>
                  </a:lnTo>
                  <a:close/>
                </a:path>
              </a:pathLst>
            </a:custGeom>
            <a:blipFill>
              <a:blip r:embed="rId3">
                <a:alphaModFix amt="0"/>
              </a:blip>
              <a:stretch>
                <a:fillRect l="0" t="-358845" r="0" b="-358845"/>
              </a:stretch>
            </a:blipFill>
          </p:spPr>
        </p:sp>
        <p:sp>
          <p:nvSpPr>
            <p:cNvPr name="TextBox 20" id="20"/>
            <p:cNvSpPr txBox="true"/>
            <p:nvPr/>
          </p:nvSpPr>
          <p:spPr>
            <a:xfrm>
              <a:off x="0" y="-9525"/>
              <a:ext cx="16966527" cy="818121"/>
            </a:xfrm>
            <a:prstGeom prst="rect">
              <a:avLst/>
            </a:prstGeom>
          </p:spPr>
          <p:txBody>
            <a:bodyPr anchor="ctr" rtlCol="false" tIns="0" lIns="0" bIns="0" rIns="0"/>
            <a:lstStyle/>
            <a:p>
              <a:pPr algn="l">
                <a:lnSpc>
                  <a:spcPts val="3820"/>
                </a:lnSpc>
              </a:pPr>
              <a:r>
                <a:rPr lang="en-US" sz="3183">
                  <a:solidFill>
                    <a:srgbClr val="33425C"/>
                  </a:solidFill>
                  <a:latin typeface="Georgia"/>
                  <a:ea typeface="Georgia"/>
                  <a:cs typeface="Georgia"/>
                  <a:sym typeface="Georgia"/>
                </a:rPr>
                <a:t>Business Growth + Automation System — Implementation</a:t>
              </a:r>
            </a:p>
          </p:txBody>
        </p:sp>
      </p:grpSp>
      <p:grpSp>
        <p:nvGrpSpPr>
          <p:cNvPr name="Group 21" id="21"/>
          <p:cNvGrpSpPr/>
          <p:nvPr/>
        </p:nvGrpSpPr>
        <p:grpSpPr>
          <a:xfrm rot="0">
            <a:off x="14707333" y="6846179"/>
            <a:ext cx="4969126" cy="26956"/>
            <a:chOff x="0" y="0"/>
            <a:chExt cx="6625501" cy="35941"/>
          </a:xfrm>
        </p:grpSpPr>
        <p:sp>
          <p:nvSpPr>
            <p:cNvPr name="Freeform 22" id="22"/>
            <p:cNvSpPr/>
            <p:nvPr/>
          </p:nvSpPr>
          <p:spPr>
            <a:xfrm flipH="false" flipV="false" rot="0">
              <a:off x="0" y="0"/>
              <a:ext cx="6625463" cy="35941"/>
            </a:xfrm>
            <a:custGeom>
              <a:avLst/>
              <a:gdLst/>
              <a:ahLst/>
              <a:cxnLst/>
              <a:rect r="r" b="b" t="t" l="l"/>
              <a:pathLst>
                <a:path h="35941" w="6625463">
                  <a:moveTo>
                    <a:pt x="0" y="0"/>
                  </a:moveTo>
                  <a:lnTo>
                    <a:pt x="6625463" y="0"/>
                  </a:lnTo>
                  <a:lnTo>
                    <a:pt x="6625463" y="35941"/>
                  </a:lnTo>
                  <a:lnTo>
                    <a:pt x="0" y="35941"/>
                  </a:lnTo>
                  <a:close/>
                </a:path>
              </a:pathLst>
            </a:custGeom>
            <a:solidFill>
              <a:srgbClr val="E9EEF5"/>
            </a:solidFill>
          </p:spPr>
        </p:sp>
      </p:grpSp>
      <p:grpSp>
        <p:nvGrpSpPr>
          <p:cNvPr name="Group 23" id="23"/>
          <p:cNvGrpSpPr/>
          <p:nvPr/>
        </p:nvGrpSpPr>
        <p:grpSpPr>
          <a:xfrm rot="0">
            <a:off x="14815147" y="6024105"/>
            <a:ext cx="4537872" cy="606447"/>
            <a:chOff x="0" y="0"/>
            <a:chExt cx="6050496" cy="808596"/>
          </a:xfrm>
        </p:grpSpPr>
        <p:sp>
          <p:nvSpPr>
            <p:cNvPr name="Freeform 24" id="24"/>
            <p:cNvSpPr/>
            <p:nvPr/>
          </p:nvSpPr>
          <p:spPr>
            <a:xfrm flipH="false" flipV="false" rot="0">
              <a:off x="0" y="0"/>
              <a:ext cx="6050492" cy="808602"/>
            </a:xfrm>
            <a:custGeom>
              <a:avLst/>
              <a:gdLst/>
              <a:ahLst/>
              <a:cxnLst/>
              <a:rect r="r" b="b" t="t" l="l"/>
              <a:pathLst>
                <a:path h="808602" w="6050492">
                  <a:moveTo>
                    <a:pt x="0" y="0"/>
                  </a:moveTo>
                  <a:lnTo>
                    <a:pt x="6050492" y="0"/>
                  </a:lnTo>
                  <a:lnTo>
                    <a:pt x="6050492" y="808602"/>
                  </a:lnTo>
                  <a:lnTo>
                    <a:pt x="0" y="808602"/>
                  </a:lnTo>
                  <a:close/>
                </a:path>
              </a:pathLst>
            </a:custGeom>
            <a:blipFill>
              <a:blip r:embed="rId3">
                <a:alphaModFix amt="0"/>
              </a:blip>
              <a:stretch>
                <a:fillRect l="0" t="-95800" r="0" b="-95799"/>
              </a:stretch>
            </a:blipFill>
          </p:spPr>
        </p:sp>
        <p:sp>
          <p:nvSpPr>
            <p:cNvPr name="TextBox 25" id="25"/>
            <p:cNvSpPr txBox="true"/>
            <p:nvPr/>
          </p:nvSpPr>
          <p:spPr>
            <a:xfrm>
              <a:off x="0" y="-9525"/>
              <a:ext cx="6050496" cy="818121"/>
            </a:xfrm>
            <a:prstGeom prst="rect">
              <a:avLst/>
            </a:prstGeom>
          </p:spPr>
          <p:txBody>
            <a:bodyPr anchor="ctr" rtlCol="false" tIns="0" lIns="0" bIns="0" rIns="0"/>
            <a:lstStyle/>
            <a:p>
              <a:pPr algn="r">
                <a:lnSpc>
                  <a:spcPts val="3820"/>
                </a:lnSpc>
              </a:pPr>
              <a:r>
                <a:rPr lang="en-US" sz="3183">
                  <a:solidFill>
                    <a:srgbClr val="1546E0"/>
                  </a:solidFill>
                  <a:latin typeface="Georgia"/>
                  <a:ea typeface="Georgia"/>
                  <a:cs typeface="Georgia"/>
                  <a:sym typeface="Georgia"/>
                </a:rPr>
                <a:t>₹2,75,000 one-time</a:t>
              </a:r>
            </a:p>
          </p:txBody>
        </p:sp>
      </p:grpSp>
      <p:grpSp>
        <p:nvGrpSpPr>
          <p:cNvPr name="Group 26" id="26"/>
          <p:cNvGrpSpPr/>
          <p:nvPr/>
        </p:nvGrpSpPr>
        <p:grpSpPr>
          <a:xfrm rot="0">
            <a:off x="1725025" y="8005181"/>
            <a:ext cx="12982308" cy="26956"/>
            <a:chOff x="0" y="0"/>
            <a:chExt cx="17309744" cy="35941"/>
          </a:xfrm>
        </p:grpSpPr>
        <p:sp>
          <p:nvSpPr>
            <p:cNvPr name="Freeform 27" id="27"/>
            <p:cNvSpPr/>
            <p:nvPr/>
          </p:nvSpPr>
          <p:spPr>
            <a:xfrm flipH="false" flipV="false" rot="0">
              <a:off x="0" y="0"/>
              <a:ext cx="17309719" cy="35941"/>
            </a:xfrm>
            <a:custGeom>
              <a:avLst/>
              <a:gdLst/>
              <a:ahLst/>
              <a:cxnLst/>
              <a:rect r="r" b="b" t="t" l="l"/>
              <a:pathLst>
                <a:path h="35941" w="17309719">
                  <a:moveTo>
                    <a:pt x="0" y="0"/>
                  </a:moveTo>
                  <a:lnTo>
                    <a:pt x="17309719" y="0"/>
                  </a:lnTo>
                  <a:lnTo>
                    <a:pt x="17309719" y="35941"/>
                  </a:lnTo>
                  <a:lnTo>
                    <a:pt x="0" y="35941"/>
                  </a:lnTo>
                  <a:close/>
                </a:path>
              </a:pathLst>
            </a:custGeom>
            <a:solidFill>
              <a:srgbClr val="E9EEF5"/>
            </a:solidFill>
          </p:spPr>
        </p:sp>
      </p:grpSp>
      <p:grpSp>
        <p:nvGrpSpPr>
          <p:cNvPr name="Group 28" id="28"/>
          <p:cNvGrpSpPr/>
          <p:nvPr/>
        </p:nvGrpSpPr>
        <p:grpSpPr>
          <a:xfrm rot="0">
            <a:off x="2048466" y="7196576"/>
            <a:ext cx="12724895" cy="592979"/>
            <a:chOff x="0" y="0"/>
            <a:chExt cx="16966527" cy="790638"/>
          </a:xfrm>
        </p:grpSpPr>
        <p:sp>
          <p:nvSpPr>
            <p:cNvPr name="Freeform 29" id="29"/>
            <p:cNvSpPr/>
            <p:nvPr/>
          </p:nvSpPr>
          <p:spPr>
            <a:xfrm flipH="false" flipV="false" rot="0">
              <a:off x="0" y="0"/>
              <a:ext cx="16966523" cy="790635"/>
            </a:xfrm>
            <a:custGeom>
              <a:avLst/>
              <a:gdLst/>
              <a:ahLst/>
              <a:cxnLst/>
              <a:rect r="r" b="b" t="t" l="l"/>
              <a:pathLst>
                <a:path h="790635" w="16966523">
                  <a:moveTo>
                    <a:pt x="0" y="0"/>
                  </a:moveTo>
                  <a:lnTo>
                    <a:pt x="16966523" y="0"/>
                  </a:lnTo>
                  <a:lnTo>
                    <a:pt x="16966523" y="790635"/>
                  </a:lnTo>
                  <a:lnTo>
                    <a:pt x="0" y="790635"/>
                  </a:lnTo>
                  <a:close/>
                </a:path>
              </a:pathLst>
            </a:custGeom>
            <a:blipFill>
              <a:blip r:embed="rId3">
                <a:alphaModFix amt="0"/>
              </a:blip>
              <a:stretch>
                <a:fillRect l="0" t="-368136" r="0" b="-368136"/>
              </a:stretch>
            </a:blipFill>
          </p:spPr>
        </p:sp>
        <p:sp>
          <p:nvSpPr>
            <p:cNvPr name="TextBox 30" id="30"/>
            <p:cNvSpPr txBox="true"/>
            <p:nvPr/>
          </p:nvSpPr>
          <p:spPr>
            <a:xfrm>
              <a:off x="0" y="-9525"/>
              <a:ext cx="16966527" cy="800163"/>
            </a:xfrm>
            <a:prstGeom prst="rect">
              <a:avLst/>
            </a:prstGeom>
          </p:spPr>
          <p:txBody>
            <a:bodyPr anchor="ctr" rtlCol="false" tIns="0" lIns="0" bIns="0" rIns="0"/>
            <a:lstStyle/>
            <a:p>
              <a:pPr algn="l">
                <a:lnSpc>
                  <a:spcPts val="3820"/>
                </a:lnSpc>
              </a:pPr>
              <a:r>
                <a:rPr lang="en-US" sz="3183">
                  <a:solidFill>
                    <a:srgbClr val="33425C"/>
                  </a:solidFill>
                  <a:latin typeface="Georgia"/>
                  <a:ea typeface="Georgia"/>
                  <a:cs typeface="Georgia"/>
                  <a:sym typeface="Georgia"/>
                </a:rPr>
                <a:t>Growth &amp; Automation Care Plan — Optional</a:t>
              </a:r>
            </a:p>
          </p:txBody>
        </p:sp>
      </p:grpSp>
      <p:grpSp>
        <p:nvGrpSpPr>
          <p:cNvPr name="Group 31" id="31"/>
          <p:cNvGrpSpPr/>
          <p:nvPr/>
        </p:nvGrpSpPr>
        <p:grpSpPr>
          <a:xfrm rot="0">
            <a:off x="14707333" y="8005181"/>
            <a:ext cx="4969126" cy="26956"/>
            <a:chOff x="0" y="0"/>
            <a:chExt cx="6625501" cy="35941"/>
          </a:xfrm>
        </p:grpSpPr>
        <p:sp>
          <p:nvSpPr>
            <p:cNvPr name="Freeform 32" id="32"/>
            <p:cNvSpPr/>
            <p:nvPr/>
          </p:nvSpPr>
          <p:spPr>
            <a:xfrm flipH="false" flipV="false" rot="0">
              <a:off x="0" y="0"/>
              <a:ext cx="6625463" cy="35941"/>
            </a:xfrm>
            <a:custGeom>
              <a:avLst/>
              <a:gdLst/>
              <a:ahLst/>
              <a:cxnLst/>
              <a:rect r="r" b="b" t="t" l="l"/>
              <a:pathLst>
                <a:path h="35941" w="6625463">
                  <a:moveTo>
                    <a:pt x="0" y="0"/>
                  </a:moveTo>
                  <a:lnTo>
                    <a:pt x="6625463" y="0"/>
                  </a:lnTo>
                  <a:lnTo>
                    <a:pt x="6625463" y="35941"/>
                  </a:lnTo>
                  <a:lnTo>
                    <a:pt x="0" y="35941"/>
                  </a:lnTo>
                  <a:close/>
                </a:path>
              </a:pathLst>
            </a:custGeom>
            <a:solidFill>
              <a:srgbClr val="E9EEF5"/>
            </a:solidFill>
          </p:spPr>
        </p:sp>
      </p:grpSp>
      <p:grpSp>
        <p:nvGrpSpPr>
          <p:cNvPr name="Group 33" id="33"/>
          <p:cNvGrpSpPr/>
          <p:nvPr/>
        </p:nvGrpSpPr>
        <p:grpSpPr>
          <a:xfrm rot="0">
            <a:off x="14815147" y="7196576"/>
            <a:ext cx="4537872" cy="592979"/>
            <a:chOff x="0" y="0"/>
            <a:chExt cx="6050496" cy="790638"/>
          </a:xfrm>
        </p:grpSpPr>
        <p:sp>
          <p:nvSpPr>
            <p:cNvPr name="Freeform 34" id="34"/>
            <p:cNvSpPr/>
            <p:nvPr/>
          </p:nvSpPr>
          <p:spPr>
            <a:xfrm flipH="false" flipV="false" rot="0">
              <a:off x="0" y="0"/>
              <a:ext cx="6050492" cy="790635"/>
            </a:xfrm>
            <a:custGeom>
              <a:avLst/>
              <a:gdLst/>
              <a:ahLst/>
              <a:cxnLst/>
              <a:rect r="r" b="b" t="t" l="l"/>
              <a:pathLst>
                <a:path h="790635" w="6050492">
                  <a:moveTo>
                    <a:pt x="0" y="0"/>
                  </a:moveTo>
                  <a:lnTo>
                    <a:pt x="6050492" y="0"/>
                  </a:lnTo>
                  <a:lnTo>
                    <a:pt x="6050492" y="790635"/>
                  </a:lnTo>
                  <a:lnTo>
                    <a:pt x="0" y="790635"/>
                  </a:lnTo>
                  <a:close/>
                </a:path>
              </a:pathLst>
            </a:custGeom>
            <a:blipFill>
              <a:blip r:embed="rId3">
                <a:alphaModFix amt="0"/>
              </a:blip>
              <a:stretch>
                <a:fillRect l="0" t="-99113" r="0" b="-99113"/>
              </a:stretch>
            </a:blipFill>
          </p:spPr>
        </p:sp>
        <p:sp>
          <p:nvSpPr>
            <p:cNvPr name="TextBox 35" id="35"/>
            <p:cNvSpPr txBox="true"/>
            <p:nvPr/>
          </p:nvSpPr>
          <p:spPr>
            <a:xfrm>
              <a:off x="0" y="-9525"/>
              <a:ext cx="6050496" cy="800163"/>
            </a:xfrm>
            <a:prstGeom prst="rect">
              <a:avLst/>
            </a:prstGeom>
          </p:spPr>
          <p:txBody>
            <a:bodyPr anchor="ctr" rtlCol="false" tIns="0" lIns="0" bIns="0" rIns="0"/>
            <a:lstStyle/>
            <a:p>
              <a:pPr algn="r">
                <a:lnSpc>
                  <a:spcPts val="3820"/>
                </a:lnSpc>
              </a:pPr>
              <a:r>
                <a:rPr lang="en-US" sz="3183">
                  <a:solidFill>
                    <a:srgbClr val="2E7D5B"/>
                  </a:solidFill>
                  <a:latin typeface="Georgia"/>
                  <a:ea typeface="Georgia"/>
                  <a:cs typeface="Georgia"/>
                  <a:sym typeface="Georgia"/>
                </a:rPr>
                <a:t>₹55,000 / month</a:t>
              </a:r>
            </a:p>
          </p:txBody>
        </p:sp>
      </p:grpSp>
      <p:grpSp>
        <p:nvGrpSpPr>
          <p:cNvPr name="Group 36" id="36"/>
          <p:cNvGrpSpPr/>
          <p:nvPr/>
        </p:nvGrpSpPr>
        <p:grpSpPr>
          <a:xfrm rot="0">
            <a:off x="1711547" y="8625107"/>
            <a:ext cx="8759876" cy="2884018"/>
            <a:chOff x="0" y="0"/>
            <a:chExt cx="11679834" cy="3845357"/>
          </a:xfrm>
        </p:grpSpPr>
        <p:sp>
          <p:nvSpPr>
            <p:cNvPr name="Freeform 37" id="37"/>
            <p:cNvSpPr/>
            <p:nvPr/>
          </p:nvSpPr>
          <p:spPr>
            <a:xfrm flipH="false" flipV="false" rot="0">
              <a:off x="0" y="0"/>
              <a:ext cx="11679809" cy="3845306"/>
            </a:xfrm>
            <a:custGeom>
              <a:avLst/>
              <a:gdLst/>
              <a:ahLst/>
              <a:cxnLst/>
              <a:rect r="r" b="b" t="t" l="l"/>
              <a:pathLst>
                <a:path h="3845306" w="11679809">
                  <a:moveTo>
                    <a:pt x="17907" y="0"/>
                  </a:moveTo>
                  <a:lnTo>
                    <a:pt x="11661902" y="0"/>
                  </a:lnTo>
                  <a:cubicBezTo>
                    <a:pt x="11671808" y="0"/>
                    <a:pt x="11679809" y="8001"/>
                    <a:pt x="11679809" y="17907"/>
                  </a:cubicBezTo>
                  <a:lnTo>
                    <a:pt x="11679809" y="3827399"/>
                  </a:lnTo>
                  <a:cubicBezTo>
                    <a:pt x="11679809" y="3837305"/>
                    <a:pt x="11671808" y="3845306"/>
                    <a:pt x="11661902" y="3845306"/>
                  </a:cubicBezTo>
                  <a:lnTo>
                    <a:pt x="17907" y="3845306"/>
                  </a:lnTo>
                  <a:cubicBezTo>
                    <a:pt x="8001" y="3845306"/>
                    <a:pt x="0" y="3837305"/>
                    <a:pt x="0" y="3827399"/>
                  </a:cubicBezTo>
                  <a:lnTo>
                    <a:pt x="0" y="17907"/>
                  </a:lnTo>
                  <a:cubicBezTo>
                    <a:pt x="0" y="8001"/>
                    <a:pt x="8001" y="0"/>
                    <a:pt x="17907" y="0"/>
                  </a:cubicBezTo>
                  <a:moveTo>
                    <a:pt x="17907" y="35941"/>
                  </a:moveTo>
                  <a:lnTo>
                    <a:pt x="17907" y="17907"/>
                  </a:lnTo>
                  <a:lnTo>
                    <a:pt x="35941" y="17907"/>
                  </a:lnTo>
                  <a:lnTo>
                    <a:pt x="35941" y="3827399"/>
                  </a:lnTo>
                  <a:lnTo>
                    <a:pt x="17907" y="3827399"/>
                  </a:lnTo>
                  <a:lnTo>
                    <a:pt x="17907" y="3809492"/>
                  </a:lnTo>
                  <a:lnTo>
                    <a:pt x="11661902" y="3809492"/>
                  </a:lnTo>
                  <a:lnTo>
                    <a:pt x="11661902" y="3827399"/>
                  </a:lnTo>
                  <a:lnTo>
                    <a:pt x="11643995" y="3827399"/>
                  </a:lnTo>
                  <a:lnTo>
                    <a:pt x="11643995" y="17907"/>
                  </a:lnTo>
                  <a:lnTo>
                    <a:pt x="11661902" y="17907"/>
                  </a:lnTo>
                  <a:lnTo>
                    <a:pt x="11661902" y="35941"/>
                  </a:lnTo>
                  <a:lnTo>
                    <a:pt x="17907" y="35941"/>
                  </a:lnTo>
                  <a:close/>
                </a:path>
              </a:pathLst>
            </a:custGeom>
            <a:solidFill>
              <a:srgbClr val="E2E8F1"/>
            </a:solidFill>
          </p:spPr>
        </p:sp>
      </p:grpSp>
      <p:grpSp>
        <p:nvGrpSpPr>
          <p:cNvPr name="Group 38" id="38"/>
          <p:cNvGrpSpPr/>
          <p:nvPr/>
        </p:nvGrpSpPr>
        <p:grpSpPr>
          <a:xfrm rot="0">
            <a:off x="10929633" y="8625107"/>
            <a:ext cx="8759876" cy="2884018"/>
            <a:chOff x="0" y="0"/>
            <a:chExt cx="11679834" cy="3845357"/>
          </a:xfrm>
        </p:grpSpPr>
        <p:sp>
          <p:nvSpPr>
            <p:cNvPr name="Freeform 39" id="39"/>
            <p:cNvSpPr/>
            <p:nvPr/>
          </p:nvSpPr>
          <p:spPr>
            <a:xfrm flipH="false" flipV="false" rot="0">
              <a:off x="0" y="0"/>
              <a:ext cx="11679809" cy="3845306"/>
            </a:xfrm>
            <a:custGeom>
              <a:avLst/>
              <a:gdLst/>
              <a:ahLst/>
              <a:cxnLst/>
              <a:rect r="r" b="b" t="t" l="l"/>
              <a:pathLst>
                <a:path h="3845306" w="11679809">
                  <a:moveTo>
                    <a:pt x="17907" y="0"/>
                  </a:moveTo>
                  <a:lnTo>
                    <a:pt x="11661902" y="0"/>
                  </a:lnTo>
                  <a:cubicBezTo>
                    <a:pt x="11671808" y="0"/>
                    <a:pt x="11679809" y="8001"/>
                    <a:pt x="11679809" y="17907"/>
                  </a:cubicBezTo>
                  <a:lnTo>
                    <a:pt x="11679809" y="3827399"/>
                  </a:lnTo>
                  <a:cubicBezTo>
                    <a:pt x="11679809" y="3837305"/>
                    <a:pt x="11671808" y="3845306"/>
                    <a:pt x="11661902" y="3845306"/>
                  </a:cubicBezTo>
                  <a:lnTo>
                    <a:pt x="17907" y="3845306"/>
                  </a:lnTo>
                  <a:cubicBezTo>
                    <a:pt x="8001" y="3845306"/>
                    <a:pt x="0" y="3837305"/>
                    <a:pt x="0" y="3827399"/>
                  </a:cubicBezTo>
                  <a:lnTo>
                    <a:pt x="0" y="17907"/>
                  </a:lnTo>
                  <a:cubicBezTo>
                    <a:pt x="0" y="8001"/>
                    <a:pt x="8001" y="0"/>
                    <a:pt x="17907" y="0"/>
                  </a:cubicBezTo>
                  <a:moveTo>
                    <a:pt x="17907" y="35941"/>
                  </a:moveTo>
                  <a:lnTo>
                    <a:pt x="17907" y="17907"/>
                  </a:lnTo>
                  <a:lnTo>
                    <a:pt x="35941" y="17907"/>
                  </a:lnTo>
                  <a:lnTo>
                    <a:pt x="35941" y="3827399"/>
                  </a:lnTo>
                  <a:lnTo>
                    <a:pt x="17907" y="3827399"/>
                  </a:lnTo>
                  <a:lnTo>
                    <a:pt x="17907" y="3809492"/>
                  </a:lnTo>
                  <a:lnTo>
                    <a:pt x="11661902" y="3809492"/>
                  </a:lnTo>
                  <a:lnTo>
                    <a:pt x="11661902" y="3827399"/>
                  </a:lnTo>
                  <a:lnTo>
                    <a:pt x="11643995" y="3827399"/>
                  </a:lnTo>
                  <a:lnTo>
                    <a:pt x="11643995" y="17907"/>
                  </a:lnTo>
                  <a:lnTo>
                    <a:pt x="11661902" y="17907"/>
                  </a:lnTo>
                  <a:lnTo>
                    <a:pt x="11661902" y="35941"/>
                  </a:lnTo>
                  <a:lnTo>
                    <a:pt x="17907" y="35941"/>
                  </a:lnTo>
                  <a:close/>
                </a:path>
              </a:pathLst>
            </a:custGeom>
            <a:solidFill>
              <a:srgbClr val="E2E8F1"/>
            </a:solidFill>
          </p:spPr>
        </p:sp>
      </p:grpSp>
      <p:grpSp>
        <p:nvGrpSpPr>
          <p:cNvPr name="Group 40" id="40"/>
          <p:cNvGrpSpPr/>
          <p:nvPr/>
        </p:nvGrpSpPr>
        <p:grpSpPr>
          <a:xfrm rot="0">
            <a:off x="1725025" y="13651935"/>
            <a:ext cx="17951006" cy="26956"/>
            <a:chOff x="0" y="0"/>
            <a:chExt cx="23934674" cy="35941"/>
          </a:xfrm>
        </p:grpSpPr>
        <p:sp>
          <p:nvSpPr>
            <p:cNvPr name="Freeform 41" id="41"/>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DCE3EE"/>
            </a:solidFill>
          </p:spPr>
        </p:sp>
      </p:grpSp>
      <p:grpSp>
        <p:nvGrpSpPr>
          <p:cNvPr name="Group 42" id="42"/>
          <p:cNvGrpSpPr/>
          <p:nvPr/>
        </p:nvGrpSpPr>
        <p:grpSpPr>
          <a:xfrm rot="0">
            <a:off x="1725025" y="17021118"/>
            <a:ext cx="8490347" cy="26956"/>
            <a:chOff x="0" y="0"/>
            <a:chExt cx="11320462" cy="35941"/>
          </a:xfrm>
        </p:grpSpPr>
        <p:sp>
          <p:nvSpPr>
            <p:cNvPr name="Freeform 43" id="43"/>
            <p:cNvSpPr/>
            <p:nvPr/>
          </p:nvSpPr>
          <p:spPr>
            <a:xfrm flipH="false" flipV="false" rot="0">
              <a:off x="0" y="0"/>
              <a:ext cx="11320399" cy="35941"/>
            </a:xfrm>
            <a:custGeom>
              <a:avLst/>
              <a:gdLst/>
              <a:ahLst/>
              <a:cxnLst/>
              <a:rect r="r" b="b" t="t" l="l"/>
              <a:pathLst>
                <a:path h="35941" w="11320399">
                  <a:moveTo>
                    <a:pt x="0" y="0"/>
                  </a:moveTo>
                  <a:lnTo>
                    <a:pt x="11320399" y="0"/>
                  </a:lnTo>
                  <a:lnTo>
                    <a:pt x="11320399" y="35941"/>
                  </a:lnTo>
                  <a:lnTo>
                    <a:pt x="0" y="35941"/>
                  </a:lnTo>
                  <a:close/>
                </a:path>
              </a:pathLst>
            </a:custGeom>
            <a:solidFill>
              <a:srgbClr val="1B2A44"/>
            </a:solidFill>
          </p:spPr>
        </p:sp>
      </p:grpSp>
      <p:grpSp>
        <p:nvGrpSpPr>
          <p:cNvPr name="Group 44" id="44"/>
          <p:cNvGrpSpPr/>
          <p:nvPr/>
        </p:nvGrpSpPr>
        <p:grpSpPr>
          <a:xfrm rot="0">
            <a:off x="11185693" y="17021118"/>
            <a:ext cx="8490347" cy="26956"/>
            <a:chOff x="0" y="0"/>
            <a:chExt cx="11320462" cy="35941"/>
          </a:xfrm>
        </p:grpSpPr>
        <p:sp>
          <p:nvSpPr>
            <p:cNvPr name="Freeform 45" id="45"/>
            <p:cNvSpPr/>
            <p:nvPr/>
          </p:nvSpPr>
          <p:spPr>
            <a:xfrm flipH="false" flipV="false" rot="0">
              <a:off x="0" y="0"/>
              <a:ext cx="11320399" cy="35941"/>
            </a:xfrm>
            <a:custGeom>
              <a:avLst/>
              <a:gdLst/>
              <a:ahLst/>
              <a:cxnLst/>
              <a:rect r="r" b="b" t="t" l="l"/>
              <a:pathLst>
                <a:path h="35941" w="11320399">
                  <a:moveTo>
                    <a:pt x="0" y="0"/>
                  </a:moveTo>
                  <a:lnTo>
                    <a:pt x="11320399" y="0"/>
                  </a:lnTo>
                  <a:lnTo>
                    <a:pt x="11320399" y="35941"/>
                  </a:lnTo>
                  <a:lnTo>
                    <a:pt x="0" y="35941"/>
                  </a:lnTo>
                  <a:close/>
                </a:path>
              </a:pathLst>
            </a:custGeom>
            <a:solidFill>
              <a:srgbClr val="1B2A44"/>
            </a:solidFill>
          </p:spPr>
        </p:sp>
      </p:grpSp>
      <p:grpSp>
        <p:nvGrpSpPr>
          <p:cNvPr name="Group 46" id="46"/>
          <p:cNvGrpSpPr/>
          <p:nvPr/>
        </p:nvGrpSpPr>
        <p:grpSpPr>
          <a:xfrm rot="0">
            <a:off x="1725025" y="19204343"/>
            <a:ext cx="8490347" cy="26956"/>
            <a:chOff x="0" y="0"/>
            <a:chExt cx="11320462" cy="35941"/>
          </a:xfrm>
        </p:grpSpPr>
        <p:sp>
          <p:nvSpPr>
            <p:cNvPr name="Freeform 47" id="47"/>
            <p:cNvSpPr/>
            <p:nvPr/>
          </p:nvSpPr>
          <p:spPr>
            <a:xfrm flipH="false" flipV="false" rot="0">
              <a:off x="0" y="0"/>
              <a:ext cx="11320399" cy="35941"/>
            </a:xfrm>
            <a:custGeom>
              <a:avLst/>
              <a:gdLst/>
              <a:ahLst/>
              <a:cxnLst/>
              <a:rect r="r" b="b" t="t" l="l"/>
              <a:pathLst>
                <a:path h="35941" w="11320399">
                  <a:moveTo>
                    <a:pt x="0" y="0"/>
                  </a:moveTo>
                  <a:lnTo>
                    <a:pt x="11320399" y="0"/>
                  </a:lnTo>
                  <a:lnTo>
                    <a:pt x="11320399" y="35941"/>
                  </a:lnTo>
                  <a:lnTo>
                    <a:pt x="0" y="35941"/>
                  </a:lnTo>
                  <a:close/>
                </a:path>
              </a:pathLst>
            </a:custGeom>
            <a:solidFill>
              <a:srgbClr val="1B2A44"/>
            </a:solidFill>
          </p:spPr>
        </p:sp>
      </p:grpSp>
      <p:grpSp>
        <p:nvGrpSpPr>
          <p:cNvPr name="Group 48" id="48"/>
          <p:cNvGrpSpPr/>
          <p:nvPr/>
        </p:nvGrpSpPr>
        <p:grpSpPr>
          <a:xfrm rot="0">
            <a:off x="11185693" y="19204343"/>
            <a:ext cx="8490347" cy="26956"/>
            <a:chOff x="0" y="0"/>
            <a:chExt cx="11320462" cy="35941"/>
          </a:xfrm>
        </p:grpSpPr>
        <p:sp>
          <p:nvSpPr>
            <p:cNvPr name="Freeform 49" id="49"/>
            <p:cNvSpPr/>
            <p:nvPr/>
          </p:nvSpPr>
          <p:spPr>
            <a:xfrm flipH="false" flipV="false" rot="0">
              <a:off x="0" y="0"/>
              <a:ext cx="11320399" cy="35941"/>
            </a:xfrm>
            <a:custGeom>
              <a:avLst/>
              <a:gdLst/>
              <a:ahLst/>
              <a:cxnLst/>
              <a:rect r="r" b="b" t="t" l="l"/>
              <a:pathLst>
                <a:path h="35941" w="11320399">
                  <a:moveTo>
                    <a:pt x="0" y="0"/>
                  </a:moveTo>
                  <a:lnTo>
                    <a:pt x="11320399" y="0"/>
                  </a:lnTo>
                  <a:lnTo>
                    <a:pt x="11320399" y="35941"/>
                  </a:lnTo>
                  <a:lnTo>
                    <a:pt x="0" y="35941"/>
                  </a:lnTo>
                  <a:close/>
                </a:path>
              </a:pathLst>
            </a:custGeom>
            <a:solidFill>
              <a:srgbClr val="1B2A44"/>
            </a:solidFill>
          </p:spPr>
        </p:sp>
      </p:grpSp>
      <p:grpSp>
        <p:nvGrpSpPr>
          <p:cNvPr name="Group 50" id="50"/>
          <p:cNvGrpSpPr/>
          <p:nvPr/>
        </p:nvGrpSpPr>
        <p:grpSpPr>
          <a:xfrm rot="0">
            <a:off x="1725025" y="26630024"/>
            <a:ext cx="17951006" cy="26956"/>
            <a:chOff x="0" y="0"/>
            <a:chExt cx="23934674" cy="35941"/>
          </a:xfrm>
        </p:grpSpPr>
        <p:sp>
          <p:nvSpPr>
            <p:cNvPr name="Freeform 51" id="51"/>
            <p:cNvSpPr/>
            <p:nvPr/>
          </p:nvSpPr>
          <p:spPr>
            <a:xfrm flipH="false" flipV="false" rot="0">
              <a:off x="0" y="0"/>
              <a:ext cx="23934674" cy="35941"/>
            </a:xfrm>
            <a:custGeom>
              <a:avLst/>
              <a:gdLst/>
              <a:ahLst/>
              <a:cxnLst/>
              <a:rect r="r" b="b" t="t" l="l"/>
              <a:pathLst>
                <a:path h="35941" w="23934674">
                  <a:moveTo>
                    <a:pt x="0" y="0"/>
                  </a:moveTo>
                  <a:lnTo>
                    <a:pt x="23934674" y="0"/>
                  </a:lnTo>
                  <a:lnTo>
                    <a:pt x="23934674" y="35941"/>
                  </a:lnTo>
                  <a:lnTo>
                    <a:pt x="0" y="35941"/>
                  </a:lnTo>
                  <a:close/>
                </a:path>
              </a:pathLst>
            </a:custGeom>
            <a:solidFill>
              <a:srgbClr val="E2E8F1"/>
            </a:solidFill>
          </p:spPr>
        </p:sp>
      </p:grpSp>
      <p:grpSp>
        <p:nvGrpSpPr>
          <p:cNvPr name="Group 52" id="52"/>
          <p:cNvGrpSpPr/>
          <p:nvPr/>
        </p:nvGrpSpPr>
        <p:grpSpPr>
          <a:xfrm rot="0">
            <a:off x="18166642" y="27249958"/>
            <a:ext cx="1509398" cy="1509398"/>
            <a:chOff x="0" y="0"/>
            <a:chExt cx="2012531" cy="2012531"/>
          </a:xfrm>
        </p:grpSpPr>
        <p:sp>
          <p:nvSpPr>
            <p:cNvPr name="Freeform 53" id="53" descr="preencoded.png"/>
            <p:cNvSpPr/>
            <p:nvPr/>
          </p:nvSpPr>
          <p:spPr>
            <a:xfrm flipH="false" flipV="false" rot="0">
              <a:off x="0" y="0"/>
              <a:ext cx="2012569" cy="2012569"/>
            </a:xfrm>
            <a:custGeom>
              <a:avLst/>
              <a:gdLst/>
              <a:ahLst/>
              <a:cxnLst/>
              <a:rect r="r" b="b" t="t" l="l"/>
              <a:pathLst>
                <a:path h="2012569" w="2012569">
                  <a:moveTo>
                    <a:pt x="0" y="0"/>
                  </a:moveTo>
                  <a:lnTo>
                    <a:pt x="2012569" y="0"/>
                  </a:lnTo>
                  <a:lnTo>
                    <a:pt x="2012569" y="2012569"/>
                  </a:lnTo>
                  <a:lnTo>
                    <a:pt x="0" y="2012569"/>
                  </a:lnTo>
                  <a:lnTo>
                    <a:pt x="0" y="0"/>
                  </a:lnTo>
                  <a:close/>
                </a:path>
              </a:pathLst>
            </a:custGeom>
            <a:blipFill>
              <a:blip r:embed="rId4"/>
              <a:stretch>
                <a:fillRect l="0" t="0" r="1" b="1"/>
              </a:stretch>
            </a:blipFill>
          </p:spPr>
        </p:sp>
      </p:grpSp>
      <p:grpSp>
        <p:nvGrpSpPr>
          <p:cNvPr name="Group 54" id="54"/>
          <p:cNvGrpSpPr/>
          <p:nvPr/>
        </p:nvGrpSpPr>
        <p:grpSpPr>
          <a:xfrm rot="0">
            <a:off x="1035635" y="16294303"/>
            <a:ext cx="19629883" cy="4666181"/>
            <a:chOff x="0" y="0"/>
            <a:chExt cx="1473830" cy="350341"/>
          </a:xfrm>
        </p:grpSpPr>
        <p:sp>
          <p:nvSpPr>
            <p:cNvPr name="Freeform 55" id="55"/>
            <p:cNvSpPr/>
            <p:nvPr/>
          </p:nvSpPr>
          <p:spPr>
            <a:xfrm flipH="false" flipV="false" rot="0">
              <a:off x="0" y="0"/>
              <a:ext cx="1473830" cy="350341"/>
            </a:xfrm>
            <a:custGeom>
              <a:avLst/>
              <a:gdLst/>
              <a:ahLst/>
              <a:cxnLst/>
              <a:rect r="r" b="b" t="t" l="l"/>
              <a:pathLst>
                <a:path h="350341" w="1473830">
                  <a:moveTo>
                    <a:pt x="0" y="0"/>
                  </a:moveTo>
                  <a:lnTo>
                    <a:pt x="1473830" y="0"/>
                  </a:lnTo>
                  <a:lnTo>
                    <a:pt x="1473830" y="350341"/>
                  </a:lnTo>
                  <a:lnTo>
                    <a:pt x="0" y="350341"/>
                  </a:lnTo>
                  <a:close/>
                </a:path>
              </a:pathLst>
            </a:custGeom>
            <a:solidFill>
              <a:srgbClr val="FFFFFF"/>
            </a:solidFill>
          </p:spPr>
        </p:sp>
        <p:sp>
          <p:nvSpPr>
            <p:cNvPr name="TextBox 56" id="56"/>
            <p:cNvSpPr txBox="true"/>
            <p:nvPr/>
          </p:nvSpPr>
          <p:spPr>
            <a:xfrm>
              <a:off x="0" y="-76200"/>
              <a:ext cx="1473830" cy="426541"/>
            </a:xfrm>
            <a:prstGeom prst="rect">
              <a:avLst/>
            </a:prstGeom>
          </p:spPr>
          <p:txBody>
            <a:bodyPr anchor="ctr" rtlCol="false" tIns="50800" lIns="50800" bIns="50800" rIns="50800"/>
            <a:lstStyle/>
            <a:p>
              <a:pPr algn="ctr">
                <a:lnSpc>
                  <a:spcPts val="4315"/>
                </a:lnSpc>
              </a:pPr>
            </a:p>
          </p:txBody>
        </p:sp>
      </p:grpSp>
      <p:sp>
        <p:nvSpPr>
          <p:cNvPr name="TextBox 57" id="57"/>
          <p:cNvSpPr txBox="true"/>
          <p:nvPr/>
        </p:nvSpPr>
        <p:spPr>
          <a:xfrm rot="0">
            <a:off x="1750419" y="1525267"/>
            <a:ext cx="3195828"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LUMELUSH STUDIO</a:t>
            </a:r>
          </a:p>
        </p:txBody>
      </p:sp>
      <p:sp>
        <p:nvSpPr>
          <p:cNvPr name="TextBox 58" id="58"/>
          <p:cNvSpPr txBox="true"/>
          <p:nvPr/>
        </p:nvSpPr>
        <p:spPr>
          <a:xfrm rot="0">
            <a:off x="15847933" y="1525267"/>
            <a:ext cx="4188057" cy="389982"/>
          </a:xfrm>
          <a:prstGeom prst="rect">
            <a:avLst/>
          </a:prstGeom>
        </p:spPr>
        <p:txBody>
          <a:bodyPr anchor="t" rtlCol="false" tIns="0" lIns="0" bIns="0" rIns="0">
            <a:spAutoFit/>
          </a:bodyPr>
          <a:lstStyle/>
          <a:p>
            <a:pPr algn="l">
              <a:lnSpc>
                <a:spcPts val="2421"/>
              </a:lnSpc>
            </a:pPr>
            <a:r>
              <a:rPr lang="en-US" sz="2017" spc="282">
                <a:solidFill>
                  <a:srgbClr val="8494AB"/>
                </a:solidFill>
                <a:latin typeface="Georgia"/>
                <a:ea typeface="Georgia"/>
                <a:cs typeface="Georgia"/>
                <a:sym typeface="Georgia"/>
              </a:rPr>
              <a:t>COMMERCIAL PROPOSAL</a:t>
            </a:r>
          </a:p>
        </p:txBody>
      </p:sp>
      <p:sp>
        <p:nvSpPr>
          <p:cNvPr name="TextBox 59" id="59"/>
          <p:cNvSpPr txBox="true"/>
          <p:nvPr/>
        </p:nvSpPr>
        <p:spPr>
          <a:xfrm rot="0">
            <a:off x="1750419" y="3465919"/>
            <a:ext cx="667683" cy="470840"/>
          </a:xfrm>
          <a:prstGeom prst="rect">
            <a:avLst/>
          </a:prstGeom>
        </p:spPr>
        <p:txBody>
          <a:bodyPr anchor="t" rtlCol="false" tIns="0" lIns="0" bIns="0" rIns="0">
            <a:spAutoFit/>
          </a:bodyPr>
          <a:lstStyle/>
          <a:p>
            <a:pPr algn="l">
              <a:lnSpc>
                <a:spcPts val="3310"/>
              </a:lnSpc>
            </a:pPr>
            <a:r>
              <a:rPr lang="en-US" sz="2759" spc="387">
                <a:solidFill>
                  <a:srgbClr val="1546E0"/>
                </a:solidFill>
                <a:latin typeface="Georgia"/>
                <a:ea typeface="Georgia"/>
                <a:cs typeface="Georgia"/>
                <a:sym typeface="Georgia"/>
              </a:rPr>
              <a:t>28</a:t>
            </a:r>
          </a:p>
        </p:txBody>
      </p:sp>
      <p:sp>
        <p:nvSpPr>
          <p:cNvPr name="TextBox 60" id="60"/>
          <p:cNvSpPr txBox="true"/>
          <p:nvPr/>
        </p:nvSpPr>
        <p:spPr>
          <a:xfrm rot="0">
            <a:off x="2630624" y="2963332"/>
            <a:ext cx="8503806" cy="1108196"/>
          </a:xfrm>
          <a:prstGeom prst="rect">
            <a:avLst/>
          </a:prstGeom>
        </p:spPr>
        <p:txBody>
          <a:bodyPr anchor="t" rtlCol="false" tIns="0" lIns="0" bIns="0" rIns="0">
            <a:spAutoFit/>
          </a:bodyPr>
          <a:lstStyle/>
          <a:p>
            <a:pPr algn="l">
              <a:lnSpc>
                <a:spcPts val="7130"/>
              </a:lnSpc>
            </a:pPr>
            <a:r>
              <a:rPr lang="en-US" sz="5942" b="true">
                <a:solidFill>
                  <a:srgbClr val="1B2A44"/>
                </a:solidFill>
                <a:latin typeface="Playfair Display Bold"/>
                <a:ea typeface="Playfair Display Bold"/>
                <a:cs typeface="Playfair Display Bold"/>
                <a:sym typeface="Playfair Display Bold"/>
              </a:rPr>
              <a:t>Commercial Summary</a:t>
            </a:r>
          </a:p>
        </p:txBody>
      </p:sp>
      <p:sp>
        <p:nvSpPr>
          <p:cNvPr name="TextBox 61" id="61"/>
          <p:cNvSpPr txBox="true"/>
          <p:nvPr/>
        </p:nvSpPr>
        <p:spPr>
          <a:xfrm rot="0">
            <a:off x="2316442" y="9166574"/>
            <a:ext cx="8310162" cy="389982"/>
          </a:xfrm>
          <a:prstGeom prst="rect">
            <a:avLst/>
          </a:prstGeom>
        </p:spPr>
        <p:txBody>
          <a:bodyPr anchor="t" rtlCol="false" tIns="0" lIns="0" bIns="0" rIns="0">
            <a:spAutoFit/>
          </a:bodyPr>
          <a:lstStyle/>
          <a:p>
            <a:pPr algn="l">
              <a:lnSpc>
                <a:spcPts val="2421"/>
              </a:lnSpc>
            </a:pPr>
            <a:r>
              <a:rPr lang="en-US" sz="2017" spc="322">
                <a:solidFill>
                  <a:srgbClr val="8494AB"/>
                </a:solidFill>
                <a:latin typeface="Georgia"/>
                <a:ea typeface="Georgia"/>
                <a:cs typeface="Georgia"/>
                <a:sym typeface="Georgia"/>
              </a:rPr>
              <a:t>IMPLEMENTATION PAYMENT</a:t>
            </a:r>
          </a:p>
        </p:txBody>
      </p:sp>
      <p:sp>
        <p:nvSpPr>
          <p:cNvPr name="TextBox 62" id="62"/>
          <p:cNvSpPr txBox="true"/>
          <p:nvPr/>
        </p:nvSpPr>
        <p:spPr>
          <a:xfrm rot="0">
            <a:off x="2316442" y="9572301"/>
            <a:ext cx="7778105" cy="1493653"/>
          </a:xfrm>
          <a:prstGeom prst="rect">
            <a:avLst/>
          </a:prstGeom>
        </p:spPr>
        <p:txBody>
          <a:bodyPr anchor="t" rtlCol="false" tIns="0" lIns="0" bIns="0" rIns="0">
            <a:spAutoFit/>
          </a:bodyPr>
          <a:lstStyle/>
          <a:p>
            <a:pPr algn="l">
              <a:lnSpc>
                <a:spcPts val="5059"/>
              </a:lnSpc>
            </a:pPr>
            <a:r>
              <a:rPr lang="en-US" sz="3078">
                <a:solidFill>
                  <a:srgbClr val="33425C"/>
                </a:solidFill>
                <a:latin typeface="Georgia"/>
                <a:ea typeface="Georgia"/>
                <a:cs typeface="Georgia"/>
                <a:sym typeface="Georgia"/>
              </a:rPr>
              <a:t>₹1,65,000 — 60% advance ₹1,10,000 — 40% on sign-off</a:t>
            </a:r>
          </a:p>
        </p:txBody>
      </p:sp>
      <p:sp>
        <p:nvSpPr>
          <p:cNvPr name="TextBox 63" id="63"/>
          <p:cNvSpPr txBox="true"/>
          <p:nvPr/>
        </p:nvSpPr>
        <p:spPr>
          <a:xfrm rot="0">
            <a:off x="11534527" y="9166574"/>
            <a:ext cx="8310162" cy="389982"/>
          </a:xfrm>
          <a:prstGeom prst="rect">
            <a:avLst/>
          </a:prstGeom>
        </p:spPr>
        <p:txBody>
          <a:bodyPr anchor="t" rtlCol="false" tIns="0" lIns="0" bIns="0" rIns="0">
            <a:spAutoFit/>
          </a:bodyPr>
          <a:lstStyle/>
          <a:p>
            <a:pPr algn="l">
              <a:lnSpc>
                <a:spcPts val="2421"/>
              </a:lnSpc>
            </a:pPr>
            <a:r>
              <a:rPr lang="en-US" sz="2017" spc="322">
                <a:solidFill>
                  <a:srgbClr val="8494AB"/>
                </a:solidFill>
                <a:latin typeface="Georgia"/>
                <a:ea typeface="Georgia"/>
                <a:cs typeface="Georgia"/>
                <a:sym typeface="Georgia"/>
              </a:rPr>
              <a:t>OPTIONAL CARE PLAN</a:t>
            </a:r>
          </a:p>
        </p:txBody>
      </p:sp>
      <p:sp>
        <p:nvSpPr>
          <p:cNvPr name="TextBox 64" id="64"/>
          <p:cNvSpPr txBox="true"/>
          <p:nvPr/>
        </p:nvSpPr>
        <p:spPr>
          <a:xfrm rot="0">
            <a:off x="11534527" y="9572301"/>
            <a:ext cx="7778105" cy="1493653"/>
          </a:xfrm>
          <a:prstGeom prst="rect">
            <a:avLst/>
          </a:prstGeom>
        </p:spPr>
        <p:txBody>
          <a:bodyPr anchor="t" rtlCol="false" tIns="0" lIns="0" bIns="0" rIns="0">
            <a:spAutoFit/>
          </a:bodyPr>
          <a:lstStyle/>
          <a:p>
            <a:pPr algn="l">
              <a:lnSpc>
                <a:spcPts val="5059"/>
              </a:lnSpc>
            </a:pPr>
            <a:r>
              <a:rPr lang="en-US" sz="3078">
                <a:solidFill>
                  <a:srgbClr val="33425C"/>
                </a:solidFill>
                <a:latin typeface="Georgia"/>
                <a:ea typeface="Georgia"/>
                <a:cs typeface="Georgia"/>
                <a:sym typeface="Georgia"/>
              </a:rPr>
              <a:t>₹55,000 / month Billed monthly in advance</a:t>
            </a:r>
          </a:p>
        </p:txBody>
      </p:sp>
      <p:sp>
        <p:nvSpPr>
          <p:cNvPr name="TextBox 65" id="65"/>
          <p:cNvSpPr txBox="true"/>
          <p:nvPr/>
        </p:nvSpPr>
        <p:spPr>
          <a:xfrm rot="0">
            <a:off x="1750419" y="12886153"/>
            <a:ext cx="657149" cy="470840"/>
          </a:xfrm>
          <a:prstGeom prst="rect">
            <a:avLst/>
          </a:prstGeom>
        </p:spPr>
        <p:txBody>
          <a:bodyPr anchor="t" rtlCol="false" tIns="0" lIns="0" bIns="0" rIns="0">
            <a:spAutoFit/>
          </a:bodyPr>
          <a:lstStyle/>
          <a:p>
            <a:pPr algn="l">
              <a:lnSpc>
                <a:spcPts val="3310"/>
              </a:lnSpc>
            </a:pPr>
            <a:r>
              <a:rPr lang="en-US" sz="2759" spc="387">
                <a:solidFill>
                  <a:srgbClr val="1546E0"/>
                </a:solidFill>
                <a:latin typeface="Georgia"/>
                <a:ea typeface="Georgia"/>
                <a:cs typeface="Georgia"/>
                <a:sym typeface="Georgia"/>
              </a:rPr>
              <a:t>29</a:t>
            </a:r>
          </a:p>
        </p:txBody>
      </p:sp>
      <p:sp>
        <p:nvSpPr>
          <p:cNvPr name="TextBox 66" id="66"/>
          <p:cNvSpPr txBox="true"/>
          <p:nvPr/>
        </p:nvSpPr>
        <p:spPr>
          <a:xfrm rot="0">
            <a:off x="2620089" y="12427944"/>
            <a:ext cx="7428109" cy="1036863"/>
          </a:xfrm>
          <a:prstGeom prst="rect">
            <a:avLst/>
          </a:prstGeom>
        </p:spPr>
        <p:txBody>
          <a:bodyPr anchor="t" rtlCol="false" tIns="0" lIns="0" bIns="0" rIns="0">
            <a:spAutoFit/>
          </a:bodyPr>
          <a:lstStyle/>
          <a:p>
            <a:pPr algn="l">
              <a:lnSpc>
                <a:spcPts val="6621"/>
              </a:lnSpc>
            </a:pPr>
            <a:r>
              <a:rPr lang="en-US" sz="5518" b="true">
                <a:solidFill>
                  <a:srgbClr val="1B2A44"/>
                </a:solidFill>
                <a:latin typeface="Playfair Display Bold"/>
                <a:ea typeface="Playfair Display Bold"/>
                <a:cs typeface="Playfair Display Bold"/>
                <a:sym typeface="Playfair Display Bold"/>
              </a:rPr>
              <a:t>Project Confirmation</a:t>
            </a:r>
          </a:p>
        </p:txBody>
      </p:sp>
      <p:sp>
        <p:nvSpPr>
          <p:cNvPr name="TextBox 67" id="67"/>
          <p:cNvSpPr txBox="true"/>
          <p:nvPr/>
        </p:nvSpPr>
        <p:spPr>
          <a:xfrm rot="0">
            <a:off x="1750419" y="14046575"/>
            <a:ext cx="18438743" cy="1493653"/>
          </a:xfrm>
          <a:prstGeom prst="rect">
            <a:avLst/>
          </a:prstGeom>
        </p:spPr>
        <p:txBody>
          <a:bodyPr anchor="t" rtlCol="false" tIns="0" lIns="0" bIns="0" rIns="0">
            <a:spAutoFit/>
          </a:bodyPr>
          <a:lstStyle/>
          <a:p>
            <a:pPr algn="l">
              <a:lnSpc>
                <a:spcPts val="5252"/>
              </a:lnSpc>
            </a:pPr>
            <a:r>
              <a:rPr lang="en-US" sz="3183">
                <a:solidFill>
                  <a:srgbClr val="33425C"/>
                </a:solidFill>
                <a:latin typeface="Georgia"/>
                <a:ea typeface="Georgia"/>
                <a:cs typeface="Georgia"/>
                <a:sym typeface="Georgia"/>
              </a:rPr>
              <a:t>Upon acceptance of this Commercial Proposal and receipt of the implementation advance, Lumelush Studio will initiate onboarding, workflow analysis and implementation.</a:t>
            </a:r>
          </a:p>
        </p:txBody>
      </p:sp>
      <p:sp>
        <p:nvSpPr>
          <p:cNvPr name="TextBox 68" id="68"/>
          <p:cNvSpPr txBox="true"/>
          <p:nvPr/>
        </p:nvSpPr>
        <p:spPr>
          <a:xfrm rot="0">
            <a:off x="1750419" y="27383165"/>
            <a:ext cx="7896939" cy="676942"/>
          </a:xfrm>
          <a:prstGeom prst="rect">
            <a:avLst/>
          </a:prstGeom>
        </p:spPr>
        <p:txBody>
          <a:bodyPr anchor="t" rtlCol="false" tIns="0" lIns="0" bIns="0" rIns="0">
            <a:spAutoFit/>
          </a:bodyPr>
          <a:lstStyle/>
          <a:p>
            <a:pPr algn="l">
              <a:lnSpc>
                <a:spcPts val="4074"/>
              </a:lnSpc>
            </a:pPr>
            <a:r>
              <a:rPr lang="en-US" sz="3395" spc="950">
                <a:solidFill>
                  <a:srgbClr val="1B2A44"/>
                </a:solidFill>
                <a:latin typeface="Playfair Display"/>
                <a:ea typeface="Playfair Display"/>
                <a:cs typeface="Playfair Display"/>
                <a:sym typeface="Playfair Display"/>
              </a:rPr>
              <a:t>LUMELUSH STUDIO</a:t>
            </a:r>
          </a:p>
        </p:txBody>
      </p:sp>
      <p:sp>
        <p:nvSpPr>
          <p:cNvPr name="TextBox 69" id="69"/>
          <p:cNvSpPr txBox="true"/>
          <p:nvPr/>
        </p:nvSpPr>
        <p:spPr>
          <a:xfrm rot="0">
            <a:off x="1750419" y="28021950"/>
            <a:ext cx="7391171" cy="819817"/>
          </a:xfrm>
          <a:prstGeom prst="rect">
            <a:avLst/>
          </a:prstGeom>
        </p:spPr>
        <p:txBody>
          <a:bodyPr anchor="t" rtlCol="false" tIns="0" lIns="0" bIns="0" rIns="0">
            <a:spAutoFit/>
          </a:bodyPr>
          <a:lstStyle/>
          <a:p>
            <a:pPr algn="l">
              <a:lnSpc>
                <a:spcPts val="4991"/>
              </a:lnSpc>
            </a:pPr>
            <a:r>
              <a:rPr lang="en-US" sz="2971">
                <a:solidFill>
                  <a:srgbClr val="33425C"/>
                </a:solidFill>
                <a:latin typeface="Georgia"/>
                <a:ea typeface="Georgia"/>
                <a:cs typeface="Georgia"/>
                <a:sym typeface="Georgia"/>
              </a:rPr>
              <a:t>contact@lumelush.com · +91 81059 93165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DAHTXI7qGlA</dc:identifier>
  <dcterms:modified xsi:type="dcterms:W3CDTF">2011-08-01T06:04:30Z</dcterms:modified>
  <cp:revision>1</cp:revision>
  <dc:title>Lumelush-Commercial-Proposal-A4.pptx</dc:title>
</cp:coreProperties>
</file>