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7562850" cy="10696575"/>
  <p:notesSz cx="10696575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3400" y="742950"/>
            <a:ext cx="1619250" cy="16192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7700" y="2686050"/>
            <a:ext cx="6267450" cy="57150"/>
          </a:xfrm>
          <a:prstGeom prst="rect">
            <a:avLst/>
          </a:prstGeom>
          <a:gradFill rotWithShape="1">
            <a:gsLst>
              <a:gs pos="0">
                <a:srgbClr val="1A56E8">
                  <a:alpha val="100000"/>
                </a:srgbClr>
              </a:gs>
              <a:gs pos="42000">
                <a:srgbClr val="17B0A8">
                  <a:alpha val="100000"/>
                </a:srgbClr>
              </a:gs>
              <a:gs pos="72000">
                <a:srgbClr val="6FBF8F">
                  <a:alpha val="100000"/>
                </a:srgbClr>
              </a:gs>
              <a:gs pos="100000">
                <a:srgbClr val="14543C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4" name="Text 1"/>
          <p:cNvSpPr/>
          <p:nvPr/>
        </p:nvSpPr>
        <p:spPr>
          <a:xfrm>
            <a:off x="647700" y="3067050"/>
            <a:ext cx="689419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050" spc="315" kern="0" dirty="0">
                <a:solidFill>
                  <a:srgbClr val="17A7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COMMERCIAL PROPOSAL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647700" y="3381375"/>
            <a:ext cx="6455474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8519"/>
              </a:lnSpc>
              <a:buNone/>
            </a:pPr>
            <a:r>
              <a:rPr lang="en-US" sz="450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Business Growth System</a:t>
            </a:r>
            <a:endParaRPr lang="en-US" sz="4500" dirty="0"/>
          </a:p>
        </p:txBody>
      </p:sp>
      <p:sp>
        <p:nvSpPr>
          <p:cNvPr id="6" name="Text 3"/>
          <p:cNvSpPr/>
          <p:nvPr/>
        </p:nvSpPr>
        <p:spPr>
          <a:xfrm>
            <a:off x="647700" y="4733925"/>
            <a:ext cx="400278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1750"/>
              </a:lnSpc>
              <a:buNone/>
            </a:pPr>
            <a:r>
              <a:rPr lang="en-US" sz="1275" dirty="0">
                <a:solidFill>
                  <a:srgbClr val="5A65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simple system to help you get more business from your existing customers and find new commercial customers.</a:t>
            </a:r>
            <a:endParaRPr lang="en-US" sz="1275" dirty="0"/>
          </a:p>
        </p:txBody>
      </p:sp>
      <p:sp>
        <p:nvSpPr>
          <p:cNvPr id="7" name="Text 4"/>
          <p:cNvSpPr/>
          <p:nvPr/>
        </p:nvSpPr>
        <p:spPr>
          <a:xfrm>
            <a:off x="647700" y="8848725"/>
            <a:ext cx="1790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Prepared for</a:t>
            </a:r>
            <a:endParaRPr lang="en-US" sz="1125" dirty="0"/>
          </a:p>
        </p:txBody>
      </p:sp>
      <p:sp>
        <p:nvSpPr>
          <p:cNvPr id="8" name="Text 5"/>
          <p:cNvSpPr/>
          <p:nvPr/>
        </p:nvSpPr>
        <p:spPr>
          <a:xfrm>
            <a:off x="2362200" y="8848725"/>
            <a:ext cx="207645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[Company Name]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647700" y="9172575"/>
            <a:ext cx="179070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</a:t>
            </a:r>
            <a:endParaRPr lang="en-US" sz="1125" dirty="0"/>
          </a:p>
        </p:txBody>
      </p:sp>
      <p:sp>
        <p:nvSpPr>
          <p:cNvPr id="10" name="Text 7"/>
          <p:cNvSpPr/>
          <p:nvPr/>
        </p:nvSpPr>
        <p:spPr>
          <a:xfrm>
            <a:off x="2362200" y="9172575"/>
            <a:ext cx="207645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12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[Date]</a:t>
            </a:r>
            <a:endParaRPr lang="en-US" sz="1125" dirty="0"/>
          </a:p>
        </p:txBody>
      </p:sp>
      <p:sp>
        <p:nvSpPr>
          <p:cNvPr id="11" name="Shape 8"/>
          <p:cNvSpPr/>
          <p:nvPr/>
        </p:nvSpPr>
        <p:spPr>
          <a:xfrm>
            <a:off x="647700" y="96297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12" name="Text 9"/>
          <p:cNvSpPr/>
          <p:nvPr/>
        </p:nvSpPr>
        <p:spPr>
          <a:xfrm>
            <a:off x="647700" y="9810750"/>
            <a:ext cx="1235869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spc="98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 Studio</a:t>
            </a:r>
            <a:endParaRPr lang="en-US" sz="975" dirty="0"/>
          </a:p>
        </p:txBody>
      </p:sp>
      <p:sp>
        <p:nvSpPr>
          <p:cNvPr id="13" name="Text 10"/>
          <p:cNvSpPr/>
          <p:nvPr/>
        </p:nvSpPr>
        <p:spPr>
          <a:xfrm>
            <a:off x="4133404" y="9810750"/>
            <a:ext cx="3059921" cy="180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975" spc="98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contact@lumelush.com · +91 81059 93165</a:t>
            </a:r>
            <a:endParaRPr lang="en-US" sz="9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700" y="8667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3" name="Text 1"/>
          <p:cNvSpPr/>
          <p:nvPr/>
        </p:nvSpPr>
        <p:spPr>
          <a:xfrm>
            <a:off x="647700" y="609600"/>
            <a:ext cx="136420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 STUDIO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934819" y="609600"/>
            <a:ext cx="105653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GET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647700" y="1304925"/>
            <a:ext cx="253454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500"/>
              </a:lnSpc>
              <a:buNone/>
            </a:pPr>
            <a:r>
              <a:rPr lang="en-US" sz="1050" b="1" spc="168" kern="0" dirty="0">
                <a:solidFill>
                  <a:srgbClr val="17A7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77354" y="1162050"/>
            <a:ext cx="1712940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1282"/>
              </a:lnSpc>
              <a:buNone/>
            </a:pPr>
            <a:r>
              <a:rPr lang="en-US" sz="210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You Get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47700" y="1666875"/>
            <a:ext cx="689419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47"/>
              </a:lnSpc>
              <a:buNone/>
            </a:pPr>
            <a:r>
              <a:rPr lang="en-US" sz="1050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 will build a Business Growth System for your company. The system works in two ways.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7700" y="2057400"/>
            <a:ext cx="3038475" cy="3105150"/>
          </a:xfrm>
          <a:prstGeom prst="rect">
            <a:avLst/>
          </a:prstGeom>
          <a:solidFill>
            <a:srgbClr val="F4F7FE"/>
          </a:solidFill>
          <a:ln/>
        </p:spPr>
      </p:sp>
      <p:sp>
        <p:nvSpPr>
          <p:cNvPr id="9" name="Shape 7"/>
          <p:cNvSpPr/>
          <p:nvPr/>
        </p:nvSpPr>
        <p:spPr>
          <a:xfrm>
            <a:off x="647700" y="2057400"/>
            <a:ext cx="3038475" cy="38100"/>
          </a:xfrm>
          <a:prstGeom prst="rect">
            <a:avLst/>
          </a:prstGeom>
          <a:solidFill>
            <a:srgbClr val="1A56E8"/>
          </a:solidFill>
          <a:ln/>
        </p:spPr>
      </p:sp>
      <p:sp>
        <p:nvSpPr>
          <p:cNvPr id="10" name="Text 8"/>
          <p:cNvSpPr/>
          <p:nvPr/>
        </p:nvSpPr>
        <p:spPr>
          <a:xfrm>
            <a:off x="857250" y="2286000"/>
            <a:ext cx="2881313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WAY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250" y="2514600"/>
            <a:ext cx="2697956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92"/>
              </a:lnSpc>
              <a:buNone/>
            </a:pPr>
            <a:r>
              <a:rPr lang="en-US" sz="1275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Get More Business From Existing Customers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857250" y="3124200"/>
            <a:ext cx="2697956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help you use your existing customer base to create more business through:</a:t>
            </a:r>
            <a:endParaRPr lang="en-US" sz="975" dirty="0"/>
          </a:p>
        </p:txBody>
      </p:sp>
      <p:sp>
        <p:nvSpPr>
          <p:cNvPr id="13" name="Shape 11"/>
          <p:cNvSpPr/>
          <p:nvPr/>
        </p:nvSpPr>
        <p:spPr>
          <a:xfrm>
            <a:off x="857250" y="3667125"/>
            <a:ext cx="47625" cy="47625"/>
          </a:xfrm>
          <a:prstGeom prst="ellipse">
            <a:avLst/>
          </a:prstGeom>
          <a:solidFill>
            <a:srgbClr val="1A56E8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" y="3600450"/>
            <a:ext cx="9590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 business</a:t>
            </a:r>
            <a:endParaRPr lang="en-US" sz="975" dirty="0"/>
          </a:p>
        </p:txBody>
      </p:sp>
      <p:sp>
        <p:nvSpPr>
          <p:cNvPr id="15" name="Shape 13"/>
          <p:cNvSpPr/>
          <p:nvPr/>
        </p:nvSpPr>
        <p:spPr>
          <a:xfrm>
            <a:off x="857250" y="3914775"/>
            <a:ext cx="47625" cy="47625"/>
          </a:xfrm>
          <a:prstGeom prst="ellipse">
            <a:avLst/>
          </a:prstGeom>
          <a:solidFill>
            <a:srgbClr val="1A56E8"/>
          </a:solidFill>
          <a:ln/>
        </p:spPr>
      </p:sp>
      <p:sp>
        <p:nvSpPr>
          <p:cNvPr id="16" name="Text 14"/>
          <p:cNvSpPr/>
          <p:nvPr/>
        </p:nvSpPr>
        <p:spPr>
          <a:xfrm>
            <a:off x="990600" y="3848100"/>
            <a:ext cx="137746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AMC and maintenance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857250" y="4162425"/>
            <a:ext cx="47625" cy="47625"/>
          </a:xfrm>
          <a:prstGeom prst="ellipse">
            <a:avLst/>
          </a:prstGeom>
          <a:solidFill>
            <a:srgbClr val="1A56E8"/>
          </a:solidFill>
          <a:ln/>
        </p:spPr>
      </p:sp>
      <p:sp>
        <p:nvSpPr>
          <p:cNvPr id="18" name="Text 16"/>
          <p:cNvSpPr/>
          <p:nvPr/>
        </p:nvSpPr>
        <p:spPr>
          <a:xfrm>
            <a:off x="990600" y="4095750"/>
            <a:ext cx="133588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reactivation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857250" y="4410075"/>
            <a:ext cx="47625" cy="47625"/>
          </a:xfrm>
          <a:prstGeom prst="ellipse">
            <a:avLst/>
          </a:prstGeom>
          <a:solidFill>
            <a:srgbClr val="1A56E8"/>
          </a:solidFill>
          <a:ln/>
        </p:spPr>
      </p:sp>
      <p:sp>
        <p:nvSpPr>
          <p:cNvPr id="20" name="Text 18"/>
          <p:cNvSpPr/>
          <p:nvPr/>
        </p:nvSpPr>
        <p:spPr>
          <a:xfrm>
            <a:off x="990600" y="4343400"/>
            <a:ext cx="57596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Referrals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857250" y="4657725"/>
            <a:ext cx="47625" cy="47625"/>
          </a:xfrm>
          <a:prstGeom prst="ellipse">
            <a:avLst/>
          </a:prstGeom>
          <a:solidFill>
            <a:srgbClr val="1A56E8"/>
          </a:solidFill>
          <a:ln/>
        </p:spPr>
      </p:sp>
      <p:sp>
        <p:nvSpPr>
          <p:cNvPr id="22" name="Text 20"/>
          <p:cNvSpPr/>
          <p:nvPr/>
        </p:nvSpPr>
        <p:spPr>
          <a:xfrm>
            <a:off x="990600" y="4591050"/>
            <a:ext cx="223825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 and email communication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3876675" y="2057400"/>
            <a:ext cx="3038475" cy="3105150"/>
          </a:xfrm>
          <a:prstGeom prst="rect">
            <a:avLst/>
          </a:prstGeom>
          <a:solidFill>
            <a:srgbClr val="F1FA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876675" y="2057400"/>
            <a:ext cx="3038475" cy="38100"/>
          </a:xfrm>
          <a:prstGeom prst="rect">
            <a:avLst/>
          </a:prstGeom>
          <a:solidFill>
            <a:srgbClr val="14543C"/>
          </a:solidFill>
          <a:ln/>
        </p:spPr>
      </p:sp>
      <p:sp>
        <p:nvSpPr>
          <p:cNvPr id="25" name="Text 23"/>
          <p:cNvSpPr/>
          <p:nvPr/>
        </p:nvSpPr>
        <p:spPr>
          <a:xfrm>
            <a:off x="4086225" y="2286000"/>
            <a:ext cx="2881313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WAY 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86225" y="2514600"/>
            <a:ext cx="288131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792"/>
              </a:lnSpc>
              <a:buNone/>
            </a:pPr>
            <a:r>
              <a:rPr lang="en-US" sz="1275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Find New Commercial Customers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4086225" y="2876550"/>
            <a:ext cx="2697956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help you find and reach new businesses that may need your services. This includes: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4086225" y="3419475"/>
            <a:ext cx="47625" cy="47625"/>
          </a:xfrm>
          <a:prstGeom prst="ellipse">
            <a:avLst/>
          </a:prstGeom>
          <a:solidFill>
            <a:srgbClr val="14543C"/>
          </a:solidFill>
          <a:ln/>
        </p:spPr>
      </p:sp>
      <p:sp>
        <p:nvSpPr>
          <p:cNvPr id="29" name="Text 27"/>
          <p:cNvSpPr/>
          <p:nvPr/>
        </p:nvSpPr>
        <p:spPr>
          <a:xfrm>
            <a:off x="4219575" y="3352800"/>
            <a:ext cx="219421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right types of businesses</a:t>
            </a:r>
            <a:endParaRPr lang="en-US" sz="975" dirty="0"/>
          </a:p>
        </p:txBody>
      </p:sp>
      <p:sp>
        <p:nvSpPr>
          <p:cNvPr id="30" name="Shape 28"/>
          <p:cNvSpPr/>
          <p:nvPr/>
        </p:nvSpPr>
        <p:spPr>
          <a:xfrm>
            <a:off x="4086225" y="3667125"/>
            <a:ext cx="47625" cy="47625"/>
          </a:xfrm>
          <a:prstGeom prst="ellipse">
            <a:avLst/>
          </a:prstGeom>
          <a:solidFill>
            <a:srgbClr val="14543C"/>
          </a:solidFill>
          <a:ln/>
        </p:spPr>
      </p:sp>
      <p:sp>
        <p:nvSpPr>
          <p:cNvPr id="31" name="Text 29"/>
          <p:cNvSpPr/>
          <p:nvPr/>
        </p:nvSpPr>
        <p:spPr>
          <a:xfrm>
            <a:off x="4219575" y="3600450"/>
            <a:ext cx="202543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the right decision makers</a:t>
            </a:r>
            <a:endParaRPr lang="en-US" sz="975" dirty="0"/>
          </a:p>
        </p:txBody>
      </p:sp>
      <p:sp>
        <p:nvSpPr>
          <p:cNvPr id="32" name="Shape 30"/>
          <p:cNvSpPr/>
          <p:nvPr/>
        </p:nvSpPr>
        <p:spPr>
          <a:xfrm>
            <a:off x="4086225" y="3914775"/>
            <a:ext cx="47625" cy="47625"/>
          </a:xfrm>
          <a:prstGeom prst="ellipse">
            <a:avLst/>
          </a:prstGeom>
          <a:solidFill>
            <a:srgbClr val="14543C"/>
          </a:solidFill>
          <a:ln/>
        </p:spPr>
      </p:sp>
      <p:sp>
        <p:nvSpPr>
          <p:cNvPr id="33" name="Text 31"/>
          <p:cNvSpPr/>
          <p:nvPr/>
        </p:nvSpPr>
        <p:spPr>
          <a:xfrm>
            <a:off x="4219575" y="3848100"/>
            <a:ext cx="183241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verified prospect lists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4086225" y="4162425"/>
            <a:ext cx="47625" cy="47625"/>
          </a:xfrm>
          <a:prstGeom prst="ellipse">
            <a:avLst/>
          </a:prstGeom>
          <a:solidFill>
            <a:srgbClr val="14543C"/>
          </a:solidFill>
          <a:ln/>
        </p:spPr>
      </p:sp>
      <p:sp>
        <p:nvSpPr>
          <p:cNvPr id="35" name="Text 33"/>
          <p:cNvSpPr/>
          <p:nvPr/>
        </p:nvSpPr>
        <p:spPr>
          <a:xfrm>
            <a:off x="4219575" y="4095750"/>
            <a:ext cx="256222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Reaching them through email and other outreach</a:t>
            </a:r>
            <a:endParaRPr lang="en-US" sz="975" dirty="0"/>
          </a:p>
        </p:txBody>
      </p:sp>
      <p:sp>
        <p:nvSpPr>
          <p:cNvPr id="36" name="Shape 34"/>
          <p:cNvSpPr/>
          <p:nvPr/>
        </p:nvSpPr>
        <p:spPr>
          <a:xfrm>
            <a:off x="4086225" y="4600575"/>
            <a:ext cx="47625" cy="47625"/>
          </a:xfrm>
          <a:prstGeom prst="ellipse">
            <a:avLst/>
          </a:prstGeom>
          <a:solidFill>
            <a:srgbClr val="14543C"/>
          </a:solidFill>
          <a:ln/>
        </p:spPr>
      </p:sp>
      <p:sp>
        <p:nvSpPr>
          <p:cNvPr id="37" name="Text 35"/>
          <p:cNvSpPr/>
          <p:nvPr/>
        </p:nvSpPr>
        <p:spPr>
          <a:xfrm>
            <a:off x="4219575" y="4533900"/>
            <a:ext cx="79042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Following up</a:t>
            </a:r>
            <a:endParaRPr lang="en-US" sz="975" dirty="0"/>
          </a:p>
        </p:txBody>
      </p:sp>
      <p:sp>
        <p:nvSpPr>
          <p:cNvPr id="38" name="Shape 36"/>
          <p:cNvSpPr/>
          <p:nvPr/>
        </p:nvSpPr>
        <p:spPr>
          <a:xfrm>
            <a:off x="4086225" y="4848225"/>
            <a:ext cx="47625" cy="47625"/>
          </a:xfrm>
          <a:prstGeom prst="ellipse">
            <a:avLst/>
          </a:prstGeom>
          <a:solidFill>
            <a:srgbClr val="14543C"/>
          </a:solidFill>
          <a:ln/>
        </p:spPr>
      </p:sp>
      <p:sp>
        <p:nvSpPr>
          <p:cNvPr id="39" name="Text 37"/>
          <p:cNvSpPr/>
          <p:nvPr/>
        </p:nvSpPr>
        <p:spPr>
          <a:xfrm>
            <a:off x="4219575" y="4781550"/>
            <a:ext cx="182947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Generating qualified enquiries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647700" y="5353050"/>
            <a:ext cx="6267450" cy="196215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1" name="Shape 39"/>
          <p:cNvSpPr/>
          <p:nvPr/>
        </p:nvSpPr>
        <p:spPr>
          <a:xfrm>
            <a:off x="647700" y="5353050"/>
            <a:ext cx="6267450" cy="38100"/>
          </a:xfrm>
          <a:prstGeom prst="rect">
            <a:avLst/>
          </a:prstGeom>
          <a:solidFill>
            <a:srgbClr val="22314F"/>
          </a:solidFill>
          <a:ln/>
        </p:spPr>
      </p:sp>
      <p:sp>
        <p:nvSpPr>
          <p:cNvPr id="42" name="Text 40"/>
          <p:cNvSpPr/>
          <p:nvPr/>
        </p:nvSpPr>
        <p:spPr>
          <a:xfrm>
            <a:off x="857250" y="5581650"/>
            <a:ext cx="643318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826"/>
              </a:lnSpc>
              <a:buNone/>
            </a:pPr>
            <a:r>
              <a:rPr lang="en-US" sz="120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3. The System Behind It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57250" y="5905500"/>
            <a:ext cx="643318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also build the basic systems needed to manage this process:</a:t>
            </a:r>
            <a:endParaRPr lang="en-US" sz="975" dirty="0"/>
          </a:p>
        </p:txBody>
      </p:sp>
      <p:sp>
        <p:nvSpPr>
          <p:cNvPr id="44" name="Text 42"/>
          <p:cNvSpPr/>
          <p:nvPr/>
        </p:nvSpPr>
        <p:spPr>
          <a:xfrm>
            <a:off x="857250" y="61912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45" name="Text 43"/>
          <p:cNvSpPr/>
          <p:nvPr/>
        </p:nvSpPr>
        <p:spPr>
          <a:xfrm>
            <a:off x="1036588" y="6191250"/>
            <a:ext cx="35748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CRM</a:t>
            </a:r>
            <a:endParaRPr lang="en-US" sz="975" dirty="0"/>
          </a:p>
        </p:txBody>
      </p:sp>
      <p:sp>
        <p:nvSpPr>
          <p:cNvPr id="46" name="Text 44"/>
          <p:cNvSpPr/>
          <p:nvPr/>
        </p:nvSpPr>
        <p:spPr>
          <a:xfrm>
            <a:off x="3810000" y="61912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47" name="Text 45"/>
          <p:cNvSpPr/>
          <p:nvPr/>
        </p:nvSpPr>
        <p:spPr>
          <a:xfrm>
            <a:off x="3989338" y="6191250"/>
            <a:ext cx="112335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database</a:t>
            </a:r>
            <a:endParaRPr lang="en-US" sz="975" dirty="0"/>
          </a:p>
        </p:txBody>
      </p:sp>
      <p:sp>
        <p:nvSpPr>
          <p:cNvPr id="48" name="Text 46"/>
          <p:cNvSpPr/>
          <p:nvPr/>
        </p:nvSpPr>
        <p:spPr>
          <a:xfrm>
            <a:off x="857250" y="643890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49" name="Text 47"/>
          <p:cNvSpPr/>
          <p:nvPr/>
        </p:nvSpPr>
        <p:spPr>
          <a:xfrm>
            <a:off x="1036588" y="6438900"/>
            <a:ext cx="82510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tracking</a:t>
            </a:r>
            <a:endParaRPr lang="en-US" sz="975" dirty="0"/>
          </a:p>
        </p:txBody>
      </p:sp>
      <p:sp>
        <p:nvSpPr>
          <p:cNvPr id="50" name="Text 48"/>
          <p:cNvSpPr/>
          <p:nvPr/>
        </p:nvSpPr>
        <p:spPr>
          <a:xfrm>
            <a:off x="3810000" y="643890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51" name="Text 49"/>
          <p:cNvSpPr/>
          <p:nvPr/>
        </p:nvSpPr>
        <p:spPr>
          <a:xfrm>
            <a:off x="3989338" y="6438900"/>
            <a:ext cx="109879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up tracking</a:t>
            </a:r>
            <a:endParaRPr lang="en-US" sz="975" dirty="0"/>
          </a:p>
        </p:txBody>
      </p:sp>
      <p:sp>
        <p:nvSpPr>
          <p:cNvPr id="52" name="Text 50"/>
          <p:cNvSpPr/>
          <p:nvPr/>
        </p:nvSpPr>
        <p:spPr>
          <a:xfrm>
            <a:off x="857250" y="66865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53" name="Text 51"/>
          <p:cNvSpPr/>
          <p:nvPr/>
        </p:nvSpPr>
        <p:spPr>
          <a:xfrm>
            <a:off x="1036588" y="6686550"/>
            <a:ext cx="137009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 outreach system</a:t>
            </a:r>
            <a:endParaRPr lang="en-US" sz="975" dirty="0"/>
          </a:p>
        </p:txBody>
      </p:sp>
      <p:sp>
        <p:nvSpPr>
          <p:cNvPr id="54" name="Text 52"/>
          <p:cNvSpPr/>
          <p:nvPr/>
        </p:nvSpPr>
        <p:spPr>
          <a:xfrm>
            <a:off x="3810000" y="66865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55" name="Text 53"/>
          <p:cNvSpPr/>
          <p:nvPr/>
        </p:nvSpPr>
        <p:spPr>
          <a:xfrm>
            <a:off x="3989338" y="6686550"/>
            <a:ext cx="170374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 campaign system</a:t>
            </a:r>
            <a:endParaRPr lang="en-US" sz="975" dirty="0"/>
          </a:p>
        </p:txBody>
      </p:sp>
      <p:sp>
        <p:nvSpPr>
          <p:cNvPr id="56" name="Text 54"/>
          <p:cNvSpPr/>
          <p:nvPr/>
        </p:nvSpPr>
        <p:spPr>
          <a:xfrm>
            <a:off x="857250" y="693420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57" name="Text 55"/>
          <p:cNvSpPr/>
          <p:nvPr/>
        </p:nvSpPr>
        <p:spPr>
          <a:xfrm>
            <a:off x="1036588" y="6934200"/>
            <a:ext cx="62641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975" dirty="0"/>
          </a:p>
        </p:txBody>
      </p:sp>
      <p:sp>
        <p:nvSpPr>
          <p:cNvPr id="58" name="Shape 56"/>
          <p:cNvSpPr/>
          <p:nvPr/>
        </p:nvSpPr>
        <p:spPr>
          <a:xfrm>
            <a:off x="647700" y="7486650"/>
            <a:ext cx="6267450" cy="1266825"/>
          </a:xfrm>
          <a:prstGeom prst="rect">
            <a:avLst/>
          </a:prstGeom>
          <a:gradFill rotWithShape="1">
            <a:gsLst>
              <a:gs pos="0">
                <a:srgbClr val="F4F7FE">
                  <a:alpha val="100000"/>
                </a:srgbClr>
              </a:gs>
              <a:gs pos="100000">
                <a:srgbClr val="F1FAF6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59" name="Shape 57"/>
          <p:cNvSpPr/>
          <p:nvPr/>
        </p:nvSpPr>
        <p:spPr>
          <a:xfrm>
            <a:off x="647700" y="7486650"/>
            <a:ext cx="6267450" cy="38100"/>
          </a:xfrm>
          <a:prstGeom prst="rect">
            <a:avLst/>
          </a:prstGeom>
          <a:solidFill>
            <a:srgbClr val="17B0A8"/>
          </a:solidFill>
          <a:ln/>
        </p:spPr>
      </p:sp>
      <p:sp>
        <p:nvSpPr>
          <p:cNvPr id="60" name="Text 58"/>
          <p:cNvSpPr/>
          <p:nvPr/>
        </p:nvSpPr>
        <p:spPr>
          <a:xfrm>
            <a:off x="857250" y="7696200"/>
            <a:ext cx="643318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65" kern="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BONUS — DIGITAL FOUNDATION</a:t>
            </a:r>
            <a:endParaRPr lang="en-US" sz="825" dirty="0"/>
          </a:p>
        </p:txBody>
      </p:sp>
      <p:sp>
        <p:nvSpPr>
          <p:cNvPr id="61" name="Text 59"/>
          <p:cNvSpPr/>
          <p:nvPr/>
        </p:nvSpPr>
        <p:spPr>
          <a:xfrm>
            <a:off x="857250" y="7934325"/>
            <a:ext cx="602380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also receive the required digital foundation as a bonus, including website enquiry improvements, Google Business Profile, basic SEO, GEO and local presence, review and reputation setup, and lead capture.</a:t>
            </a:r>
            <a:endParaRPr lang="en-US" sz="975" dirty="0"/>
          </a:p>
        </p:txBody>
      </p:sp>
      <p:sp>
        <p:nvSpPr>
          <p:cNvPr id="62" name="Shape 60"/>
          <p:cNvSpPr/>
          <p:nvPr/>
        </p:nvSpPr>
        <p:spPr>
          <a:xfrm>
            <a:off x="647700" y="97821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63" name="Text 61"/>
          <p:cNvSpPr/>
          <p:nvPr/>
        </p:nvSpPr>
        <p:spPr>
          <a:xfrm>
            <a:off x="647700" y="9925050"/>
            <a:ext cx="142985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contact@lumelush.com</a:t>
            </a:r>
            <a:endParaRPr lang="en-US" sz="825" dirty="0"/>
          </a:p>
        </p:txBody>
      </p:sp>
      <p:sp>
        <p:nvSpPr>
          <p:cNvPr id="64" name="Text 62"/>
          <p:cNvSpPr/>
          <p:nvPr/>
        </p:nvSpPr>
        <p:spPr>
          <a:xfrm>
            <a:off x="6846094" y="9925050"/>
            <a:ext cx="145256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8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700" y="8667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3" name="Text 1"/>
          <p:cNvSpPr/>
          <p:nvPr/>
        </p:nvSpPr>
        <p:spPr>
          <a:xfrm>
            <a:off x="647700" y="609600"/>
            <a:ext cx="136420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 STUDIO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931991" y="609600"/>
            <a:ext cx="105935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647700" y="1304925"/>
            <a:ext cx="270718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500"/>
              </a:lnSpc>
              <a:buNone/>
            </a:pPr>
            <a:r>
              <a:rPr lang="en-US" sz="1050" b="1" spc="168" kern="0" dirty="0">
                <a:solidFill>
                  <a:srgbClr val="17A7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94618" y="1162050"/>
            <a:ext cx="171587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1282"/>
              </a:lnSpc>
              <a:buNone/>
            </a:pPr>
            <a:r>
              <a:rPr lang="en-US" sz="210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How It Works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47700" y="1743075"/>
            <a:ext cx="689419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47"/>
              </a:lnSpc>
              <a:buNone/>
            </a:pPr>
            <a:r>
              <a:rPr lang="en-US" sz="1050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There are two main sources of growth.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7700" y="2190750"/>
            <a:ext cx="328993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CUSTOMERS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4825" y="251460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551" y="263842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Existing Customers</a:t>
            </a:r>
            <a:endParaRPr lang="en-US" sz="975" dirty="0"/>
          </a:p>
        </p:txBody>
      </p:sp>
      <p:sp>
        <p:nvSpPr>
          <p:cNvPr id="11" name="Shape 9"/>
          <p:cNvSpPr/>
          <p:nvPr/>
        </p:nvSpPr>
        <p:spPr>
          <a:xfrm>
            <a:off x="2138363" y="2952750"/>
            <a:ext cx="9525" cy="190500"/>
          </a:xfrm>
          <a:prstGeom prst="rect">
            <a:avLst/>
          </a:prstGeom>
          <a:solidFill>
            <a:srgbClr val="C6D6FA"/>
          </a:solidFill>
          <a:ln/>
        </p:spPr>
      </p:sp>
      <p:sp>
        <p:nvSpPr>
          <p:cNvPr id="12" name="Shape 10"/>
          <p:cNvSpPr/>
          <p:nvPr/>
        </p:nvSpPr>
        <p:spPr>
          <a:xfrm>
            <a:off x="504825" y="314325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551" y="326707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Organize and Segment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2138363" y="3581400"/>
            <a:ext cx="9525" cy="190500"/>
          </a:xfrm>
          <a:prstGeom prst="rect">
            <a:avLst/>
          </a:prstGeom>
          <a:solidFill>
            <a:srgbClr val="C6D6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4825" y="377190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551" y="389572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Business Opportunities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2138363" y="4210050"/>
            <a:ext cx="9525" cy="190500"/>
          </a:xfrm>
          <a:prstGeom prst="rect">
            <a:avLst/>
          </a:prstGeom>
          <a:solidFill>
            <a:srgbClr val="C6D6FA"/>
          </a:solidFill>
          <a:ln/>
        </p:spPr>
      </p:sp>
      <p:sp>
        <p:nvSpPr>
          <p:cNvPr id="18" name="Shape 16"/>
          <p:cNvSpPr/>
          <p:nvPr/>
        </p:nvSpPr>
        <p:spPr>
          <a:xfrm>
            <a:off x="504825" y="440055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551" y="452437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 Customers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2138363" y="4838700"/>
            <a:ext cx="9525" cy="190500"/>
          </a:xfrm>
          <a:prstGeom prst="rect">
            <a:avLst/>
          </a:prstGeom>
          <a:solidFill>
            <a:srgbClr val="C6D6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47700" y="5029200"/>
            <a:ext cx="1457325" cy="361950"/>
          </a:xfrm>
          <a:prstGeom prst="roundRect">
            <a:avLst>
              <a:gd name="adj" fmla="val 5263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5325" y="5124450"/>
            <a:ext cx="136207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 Business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181225" y="5029200"/>
            <a:ext cx="1457325" cy="361950"/>
          </a:xfrm>
          <a:prstGeom prst="roundRect">
            <a:avLst>
              <a:gd name="adj" fmla="val 5263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28850" y="5124450"/>
            <a:ext cx="136207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AMC and Maintenance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7700" y="5467350"/>
            <a:ext cx="1457325" cy="361950"/>
          </a:xfrm>
          <a:prstGeom prst="roundRect">
            <a:avLst>
              <a:gd name="adj" fmla="val 5263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5325" y="5562600"/>
            <a:ext cx="136207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Referrals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181225" y="5467350"/>
            <a:ext cx="1457325" cy="361950"/>
          </a:xfrm>
          <a:prstGeom prst="roundRect">
            <a:avLst>
              <a:gd name="adj" fmla="val 5263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28850" y="5562600"/>
            <a:ext cx="136207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924300" y="2190750"/>
            <a:ext cx="328993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COMMERCIAL CUSTOMERS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781425" y="251460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75151" y="263842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Businesses</a:t>
            </a:r>
            <a:endParaRPr lang="en-US" sz="975" dirty="0"/>
          </a:p>
        </p:txBody>
      </p:sp>
      <p:sp>
        <p:nvSpPr>
          <p:cNvPr id="32" name="Shape 30"/>
          <p:cNvSpPr/>
          <p:nvPr/>
        </p:nvSpPr>
        <p:spPr>
          <a:xfrm>
            <a:off x="5414963" y="2952750"/>
            <a:ext cx="9525" cy="190500"/>
          </a:xfrm>
          <a:prstGeom prst="rect">
            <a:avLst/>
          </a:prstGeom>
          <a:solidFill>
            <a:srgbClr val="B9E3CC"/>
          </a:solidFill>
          <a:ln/>
        </p:spPr>
      </p:sp>
      <p:sp>
        <p:nvSpPr>
          <p:cNvPr id="33" name="Shape 31"/>
          <p:cNvSpPr/>
          <p:nvPr/>
        </p:nvSpPr>
        <p:spPr>
          <a:xfrm>
            <a:off x="3781425" y="314325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75151" y="326707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Right Businesses</a:t>
            </a:r>
            <a:endParaRPr lang="en-US" sz="975" dirty="0"/>
          </a:p>
        </p:txBody>
      </p:sp>
      <p:sp>
        <p:nvSpPr>
          <p:cNvPr id="35" name="Shape 33"/>
          <p:cNvSpPr/>
          <p:nvPr/>
        </p:nvSpPr>
        <p:spPr>
          <a:xfrm>
            <a:off x="5414963" y="3581400"/>
            <a:ext cx="9525" cy="190500"/>
          </a:xfrm>
          <a:prstGeom prst="rect">
            <a:avLst/>
          </a:prstGeom>
          <a:solidFill>
            <a:srgbClr val="B9E3CC"/>
          </a:solidFill>
          <a:ln/>
        </p:spPr>
      </p:sp>
      <p:sp>
        <p:nvSpPr>
          <p:cNvPr id="36" name="Shape 34"/>
          <p:cNvSpPr/>
          <p:nvPr/>
        </p:nvSpPr>
        <p:spPr>
          <a:xfrm>
            <a:off x="3781425" y="377190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75151" y="389572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Decision Makers</a:t>
            </a:r>
            <a:endParaRPr lang="en-US" sz="975" dirty="0"/>
          </a:p>
        </p:txBody>
      </p:sp>
      <p:sp>
        <p:nvSpPr>
          <p:cNvPr id="38" name="Shape 36"/>
          <p:cNvSpPr/>
          <p:nvPr/>
        </p:nvSpPr>
        <p:spPr>
          <a:xfrm>
            <a:off x="5414963" y="4210050"/>
            <a:ext cx="9525" cy="190500"/>
          </a:xfrm>
          <a:prstGeom prst="rect">
            <a:avLst/>
          </a:prstGeom>
          <a:solidFill>
            <a:srgbClr val="B9E3CC"/>
          </a:solidFill>
          <a:ln/>
        </p:spPr>
      </p:sp>
      <p:sp>
        <p:nvSpPr>
          <p:cNvPr id="39" name="Shape 37"/>
          <p:cNvSpPr/>
          <p:nvPr/>
        </p:nvSpPr>
        <p:spPr>
          <a:xfrm>
            <a:off x="3781425" y="440055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875151" y="452437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Them</a:t>
            </a:r>
            <a:endParaRPr lang="en-US" sz="975" dirty="0"/>
          </a:p>
        </p:txBody>
      </p:sp>
      <p:sp>
        <p:nvSpPr>
          <p:cNvPr id="41" name="Shape 39"/>
          <p:cNvSpPr/>
          <p:nvPr/>
        </p:nvSpPr>
        <p:spPr>
          <a:xfrm>
            <a:off x="5414963" y="4838700"/>
            <a:ext cx="9525" cy="190500"/>
          </a:xfrm>
          <a:prstGeom prst="rect">
            <a:avLst/>
          </a:prstGeom>
          <a:solidFill>
            <a:srgbClr val="B9E3CC"/>
          </a:solidFill>
          <a:ln/>
        </p:spPr>
      </p:sp>
      <p:sp>
        <p:nvSpPr>
          <p:cNvPr id="42" name="Shape 40"/>
          <p:cNvSpPr/>
          <p:nvPr/>
        </p:nvSpPr>
        <p:spPr>
          <a:xfrm>
            <a:off x="3781425" y="502920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75151" y="515302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Up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5414963" y="5467350"/>
            <a:ext cx="9525" cy="190500"/>
          </a:xfrm>
          <a:prstGeom prst="rect">
            <a:avLst/>
          </a:prstGeom>
          <a:solidFill>
            <a:srgbClr val="B9E3CC"/>
          </a:solidFill>
          <a:ln/>
        </p:spPr>
      </p:sp>
      <p:sp>
        <p:nvSpPr>
          <p:cNvPr id="45" name="Shape 43"/>
          <p:cNvSpPr/>
          <p:nvPr/>
        </p:nvSpPr>
        <p:spPr>
          <a:xfrm>
            <a:off x="3790950" y="5657850"/>
            <a:ext cx="3257550" cy="419100"/>
          </a:xfrm>
          <a:prstGeom prst="roundRect">
            <a:avLst>
              <a:gd name="adj" fmla="val 4545"/>
            </a:avLst>
          </a:prstGeom>
          <a:solidFill>
            <a:srgbClr val="14543C"/>
          </a:solidFill>
          <a:ln/>
        </p:spPr>
      </p:sp>
      <p:sp>
        <p:nvSpPr>
          <p:cNvPr id="46" name="Text 44"/>
          <p:cNvSpPr/>
          <p:nvPr/>
        </p:nvSpPr>
        <p:spPr>
          <a:xfrm>
            <a:off x="3875437" y="5772150"/>
            <a:ext cx="308857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Qualified Enquiry</a:t>
            </a:r>
            <a:endParaRPr lang="en-US" sz="975" dirty="0"/>
          </a:p>
        </p:txBody>
      </p:sp>
      <p:sp>
        <p:nvSpPr>
          <p:cNvPr id="47" name="Shape 45"/>
          <p:cNvSpPr/>
          <p:nvPr/>
        </p:nvSpPr>
        <p:spPr>
          <a:xfrm>
            <a:off x="647700" y="97821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48" name="Text 46"/>
          <p:cNvSpPr/>
          <p:nvPr/>
        </p:nvSpPr>
        <p:spPr>
          <a:xfrm>
            <a:off x="647700" y="9925050"/>
            <a:ext cx="142985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contact@lumelush.com</a:t>
            </a:r>
            <a:endParaRPr lang="en-US" sz="825" dirty="0"/>
          </a:p>
        </p:txBody>
      </p:sp>
      <p:sp>
        <p:nvSpPr>
          <p:cNvPr id="49" name="Text 47"/>
          <p:cNvSpPr/>
          <p:nvPr/>
        </p:nvSpPr>
        <p:spPr>
          <a:xfrm>
            <a:off x="6846838" y="9925050"/>
            <a:ext cx="144512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700" y="8667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3" name="Text 1"/>
          <p:cNvSpPr/>
          <p:nvPr/>
        </p:nvSpPr>
        <p:spPr>
          <a:xfrm>
            <a:off x="647700" y="609600"/>
            <a:ext cx="136420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 STUDIO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850136" y="609600"/>
            <a:ext cx="1141214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BUILD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647700" y="1304925"/>
            <a:ext cx="2664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500"/>
              </a:lnSpc>
              <a:buNone/>
            </a:pPr>
            <a:r>
              <a:rPr lang="en-US" sz="1050" b="1" spc="168" kern="0" dirty="0">
                <a:solidFill>
                  <a:srgbClr val="17A7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90302" y="1162050"/>
            <a:ext cx="186069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1282"/>
              </a:lnSpc>
              <a:buNone/>
            </a:pPr>
            <a:r>
              <a:rPr lang="en-US" sz="210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We Build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47700" y="1743075"/>
            <a:ext cx="3028950" cy="2371725"/>
          </a:xfrm>
          <a:prstGeom prst="rect">
            <a:avLst/>
          </a:prstGeom>
          <a:solidFill>
            <a:srgbClr val="F4F7FE"/>
          </a:solidFill>
          <a:ln/>
        </p:spPr>
      </p:sp>
      <p:sp>
        <p:nvSpPr>
          <p:cNvPr id="8" name="Shape 6"/>
          <p:cNvSpPr/>
          <p:nvPr/>
        </p:nvSpPr>
        <p:spPr>
          <a:xfrm>
            <a:off x="647700" y="1743075"/>
            <a:ext cx="3028950" cy="38100"/>
          </a:xfrm>
          <a:prstGeom prst="rect">
            <a:avLst/>
          </a:prstGeom>
          <a:solidFill>
            <a:srgbClr val="1A56E8"/>
          </a:solidFill>
          <a:ln/>
        </p:spPr>
      </p:sp>
      <p:sp>
        <p:nvSpPr>
          <p:cNvPr id="9" name="Text 7"/>
          <p:cNvSpPr/>
          <p:nvPr/>
        </p:nvSpPr>
        <p:spPr>
          <a:xfrm>
            <a:off x="838200" y="1952625"/>
            <a:ext cx="291274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714"/>
              </a:lnSpc>
              <a:buNone/>
            </a:pPr>
            <a:r>
              <a:rPr lang="en-US" sz="1125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Existing Customer System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838200" y="22669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1017538" y="2266950"/>
            <a:ext cx="112335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database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838200" y="251460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1017538" y="2514600"/>
            <a:ext cx="115431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segments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838200" y="27622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15" name="Text 13"/>
          <p:cNvSpPr/>
          <p:nvPr/>
        </p:nvSpPr>
        <p:spPr>
          <a:xfrm>
            <a:off x="1017538" y="2762250"/>
            <a:ext cx="164938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 business campaigns</a:t>
            </a:r>
            <a:endParaRPr lang="en-US" sz="975" dirty="0"/>
          </a:p>
        </p:txBody>
      </p:sp>
      <p:sp>
        <p:nvSpPr>
          <p:cNvPr id="16" name="Text 14"/>
          <p:cNvSpPr/>
          <p:nvPr/>
        </p:nvSpPr>
        <p:spPr>
          <a:xfrm>
            <a:off x="838200" y="300990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17" name="Text 15"/>
          <p:cNvSpPr/>
          <p:nvPr/>
        </p:nvSpPr>
        <p:spPr>
          <a:xfrm>
            <a:off x="1017538" y="3009900"/>
            <a:ext cx="205571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AMC and maintenance campaigns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838200" y="32575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1017538" y="3257550"/>
            <a:ext cx="143443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Reactivation campaigns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838200" y="350520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21" name="Text 19"/>
          <p:cNvSpPr/>
          <p:nvPr/>
        </p:nvSpPr>
        <p:spPr>
          <a:xfrm>
            <a:off x="1017538" y="3505200"/>
            <a:ext cx="113913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Referral campaigns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838200" y="37528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23" name="Text 21"/>
          <p:cNvSpPr/>
          <p:nvPr/>
        </p:nvSpPr>
        <p:spPr>
          <a:xfrm>
            <a:off x="1017538" y="3752850"/>
            <a:ext cx="15649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communication</a:t>
            </a:r>
            <a:endParaRPr lang="en-US" sz="975" dirty="0"/>
          </a:p>
        </p:txBody>
      </p:sp>
      <p:sp>
        <p:nvSpPr>
          <p:cNvPr id="24" name="Shape 22"/>
          <p:cNvSpPr/>
          <p:nvPr/>
        </p:nvSpPr>
        <p:spPr>
          <a:xfrm>
            <a:off x="3886200" y="1743075"/>
            <a:ext cx="3028950" cy="2371725"/>
          </a:xfrm>
          <a:prstGeom prst="rect">
            <a:avLst/>
          </a:prstGeom>
          <a:solidFill>
            <a:srgbClr val="F1FAF6"/>
          </a:solidFill>
          <a:ln/>
        </p:spPr>
      </p:sp>
      <p:sp>
        <p:nvSpPr>
          <p:cNvPr id="25" name="Shape 23"/>
          <p:cNvSpPr/>
          <p:nvPr/>
        </p:nvSpPr>
        <p:spPr>
          <a:xfrm>
            <a:off x="3886200" y="1743075"/>
            <a:ext cx="3028950" cy="38100"/>
          </a:xfrm>
          <a:prstGeom prst="rect">
            <a:avLst/>
          </a:prstGeom>
          <a:solidFill>
            <a:srgbClr val="14543C"/>
          </a:solidFill>
          <a:ln/>
        </p:spPr>
      </p:sp>
      <p:sp>
        <p:nvSpPr>
          <p:cNvPr id="26" name="Text 24"/>
          <p:cNvSpPr/>
          <p:nvPr/>
        </p:nvSpPr>
        <p:spPr>
          <a:xfrm>
            <a:off x="4076700" y="1952625"/>
            <a:ext cx="291274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714"/>
              </a:lnSpc>
              <a:buNone/>
            </a:pPr>
            <a:r>
              <a:rPr lang="en-US" sz="1125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New Customer System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4076700" y="22669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28" name="Text 26"/>
          <p:cNvSpPr/>
          <p:nvPr/>
        </p:nvSpPr>
        <p:spPr>
          <a:xfrm>
            <a:off x="4256038" y="2266950"/>
            <a:ext cx="158406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customer segments</a:t>
            </a:r>
            <a:endParaRPr lang="en-US" sz="975" dirty="0"/>
          </a:p>
        </p:txBody>
      </p:sp>
      <p:sp>
        <p:nvSpPr>
          <p:cNvPr id="29" name="Text 27"/>
          <p:cNvSpPr/>
          <p:nvPr/>
        </p:nvSpPr>
        <p:spPr>
          <a:xfrm>
            <a:off x="4076700" y="251460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4256038" y="2514600"/>
            <a:ext cx="116606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Prospecting process</a:t>
            </a:r>
            <a:endParaRPr lang="en-US" sz="975" dirty="0"/>
          </a:p>
        </p:txBody>
      </p:sp>
      <p:sp>
        <p:nvSpPr>
          <p:cNvPr id="31" name="Text 29"/>
          <p:cNvSpPr/>
          <p:nvPr/>
        </p:nvSpPr>
        <p:spPr>
          <a:xfrm>
            <a:off x="4076700" y="27622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32" name="Text 30"/>
          <p:cNvSpPr/>
          <p:nvPr/>
        </p:nvSpPr>
        <p:spPr>
          <a:xfrm>
            <a:off x="4256038" y="2762250"/>
            <a:ext cx="148322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maker research</a:t>
            </a:r>
            <a:endParaRPr lang="en-US" sz="975" dirty="0"/>
          </a:p>
        </p:txBody>
      </p:sp>
      <p:sp>
        <p:nvSpPr>
          <p:cNvPr id="33" name="Text 31"/>
          <p:cNvSpPr/>
          <p:nvPr/>
        </p:nvSpPr>
        <p:spPr>
          <a:xfrm>
            <a:off x="4076700" y="300990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4256038" y="3009900"/>
            <a:ext cx="159700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Verified prospect database</a:t>
            </a:r>
            <a:endParaRPr lang="en-US" sz="975" dirty="0"/>
          </a:p>
        </p:txBody>
      </p:sp>
      <p:sp>
        <p:nvSpPr>
          <p:cNvPr id="35" name="Text 33"/>
          <p:cNvSpPr/>
          <p:nvPr/>
        </p:nvSpPr>
        <p:spPr>
          <a:xfrm>
            <a:off x="4076700" y="32575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36" name="Text 34"/>
          <p:cNvSpPr/>
          <p:nvPr/>
        </p:nvSpPr>
        <p:spPr>
          <a:xfrm>
            <a:off x="4256038" y="3257550"/>
            <a:ext cx="91216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 outreach</a:t>
            </a:r>
            <a:endParaRPr lang="en-US" sz="975" dirty="0"/>
          </a:p>
        </p:txBody>
      </p:sp>
      <p:sp>
        <p:nvSpPr>
          <p:cNvPr id="37" name="Text 35"/>
          <p:cNvSpPr/>
          <p:nvPr/>
        </p:nvSpPr>
        <p:spPr>
          <a:xfrm>
            <a:off x="4076700" y="350520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38" name="Text 36"/>
          <p:cNvSpPr/>
          <p:nvPr/>
        </p:nvSpPr>
        <p:spPr>
          <a:xfrm>
            <a:off x="4256038" y="3505200"/>
            <a:ext cx="105906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up process</a:t>
            </a:r>
            <a:endParaRPr lang="en-US" sz="975" dirty="0"/>
          </a:p>
        </p:txBody>
      </p:sp>
      <p:sp>
        <p:nvSpPr>
          <p:cNvPr id="39" name="Text 37"/>
          <p:cNvSpPr/>
          <p:nvPr/>
        </p:nvSpPr>
        <p:spPr>
          <a:xfrm>
            <a:off x="4076700" y="3752850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40" name="Text 38"/>
          <p:cNvSpPr/>
          <p:nvPr/>
        </p:nvSpPr>
        <p:spPr>
          <a:xfrm>
            <a:off x="4256038" y="3752850"/>
            <a:ext cx="99953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Enquiry tracking</a:t>
            </a:r>
            <a:endParaRPr lang="en-US" sz="975" dirty="0"/>
          </a:p>
        </p:txBody>
      </p:sp>
      <p:sp>
        <p:nvSpPr>
          <p:cNvPr id="41" name="Shape 39"/>
          <p:cNvSpPr/>
          <p:nvPr/>
        </p:nvSpPr>
        <p:spPr>
          <a:xfrm>
            <a:off x="647700" y="4286250"/>
            <a:ext cx="3028950" cy="2124075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Shape 40"/>
          <p:cNvSpPr/>
          <p:nvPr/>
        </p:nvSpPr>
        <p:spPr>
          <a:xfrm>
            <a:off x="647700" y="4286250"/>
            <a:ext cx="3028950" cy="38100"/>
          </a:xfrm>
          <a:prstGeom prst="rect">
            <a:avLst/>
          </a:prstGeom>
          <a:solidFill>
            <a:srgbClr val="22314F"/>
          </a:solidFill>
          <a:ln/>
        </p:spPr>
      </p:sp>
      <p:sp>
        <p:nvSpPr>
          <p:cNvPr id="43" name="Text 41"/>
          <p:cNvSpPr/>
          <p:nvPr/>
        </p:nvSpPr>
        <p:spPr>
          <a:xfrm>
            <a:off x="838200" y="4495800"/>
            <a:ext cx="291274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714"/>
              </a:lnSpc>
              <a:buNone/>
            </a:pPr>
            <a:r>
              <a:rPr lang="en-US" sz="1125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CRM and Tracking</a:t>
            </a:r>
            <a:endParaRPr lang="en-US" sz="1125" dirty="0"/>
          </a:p>
        </p:txBody>
      </p:sp>
      <p:sp>
        <p:nvSpPr>
          <p:cNvPr id="44" name="Text 42"/>
          <p:cNvSpPr/>
          <p:nvPr/>
        </p:nvSpPr>
        <p:spPr>
          <a:xfrm>
            <a:off x="838200" y="481012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45" name="Text 43"/>
          <p:cNvSpPr/>
          <p:nvPr/>
        </p:nvSpPr>
        <p:spPr>
          <a:xfrm>
            <a:off x="1017538" y="4810125"/>
            <a:ext cx="68535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CRM setup</a:t>
            </a:r>
            <a:endParaRPr lang="en-US" sz="975" dirty="0"/>
          </a:p>
        </p:txBody>
      </p:sp>
      <p:sp>
        <p:nvSpPr>
          <p:cNvPr id="46" name="Text 44"/>
          <p:cNvSpPr/>
          <p:nvPr/>
        </p:nvSpPr>
        <p:spPr>
          <a:xfrm>
            <a:off x="838200" y="505777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47" name="Text 45"/>
          <p:cNvSpPr/>
          <p:nvPr/>
        </p:nvSpPr>
        <p:spPr>
          <a:xfrm>
            <a:off x="1017538" y="5057775"/>
            <a:ext cx="70931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stages</a:t>
            </a:r>
            <a:endParaRPr lang="en-US" sz="975" dirty="0"/>
          </a:p>
        </p:txBody>
      </p:sp>
      <p:sp>
        <p:nvSpPr>
          <p:cNvPr id="48" name="Text 46"/>
          <p:cNvSpPr/>
          <p:nvPr/>
        </p:nvSpPr>
        <p:spPr>
          <a:xfrm>
            <a:off x="838200" y="530542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49" name="Text 47"/>
          <p:cNvSpPr/>
          <p:nvPr/>
        </p:nvSpPr>
        <p:spPr>
          <a:xfrm>
            <a:off x="1017538" y="5305425"/>
            <a:ext cx="974675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stages</a:t>
            </a:r>
            <a:endParaRPr lang="en-US" sz="975" dirty="0"/>
          </a:p>
        </p:txBody>
      </p:sp>
      <p:sp>
        <p:nvSpPr>
          <p:cNvPr id="50" name="Text 48"/>
          <p:cNvSpPr/>
          <p:nvPr/>
        </p:nvSpPr>
        <p:spPr>
          <a:xfrm>
            <a:off x="838200" y="555307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51" name="Text 49"/>
          <p:cNvSpPr/>
          <p:nvPr/>
        </p:nvSpPr>
        <p:spPr>
          <a:xfrm>
            <a:off x="1017538" y="5553075"/>
            <a:ext cx="109879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up tracking</a:t>
            </a:r>
            <a:endParaRPr lang="en-US" sz="975" dirty="0"/>
          </a:p>
        </p:txBody>
      </p:sp>
      <p:sp>
        <p:nvSpPr>
          <p:cNvPr id="52" name="Text 50"/>
          <p:cNvSpPr/>
          <p:nvPr/>
        </p:nvSpPr>
        <p:spPr>
          <a:xfrm>
            <a:off x="838200" y="580072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53" name="Text 51"/>
          <p:cNvSpPr/>
          <p:nvPr/>
        </p:nvSpPr>
        <p:spPr>
          <a:xfrm>
            <a:off x="1017538" y="5800725"/>
            <a:ext cx="62641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975" dirty="0"/>
          </a:p>
        </p:txBody>
      </p:sp>
      <p:sp>
        <p:nvSpPr>
          <p:cNvPr id="54" name="Shape 52"/>
          <p:cNvSpPr/>
          <p:nvPr/>
        </p:nvSpPr>
        <p:spPr>
          <a:xfrm>
            <a:off x="3886200" y="4286250"/>
            <a:ext cx="3028950" cy="2124075"/>
          </a:xfrm>
          <a:prstGeom prst="rect">
            <a:avLst/>
          </a:prstGeom>
          <a:gradFill rotWithShape="1">
            <a:gsLst>
              <a:gs pos="0">
                <a:srgbClr val="F4F7FE">
                  <a:alpha val="100000"/>
                </a:srgbClr>
              </a:gs>
              <a:gs pos="100000">
                <a:srgbClr val="F1FAF6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55" name="Shape 53"/>
          <p:cNvSpPr/>
          <p:nvPr/>
        </p:nvSpPr>
        <p:spPr>
          <a:xfrm>
            <a:off x="3886200" y="4286250"/>
            <a:ext cx="3028950" cy="38100"/>
          </a:xfrm>
          <a:prstGeom prst="rect">
            <a:avLst/>
          </a:prstGeom>
          <a:solidFill>
            <a:srgbClr val="17B0A8"/>
          </a:solidFill>
          <a:ln/>
        </p:spPr>
      </p:sp>
      <p:sp>
        <p:nvSpPr>
          <p:cNvPr id="56" name="Text 54"/>
          <p:cNvSpPr/>
          <p:nvPr/>
        </p:nvSpPr>
        <p:spPr>
          <a:xfrm>
            <a:off x="4076700" y="4495800"/>
            <a:ext cx="2912745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714"/>
              </a:lnSpc>
              <a:buNone/>
            </a:pPr>
            <a:r>
              <a:rPr lang="en-US" sz="1125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Outreach Setup</a:t>
            </a:r>
            <a:endParaRPr lang="en-US" sz="1125" dirty="0"/>
          </a:p>
        </p:txBody>
      </p:sp>
      <p:sp>
        <p:nvSpPr>
          <p:cNvPr id="57" name="Text 55"/>
          <p:cNvSpPr/>
          <p:nvPr/>
        </p:nvSpPr>
        <p:spPr>
          <a:xfrm>
            <a:off x="4076700" y="481012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58" name="Text 56"/>
          <p:cNvSpPr/>
          <p:nvPr/>
        </p:nvSpPr>
        <p:spPr>
          <a:xfrm>
            <a:off x="4256038" y="4810125"/>
            <a:ext cx="181260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 domains and mailboxes</a:t>
            </a:r>
            <a:endParaRPr lang="en-US" sz="975" dirty="0"/>
          </a:p>
        </p:txBody>
      </p:sp>
      <p:sp>
        <p:nvSpPr>
          <p:cNvPr id="59" name="Text 57"/>
          <p:cNvSpPr/>
          <p:nvPr/>
        </p:nvSpPr>
        <p:spPr>
          <a:xfrm>
            <a:off x="4076700" y="505777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60" name="Text 58"/>
          <p:cNvSpPr/>
          <p:nvPr/>
        </p:nvSpPr>
        <p:spPr>
          <a:xfrm>
            <a:off x="4256038" y="5057775"/>
            <a:ext cx="72821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 setup</a:t>
            </a:r>
            <a:endParaRPr lang="en-US" sz="975" dirty="0"/>
          </a:p>
        </p:txBody>
      </p:sp>
      <p:sp>
        <p:nvSpPr>
          <p:cNvPr id="61" name="Text 59"/>
          <p:cNvSpPr/>
          <p:nvPr/>
        </p:nvSpPr>
        <p:spPr>
          <a:xfrm>
            <a:off x="4076700" y="530542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62" name="Text 60"/>
          <p:cNvSpPr/>
          <p:nvPr/>
        </p:nvSpPr>
        <p:spPr>
          <a:xfrm>
            <a:off x="4256038" y="5305425"/>
            <a:ext cx="96663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 templates</a:t>
            </a:r>
            <a:endParaRPr lang="en-US" sz="975" dirty="0"/>
          </a:p>
        </p:txBody>
      </p:sp>
      <p:sp>
        <p:nvSpPr>
          <p:cNvPr id="63" name="Text 61"/>
          <p:cNvSpPr/>
          <p:nvPr/>
        </p:nvSpPr>
        <p:spPr>
          <a:xfrm>
            <a:off x="4076700" y="555307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64" name="Text 62"/>
          <p:cNvSpPr/>
          <p:nvPr/>
        </p:nvSpPr>
        <p:spPr>
          <a:xfrm>
            <a:off x="4256038" y="5553075"/>
            <a:ext cx="120431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up sequences</a:t>
            </a:r>
            <a:endParaRPr lang="en-US" sz="975" dirty="0"/>
          </a:p>
        </p:txBody>
      </p:sp>
      <p:sp>
        <p:nvSpPr>
          <p:cNvPr id="65" name="Text 63"/>
          <p:cNvSpPr/>
          <p:nvPr/>
        </p:nvSpPr>
        <p:spPr>
          <a:xfrm>
            <a:off x="4076700" y="580072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66" name="Text 64"/>
          <p:cNvSpPr/>
          <p:nvPr/>
        </p:nvSpPr>
        <p:spPr>
          <a:xfrm>
            <a:off x="4256038" y="5800725"/>
            <a:ext cx="161402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 campaign setup</a:t>
            </a:r>
            <a:endParaRPr lang="en-US" sz="975" dirty="0"/>
          </a:p>
        </p:txBody>
      </p:sp>
      <p:sp>
        <p:nvSpPr>
          <p:cNvPr id="67" name="Text 65"/>
          <p:cNvSpPr/>
          <p:nvPr/>
        </p:nvSpPr>
        <p:spPr>
          <a:xfrm>
            <a:off x="4076700" y="6048375"/>
            <a:ext cx="16981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75" dirty="0"/>
          </a:p>
        </p:txBody>
      </p:sp>
      <p:sp>
        <p:nvSpPr>
          <p:cNvPr id="68" name="Text 66"/>
          <p:cNvSpPr/>
          <p:nvPr/>
        </p:nvSpPr>
        <p:spPr>
          <a:xfrm>
            <a:off x="4256038" y="6048375"/>
            <a:ext cx="1064419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Outreach tracking</a:t>
            </a:r>
            <a:endParaRPr lang="en-US" sz="975" dirty="0"/>
          </a:p>
        </p:txBody>
      </p:sp>
      <p:sp>
        <p:nvSpPr>
          <p:cNvPr id="69" name="Shape 67"/>
          <p:cNvSpPr/>
          <p:nvPr/>
        </p:nvSpPr>
        <p:spPr>
          <a:xfrm>
            <a:off x="647700" y="6543675"/>
            <a:ext cx="6267450" cy="1514475"/>
          </a:xfrm>
          <a:prstGeom prst="rect">
            <a:avLst/>
          </a:prstGeom>
          <a:gradFill rotWithShape="1">
            <a:gsLst>
              <a:gs pos="0">
                <a:srgbClr val="F4F7FE">
                  <a:alpha val="100000"/>
                </a:srgbClr>
              </a:gs>
              <a:gs pos="100000">
                <a:srgbClr val="F1FAF6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70" name="Shape 68"/>
          <p:cNvSpPr/>
          <p:nvPr/>
        </p:nvSpPr>
        <p:spPr>
          <a:xfrm>
            <a:off x="647700" y="6543675"/>
            <a:ext cx="6267450" cy="38100"/>
          </a:xfrm>
          <a:prstGeom prst="rect">
            <a:avLst/>
          </a:prstGeom>
          <a:solidFill>
            <a:srgbClr val="17B0A8"/>
          </a:solidFill>
          <a:ln/>
        </p:spPr>
      </p:sp>
      <p:sp>
        <p:nvSpPr>
          <p:cNvPr id="71" name="Text 69"/>
          <p:cNvSpPr/>
          <p:nvPr/>
        </p:nvSpPr>
        <p:spPr>
          <a:xfrm>
            <a:off x="838200" y="6734175"/>
            <a:ext cx="647509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49" kern="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BONUS — DIGITAL FOUNDATION</a:t>
            </a:r>
            <a:endParaRPr lang="en-US" sz="825" dirty="0"/>
          </a:p>
        </p:txBody>
      </p:sp>
      <p:sp>
        <p:nvSpPr>
          <p:cNvPr id="72" name="Text 70"/>
          <p:cNvSpPr/>
          <p:nvPr/>
        </p:nvSpPr>
        <p:spPr>
          <a:xfrm>
            <a:off x="838200" y="6972300"/>
            <a:ext cx="647509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support the Growth System, we will also provide the basic digital foundation at no additional cost.</a:t>
            </a:r>
            <a:endParaRPr lang="en-US" sz="938" dirty="0"/>
          </a:p>
        </p:txBody>
      </p:sp>
      <p:sp>
        <p:nvSpPr>
          <p:cNvPr id="73" name="Text 71"/>
          <p:cNvSpPr/>
          <p:nvPr/>
        </p:nvSpPr>
        <p:spPr>
          <a:xfrm>
            <a:off x="838200" y="7248525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74" name="Text 72"/>
          <p:cNvSpPr/>
          <p:nvPr/>
        </p:nvSpPr>
        <p:spPr>
          <a:xfrm>
            <a:off x="1004292" y="7248525"/>
            <a:ext cx="228180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Enquiry focused website improvements</a:t>
            </a:r>
            <a:endParaRPr lang="en-US" sz="938" dirty="0"/>
          </a:p>
        </p:txBody>
      </p:sp>
      <p:sp>
        <p:nvSpPr>
          <p:cNvPr id="75" name="Text 73"/>
          <p:cNvSpPr/>
          <p:nvPr/>
        </p:nvSpPr>
        <p:spPr>
          <a:xfrm>
            <a:off x="3886200" y="7248525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76" name="Text 74"/>
          <p:cNvSpPr/>
          <p:nvPr/>
        </p:nvSpPr>
        <p:spPr>
          <a:xfrm>
            <a:off x="4052292" y="7248525"/>
            <a:ext cx="136256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Business Profile</a:t>
            </a:r>
            <a:endParaRPr lang="en-US" sz="938" dirty="0"/>
          </a:p>
        </p:txBody>
      </p:sp>
      <p:sp>
        <p:nvSpPr>
          <p:cNvPr id="77" name="Text 75"/>
          <p:cNvSpPr/>
          <p:nvPr/>
        </p:nvSpPr>
        <p:spPr>
          <a:xfrm>
            <a:off x="838200" y="74866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78" name="Text 76"/>
          <p:cNvSpPr/>
          <p:nvPr/>
        </p:nvSpPr>
        <p:spPr>
          <a:xfrm>
            <a:off x="1004292" y="7486650"/>
            <a:ext cx="167951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capture &amp; contact setup</a:t>
            </a:r>
            <a:endParaRPr lang="en-US" sz="938" dirty="0"/>
          </a:p>
        </p:txBody>
      </p:sp>
      <p:sp>
        <p:nvSpPr>
          <p:cNvPr id="79" name="Text 77"/>
          <p:cNvSpPr/>
          <p:nvPr/>
        </p:nvSpPr>
        <p:spPr>
          <a:xfrm>
            <a:off x="3886200" y="74866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80" name="Text 78"/>
          <p:cNvSpPr/>
          <p:nvPr/>
        </p:nvSpPr>
        <p:spPr>
          <a:xfrm>
            <a:off x="4052292" y="7486650"/>
            <a:ext cx="190985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Basic SEO, GEO &amp; local presence</a:t>
            </a:r>
            <a:endParaRPr lang="en-US" sz="938" dirty="0"/>
          </a:p>
        </p:txBody>
      </p:sp>
      <p:sp>
        <p:nvSpPr>
          <p:cNvPr id="81" name="Text 79"/>
          <p:cNvSpPr/>
          <p:nvPr/>
        </p:nvSpPr>
        <p:spPr>
          <a:xfrm>
            <a:off x="838200" y="7724775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82" name="Text 80"/>
          <p:cNvSpPr/>
          <p:nvPr/>
        </p:nvSpPr>
        <p:spPr>
          <a:xfrm>
            <a:off x="1004292" y="7724775"/>
            <a:ext cx="16570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and reputation setup</a:t>
            </a:r>
            <a:endParaRPr lang="en-US" sz="938" dirty="0"/>
          </a:p>
        </p:txBody>
      </p:sp>
      <p:sp>
        <p:nvSpPr>
          <p:cNvPr id="83" name="Shape 81"/>
          <p:cNvSpPr/>
          <p:nvPr/>
        </p:nvSpPr>
        <p:spPr>
          <a:xfrm>
            <a:off x="647700" y="97821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84" name="Text 82"/>
          <p:cNvSpPr/>
          <p:nvPr/>
        </p:nvSpPr>
        <p:spPr>
          <a:xfrm>
            <a:off x="647700" y="9925050"/>
            <a:ext cx="142985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contact@lumelush.com</a:t>
            </a:r>
            <a:endParaRPr lang="en-US" sz="825" dirty="0"/>
          </a:p>
        </p:txBody>
      </p:sp>
      <p:sp>
        <p:nvSpPr>
          <p:cNvPr id="85" name="Text 83"/>
          <p:cNvSpPr/>
          <p:nvPr/>
        </p:nvSpPr>
        <p:spPr>
          <a:xfrm>
            <a:off x="6845350" y="9925050"/>
            <a:ext cx="1460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8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700" y="8667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3" name="Text 1"/>
          <p:cNvSpPr/>
          <p:nvPr/>
        </p:nvSpPr>
        <p:spPr>
          <a:xfrm>
            <a:off x="647700" y="609600"/>
            <a:ext cx="136420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 STUDIO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553373" y="609600"/>
            <a:ext cx="1497955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EXECUTION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647700" y="1304925"/>
            <a:ext cx="26223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500"/>
              </a:lnSpc>
              <a:buNone/>
            </a:pPr>
            <a:r>
              <a:rPr lang="en-US" sz="1050" b="1" spc="168" kern="0" dirty="0">
                <a:solidFill>
                  <a:srgbClr val="17A7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86135" y="1162050"/>
            <a:ext cx="227626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1282"/>
              </a:lnSpc>
              <a:buNone/>
            </a:pPr>
            <a:r>
              <a:rPr lang="en-US" sz="210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Growth Execution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47700" y="1685925"/>
            <a:ext cx="645547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47"/>
              </a:lnSpc>
              <a:buNone/>
            </a:pPr>
            <a:r>
              <a:rPr lang="en-US" sz="1050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the system is only the first step. After the setup, LumeLush can continue to run the system for you.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7700" y="2276475"/>
            <a:ext cx="3048000" cy="2609850"/>
          </a:xfrm>
          <a:prstGeom prst="rect">
            <a:avLst/>
          </a:prstGeom>
          <a:solidFill>
            <a:srgbClr val="F4F7FE"/>
          </a:solidFill>
          <a:ln/>
        </p:spPr>
      </p:sp>
      <p:sp>
        <p:nvSpPr>
          <p:cNvPr id="9" name="Shape 7"/>
          <p:cNvSpPr/>
          <p:nvPr/>
        </p:nvSpPr>
        <p:spPr>
          <a:xfrm>
            <a:off x="647700" y="2276475"/>
            <a:ext cx="3048000" cy="38100"/>
          </a:xfrm>
          <a:prstGeom prst="rect">
            <a:avLst/>
          </a:prstGeom>
          <a:solidFill>
            <a:srgbClr val="1A56E8"/>
          </a:solidFill>
          <a:ln/>
        </p:spPr>
      </p:sp>
      <p:sp>
        <p:nvSpPr>
          <p:cNvPr id="10" name="Text 8"/>
          <p:cNvSpPr/>
          <p:nvPr/>
        </p:nvSpPr>
        <p:spPr>
          <a:xfrm>
            <a:off x="819150" y="2466975"/>
            <a:ext cx="297561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CUSTOMER GROWTH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19150" y="27241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12" name="Text 10"/>
          <p:cNvSpPr/>
          <p:nvPr/>
        </p:nvSpPr>
        <p:spPr>
          <a:xfrm>
            <a:off x="985242" y="2724150"/>
            <a:ext cx="159552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database updates</a:t>
            </a:r>
            <a:endParaRPr lang="en-US" sz="938" dirty="0"/>
          </a:p>
        </p:txBody>
      </p:sp>
      <p:sp>
        <p:nvSpPr>
          <p:cNvPr id="13" name="Text 11"/>
          <p:cNvSpPr/>
          <p:nvPr/>
        </p:nvSpPr>
        <p:spPr>
          <a:xfrm>
            <a:off x="819150" y="29527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14" name="Text 12"/>
          <p:cNvSpPr/>
          <p:nvPr/>
        </p:nvSpPr>
        <p:spPr>
          <a:xfrm>
            <a:off x="985242" y="2952750"/>
            <a:ext cx="118214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campaigns</a:t>
            </a:r>
            <a:endParaRPr lang="en-US" sz="938" dirty="0"/>
          </a:p>
        </p:txBody>
      </p:sp>
      <p:sp>
        <p:nvSpPr>
          <p:cNvPr id="15" name="Text 13"/>
          <p:cNvSpPr/>
          <p:nvPr/>
        </p:nvSpPr>
        <p:spPr>
          <a:xfrm>
            <a:off x="819150" y="31813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16" name="Text 14"/>
          <p:cNvSpPr/>
          <p:nvPr/>
        </p:nvSpPr>
        <p:spPr>
          <a:xfrm>
            <a:off x="985242" y="3181350"/>
            <a:ext cx="158603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Repeat business campaigns</a:t>
            </a:r>
            <a:endParaRPr lang="en-US" sz="938" dirty="0"/>
          </a:p>
        </p:txBody>
      </p:sp>
      <p:sp>
        <p:nvSpPr>
          <p:cNvPr id="17" name="Text 15"/>
          <p:cNvSpPr/>
          <p:nvPr/>
        </p:nvSpPr>
        <p:spPr>
          <a:xfrm>
            <a:off x="819150" y="34099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18" name="Text 16"/>
          <p:cNvSpPr/>
          <p:nvPr/>
        </p:nvSpPr>
        <p:spPr>
          <a:xfrm>
            <a:off x="985242" y="3409950"/>
            <a:ext cx="197664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AMC and maintenance campaigns</a:t>
            </a:r>
            <a:endParaRPr lang="en-US" sz="938" dirty="0"/>
          </a:p>
        </p:txBody>
      </p:sp>
      <p:sp>
        <p:nvSpPr>
          <p:cNvPr id="19" name="Text 17"/>
          <p:cNvSpPr/>
          <p:nvPr/>
        </p:nvSpPr>
        <p:spPr>
          <a:xfrm>
            <a:off x="819150" y="36385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20" name="Text 18"/>
          <p:cNvSpPr/>
          <p:nvPr/>
        </p:nvSpPr>
        <p:spPr>
          <a:xfrm>
            <a:off x="985242" y="3638550"/>
            <a:ext cx="137926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Reactivation campaigns</a:t>
            </a:r>
            <a:endParaRPr lang="en-US" sz="938" dirty="0"/>
          </a:p>
        </p:txBody>
      </p:sp>
      <p:sp>
        <p:nvSpPr>
          <p:cNvPr id="21" name="Text 19"/>
          <p:cNvSpPr/>
          <p:nvPr/>
        </p:nvSpPr>
        <p:spPr>
          <a:xfrm>
            <a:off x="819150" y="38671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22" name="Text 20"/>
          <p:cNvSpPr/>
          <p:nvPr/>
        </p:nvSpPr>
        <p:spPr>
          <a:xfrm>
            <a:off x="985242" y="3867150"/>
            <a:ext cx="109820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Referral campaigns</a:t>
            </a:r>
            <a:endParaRPr lang="en-US" sz="938" dirty="0"/>
          </a:p>
        </p:txBody>
      </p:sp>
      <p:sp>
        <p:nvSpPr>
          <p:cNvPr id="23" name="Text 21"/>
          <p:cNvSpPr/>
          <p:nvPr/>
        </p:nvSpPr>
        <p:spPr>
          <a:xfrm>
            <a:off x="819150" y="40957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24" name="Text 22"/>
          <p:cNvSpPr/>
          <p:nvPr/>
        </p:nvSpPr>
        <p:spPr>
          <a:xfrm>
            <a:off x="985242" y="4095750"/>
            <a:ext cx="122321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 campaigns</a:t>
            </a:r>
            <a:endParaRPr lang="en-US" sz="938" dirty="0"/>
          </a:p>
        </p:txBody>
      </p:sp>
      <p:sp>
        <p:nvSpPr>
          <p:cNvPr id="25" name="Text 23"/>
          <p:cNvSpPr/>
          <p:nvPr/>
        </p:nvSpPr>
        <p:spPr>
          <a:xfrm>
            <a:off x="819150" y="43243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26" name="Text 24"/>
          <p:cNvSpPr/>
          <p:nvPr/>
        </p:nvSpPr>
        <p:spPr>
          <a:xfrm>
            <a:off x="985242" y="4324350"/>
            <a:ext cx="115758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follow ups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3867150" y="2276475"/>
            <a:ext cx="3048000" cy="2609850"/>
          </a:xfrm>
          <a:prstGeom prst="rect">
            <a:avLst/>
          </a:prstGeom>
          <a:solidFill>
            <a:srgbClr val="F1FAF6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7150" y="2276475"/>
            <a:ext cx="3048000" cy="38100"/>
          </a:xfrm>
          <a:prstGeom prst="rect">
            <a:avLst/>
          </a:prstGeom>
          <a:solidFill>
            <a:srgbClr val="14543C"/>
          </a:solidFill>
          <a:ln/>
        </p:spPr>
      </p:sp>
      <p:sp>
        <p:nvSpPr>
          <p:cNvPr id="29" name="Text 27"/>
          <p:cNvSpPr/>
          <p:nvPr/>
        </p:nvSpPr>
        <p:spPr>
          <a:xfrm>
            <a:off x="4038600" y="2466975"/>
            <a:ext cx="297561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COMMERCIAL GROWTH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038600" y="27241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31" name="Text 29"/>
          <p:cNvSpPr/>
          <p:nvPr/>
        </p:nvSpPr>
        <p:spPr>
          <a:xfrm>
            <a:off x="4204692" y="2724150"/>
            <a:ext cx="126474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new prospects</a:t>
            </a:r>
            <a:endParaRPr lang="en-US" sz="938" dirty="0"/>
          </a:p>
        </p:txBody>
      </p:sp>
      <p:sp>
        <p:nvSpPr>
          <p:cNvPr id="32" name="Text 30"/>
          <p:cNvSpPr/>
          <p:nvPr/>
        </p:nvSpPr>
        <p:spPr>
          <a:xfrm>
            <a:off x="4038600" y="29527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33" name="Text 31"/>
          <p:cNvSpPr/>
          <p:nvPr/>
        </p:nvSpPr>
        <p:spPr>
          <a:xfrm>
            <a:off x="4204692" y="2952750"/>
            <a:ext cx="125774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Researching prospects</a:t>
            </a:r>
            <a:endParaRPr lang="en-US" sz="938" dirty="0"/>
          </a:p>
        </p:txBody>
      </p:sp>
      <p:sp>
        <p:nvSpPr>
          <p:cNvPr id="34" name="Text 32"/>
          <p:cNvSpPr/>
          <p:nvPr/>
        </p:nvSpPr>
        <p:spPr>
          <a:xfrm>
            <a:off x="4038600" y="31813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35" name="Text 33"/>
          <p:cNvSpPr/>
          <p:nvPr/>
        </p:nvSpPr>
        <p:spPr>
          <a:xfrm>
            <a:off x="4204692" y="3181350"/>
            <a:ext cx="141953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Finding decision makers</a:t>
            </a:r>
            <a:endParaRPr lang="en-US" sz="938" dirty="0"/>
          </a:p>
        </p:txBody>
      </p:sp>
      <p:sp>
        <p:nvSpPr>
          <p:cNvPr id="36" name="Text 34"/>
          <p:cNvSpPr/>
          <p:nvPr/>
        </p:nvSpPr>
        <p:spPr>
          <a:xfrm>
            <a:off x="4038600" y="34099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37" name="Text 35"/>
          <p:cNvSpPr/>
          <p:nvPr/>
        </p:nvSpPr>
        <p:spPr>
          <a:xfrm>
            <a:off x="4204692" y="3409950"/>
            <a:ext cx="124941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prospect lists</a:t>
            </a:r>
            <a:endParaRPr lang="en-US" sz="938" dirty="0"/>
          </a:p>
        </p:txBody>
      </p:sp>
      <p:sp>
        <p:nvSpPr>
          <p:cNvPr id="38" name="Text 36"/>
          <p:cNvSpPr/>
          <p:nvPr/>
        </p:nvSpPr>
        <p:spPr>
          <a:xfrm>
            <a:off x="4038600" y="36385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39" name="Text 37"/>
          <p:cNvSpPr/>
          <p:nvPr/>
        </p:nvSpPr>
        <p:spPr>
          <a:xfrm>
            <a:off x="4204692" y="3638550"/>
            <a:ext cx="88002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 outreach</a:t>
            </a:r>
            <a:endParaRPr lang="en-US" sz="938" dirty="0"/>
          </a:p>
        </p:txBody>
      </p:sp>
      <p:sp>
        <p:nvSpPr>
          <p:cNvPr id="40" name="Text 38"/>
          <p:cNvSpPr/>
          <p:nvPr/>
        </p:nvSpPr>
        <p:spPr>
          <a:xfrm>
            <a:off x="4038600" y="38671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41" name="Text 39"/>
          <p:cNvSpPr/>
          <p:nvPr/>
        </p:nvSpPr>
        <p:spPr>
          <a:xfrm>
            <a:off x="4204692" y="3867150"/>
            <a:ext cx="64859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ups</a:t>
            </a:r>
            <a:endParaRPr lang="en-US" sz="938" dirty="0"/>
          </a:p>
        </p:txBody>
      </p:sp>
      <p:sp>
        <p:nvSpPr>
          <p:cNvPr id="42" name="Text 40"/>
          <p:cNvSpPr/>
          <p:nvPr/>
        </p:nvSpPr>
        <p:spPr>
          <a:xfrm>
            <a:off x="4038600" y="40957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43" name="Text 41"/>
          <p:cNvSpPr/>
          <p:nvPr/>
        </p:nvSpPr>
        <p:spPr>
          <a:xfrm>
            <a:off x="4204692" y="4095750"/>
            <a:ext cx="542479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Tracking</a:t>
            </a:r>
            <a:endParaRPr lang="en-US" sz="938" dirty="0"/>
          </a:p>
        </p:txBody>
      </p:sp>
      <p:sp>
        <p:nvSpPr>
          <p:cNvPr id="44" name="Text 42"/>
          <p:cNvSpPr/>
          <p:nvPr/>
        </p:nvSpPr>
        <p:spPr>
          <a:xfrm>
            <a:off x="4038600" y="43243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45" name="Text 43"/>
          <p:cNvSpPr/>
          <p:nvPr/>
        </p:nvSpPr>
        <p:spPr>
          <a:xfrm>
            <a:off x="4204692" y="4324350"/>
            <a:ext cx="175907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Generating qualified enquiries</a:t>
            </a:r>
            <a:endParaRPr lang="en-US" sz="938" dirty="0"/>
          </a:p>
        </p:txBody>
      </p:sp>
      <p:sp>
        <p:nvSpPr>
          <p:cNvPr id="46" name="Text 44"/>
          <p:cNvSpPr/>
          <p:nvPr/>
        </p:nvSpPr>
        <p:spPr>
          <a:xfrm>
            <a:off x="4038600" y="455295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47" name="Text 45"/>
          <p:cNvSpPr/>
          <p:nvPr/>
        </p:nvSpPr>
        <p:spPr>
          <a:xfrm>
            <a:off x="4204692" y="4552950"/>
            <a:ext cx="205588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Improving targeting and messaging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647700" y="5038725"/>
            <a:ext cx="6267450" cy="1466850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9" name="Shape 47"/>
          <p:cNvSpPr/>
          <p:nvPr/>
        </p:nvSpPr>
        <p:spPr>
          <a:xfrm>
            <a:off x="647700" y="5038725"/>
            <a:ext cx="6267450" cy="38100"/>
          </a:xfrm>
          <a:prstGeom prst="rect">
            <a:avLst/>
          </a:prstGeom>
          <a:solidFill>
            <a:srgbClr val="22314F"/>
          </a:solidFill>
          <a:ln/>
        </p:spPr>
      </p:sp>
      <p:sp>
        <p:nvSpPr>
          <p:cNvPr id="50" name="Text 48"/>
          <p:cNvSpPr/>
          <p:nvPr/>
        </p:nvSpPr>
        <p:spPr>
          <a:xfrm>
            <a:off x="819150" y="5229225"/>
            <a:ext cx="651700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2231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ONGOING MANAGEMENT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19150" y="548640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52" name="Text 50"/>
          <p:cNvSpPr/>
          <p:nvPr/>
        </p:nvSpPr>
        <p:spPr>
          <a:xfrm>
            <a:off x="985242" y="5486400"/>
            <a:ext cx="106263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CRM management</a:t>
            </a:r>
            <a:endParaRPr lang="en-US" sz="938" dirty="0"/>
          </a:p>
        </p:txBody>
      </p:sp>
      <p:sp>
        <p:nvSpPr>
          <p:cNvPr id="53" name="Text 51"/>
          <p:cNvSpPr/>
          <p:nvPr/>
        </p:nvSpPr>
        <p:spPr>
          <a:xfrm>
            <a:off x="3805237" y="548640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54" name="Text 52"/>
          <p:cNvSpPr/>
          <p:nvPr/>
        </p:nvSpPr>
        <p:spPr>
          <a:xfrm>
            <a:off x="3971330" y="5486400"/>
            <a:ext cx="94535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Website updates</a:t>
            </a:r>
            <a:endParaRPr lang="en-US" sz="938" dirty="0"/>
          </a:p>
        </p:txBody>
      </p:sp>
      <p:sp>
        <p:nvSpPr>
          <p:cNvPr id="55" name="Text 53"/>
          <p:cNvSpPr/>
          <p:nvPr/>
        </p:nvSpPr>
        <p:spPr>
          <a:xfrm>
            <a:off x="819150" y="571500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56" name="Text 54"/>
          <p:cNvSpPr/>
          <p:nvPr/>
        </p:nvSpPr>
        <p:spPr>
          <a:xfrm>
            <a:off x="985242" y="5715000"/>
            <a:ext cx="1262063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SEO and GEO updates</a:t>
            </a:r>
            <a:endParaRPr lang="en-US" sz="938" dirty="0"/>
          </a:p>
        </p:txBody>
      </p:sp>
      <p:sp>
        <p:nvSpPr>
          <p:cNvPr id="57" name="Text 55"/>
          <p:cNvSpPr/>
          <p:nvPr/>
        </p:nvSpPr>
        <p:spPr>
          <a:xfrm>
            <a:off x="3805237" y="571500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58" name="Text 56"/>
          <p:cNvSpPr/>
          <p:nvPr/>
        </p:nvSpPr>
        <p:spPr>
          <a:xfrm>
            <a:off x="3971330" y="5715000"/>
            <a:ext cx="185058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Google Business Profile updates</a:t>
            </a:r>
            <a:endParaRPr lang="en-US" sz="938" dirty="0"/>
          </a:p>
        </p:txBody>
      </p:sp>
      <p:sp>
        <p:nvSpPr>
          <p:cNvPr id="59" name="Text 57"/>
          <p:cNvSpPr/>
          <p:nvPr/>
        </p:nvSpPr>
        <p:spPr>
          <a:xfrm>
            <a:off x="819150" y="594360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60" name="Text 58"/>
          <p:cNvSpPr/>
          <p:nvPr/>
        </p:nvSpPr>
        <p:spPr>
          <a:xfrm>
            <a:off x="985242" y="5943600"/>
            <a:ext cx="1172766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management</a:t>
            </a:r>
            <a:endParaRPr lang="en-US" sz="938" dirty="0"/>
          </a:p>
        </p:txBody>
      </p:sp>
      <p:sp>
        <p:nvSpPr>
          <p:cNvPr id="61" name="Text 59"/>
          <p:cNvSpPr/>
          <p:nvPr/>
        </p:nvSpPr>
        <p:spPr>
          <a:xfrm>
            <a:off x="3805237" y="594360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62" name="Text 60"/>
          <p:cNvSpPr/>
          <p:nvPr/>
        </p:nvSpPr>
        <p:spPr>
          <a:xfrm>
            <a:off x="3971330" y="5943600"/>
            <a:ext cx="1216075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tracking</a:t>
            </a:r>
            <a:endParaRPr lang="en-US" sz="938" dirty="0"/>
          </a:p>
        </p:txBody>
      </p:sp>
      <p:sp>
        <p:nvSpPr>
          <p:cNvPr id="63" name="Text 61"/>
          <p:cNvSpPr/>
          <p:nvPr/>
        </p:nvSpPr>
        <p:spPr>
          <a:xfrm>
            <a:off x="819150" y="617220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64" name="Text 62"/>
          <p:cNvSpPr/>
          <p:nvPr/>
        </p:nvSpPr>
        <p:spPr>
          <a:xfrm>
            <a:off x="985242" y="6172200"/>
            <a:ext cx="605284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Reporting</a:t>
            </a:r>
            <a:endParaRPr lang="en-US" sz="938" dirty="0"/>
          </a:p>
        </p:txBody>
      </p:sp>
      <p:sp>
        <p:nvSpPr>
          <p:cNvPr id="65" name="Text 63"/>
          <p:cNvSpPr/>
          <p:nvPr/>
        </p:nvSpPr>
        <p:spPr>
          <a:xfrm>
            <a:off x="3805237" y="6172200"/>
            <a:ext cx="16609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4FA9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938" dirty="0"/>
          </a:p>
        </p:txBody>
      </p:sp>
      <p:sp>
        <p:nvSpPr>
          <p:cNvPr id="66" name="Text 64"/>
          <p:cNvSpPr/>
          <p:nvPr/>
        </p:nvSpPr>
        <p:spPr>
          <a:xfrm>
            <a:off x="3971330" y="6172200"/>
            <a:ext cx="148502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167"/>
              </a:lnSpc>
              <a:buNone/>
            </a:pPr>
            <a:r>
              <a:rPr lang="en-US" sz="938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Continuous improvement</a:t>
            </a:r>
            <a:endParaRPr lang="en-US" sz="938" dirty="0"/>
          </a:p>
        </p:txBody>
      </p:sp>
      <p:sp>
        <p:nvSpPr>
          <p:cNvPr id="67" name="Shape 65"/>
          <p:cNvSpPr/>
          <p:nvPr/>
        </p:nvSpPr>
        <p:spPr>
          <a:xfrm>
            <a:off x="647700" y="97821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68" name="Text 66"/>
          <p:cNvSpPr/>
          <p:nvPr/>
        </p:nvSpPr>
        <p:spPr>
          <a:xfrm>
            <a:off x="647700" y="9925050"/>
            <a:ext cx="142985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contact@lumelush.com</a:t>
            </a:r>
            <a:endParaRPr lang="en-US" sz="825" dirty="0"/>
          </a:p>
        </p:txBody>
      </p:sp>
      <p:sp>
        <p:nvSpPr>
          <p:cNvPr id="69" name="Text 67"/>
          <p:cNvSpPr/>
          <p:nvPr/>
        </p:nvSpPr>
        <p:spPr>
          <a:xfrm>
            <a:off x="6849219" y="9925050"/>
            <a:ext cx="14213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8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700" y="8667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3" name="Text 1"/>
          <p:cNvSpPr/>
          <p:nvPr/>
        </p:nvSpPr>
        <p:spPr>
          <a:xfrm>
            <a:off x="647700" y="609600"/>
            <a:ext cx="136420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 STUDIO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608290" y="609600"/>
            <a:ext cx="1437546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SALES PROCESS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647700" y="1304925"/>
            <a:ext cx="275779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500"/>
              </a:lnSpc>
              <a:buNone/>
            </a:pPr>
            <a:r>
              <a:rPr lang="en-US" sz="1050" b="1" spc="168" kern="0" dirty="0">
                <a:solidFill>
                  <a:srgbClr val="17A7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99679" y="1162050"/>
            <a:ext cx="372231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1282"/>
              </a:lnSpc>
              <a:buNone/>
            </a:pPr>
            <a:r>
              <a:rPr lang="en-US" sz="210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How The Sales Process Works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47700" y="1685925"/>
            <a:ext cx="689419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47"/>
              </a:lnSpc>
              <a:buNone/>
            </a:pPr>
            <a:r>
              <a:rPr lang="en-US" sz="1050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 and your sales team have different roles.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7700" y="2133600"/>
            <a:ext cx="328993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4825" y="245745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8551" y="258127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right businesses</a:t>
            </a:r>
            <a:endParaRPr lang="en-US" sz="975" dirty="0"/>
          </a:p>
        </p:txBody>
      </p:sp>
      <p:sp>
        <p:nvSpPr>
          <p:cNvPr id="11" name="Shape 9"/>
          <p:cNvSpPr/>
          <p:nvPr/>
        </p:nvSpPr>
        <p:spPr>
          <a:xfrm>
            <a:off x="2138363" y="2895600"/>
            <a:ext cx="9525" cy="152400"/>
          </a:xfrm>
          <a:prstGeom prst="rect">
            <a:avLst/>
          </a:prstGeom>
          <a:solidFill>
            <a:srgbClr val="C6D6FA"/>
          </a:solidFill>
          <a:ln/>
        </p:spPr>
      </p:sp>
      <p:sp>
        <p:nvSpPr>
          <p:cNvPr id="12" name="Shape 10"/>
          <p:cNvSpPr/>
          <p:nvPr/>
        </p:nvSpPr>
        <p:spPr>
          <a:xfrm>
            <a:off x="504825" y="304800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551" y="317182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them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2138363" y="3486150"/>
            <a:ext cx="9525" cy="152400"/>
          </a:xfrm>
          <a:prstGeom prst="rect">
            <a:avLst/>
          </a:prstGeom>
          <a:solidFill>
            <a:srgbClr val="C6D6FA"/>
          </a:solidFill>
          <a:ln/>
        </p:spPr>
      </p:sp>
      <p:sp>
        <p:nvSpPr>
          <p:cNvPr id="15" name="Shape 13"/>
          <p:cNvSpPr/>
          <p:nvPr/>
        </p:nvSpPr>
        <p:spPr>
          <a:xfrm>
            <a:off x="504825" y="363855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551" y="376237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up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2138363" y="4076700"/>
            <a:ext cx="9525" cy="152400"/>
          </a:xfrm>
          <a:prstGeom prst="rect">
            <a:avLst/>
          </a:prstGeom>
          <a:solidFill>
            <a:srgbClr val="C6D6FA"/>
          </a:solidFill>
          <a:ln/>
        </p:spPr>
      </p:sp>
      <p:sp>
        <p:nvSpPr>
          <p:cNvPr id="18" name="Shape 16"/>
          <p:cNvSpPr/>
          <p:nvPr/>
        </p:nvSpPr>
        <p:spPr>
          <a:xfrm>
            <a:off x="504825" y="422910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8551" y="435292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qualified enquiries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2138363" y="4667250"/>
            <a:ext cx="9525" cy="152400"/>
          </a:xfrm>
          <a:prstGeom prst="rect">
            <a:avLst/>
          </a:prstGeom>
          <a:solidFill>
            <a:srgbClr val="C6D6FA"/>
          </a:solidFill>
          <a:ln/>
        </p:spPr>
      </p:sp>
      <p:sp>
        <p:nvSpPr>
          <p:cNvPr id="21" name="Text 19"/>
          <p:cNvSpPr/>
          <p:nvPr/>
        </p:nvSpPr>
        <p:spPr>
          <a:xfrm>
            <a:off x="3924300" y="2133600"/>
            <a:ext cx="328993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SALES TEAM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81425" y="245745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75151" y="258127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Talk to the enquiry</a:t>
            </a:r>
            <a:endParaRPr lang="en-US" sz="975" dirty="0"/>
          </a:p>
        </p:txBody>
      </p:sp>
      <p:sp>
        <p:nvSpPr>
          <p:cNvPr id="24" name="Shape 22"/>
          <p:cNvSpPr/>
          <p:nvPr/>
        </p:nvSpPr>
        <p:spPr>
          <a:xfrm>
            <a:off x="5414963" y="2895600"/>
            <a:ext cx="9525" cy="152400"/>
          </a:xfrm>
          <a:prstGeom prst="rect">
            <a:avLst/>
          </a:prstGeom>
          <a:solidFill>
            <a:srgbClr val="B9E3CC"/>
          </a:solidFill>
          <a:ln/>
        </p:spPr>
      </p:sp>
      <p:sp>
        <p:nvSpPr>
          <p:cNvPr id="25" name="Shape 23"/>
          <p:cNvSpPr/>
          <p:nvPr/>
        </p:nvSpPr>
        <p:spPr>
          <a:xfrm>
            <a:off x="3781425" y="304800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75151" y="317182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 the requirement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14963" y="3486150"/>
            <a:ext cx="9525" cy="152400"/>
          </a:xfrm>
          <a:prstGeom prst="rect">
            <a:avLst/>
          </a:prstGeom>
          <a:solidFill>
            <a:srgbClr val="B9E3CC"/>
          </a:solidFill>
          <a:ln/>
        </p:spPr>
      </p:sp>
      <p:sp>
        <p:nvSpPr>
          <p:cNvPr id="28" name="Shape 26"/>
          <p:cNvSpPr/>
          <p:nvPr/>
        </p:nvSpPr>
        <p:spPr>
          <a:xfrm>
            <a:off x="3781425" y="363855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75151" y="376237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quotation</a:t>
            </a:r>
            <a:endParaRPr lang="en-US" sz="975" dirty="0"/>
          </a:p>
        </p:txBody>
      </p:sp>
      <p:sp>
        <p:nvSpPr>
          <p:cNvPr id="30" name="Shape 28"/>
          <p:cNvSpPr/>
          <p:nvPr/>
        </p:nvSpPr>
        <p:spPr>
          <a:xfrm>
            <a:off x="5414963" y="4076700"/>
            <a:ext cx="9525" cy="152400"/>
          </a:xfrm>
          <a:prstGeom prst="rect">
            <a:avLst/>
          </a:prstGeom>
          <a:solidFill>
            <a:srgbClr val="B9E3CC"/>
          </a:solidFill>
          <a:ln/>
        </p:spPr>
      </p:sp>
      <p:sp>
        <p:nvSpPr>
          <p:cNvPr id="31" name="Shape 29"/>
          <p:cNvSpPr/>
          <p:nvPr/>
        </p:nvSpPr>
        <p:spPr>
          <a:xfrm>
            <a:off x="3781425" y="422910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75151" y="435292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Negotiate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5414963" y="4667250"/>
            <a:ext cx="9525" cy="152400"/>
          </a:xfrm>
          <a:prstGeom prst="rect">
            <a:avLst/>
          </a:prstGeom>
          <a:solidFill>
            <a:srgbClr val="B9E3CC"/>
          </a:solidFill>
          <a:ln/>
        </p:spPr>
      </p:sp>
      <p:sp>
        <p:nvSpPr>
          <p:cNvPr id="34" name="Shape 32"/>
          <p:cNvSpPr/>
          <p:nvPr/>
        </p:nvSpPr>
        <p:spPr>
          <a:xfrm>
            <a:off x="3781425" y="4819650"/>
            <a:ext cx="3276600" cy="438150"/>
          </a:xfrm>
          <a:prstGeom prst="roundRect">
            <a:avLst>
              <a:gd name="adj" fmla="val 4348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75151" y="4943475"/>
            <a:ext cx="3089148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the customer</a:t>
            </a:r>
            <a:endParaRPr lang="en-US" sz="975" dirty="0"/>
          </a:p>
        </p:txBody>
      </p:sp>
      <p:sp>
        <p:nvSpPr>
          <p:cNvPr id="36" name="Shape 34"/>
          <p:cNvSpPr/>
          <p:nvPr/>
        </p:nvSpPr>
        <p:spPr>
          <a:xfrm>
            <a:off x="5414963" y="5257800"/>
            <a:ext cx="9525" cy="152400"/>
          </a:xfrm>
          <a:prstGeom prst="rect">
            <a:avLst/>
          </a:prstGeom>
          <a:solidFill>
            <a:srgbClr val="B9E3CC"/>
          </a:solidFill>
          <a:ln/>
        </p:spPr>
      </p:sp>
      <p:sp>
        <p:nvSpPr>
          <p:cNvPr id="37" name="Text 35"/>
          <p:cNvSpPr/>
          <p:nvPr/>
        </p:nvSpPr>
        <p:spPr>
          <a:xfrm>
            <a:off x="647700" y="5638800"/>
            <a:ext cx="645547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47"/>
              </a:lnSpc>
              <a:buNone/>
            </a:pPr>
            <a:r>
              <a:rPr lang="en-US" sz="1050" dirty="0">
                <a:solidFill>
                  <a:srgbClr val="5A65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means LumeLush focuses on creating opportunities, while your sales team focuses on turning those opportunities into customers.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647700" y="6315075"/>
            <a:ext cx="26164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053"/>
              </a:lnSpc>
              <a:buNone/>
            </a:pPr>
            <a:r>
              <a:rPr lang="en-US" sz="975" b="1" spc="156" kern="0" dirty="0">
                <a:solidFill>
                  <a:srgbClr val="17A7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975" dirty="0"/>
          </a:p>
        </p:txBody>
      </p:sp>
      <p:sp>
        <p:nvSpPr>
          <p:cNvPr id="39" name="Text 37"/>
          <p:cNvSpPr/>
          <p:nvPr/>
        </p:nvSpPr>
        <p:spPr>
          <a:xfrm>
            <a:off x="985540" y="6229350"/>
            <a:ext cx="25228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667"/>
              </a:lnSpc>
              <a:buNone/>
            </a:pPr>
            <a:r>
              <a:rPr lang="en-US" sz="165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Implementation Timeline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647700" y="7067550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41" name="Text 39"/>
          <p:cNvSpPr/>
          <p:nvPr/>
        </p:nvSpPr>
        <p:spPr>
          <a:xfrm>
            <a:off x="647700" y="6772275"/>
            <a:ext cx="88106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b="1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1</a:t>
            </a:r>
            <a:endParaRPr lang="en-US" sz="975" dirty="0"/>
          </a:p>
        </p:txBody>
      </p:sp>
      <p:sp>
        <p:nvSpPr>
          <p:cNvPr id="42" name="Text 40"/>
          <p:cNvSpPr/>
          <p:nvPr/>
        </p:nvSpPr>
        <p:spPr>
          <a:xfrm>
            <a:off x="1452563" y="6772275"/>
            <a:ext cx="60088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 the business, customers and target market.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647700" y="747712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44" name="Text 42"/>
          <p:cNvSpPr/>
          <p:nvPr/>
        </p:nvSpPr>
        <p:spPr>
          <a:xfrm>
            <a:off x="647700" y="7181850"/>
            <a:ext cx="88106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b="1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</a:t>
            </a:r>
            <a:endParaRPr lang="en-US" sz="975" dirty="0"/>
          </a:p>
        </p:txBody>
      </p:sp>
      <p:sp>
        <p:nvSpPr>
          <p:cNvPr id="45" name="Text 43"/>
          <p:cNvSpPr/>
          <p:nvPr/>
        </p:nvSpPr>
        <p:spPr>
          <a:xfrm>
            <a:off x="1452563" y="7181850"/>
            <a:ext cx="60088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 the customer database, CRM and customer growth system.</a:t>
            </a:r>
            <a:endParaRPr lang="en-US" sz="975" dirty="0"/>
          </a:p>
        </p:txBody>
      </p:sp>
      <p:sp>
        <p:nvSpPr>
          <p:cNvPr id="46" name="Shape 44"/>
          <p:cNvSpPr/>
          <p:nvPr/>
        </p:nvSpPr>
        <p:spPr>
          <a:xfrm>
            <a:off x="647700" y="7886700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47" name="Text 45"/>
          <p:cNvSpPr/>
          <p:nvPr/>
        </p:nvSpPr>
        <p:spPr>
          <a:xfrm>
            <a:off x="647700" y="7591425"/>
            <a:ext cx="88106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b="1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3</a:t>
            </a:r>
            <a:endParaRPr lang="en-US" sz="975" dirty="0"/>
          </a:p>
        </p:txBody>
      </p:sp>
      <p:sp>
        <p:nvSpPr>
          <p:cNvPr id="48" name="Text 46"/>
          <p:cNvSpPr/>
          <p:nvPr/>
        </p:nvSpPr>
        <p:spPr>
          <a:xfrm>
            <a:off x="1452563" y="7591425"/>
            <a:ext cx="60088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 up commercial prospecting and outreach.</a:t>
            </a:r>
            <a:endParaRPr lang="en-US" sz="975" dirty="0"/>
          </a:p>
        </p:txBody>
      </p:sp>
      <p:sp>
        <p:nvSpPr>
          <p:cNvPr id="49" name="Shape 47"/>
          <p:cNvSpPr/>
          <p:nvPr/>
        </p:nvSpPr>
        <p:spPr>
          <a:xfrm>
            <a:off x="647700" y="82962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50" name="Text 48"/>
          <p:cNvSpPr/>
          <p:nvPr/>
        </p:nvSpPr>
        <p:spPr>
          <a:xfrm>
            <a:off x="647700" y="8001000"/>
            <a:ext cx="88106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b="1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4</a:t>
            </a:r>
            <a:endParaRPr lang="en-US" sz="975" dirty="0"/>
          </a:p>
        </p:txBody>
      </p:sp>
      <p:sp>
        <p:nvSpPr>
          <p:cNvPr id="51" name="Text 49"/>
          <p:cNvSpPr/>
          <p:nvPr/>
        </p:nvSpPr>
        <p:spPr>
          <a:xfrm>
            <a:off x="1452563" y="8001000"/>
            <a:ext cx="60088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 the digital foundation, campaigns and system setup.</a:t>
            </a:r>
            <a:endParaRPr lang="en-US" sz="975" dirty="0"/>
          </a:p>
        </p:txBody>
      </p:sp>
      <p:sp>
        <p:nvSpPr>
          <p:cNvPr id="52" name="Shape 50"/>
          <p:cNvSpPr/>
          <p:nvPr/>
        </p:nvSpPr>
        <p:spPr>
          <a:xfrm>
            <a:off x="647700" y="8705850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53" name="Text 51"/>
          <p:cNvSpPr/>
          <p:nvPr/>
        </p:nvSpPr>
        <p:spPr>
          <a:xfrm>
            <a:off x="647700" y="8410575"/>
            <a:ext cx="881063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b="1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5</a:t>
            </a:r>
            <a:endParaRPr lang="en-US" sz="975" dirty="0"/>
          </a:p>
        </p:txBody>
      </p:sp>
      <p:sp>
        <p:nvSpPr>
          <p:cNvPr id="54" name="Text 52"/>
          <p:cNvSpPr/>
          <p:nvPr/>
        </p:nvSpPr>
        <p:spPr>
          <a:xfrm>
            <a:off x="1452563" y="8410575"/>
            <a:ext cx="600884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everything, make improvements and prepare the system for ongoing execution.</a:t>
            </a:r>
            <a:endParaRPr lang="en-US" sz="975" dirty="0"/>
          </a:p>
        </p:txBody>
      </p:sp>
      <p:sp>
        <p:nvSpPr>
          <p:cNvPr id="55" name="Text 53"/>
          <p:cNvSpPr/>
          <p:nvPr/>
        </p:nvSpPr>
        <p:spPr>
          <a:xfrm>
            <a:off x="647700" y="8829675"/>
            <a:ext cx="689419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timeline may change depending on the information, access and approvals provided by the client.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47700" y="97821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57" name="Text 55"/>
          <p:cNvSpPr/>
          <p:nvPr/>
        </p:nvSpPr>
        <p:spPr>
          <a:xfrm>
            <a:off x="647700" y="9925050"/>
            <a:ext cx="142985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contact@lumelush.com</a:t>
            </a:r>
            <a:endParaRPr lang="en-US" sz="825" dirty="0"/>
          </a:p>
        </p:txBody>
      </p:sp>
      <p:sp>
        <p:nvSpPr>
          <p:cNvPr id="58" name="Text 56"/>
          <p:cNvSpPr/>
          <p:nvPr/>
        </p:nvSpPr>
        <p:spPr>
          <a:xfrm>
            <a:off x="6845350" y="9925050"/>
            <a:ext cx="146000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8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700" y="8667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3" name="Text 1"/>
          <p:cNvSpPr/>
          <p:nvPr/>
        </p:nvSpPr>
        <p:spPr>
          <a:xfrm>
            <a:off x="647700" y="609600"/>
            <a:ext cx="1364203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 STUDIO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883771" y="609600"/>
            <a:ext cx="1107579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DESIGN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647700" y="1304925"/>
            <a:ext cx="261491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500"/>
              </a:lnSpc>
              <a:buNone/>
            </a:pPr>
            <a:r>
              <a:rPr lang="en-US" sz="1050" b="1" spc="168" kern="0" dirty="0">
                <a:solidFill>
                  <a:srgbClr val="17A7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85391" y="1162050"/>
            <a:ext cx="458394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1282"/>
              </a:lnSpc>
              <a:buNone/>
            </a:pPr>
            <a:r>
              <a:rPr lang="en-US" sz="210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This System Is Designed To Do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47700" y="1743075"/>
            <a:ext cx="328993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CUSTOMERS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7700" y="2047875"/>
            <a:ext cx="2990850" cy="485775"/>
          </a:xfrm>
          <a:prstGeom prst="roundRect">
            <a:avLst>
              <a:gd name="adj" fmla="val 3922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5712" y="2190750"/>
            <a:ext cx="279482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647"/>
              </a:lnSpc>
              <a:buNone/>
            </a:pPr>
            <a:r>
              <a:rPr lang="en-US" sz="1050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Customers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7700" y="2667000"/>
            <a:ext cx="2990850" cy="361950"/>
          </a:xfrm>
          <a:prstGeom prst="roundRect">
            <a:avLst>
              <a:gd name="adj" fmla="val 5263"/>
            </a:avLst>
          </a:prstGeom>
          <a:solidFill>
            <a:srgbClr val="F1FAF6"/>
          </a:solidFill>
          <a:ln/>
        </p:spPr>
      </p:sp>
      <p:sp>
        <p:nvSpPr>
          <p:cNvPr id="11" name="Text 9"/>
          <p:cNvSpPr/>
          <p:nvPr/>
        </p:nvSpPr>
        <p:spPr>
          <a:xfrm>
            <a:off x="762000" y="2752725"/>
            <a:ext cx="285197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Repeat Business</a:t>
            </a:r>
            <a:endParaRPr lang="en-US" sz="975" dirty="0"/>
          </a:p>
        </p:txBody>
      </p:sp>
      <p:sp>
        <p:nvSpPr>
          <p:cNvPr id="12" name="Shape 10"/>
          <p:cNvSpPr/>
          <p:nvPr/>
        </p:nvSpPr>
        <p:spPr>
          <a:xfrm>
            <a:off x="647700" y="3105150"/>
            <a:ext cx="2990850" cy="361950"/>
          </a:xfrm>
          <a:prstGeom prst="roundRect">
            <a:avLst>
              <a:gd name="adj" fmla="val 5263"/>
            </a:avLst>
          </a:prstGeom>
          <a:solidFill>
            <a:srgbClr val="F1FAF6"/>
          </a:solidFill>
          <a:ln/>
        </p:spPr>
      </p:sp>
      <p:sp>
        <p:nvSpPr>
          <p:cNvPr id="13" name="Text 11"/>
          <p:cNvSpPr/>
          <p:nvPr/>
        </p:nvSpPr>
        <p:spPr>
          <a:xfrm>
            <a:off x="762000" y="3190875"/>
            <a:ext cx="285197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AMC and Maintenance</a:t>
            </a:r>
            <a:endParaRPr lang="en-US" sz="975" dirty="0"/>
          </a:p>
        </p:txBody>
      </p:sp>
      <p:sp>
        <p:nvSpPr>
          <p:cNvPr id="14" name="Shape 12"/>
          <p:cNvSpPr/>
          <p:nvPr/>
        </p:nvSpPr>
        <p:spPr>
          <a:xfrm>
            <a:off x="647700" y="3543300"/>
            <a:ext cx="2990850" cy="361950"/>
          </a:xfrm>
          <a:prstGeom prst="roundRect">
            <a:avLst>
              <a:gd name="adj" fmla="val 5263"/>
            </a:avLst>
          </a:prstGeom>
          <a:solidFill>
            <a:srgbClr val="F1FAF6"/>
          </a:solidFill>
          <a:ln/>
        </p:spPr>
      </p:sp>
      <p:sp>
        <p:nvSpPr>
          <p:cNvPr id="15" name="Text 13"/>
          <p:cNvSpPr/>
          <p:nvPr/>
        </p:nvSpPr>
        <p:spPr>
          <a:xfrm>
            <a:off x="762000" y="3629025"/>
            <a:ext cx="285197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Reactivation</a:t>
            </a:r>
            <a:endParaRPr lang="en-US" sz="975" dirty="0"/>
          </a:p>
        </p:txBody>
      </p:sp>
      <p:sp>
        <p:nvSpPr>
          <p:cNvPr id="16" name="Shape 14"/>
          <p:cNvSpPr/>
          <p:nvPr/>
        </p:nvSpPr>
        <p:spPr>
          <a:xfrm>
            <a:off x="647700" y="3981450"/>
            <a:ext cx="2990850" cy="361950"/>
          </a:xfrm>
          <a:prstGeom prst="roundRect">
            <a:avLst>
              <a:gd name="adj" fmla="val 5263"/>
            </a:avLst>
          </a:prstGeom>
          <a:solidFill>
            <a:srgbClr val="F1FAF6"/>
          </a:solidFill>
          <a:ln/>
        </p:spPr>
      </p:sp>
      <p:sp>
        <p:nvSpPr>
          <p:cNvPr id="17" name="Text 15"/>
          <p:cNvSpPr/>
          <p:nvPr/>
        </p:nvSpPr>
        <p:spPr>
          <a:xfrm>
            <a:off x="762000" y="4067175"/>
            <a:ext cx="285197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Referrals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3924300" y="1743075"/>
            <a:ext cx="328993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900" spc="144" kern="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COMMERCIAL CUSTOMERS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924300" y="2047875"/>
            <a:ext cx="2990850" cy="485775"/>
          </a:xfrm>
          <a:prstGeom prst="roundRect">
            <a:avLst>
              <a:gd name="adj" fmla="val 3922"/>
            </a:avLst>
          </a:prstGeom>
          <a:solidFill>
            <a:srgbClr val="F1FAF6"/>
          </a:solidFill>
          <a:ln w="9525">
            <a:solidFill>
              <a:srgbClr val="B9E3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22312" y="2190750"/>
            <a:ext cx="2794826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7647"/>
              </a:lnSpc>
              <a:buNone/>
            </a:pPr>
            <a:r>
              <a:rPr lang="en-US" sz="1050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Businesses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924300" y="2667000"/>
            <a:ext cx="2990850" cy="361950"/>
          </a:xfrm>
          <a:prstGeom prst="roundRect">
            <a:avLst>
              <a:gd name="adj" fmla="val 5263"/>
            </a:avLst>
          </a:prstGeom>
          <a:solidFill>
            <a:srgbClr val="F4F7FE"/>
          </a:solidFill>
          <a:ln/>
        </p:spPr>
      </p:sp>
      <p:sp>
        <p:nvSpPr>
          <p:cNvPr id="22" name="Text 20"/>
          <p:cNvSpPr/>
          <p:nvPr/>
        </p:nvSpPr>
        <p:spPr>
          <a:xfrm>
            <a:off x="4038600" y="2752725"/>
            <a:ext cx="285197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Decision Makers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3924300" y="3105150"/>
            <a:ext cx="2990850" cy="361950"/>
          </a:xfrm>
          <a:prstGeom prst="roundRect">
            <a:avLst>
              <a:gd name="adj" fmla="val 5263"/>
            </a:avLst>
          </a:prstGeom>
          <a:solidFill>
            <a:srgbClr val="F4F7FE"/>
          </a:solidFill>
          <a:ln/>
        </p:spPr>
      </p:sp>
      <p:sp>
        <p:nvSpPr>
          <p:cNvPr id="24" name="Text 22"/>
          <p:cNvSpPr/>
          <p:nvPr/>
        </p:nvSpPr>
        <p:spPr>
          <a:xfrm>
            <a:off x="4038600" y="3190875"/>
            <a:ext cx="285197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Outreach</a:t>
            </a:r>
            <a:endParaRPr lang="en-US" sz="975" dirty="0"/>
          </a:p>
        </p:txBody>
      </p:sp>
      <p:sp>
        <p:nvSpPr>
          <p:cNvPr id="25" name="Shape 23"/>
          <p:cNvSpPr/>
          <p:nvPr/>
        </p:nvSpPr>
        <p:spPr>
          <a:xfrm>
            <a:off x="3924300" y="3543300"/>
            <a:ext cx="2990850" cy="361950"/>
          </a:xfrm>
          <a:prstGeom prst="roundRect">
            <a:avLst>
              <a:gd name="adj" fmla="val 5263"/>
            </a:avLst>
          </a:prstGeom>
          <a:solidFill>
            <a:srgbClr val="F4F7FE"/>
          </a:solidFill>
          <a:ln/>
        </p:spPr>
      </p:sp>
      <p:sp>
        <p:nvSpPr>
          <p:cNvPr id="26" name="Text 24"/>
          <p:cNvSpPr/>
          <p:nvPr/>
        </p:nvSpPr>
        <p:spPr>
          <a:xfrm>
            <a:off x="4038600" y="3629025"/>
            <a:ext cx="285197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Follow Up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3924300" y="3981450"/>
            <a:ext cx="2990850" cy="361950"/>
          </a:xfrm>
          <a:prstGeom prst="roundRect">
            <a:avLst>
              <a:gd name="adj" fmla="val 5263"/>
            </a:avLst>
          </a:prstGeom>
          <a:solidFill>
            <a:srgbClr val="F4F7FE"/>
          </a:solidFill>
          <a:ln/>
        </p:spPr>
      </p:sp>
      <p:sp>
        <p:nvSpPr>
          <p:cNvPr id="28" name="Text 26"/>
          <p:cNvSpPr/>
          <p:nvPr/>
        </p:nvSpPr>
        <p:spPr>
          <a:xfrm>
            <a:off x="4038600" y="4067175"/>
            <a:ext cx="285197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333"/>
              </a:lnSpc>
              <a:buNone/>
            </a:pPr>
            <a:r>
              <a:rPr lang="en-US" sz="975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 Qualified Enquiries</a:t>
            </a:r>
            <a:endParaRPr lang="en-US" sz="975" dirty="0"/>
          </a:p>
        </p:txBody>
      </p:sp>
      <p:sp>
        <p:nvSpPr>
          <p:cNvPr id="29" name="Text 27"/>
          <p:cNvSpPr/>
          <p:nvPr/>
        </p:nvSpPr>
        <p:spPr>
          <a:xfrm>
            <a:off x="647700" y="4591050"/>
            <a:ext cx="689419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7647"/>
              </a:lnSpc>
              <a:buNone/>
            </a:pPr>
            <a:r>
              <a:rPr lang="en-US" sz="1050" dirty="0">
                <a:solidFill>
                  <a:srgbClr val="5A65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Both channels work together to give your sales team more opportunities to convert.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7700" y="9782175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31" name="Text 29"/>
          <p:cNvSpPr/>
          <p:nvPr/>
        </p:nvSpPr>
        <p:spPr>
          <a:xfrm>
            <a:off x="647700" y="9925050"/>
            <a:ext cx="1429851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contact@lumelush.com</a:t>
            </a:r>
            <a:endParaRPr lang="en-US" sz="825" dirty="0"/>
          </a:p>
        </p:txBody>
      </p:sp>
      <p:sp>
        <p:nvSpPr>
          <p:cNvPr id="32" name="Text 30"/>
          <p:cNvSpPr/>
          <p:nvPr/>
        </p:nvSpPr>
        <p:spPr>
          <a:xfrm>
            <a:off x="6851898" y="9925050"/>
            <a:ext cx="139452" cy="200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786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8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7700" y="857250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3" name="Text 1"/>
          <p:cNvSpPr/>
          <p:nvPr/>
        </p:nvSpPr>
        <p:spPr>
          <a:xfrm>
            <a:off x="647700" y="609600"/>
            <a:ext cx="1364203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57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LUMELUSH STUDIO</a:t>
            </a:r>
            <a:endParaRPr lang="en-US" sz="825" dirty="0"/>
          </a:p>
        </p:txBody>
      </p:sp>
      <p:sp>
        <p:nvSpPr>
          <p:cNvPr id="4" name="Text 2"/>
          <p:cNvSpPr/>
          <p:nvPr/>
        </p:nvSpPr>
        <p:spPr>
          <a:xfrm>
            <a:off x="5204222" y="609600"/>
            <a:ext cx="1882021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57"/>
              </a:lnSpc>
              <a:buNone/>
            </a:pPr>
            <a:r>
              <a:rPr lang="en-US" sz="825" spc="116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&amp; NEXT STEP</a:t>
            </a:r>
            <a:endParaRPr lang="en-US" sz="825" dirty="0"/>
          </a:p>
        </p:txBody>
      </p:sp>
      <p:sp>
        <p:nvSpPr>
          <p:cNvPr id="5" name="Text 3"/>
          <p:cNvSpPr/>
          <p:nvPr/>
        </p:nvSpPr>
        <p:spPr>
          <a:xfrm>
            <a:off x="647700" y="1181100"/>
            <a:ext cx="26164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632"/>
              </a:lnSpc>
              <a:buNone/>
            </a:pPr>
            <a:r>
              <a:rPr lang="en-US" sz="975" b="1" spc="156" kern="0" dirty="0">
                <a:solidFill>
                  <a:srgbClr val="17A7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08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985540" y="1085850"/>
            <a:ext cx="119887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1290"/>
              </a:lnSpc>
              <a:buNone/>
            </a:pPr>
            <a:r>
              <a:rPr lang="en-US" sz="1725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Investment</a:t>
            </a:r>
            <a:endParaRPr lang="en-US" sz="1725" dirty="0"/>
          </a:p>
        </p:txBody>
      </p:sp>
      <p:sp>
        <p:nvSpPr>
          <p:cNvPr id="7" name="Shape 5"/>
          <p:cNvSpPr/>
          <p:nvPr/>
        </p:nvSpPr>
        <p:spPr>
          <a:xfrm>
            <a:off x="647700" y="1552575"/>
            <a:ext cx="6267450" cy="1123950"/>
          </a:xfrm>
          <a:prstGeom prst="rect">
            <a:avLst/>
          </a:prstGeom>
          <a:gradFill rotWithShape="1">
            <a:gsLst>
              <a:gs pos="0">
                <a:srgbClr val="F4F7FE">
                  <a:alpha val="100000"/>
                </a:srgbClr>
              </a:gs>
              <a:gs pos="100000">
                <a:srgbClr val="F1FAF6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8" name="Shape 6"/>
          <p:cNvSpPr/>
          <p:nvPr/>
        </p:nvSpPr>
        <p:spPr>
          <a:xfrm>
            <a:off x="647700" y="1552575"/>
            <a:ext cx="6267450" cy="38100"/>
          </a:xfrm>
          <a:prstGeom prst="rect">
            <a:avLst/>
          </a:prstGeom>
          <a:solidFill>
            <a:srgbClr val="1A56E8"/>
          </a:solidFill>
          <a:ln/>
        </p:spPr>
      </p:sp>
      <p:sp>
        <p:nvSpPr>
          <p:cNvPr id="9" name="Text 7"/>
          <p:cNvSpPr/>
          <p:nvPr/>
        </p:nvSpPr>
        <p:spPr>
          <a:xfrm>
            <a:off x="838200" y="1743075"/>
            <a:ext cx="647509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57"/>
              </a:lnSpc>
              <a:buNone/>
            </a:pPr>
            <a:r>
              <a:rPr lang="en-US" sz="825" spc="132" kern="0" dirty="0">
                <a:solidFill>
                  <a:srgbClr val="1A56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SYSTEM SETUP</a:t>
            </a:r>
            <a:endParaRPr lang="en-US" sz="825" dirty="0"/>
          </a:p>
        </p:txBody>
      </p:sp>
      <p:sp>
        <p:nvSpPr>
          <p:cNvPr id="10" name="Text 8"/>
          <p:cNvSpPr/>
          <p:nvPr/>
        </p:nvSpPr>
        <p:spPr>
          <a:xfrm>
            <a:off x="838200" y="1971675"/>
            <a:ext cx="1352089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171"/>
              </a:lnSpc>
              <a:buNone/>
            </a:pPr>
            <a:r>
              <a:rPr lang="en-US" sz="225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₹1,25,000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2181671" y="2095500"/>
            <a:ext cx="881807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75" dirty="0">
                <a:solidFill>
                  <a:srgbClr val="5A65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time setup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838200" y="2352675"/>
            <a:ext cx="647509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38" dirty="0">
                <a:solidFill>
                  <a:srgbClr val="3B47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includes building and configuring the Growth System described in this proposal.</a:t>
            </a:r>
            <a:endParaRPr lang="en-US" sz="938" dirty="0"/>
          </a:p>
        </p:txBody>
      </p:sp>
      <p:sp>
        <p:nvSpPr>
          <p:cNvPr id="13" name="Shape 11"/>
          <p:cNvSpPr/>
          <p:nvPr/>
        </p:nvSpPr>
        <p:spPr>
          <a:xfrm>
            <a:off x="647700" y="2809875"/>
            <a:ext cx="6267450" cy="1295400"/>
          </a:xfrm>
          <a:prstGeom prst="rect">
            <a:avLst/>
          </a:prstGeom>
          <a:gradFill rotWithShape="1">
            <a:gsLst>
              <a:gs pos="0">
                <a:srgbClr val="F1FAF6">
                  <a:alpha val="100000"/>
                </a:srgbClr>
              </a:gs>
              <a:gs pos="100000">
                <a:srgbClr val="F4F7FE">
                  <a:alpha val="100000"/>
                </a:srgbClr>
              </a:gs>
            </a:gsLst>
            <a:lin ang="2700000" scaled="0"/>
          </a:gradFill>
          <a:ln/>
        </p:spPr>
      </p:sp>
      <p:sp>
        <p:nvSpPr>
          <p:cNvPr id="14" name="Shape 12"/>
          <p:cNvSpPr/>
          <p:nvPr/>
        </p:nvSpPr>
        <p:spPr>
          <a:xfrm>
            <a:off x="647700" y="2809875"/>
            <a:ext cx="6267450" cy="38100"/>
          </a:xfrm>
          <a:prstGeom prst="rect">
            <a:avLst/>
          </a:prstGeom>
          <a:solidFill>
            <a:srgbClr val="14543C"/>
          </a:solidFill>
          <a:ln/>
        </p:spPr>
      </p:sp>
      <p:sp>
        <p:nvSpPr>
          <p:cNvPr id="15" name="Text 13"/>
          <p:cNvSpPr/>
          <p:nvPr/>
        </p:nvSpPr>
        <p:spPr>
          <a:xfrm>
            <a:off x="838200" y="3000375"/>
            <a:ext cx="647509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57"/>
              </a:lnSpc>
              <a:buNone/>
            </a:pPr>
            <a:r>
              <a:rPr lang="en-US" sz="825" spc="132" kern="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EXECUTION</a:t>
            </a:r>
            <a:endParaRPr lang="en-US" sz="825" dirty="0"/>
          </a:p>
        </p:txBody>
      </p:sp>
      <p:sp>
        <p:nvSpPr>
          <p:cNvPr id="16" name="Text 14"/>
          <p:cNvSpPr/>
          <p:nvPr/>
        </p:nvSpPr>
        <p:spPr>
          <a:xfrm>
            <a:off x="838200" y="3228975"/>
            <a:ext cx="111115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3171"/>
              </a:lnSpc>
              <a:buNone/>
            </a:pPr>
            <a:r>
              <a:rPr lang="en-US" sz="2250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₹35,000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987451" y="3352800"/>
            <a:ext cx="651272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975" dirty="0">
                <a:solidFill>
                  <a:srgbClr val="5A65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month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838200" y="3609975"/>
            <a:ext cx="606304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38" dirty="0">
                <a:solidFill>
                  <a:srgbClr val="3B47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covers the ongoing work required to run the system, including customer campaigns, commercial prospecting, outreach, follow ups, enquiry generation, CRM management, tracking and improvement.</a:t>
            </a:r>
            <a:endParaRPr lang="en-US" sz="938" dirty="0"/>
          </a:p>
        </p:txBody>
      </p:sp>
      <p:sp>
        <p:nvSpPr>
          <p:cNvPr id="19" name="Shape 17"/>
          <p:cNvSpPr/>
          <p:nvPr/>
        </p:nvSpPr>
        <p:spPr>
          <a:xfrm>
            <a:off x="647700" y="4238625"/>
            <a:ext cx="6267450" cy="466725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47700" y="4238625"/>
            <a:ext cx="6267450" cy="38100"/>
          </a:xfrm>
          <a:prstGeom prst="rect">
            <a:avLst/>
          </a:prstGeom>
          <a:solidFill>
            <a:srgbClr val="17B0A8"/>
          </a:solidFill>
          <a:ln/>
        </p:spPr>
      </p:sp>
      <p:sp>
        <p:nvSpPr>
          <p:cNvPr id="21" name="Text 19"/>
          <p:cNvSpPr/>
          <p:nvPr/>
        </p:nvSpPr>
        <p:spPr>
          <a:xfrm>
            <a:off x="1333015" y="4438650"/>
            <a:ext cx="4896819" cy="1619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1154"/>
              </a:lnSpc>
              <a:buNone/>
            </a:pPr>
            <a:r>
              <a:rPr lang="en-US" sz="788" spc="142" kern="0" dirty="0">
                <a:solidFill>
                  <a:srgbClr val="145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BONUS — DIGITAL FOUNDATION INCLUDED AT NO ADDITIONAL COST</a:t>
            </a:r>
            <a:endParaRPr lang="en-US" sz="788" dirty="0"/>
          </a:p>
        </p:txBody>
      </p:sp>
      <p:sp>
        <p:nvSpPr>
          <p:cNvPr id="22" name="Text 20"/>
          <p:cNvSpPr/>
          <p:nvPr/>
        </p:nvSpPr>
        <p:spPr>
          <a:xfrm>
            <a:off x="647700" y="5000625"/>
            <a:ext cx="260598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632"/>
              </a:lnSpc>
              <a:buNone/>
            </a:pPr>
            <a:r>
              <a:rPr lang="en-US" sz="975" b="1" spc="156" kern="0" dirty="0">
                <a:solidFill>
                  <a:srgbClr val="17A79C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09</a:t>
            </a:r>
            <a:endParaRPr lang="en-US" sz="975" dirty="0"/>
          </a:p>
        </p:txBody>
      </p:sp>
      <p:sp>
        <p:nvSpPr>
          <p:cNvPr id="23" name="Text 21"/>
          <p:cNvSpPr/>
          <p:nvPr/>
        </p:nvSpPr>
        <p:spPr>
          <a:xfrm>
            <a:off x="984498" y="4905375"/>
            <a:ext cx="1021641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1290"/>
              </a:lnSpc>
              <a:buNone/>
            </a:pPr>
            <a:r>
              <a:rPr lang="en-US" sz="1725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Next Step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647700" y="5314950"/>
            <a:ext cx="645547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1050" dirty="0">
                <a:solidFill>
                  <a:srgbClr val="2A32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Once you have reviewed this proposal, we will discuss the system and your business in more detail. If we decide to move forward, the next steps are: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76015" y="5848350"/>
            <a:ext cx="1732806" cy="381000"/>
          </a:xfrm>
          <a:prstGeom prst="roundRect">
            <a:avLst>
              <a:gd name="adj" fmla="val 5000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1265" y="5953125"/>
            <a:ext cx="154230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Proposal and Terms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85021" y="5938838"/>
            <a:ext cx="16192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105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994571" y="5848350"/>
            <a:ext cx="1147465" cy="381000"/>
          </a:xfrm>
          <a:prstGeom prst="roundRect">
            <a:avLst>
              <a:gd name="adj" fmla="val 5000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89821" y="5953125"/>
            <a:ext cx="95696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Proforma Invoice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218236" y="5938838"/>
            <a:ext cx="16192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105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427786" y="5848350"/>
            <a:ext cx="713184" cy="381000"/>
          </a:xfrm>
          <a:prstGeom prst="roundRect">
            <a:avLst>
              <a:gd name="adj" fmla="val 5000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23036" y="5953125"/>
            <a:ext cx="522684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Payment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17170" y="5938838"/>
            <a:ext cx="16192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105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26720" y="5848350"/>
            <a:ext cx="874216" cy="381000"/>
          </a:xfrm>
          <a:prstGeom prst="roundRect">
            <a:avLst>
              <a:gd name="adj" fmla="val 5000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21970" y="5953125"/>
            <a:ext cx="683716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Onboarding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77136" y="5938838"/>
            <a:ext cx="161925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529"/>
              </a:lnSpc>
              <a:buNone/>
            </a:pPr>
            <a:r>
              <a:rPr lang="en-US" sz="105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37458" y="6229350"/>
            <a:ext cx="1087785" cy="381000"/>
          </a:xfrm>
          <a:prstGeom prst="roundRect">
            <a:avLst>
              <a:gd name="adj" fmla="val 5000"/>
            </a:avLst>
          </a:prstGeom>
          <a:solidFill>
            <a:srgbClr val="F4F7FE"/>
          </a:solidFill>
          <a:ln w="9525">
            <a:solidFill>
              <a:srgbClr val="C6D6F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32708" y="6334125"/>
            <a:ext cx="8972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B24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47700" y="9020175"/>
            <a:ext cx="1238250" cy="47625"/>
          </a:xfrm>
          <a:prstGeom prst="rect">
            <a:avLst/>
          </a:prstGeom>
          <a:gradFill rotWithShape="1">
            <a:gsLst>
              <a:gs pos="0">
                <a:srgbClr val="1A56E8">
                  <a:alpha val="100000"/>
                </a:srgbClr>
              </a:gs>
              <a:gs pos="42000">
                <a:srgbClr val="17B0A8">
                  <a:alpha val="100000"/>
                </a:srgbClr>
              </a:gs>
              <a:gs pos="72000">
                <a:srgbClr val="6FBF8F">
                  <a:alpha val="100000"/>
                </a:srgbClr>
              </a:gs>
              <a:gs pos="100000">
                <a:srgbClr val="14543C">
                  <a:alpha val="100000"/>
                </a:srgbClr>
              </a:gs>
            </a:gsLst>
            <a:lin ang="0" scaled="0"/>
          </a:gradFill>
          <a:ln/>
        </p:spPr>
      </p:sp>
      <p:sp>
        <p:nvSpPr>
          <p:cNvPr id="40" name="Text 38"/>
          <p:cNvSpPr/>
          <p:nvPr/>
        </p:nvSpPr>
        <p:spPr>
          <a:xfrm>
            <a:off x="647700" y="9201150"/>
            <a:ext cx="689419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615"/>
              </a:lnSpc>
              <a:buNone/>
            </a:pPr>
            <a:r>
              <a:rPr lang="en-US" sz="1425" b="1" dirty="0">
                <a:solidFill>
                  <a:srgbClr val="1B243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LumeLush Studio</a:t>
            </a:r>
            <a:endParaRPr lang="en-US" sz="1425" dirty="0"/>
          </a:p>
        </p:txBody>
      </p:sp>
      <p:sp>
        <p:nvSpPr>
          <p:cNvPr id="41" name="Text 39"/>
          <p:cNvSpPr/>
          <p:nvPr/>
        </p:nvSpPr>
        <p:spPr>
          <a:xfrm>
            <a:off x="647700" y="9525000"/>
            <a:ext cx="689419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38" i="1" dirty="0">
                <a:solidFill>
                  <a:srgbClr val="5A65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growth partner for Energy, Infrastructure and Technical Service Businesses.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47700" y="9810750"/>
            <a:ext cx="6267450" cy="9525"/>
          </a:xfrm>
          <a:prstGeom prst="rect">
            <a:avLst/>
          </a:prstGeom>
          <a:solidFill>
            <a:srgbClr val="E3E7EE"/>
          </a:solidFill>
          <a:ln/>
        </p:spPr>
      </p:sp>
      <p:sp>
        <p:nvSpPr>
          <p:cNvPr id="43" name="Text 41"/>
          <p:cNvSpPr/>
          <p:nvPr/>
        </p:nvSpPr>
        <p:spPr>
          <a:xfrm>
            <a:off x="647700" y="9934575"/>
            <a:ext cx="2589088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57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contact@lumelush.com · +91 81059 93165</a:t>
            </a:r>
            <a:endParaRPr lang="en-US" sz="825" dirty="0"/>
          </a:p>
        </p:txBody>
      </p:sp>
      <p:sp>
        <p:nvSpPr>
          <p:cNvPr id="44" name="Text 42"/>
          <p:cNvSpPr/>
          <p:nvPr/>
        </p:nvSpPr>
        <p:spPr>
          <a:xfrm>
            <a:off x="6842075" y="9934575"/>
            <a:ext cx="149275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57"/>
              </a:lnSpc>
              <a:buNone/>
            </a:pPr>
            <a:r>
              <a:rPr lang="en-US" sz="825" spc="83" kern="0" dirty="0">
                <a:solidFill>
                  <a:srgbClr val="8894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8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2026-09-22T07:32:30Z</dcterms:created>
  <dcterms:modified xsi:type="dcterms:W3CDTF">2026-09-22T07:32:30Z</dcterms:modified>
</cp:coreProperties>
</file>