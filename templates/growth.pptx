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21374100" cy="30276800"/>
  <p:notesSz cx="6858000" cy="9144000"/>
  <p:embeddedFontLst>
    <p:embeddedFont>
      <p:font typeface="Georgia" charset="1" panose="02040502050405020303"/>
      <p:regular r:id="rId22"/>
    </p:embeddedFont>
    <p:embeddedFont>
      <p:font typeface="Playfair Display Bold" charset="1" panose="00000000000000000000"/>
      <p:regular r:id="rId23"/>
    </p:embeddedFont>
    <p:embeddedFont>
      <p:font typeface="Georgia Italics" charset="1" panose="02040502050405090303"/>
      <p:regular r:id="rId28"/>
    </p:embeddedFont>
    <p:embeddedFont>
      <p:font typeface="Georgia Bold" charset="1" panose="020408020504050202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fonts/font31.fntdata" Type="http://schemas.openxmlformats.org/officeDocument/2006/relationships/font"/><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 Id="rId4" Type="http://schemas.openxmlformats.org/officeDocument/2006/relationships/hyperlink" Target="https://lumelush-terms-mahakkhandelwal68-3907s-projects.vercel.app" TargetMode="Externa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09398" y="2102368"/>
            <a:ext cx="4582087" cy="4582087"/>
            <a:chOff x="0" y="0"/>
            <a:chExt cx="6109449" cy="6109449"/>
          </a:xfrm>
        </p:grpSpPr>
        <p:sp>
          <p:nvSpPr>
            <p:cNvPr name="Freeform 3" id="3" descr="preencoded.png"/>
            <p:cNvSpPr/>
            <p:nvPr/>
          </p:nvSpPr>
          <p:spPr>
            <a:xfrm flipH="false" flipV="false" rot="0">
              <a:off x="0" y="0"/>
              <a:ext cx="6109462" cy="6109462"/>
            </a:xfrm>
            <a:custGeom>
              <a:avLst/>
              <a:gdLst/>
              <a:ahLst/>
              <a:cxnLst/>
              <a:rect r="r" b="b" t="t" l="l"/>
              <a:pathLst>
                <a:path h="6109462" w="6109462">
                  <a:moveTo>
                    <a:pt x="0" y="0"/>
                  </a:moveTo>
                  <a:lnTo>
                    <a:pt x="6109462" y="0"/>
                  </a:lnTo>
                  <a:lnTo>
                    <a:pt x="6109462" y="6109462"/>
                  </a:lnTo>
                  <a:lnTo>
                    <a:pt x="0" y="6109462"/>
                  </a:lnTo>
                  <a:lnTo>
                    <a:pt x="0" y="0"/>
                  </a:lnTo>
                  <a:close/>
                </a:path>
              </a:pathLst>
            </a:custGeom>
            <a:blipFill>
              <a:blip r:embed="rId3"/>
              <a:stretch>
                <a:fillRect l="0" t="0" r="0" b="0"/>
              </a:stretch>
            </a:blipFill>
          </p:spPr>
        </p:sp>
      </p:grpSp>
      <p:grpSp>
        <p:nvGrpSpPr>
          <p:cNvPr name="Group 4" id="4"/>
          <p:cNvGrpSpPr/>
          <p:nvPr/>
        </p:nvGrpSpPr>
        <p:grpSpPr>
          <a:xfrm rot="0">
            <a:off x="1832839" y="7600874"/>
            <a:ext cx="17735379" cy="161725"/>
            <a:chOff x="0" y="0"/>
            <a:chExt cx="23647171" cy="215633"/>
          </a:xfrm>
        </p:grpSpPr>
        <p:sp>
          <p:nvSpPr>
            <p:cNvPr name="Freeform 5" id="5"/>
            <p:cNvSpPr/>
            <p:nvPr/>
          </p:nvSpPr>
          <p:spPr>
            <a:xfrm flipH="false" flipV="false" rot="0">
              <a:off x="0" y="0"/>
              <a:ext cx="23647146" cy="215646"/>
            </a:xfrm>
            <a:custGeom>
              <a:avLst/>
              <a:gdLst/>
              <a:ahLst/>
              <a:cxnLst/>
              <a:rect r="r" b="b" t="t" l="l"/>
              <a:pathLst>
                <a:path h="215646" w="23647146">
                  <a:moveTo>
                    <a:pt x="0" y="0"/>
                  </a:moveTo>
                  <a:lnTo>
                    <a:pt x="23647146" y="0"/>
                  </a:lnTo>
                  <a:lnTo>
                    <a:pt x="23647146" y="215646"/>
                  </a:lnTo>
                  <a:lnTo>
                    <a:pt x="0" y="215646"/>
                  </a:lnTo>
                  <a:close/>
                </a:path>
              </a:pathLst>
            </a:custGeom>
            <a:gradFill rotWithShape="true">
              <a:gsLst>
                <a:gs pos="0">
                  <a:srgbClr val="1A56E8">
                    <a:alpha val="100000"/>
                  </a:srgbClr>
                </a:gs>
                <a:gs pos="42000">
                  <a:srgbClr val="17B0A8">
                    <a:alpha val="100000"/>
                  </a:srgbClr>
                </a:gs>
                <a:gs pos="72000">
                  <a:srgbClr val="6FBF8F">
                    <a:alpha val="100000"/>
                  </a:srgbClr>
                </a:gs>
                <a:gs pos="100000">
                  <a:srgbClr val="14543C">
                    <a:alpha val="100000"/>
                  </a:srgbClr>
                </a:gs>
              </a:gsLst>
              <a:lin ang="0"/>
            </a:gradFill>
          </p:spPr>
        </p:sp>
      </p:grpSp>
      <p:sp>
        <p:nvSpPr>
          <p:cNvPr name="TextBox 6" id="6"/>
          <p:cNvSpPr txBox="true"/>
          <p:nvPr/>
        </p:nvSpPr>
        <p:spPr>
          <a:xfrm rot="0">
            <a:off x="1858232" y="8694896"/>
            <a:ext cx="19458118" cy="524751"/>
          </a:xfrm>
          <a:prstGeom prst="rect">
            <a:avLst/>
          </a:prstGeom>
        </p:spPr>
        <p:txBody>
          <a:bodyPr anchor="t" rtlCol="false" tIns="0" lIns="0" bIns="0" rIns="0">
            <a:spAutoFit/>
          </a:bodyPr>
          <a:lstStyle/>
          <a:p>
            <a:pPr algn="l">
              <a:lnSpc>
                <a:spcPts val="3565"/>
              </a:lnSpc>
            </a:pPr>
            <a:r>
              <a:rPr lang="en-US" sz="2971" spc="891">
                <a:solidFill>
                  <a:srgbClr val="17A79C"/>
                </a:solidFill>
                <a:latin typeface="Georgia"/>
                <a:ea typeface="Georgia"/>
                <a:cs typeface="Georgia"/>
                <a:sym typeface="Georgia"/>
              </a:rPr>
              <a:t>COMMERCIAL PROPOSAL</a:t>
            </a:r>
          </a:p>
        </p:txBody>
      </p:sp>
      <p:sp>
        <p:nvSpPr>
          <p:cNvPr name="TextBox 7" id="7"/>
          <p:cNvSpPr txBox="true"/>
          <p:nvPr/>
        </p:nvSpPr>
        <p:spPr>
          <a:xfrm rot="0">
            <a:off x="1858232" y="9908210"/>
            <a:ext cx="18216648" cy="3138830"/>
          </a:xfrm>
          <a:prstGeom prst="rect">
            <a:avLst/>
          </a:prstGeom>
        </p:spPr>
        <p:txBody>
          <a:bodyPr anchor="t" rtlCol="false" tIns="0" lIns="0" bIns="0" rIns="0">
            <a:spAutoFit/>
          </a:bodyPr>
          <a:lstStyle/>
          <a:p>
            <a:pPr algn="l">
              <a:lnSpc>
                <a:spcPts val="11998"/>
              </a:lnSpc>
            </a:pPr>
            <a:r>
              <a:rPr lang="en-US" sz="12733" b="true">
                <a:solidFill>
                  <a:srgbClr val="1B2437"/>
                </a:solidFill>
                <a:latin typeface="Playfair Display Bold"/>
                <a:ea typeface="Playfair Display Bold"/>
                <a:cs typeface="Playfair Display Bold"/>
                <a:sym typeface="Playfair Display Bold"/>
              </a:rPr>
              <a:t>Business Growth System</a:t>
            </a:r>
          </a:p>
        </p:txBody>
      </p:sp>
      <p:sp>
        <p:nvSpPr>
          <p:cNvPr name="TextBox 8" id="8"/>
          <p:cNvSpPr txBox="true"/>
          <p:nvPr/>
        </p:nvSpPr>
        <p:spPr>
          <a:xfrm rot="0">
            <a:off x="1858232" y="13278402"/>
            <a:ext cx="11276124" cy="1601467"/>
          </a:xfrm>
          <a:prstGeom prst="rect">
            <a:avLst/>
          </a:prstGeom>
        </p:spPr>
        <p:txBody>
          <a:bodyPr anchor="t" rtlCol="false" tIns="0" lIns="0" bIns="0" rIns="0">
            <a:spAutoFit/>
          </a:bodyPr>
          <a:lstStyle/>
          <a:p>
            <a:pPr algn="l">
              <a:lnSpc>
                <a:spcPts val="5704"/>
              </a:lnSpc>
            </a:pPr>
            <a:r>
              <a:rPr lang="en-US" sz="3607">
                <a:solidFill>
                  <a:srgbClr val="5A6577"/>
                </a:solidFill>
                <a:latin typeface="Georgia"/>
                <a:ea typeface="Georgia"/>
                <a:cs typeface="Georgia"/>
                <a:sym typeface="Georgia"/>
              </a:rPr>
              <a:t>A one-time implementation that builds the growth system, with an optional Care Plan that runs it.</a:t>
            </a:r>
          </a:p>
        </p:txBody>
      </p:sp>
      <p:grpSp>
        <p:nvGrpSpPr>
          <p:cNvPr name="Group 9" id="9"/>
          <p:cNvGrpSpPr/>
          <p:nvPr/>
        </p:nvGrpSpPr>
        <p:grpSpPr>
          <a:xfrm rot="0">
            <a:off x="1832839" y="23206939"/>
            <a:ext cx="5067252" cy="592979"/>
            <a:chOff x="0" y="0"/>
            <a:chExt cx="6756336" cy="790638"/>
          </a:xfrm>
        </p:grpSpPr>
        <p:sp>
          <p:nvSpPr>
            <p:cNvPr name="Freeform 10" id="10"/>
            <p:cNvSpPr/>
            <p:nvPr/>
          </p:nvSpPr>
          <p:spPr>
            <a:xfrm flipH="false" flipV="false" rot="0">
              <a:off x="0" y="0"/>
              <a:ext cx="6756336" cy="790635"/>
            </a:xfrm>
            <a:custGeom>
              <a:avLst/>
              <a:gdLst/>
              <a:ahLst/>
              <a:cxnLst/>
              <a:rect r="r" b="b" t="t" l="l"/>
              <a:pathLst>
                <a:path h="790635" w="6756336">
                  <a:moveTo>
                    <a:pt x="0" y="0"/>
                  </a:moveTo>
                  <a:lnTo>
                    <a:pt x="6756336" y="0"/>
                  </a:lnTo>
                  <a:lnTo>
                    <a:pt x="6756336" y="790635"/>
                  </a:lnTo>
                  <a:lnTo>
                    <a:pt x="0" y="790635"/>
                  </a:lnTo>
                  <a:close/>
                </a:path>
              </a:pathLst>
            </a:custGeom>
            <a:blipFill>
              <a:blip r:embed="rId4">
                <a:alphaModFix amt="0"/>
              </a:blip>
              <a:stretch>
                <a:fillRect l="0" t="-116508" r="0" b="-116508"/>
              </a:stretch>
            </a:blipFill>
          </p:spPr>
        </p:sp>
        <p:sp>
          <p:nvSpPr>
            <p:cNvPr name="TextBox 11" id="11"/>
            <p:cNvSpPr txBox="true"/>
            <p:nvPr/>
          </p:nvSpPr>
          <p:spPr>
            <a:xfrm>
              <a:off x="0" y="-9525"/>
              <a:ext cx="6756336" cy="800163"/>
            </a:xfrm>
            <a:prstGeom prst="rect">
              <a:avLst/>
            </a:prstGeom>
          </p:spPr>
          <p:txBody>
            <a:bodyPr anchor="ctr" rtlCol="false" tIns="0" lIns="0" bIns="0" rIns="0"/>
            <a:lstStyle/>
            <a:p>
              <a:pPr algn="l">
                <a:lnSpc>
                  <a:spcPts val="3820"/>
                </a:lnSpc>
              </a:pPr>
              <a:r>
                <a:rPr lang="en-US" sz="3183">
                  <a:solidFill>
                    <a:srgbClr val="8894A8"/>
                  </a:solidFill>
                  <a:latin typeface="Georgia"/>
                  <a:ea typeface="Georgia"/>
                  <a:cs typeface="Georgia"/>
                  <a:sym typeface="Georgia"/>
                </a:rPr>
                <a:t>Prepared for</a:t>
              </a:r>
            </a:p>
          </p:txBody>
        </p:sp>
      </p:grpSp>
      <p:grpSp>
        <p:nvGrpSpPr>
          <p:cNvPr name="Group 12" id="12"/>
          <p:cNvGrpSpPr/>
          <p:nvPr/>
        </p:nvGrpSpPr>
        <p:grpSpPr>
          <a:xfrm rot="0">
            <a:off x="6684464" y="23206939"/>
            <a:ext cx="5875858" cy="592979"/>
            <a:chOff x="0" y="0"/>
            <a:chExt cx="7834478" cy="790638"/>
          </a:xfrm>
        </p:grpSpPr>
        <p:sp>
          <p:nvSpPr>
            <p:cNvPr name="Freeform 13" id="13"/>
            <p:cNvSpPr/>
            <p:nvPr/>
          </p:nvSpPr>
          <p:spPr>
            <a:xfrm flipH="false" flipV="false" rot="0">
              <a:off x="0" y="0"/>
              <a:ext cx="7834475" cy="790635"/>
            </a:xfrm>
            <a:custGeom>
              <a:avLst/>
              <a:gdLst/>
              <a:ahLst/>
              <a:cxnLst/>
              <a:rect r="r" b="b" t="t" l="l"/>
              <a:pathLst>
                <a:path h="790635" w="7834475">
                  <a:moveTo>
                    <a:pt x="0" y="0"/>
                  </a:moveTo>
                  <a:lnTo>
                    <a:pt x="7834475" y="0"/>
                  </a:lnTo>
                  <a:lnTo>
                    <a:pt x="7834475" y="790635"/>
                  </a:lnTo>
                  <a:lnTo>
                    <a:pt x="0" y="790635"/>
                  </a:lnTo>
                  <a:close/>
                </a:path>
              </a:pathLst>
            </a:custGeom>
            <a:blipFill>
              <a:blip r:embed="rId4">
                <a:alphaModFix amt="0"/>
              </a:blip>
              <a:stretch>
                <a:fillRect l="0" t="-143078" r="0" b="-143079"/>
              </a:stretch>
            </a:blipFill>
          </p:spPr>
        </p:sp>
        <p:sp>
          <p:nvSpPr>
            <p:cNvPr name="TextBox 14" id="14"/>
            <p:cNvSpPr txBox="true"/>
            <p:nvPr/>
          </p:nvSpPr>
          <p:spPr>
            <a:xfrm>
              <a:off x="0" y="-9525"/>
              <a:ext cx="7834478" cy="800163"/>
            </a:xfrm>
            <a:prstGeom prst="rect">
              <a:avLst/>
            </a:prstGeom>
          </p:spPr>
          <p:txBody>
            <a:bodyPr anchor="ctr" rtlCol="false" tIns="0" lIns="0" bIns="0" rIns="0"/>
            <a:lstStyle/>
            <a:p>
              <a:pPr algn="l">
                <a:lnSpc>
                  <a:spcPts val="3820"/>
                </a:lnSpc>
              </a:pPr>
              <a:r>
                <a:rPr lang="en-US" sz="3183">
                  <a:solidFill>
                    <a:srgbClr val="1B2437"/>
                  </a:solidFill>
                  <a:latin typeface="Georgia"/>
                  <a:ea typeface="Georgia"/>
                  <a:cs typeface="Georgia"/>
                  <a:sym typeface="Georgia"/>
                </a:rPr>
                <a:t>[Client Name]</a:t>
              </a:r>
            </a:p>
          </p:txBody>
        </p:sp>
      </p:grpSp>
      <p:grpSp>
        <p:nvGrpSpPr>
          <p:cNvPr name="Group 15" id="15"/>
          <p:cNvGrpSpPr/>
          <p:nvPr/>
        </p:nvGrpSpPr>
        <p:grpSpPr>
          <a:xfrm rot="0">
            <a:off x="1832839" y="24123358"/>
            <a:ext cx="5067252" cy="592979"/>
            <a:chOff x="0" y="0"/>
            <a:chExt cx="6756336" cy="790638"/>
          </a:xfrm>
        </p:grpSpPr>
        <p:sp>
          <p:nvSpPr>
            <p:cNvPr name="Freeform 16" id="16"/>
            <p:cNvSpPr/>
            <p:nvPr/>
          </p:nvSpPr>
          <p:spPr>
            <a:xfrm flipH="false" flipV="false" rot="0">
              <a:off x="0" y="0"/>
              <a:ext cx="6756336" cy="790635"/>
            </a:xfrm>
            <a:custGeom>
              <a:avLst/>
              <a:gdLst/>
              <a:ahLst/>
              <a:cxnLst/>
              <a:rect r="r" b="b" t="t" l="l"/>
              <a:pathLst>
                <a:path h="790635" w="6756336">
                  <a:moveTo>
                    <a:pt x="0" y="0"/>
                  </a:moveTo>
                  <a:lnTo>
                    <a:pt x="6756336" y="0"/>
                  </a:lnTo>
                  <a:lnTo>
                    <a:pt x="6756336" y="790635"/>
                  </a:lnTo>
                  <a:lnTo>
                    <a:pt x="0" y="790635"/>
                  </a:lnTo>
                  <a:close/>
                </a:path>
              </a:pathLst>
            </a:custGeom>
            <a:blipFill>
              <a:blip r:embed="rId4">
                <a:alphaModFix amt="0"/>
              </a:blip>
              <a:stretch>
                <a:fillRect l="0" t="-116508" r="0" b="-116508"/>
              </a:stretch>
            </a:blipFill>
          </p:spPr>
        </p:sp>
        <p:sp>
          <p:nvSpPr>
            <p:cNvPr name="TextBox 17" id="17"/>
            <p:cNvSpPr txBox="true"/>
            <p:nvPr/>
          </p:nvSpPr>
          <p:spPr>
            <a:xfrm>
              <a:off x="0" y="-9525"/>
              <a:ext cx="6756336" cy="800163"/>
            </a:xfrm>
            <a:prstGeom prst="rect">
              <a:avLst/>
            </a:prstGeom>
          </p:spPr>
          <p:txBody>
            <a:bodyPr anchor="ctr" rtlCol="false" tIns="0" lIns="0" bIns="0" rIns="0"/>
            <a:lstStyle/>
            <a:p>
              <a:pPr algn="l">
                <a:lnSpc>
                  <a:spcPts val="3820"/>
                </a:lnSpc>
              </a:pPr>
              <a:r>
                <a:rPr lang="en-US" sz="3183">
                  <a:solidFill>
                    <a:srgbClr val="8894A8"/>
                  </a:solidFill>
                  <a:latin typeface="Georgia"/>
                  <a:ea typeface="Georgia"/>
                  <a:cs typeface="Georgia"/>
                  <a:sym typeface="Georgia"/>
                </a:rPr>
                <a:t>Company</a:t>
              </a:r>
            </a:p>
          </p:txBody>
        </p:sp>
      </p:grpSp>
      <p:grpSp>
        <p:nvGrpSpPr>
          <p:cNvPr name="Group 18" id="18"/>
          <p:cNvGrpSpPr/>
          <p:nvPr/>
        </p:nvGrpSpPr>
        <p:grpSpPr>
          <a:xfrm rot="0">
            <a:off x="6684464" y="24123358"/>
            <a:ext cx="5875858" cy="592979"/>
            <a:chOff x="0" y="0"/>
            <a:chExt cx="7834478" cy="790638"/>
          </a:xfrm>
        </p:grpSpPr>
        <p:sp>
          <p:nvSpPr>
            <p:cNvPr name="Freeform 19" id="19"/>
            <p:cNvSpPr/>
            <p:nvPr/>
          </p:nvSpPr>
          <p:spPr>
            <a:xfrm flipH="false" flipV="false" rot="0">
              <a:off x="0" y="0"/>
              <a:ext cx="7834475" cy="790635"/>
            </a:xfrm>
            <a:custGeom>
              <a:avLst/>
              <a:gdLst/>
              <a:ahLst/>
              <a:cxnLst/>
              <a:rect r="r" b="b" t="t" l="l"/>
              <a:pathLst>
                <a:path h="790635" w="7834475">
                  <a:moveTo>
                    <a:pt x="0" y="0"/>
                  </a:moveTo>
                  <a:lnTo>
                    <a:pt x="7834475" y="0"/>
                  </a:lnTo>
                  <a:lnTo>
                    <a:pt x="7834475" y="790635"/>
                  </a:lnTo>
                  <a:lnTo>
                    <a:pt x="0" y="790635"/>
                  </a:lnTo>
                  <a:close/>
                </a:path>
              </a:pathLst>
            </a:custGeom>
            <a:blipFill>
              <a:blip r:embed="rId4">
                <a:alphaModFix amt="0"/>
              </a:blip>
              <a:stretch>
                <a:fillRect l="0" t="-143078" r="0" b="-143079"/>
              </a:stretch>
            </a:blipFill>
          </p:spPr>
        </p:sp>
        <p:sp>
          <p:nvSpPr>
            <p:cNvPr name="TextBox 20" id="20"/>
            <p:cNvSpPr txBox="true"/>
            <p:nvPr/>
          </p:nvSpPr>
          <p:spPr>
            <a:xfrm>
              <a:off x="0" y="-9525"/>
              <a:ext cx="7834478" cy="800163"/>
            </a:xfrm>
            <a:prstGeom prst="rect">
              <a:avLst/>
            </a:prstGeom>
          </p:spPr>
          <p:txBody>
            <a:bodyPr anchor="ctr" rtlCol="false" tIns="0" lIns="0" bIns="0" rIns="0"/>
            <a:lstStyle/>
            <a:p>
              <a:pPr algn="l">
                <a:lnSpc>
                  <a:spcPts val="3820"/>
                </a:lnSpc>
              </a:pPr>
              <a:r>
                <a:rPr lang="en-US" sz="3183">
                  <a:solidFill>
                    <a:srgbClr val="1B2437"/>
                  </a:solidFill>
                  <a:latin typeface="Georgia"/>
                  <a:ea typeface="Georgia"/>
                  <a:cs typeface="Georgia"/>
                  <a:sym typeface="Georgia"/>
                </a:rPr>
                <a:t>[Company Name]</a:t>
              </a:r>
            </a:p>
          </p:txBody>
        </p:sp>
      </p:grpSp>
      <p:grpSp>
        <p:nvGrpSpPr>
          <p:cNvPr name="Group 21" id="21"/>
          <p:cNvGrpSpPr/>
          <p:nvPr/>
        </p:nvGrpSpPr>
        <p:grpSpPr>
          <a:xfrm rot="0">
            <a:off x="1832839" y="25039768"/>
            <a:ext cx="5067252" cy="592979"/>
            <a:chOff x="0" y="0"/>
            <a:chExt cx="6756336" cy="790638"/>
          </a:xfrm>
        </p:grpSpPr>
        <p:sp>
          <p:nvSpPr>
            <p:cNvPr name="Freeform 22" id="22"/>
            <p:cNvSpPr/>
            <p:nvPr/>
          </p:nvSpPr>
          <p:spPr>
            <a:xfrm flipH="false" flipV="false" rot="0">
              <a:off x="0" y="0"/>
              <a:ext cx="6756336" cy="790635"/>
            </a:xfrm>
            <a:custGeom>
              <a:avLst/>
              <a:gdLst/>
              <a:ahLst/>
              <a:cxnLst/>
              <a:rect r="r" b="b" t="t" l="l"/>
              <a:pathLst>
                <a:path h="790635" w="6756336">
                  <a:moveTo>
                    <a:pt x="0" y="0"/>
                  </a:moveTo>
                  <a:lnTo>
                    <a:pt x="6756336" y="0"/>
                  </a:lnTo>
                  <a:lnTo>
                    <a:pt x="6756336" y="790635"/>
                  </a:lnTo>
                  <a:lnTo>
                    <a:pt x="0" y="790635"/>
                  </a:lnTo>
                  <a:close/>
                </a:path>
              </a:pathLst>
            </a:custGeom>
            <a:blipFill>
              <a:blip r:embed="rId4">
                <a:alphaModFix amt="0"/>
              </a:blip>
              <a:stretch>
                <a:fillRect l="0" t="-116508" r="0" b="-116508"/>
              </a:stretch>
            </a:blipFill>
          </p:spPr>
        </p:sp>
        <p:sp>
          <p:nvSpPr>
            <p:cNvPr name="TextBox 23" id="23"/>
            <p:cNvSpPr txBox="true"/>
            <p:nvPr/>
          </p:nvSpPr>
          <p:spPr>
            <a:xfrm>
              <a:off x="0" y="-9525"/>
              <a:ext cx="6756336" cy="800163"/>
            </a:xfrm>
            <a:prstGeom prst="rect">
              <a:avLst/>
            </a:prstGeom>
          </p:spPr>
          <p:txBody>
            <a:bodyPr anchor="ctr" rtlCol="false" tIns="0" lIns="0" bIns="0" rIns="0"/>
            <a:lstStyle/>
            <a:p>
              <a:pPr algn="l">
                <a:lnSpc>
                  <a:spcPts val="3820"/>
                </a:lnSpc>
              </a:pPr>
              <a:r>
                <a:rPr lang="en-US" sz="3183">
                  <a:solidFill>
                    <a:srgbClr val="8894A8"/>
                  </a:solidFill>
                  <a:latin typeface="Georgia"/>
                  <a:ea typeface="Georgia"/>
                  <a:cs typeface="Georgia"/>
                  <a:sym typeface="Georgia"/>
                </a:rPr>
                <a:t>Proposal date</a:t>
              </a:r>
            </a:p>
          </p:txBody>
        </p:sp>
      </p:grpSp>
      <p:grpSp>
        <p:nvGrpSpPr>
          <p:cNvPr name="Group 24" id="24"/>
          <p:cNvGrpSpPr/>
          <p:nvPr/>
        </p:nvGrpSpPr>
        <p:grpSpPr>
          <a:xfrm rot="0">
            <a:off x="6684464" y="25039768"/>
            <a:ext cx="5875858" cy="592979"/>
            <a:chOff x="0" y="0"/>
            <a:chExt cx="7834478" cy="790638"/>
          </a:xfrm>
        </p:grpSpPr>
        <p:sp>
          <p:nvSpPr>
            <p:cNvPr name="Freeform 25" id="25"/>
            <p:cNvSpPr/>
            <p:nvPr/>
          </p:nvSpPr>
          <p:spPr>
            <a:xfrm flipH="false" flipV="false" rot="0">
              <a:off x="0" y="0"/>
              <a:ext cx="7834475" cy="790635"/>
            </a:xfrm>
            <a:custGeom>
              <a:avLst/>
              <a:gdLst/>
              <a:ahLst/>
              <a:cxnLst/>
              <a:rect r="r" b="b" t="t" l="l"/>
              <a:pathLst>
                <a:path h="790635" w="7834475">
                  <a:moveTo>
                    <a:pt x="0" y="0"/>
                  </a:moveTo>
                  <a:lnTo>
                    <a:pt x="7834475" y="0"/>
                  </a:lnTo>
                  <a:lnTo>
                    <a:pt x="7834475" y="790635"/>
                  </a:lnTo>
                  <a:lnTo>
                    <a:pt x="0" y="790635"/>
                  </a:lnTo>
                  <a:close/>
                </a:path>
              </a:pathLst>
            </a:custGeom>
            <a:blipFill>
              <a:blip r:embed="rId4">
                <a:alphaModFix amt="0"/>
              </a:blip>
              <a:stretch>
                <a:fillRect l="0" t="-143078" r="0" b="-143079"/>
              </a:stretch>
            </a:blipFill>
          </p:spPr>
        </p:sp>
        <p:sp>
          <p:nvSpPr>
            <p:cNvPr name="TextBox 26" id="26"/>
            <p:cNvSpPr txBox="true"/>
            <p:nvPr/>
          </p:nvSpPr>
          <p:spPr>
            <a:xfrm>
              <a:off x="0" y="-9525"/>
              <a:ext cx="7834478" cy="800163"/>
            </a:xfrm>
            <a:prstGeom prst="rect">
              <a:avLst/>
            </a:prstGeom>
          </p:spPr>
          <p:txBody>
            <a:bodyPr anchor="ctr" rtlCol="false" tIns="0" lIns="0" bIns="0" rIns="0"/>
            <a:lstStyle/>
            <a:p>
              <a:pPr algn="l">
                <a:lnSpc>
                  <a:spcPts val="3820"/>
                </a:lnSpc>
              </a:pPr>
              <a:r>
                <a:rPr lang="en-US" sz="3183">
                  <a:solidFill>
                    <a:srgbClr val="1B2437"/>
                  </a:solidFill>
                  <a:latin typeface="Georgia"/>
                  <a:ea typeface="Georgia"/>
                  <a:cs typeface="Georgia"/>
                  <a:sym typeface="Georgia"/>
                </a:rPr>
                <a:t>[Date]</a:t>
              </a:r>
            </a:p>
          </p:txBody>
        </p:sp>
      </p:grpSp>
      <p:grpSp>
        <p:nvGrpSpPr>
          <p:cNvPr name="Group 27" id="27"/>
          <p:cNvGrpSpPr/>
          <p:nvPr/>
        </p:nvGrpSpPr>
        <p:grpSpPr>
          <a:xfrm rot="0">
            <a:off x="1832839" y="25956187"/>
            <a:ext cx="5067252" cy="592979"/>
            <a:chOff x="0" y="0"/>
            <a:chExt cx="6756336" cy="790638"/>
          </a:xfrm>
        </p:grpSpPr>
        <p:sp>
          <p:nvSpPr>
            <p:cNvPr name="Freeform 28" id="28"/>
            <p:cNvSpPr/>
            <p:nvPr/>
          </p:nvSpPr>
          <p:spPr>
            <a:xfrm flipH="false" flipV="false" rot="0">
              <a:off x="0" y="0"/>
              <a:ext cx="6756336" cy="790635"/>
            </a:xfrm>
            <a:custGeom>
              <a:avLst/>
              <a:gdLst/>
              <a:ahLst/>
              <a:cxnLst/>
              <a:rect r="r" b="b" t="t" l="l"/>
              <a:pathLst>
                <a:path h="790635" w="6756336">
                  <a:moveTo>
                    <a:pt x="0" y="0"/>
                  </a:moveTo>
                  <a:lnTo>
                    <a:pt x="6756336" y="0"/>
                  </a:lnTo>
                  <a:lnTo>
                    <a:pt x="6756336" y="790635"/>
                  </a:lnTo>
                  <a:lnTo>
                    <a:pt x="0" y="790635"/>
                  </a:lnTo>
                  <a:close/>
                </a:path>
              </a:pathLst>
            </a:custGeom>
            <a:blipFill>
              <a:blip r:embed="rId4">
                <a:alphaModFix amt="0"/>
              </a:blip>
              <a:stretch>
                <a:fillRect l="0" t="-116508" r="0" b="-116508"/>
              </a:stretch>
            </a:blipFill>
          </p:spPr>
        </p:sp>
        <p:sp>
          <p:nvSpPr>
            <p:cNvPr name="TextBox 29" id="29"/>
            <p:cNvSpPr txBox="true"/>
            <p:nvPr/>
          </p:nvSpPr>
          <p:spPr>
            <a:xfrm>
              <a:off x="0" y="-9525"/>
              <a:ext cx="6756336" cy="800163"/>
            </a:xfrm>
            <a:prstGeom prst="rect">
              <a:avLst/>
            </a:prstGeom>
          </p:spPr>
          <p:txBody>
            <a:bodyPr anchor="ctr" rtlCol="false" tIns="0" lIns="0" bIns="0" rIns="0"/>
            <a:lstStyle/>
            <a:p>
              <a:pPr algn="l">
                <a:lnSpc>
                  <a:spcPts val="3820"/>
                </a:lnSpc>
              </a:pPr>
              <a:r>
                <a:rPr lang="en-US" sz="3183">
                  <a:solidFill>
                    <a:srgbClr val="8894A8"/>
                  </a:solidFill>
                  <a:latin typeface="Georgia"/>
                  <a:ea typeface="Georgia"/>
                  <a:cs typeface="Georgia"/>
                  <a:sym typeface="Georgia"/>
                </a:rPr>
                <a:t>Valid until</a:t>
              </a:r>
            </a:p>
          </p:txBody>
        </p:sp>
      </p:grpSp>
      <p:grpSp>
        <p:nvGrpSpPr>
          <p:cNvPr name="Group 30" id="30"/>
          <p:cNvGrpSpPr/>
          <p:nvPr/>
        </p:nvGrpSpPr>
        <p:grpSpPr>
          <a:xfrm rot="0">
            <a:off x="6684464" y="25956187"/>
            <a:ext cx="5875858" cy="592979"/>
            <a:chOff x="0" y="0"/>
            <a:chExt cx="7834478" cy="790638"/>
          </a:xfrm>
        </p:grpSpPr>
        <p:sp>
          <p:nvSpPr>
            <p:cNvPr name="Freeform 31" id="31"/>
            <p:cNvSpPr/>
            <p:nvPr/>
          </p:nvSpPr>
          <p:spPr>
            <a:xfrm flipH="false" flipV="false" rot="0">
              <a:off x="0" y="0"/>
              <a:ext cx="7834475" cy="790635"/>
            </a:xfrm>
            <a:custGeom>
              <a:avLst/>
              <a:gdLst/>
              <a:ahLst/>
              <a:cxnLst/>
              <a:rect r="r" b="b" t="t" l="l"/>
              <a:pathLst>
                <a:path h="790635" w="7834475">
                  <a:moveTo>
                    <a:pt x="0" y="0"/>
                  </a:moveTo>
                  <a:lnTo>
                    <a:pt x="7834475" y="0"/>
                  </a:lnTo>
                  <a:lnTo>
                    <a:pt x="7834475" y="790635"/>
                  </a:lnTo>
                  <a:lnTo>
                    <a:pt x="0" y="790635"/>
                  </a:lnTo>
                  <a:close/>
                </a:path>
              </a:pathLst>
            </a:custGeom>
            <a:blipFill>
              <a:blip r:embed="rId4">
                <a:alphaModFix amt="0"/>
              </a:blip>
              <a:stretch>
                <a:fillRect l="0" t="-143078" r="0" b="-143079"/>
              </a:stretch>
            </a:blipFill>
          </p:spPr>
        </p:sp>
        <p:sp>
          <p:nvSpPr>
            <p:cNvPr name="TextBox 32" id="32"/>
            <p:cNvSpPr txBox="true"/>
            <p:nvPr/>
          </p:nvSpPr>
          <p:spPr>
            <a:xfrm>
              <a:off x="0" y="-9525"/>
              <a:ext cx="7834478" cy="800163"/>
            </a:xfrm>
            <a:prstGeom prst="rect">
              <a:avLst/>
            </a:prstGeom>
          </p:spPr>
          <p:txBody>
            <a:bodyPr anchor="ctr" rtlCol="false" tIns="0" lIns="0" bIns="0" rIns="0"/>
            <a:lstStyle/>
            <a:p>
              <a:pPr algn="l">
                <a:lnSpc>
                  <a:spcPts val="3820"/>
                </a:lnSpc>
              </a:pPr>
              <a:r>
                <a:rPr lang="en-US" sz="3183">
                  <a:solidFill>
                    <a:srgbClr val="1B2437"/>
                  </a:solidFill>
                  <a:latin typeface="Georgia"/>
                  <a:ea typeface="Georgia"/>
                  <a:cs typeface="Georgia"/>
                  <a:sym typeface="Georgia"/>
                </a:rPr>
                <a:t>[Date]</a:t>
              </a:r>
            </a:p>
          </p:txBody>
        </p:sp>
      </p:grpSp>
      <p:grpSp>
        <p:nvGrpSpPr>
          <p:cNvPr name="Group 33" id="33"/>
          <p:cNvGrpSpPr/>
          <p:nvPr/>
        </p:nvGrpSpPr>
        <p:grpSpPr>
          <a:xfrm rot="0">
            <a:off x="1832839" y="27249958"/>
            <a:ext cx="17735379" cy="26956"/>
            <a:chOff x="0" y="0"/>
            <a:chExt cx="23647171" cy="35941"/>
          </a:xfrm>
        </p:grpSpPr>
        <p:sp>
          <p:nvSpPr>
            <p:cNvPr name="Freeform 34" id="34"/>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35" id="35"/>
          <p:cNvSpPr txBox="true"/>
          <p:nvPr/>
        </p:nvSpPr>
        <p:spPr>
          <a:xfrm rot="0">
            <a:off x="1858232" y="27777948"/>
            <a:ext cx="3335226" cy="470840"/>
          </a:xfrm>
          <a:prstGeom prst="rect">
            <a:avLst/>
          </a:prstGeom>
        </p:spPr>
        <p:txBody>
          <a:bodyPr anchor="t" rtlCol="false" tIns="0" lIns="0" bIns="0" rIns="0">
            <a:spAutoFit/>
          </a:bodyPr>
          <a:lstStyle/>
          <a:p>
            <a:pPr algn="l">
              <a:lnSpc>
                <a:spcPts val="3310"/>
              </a:lnSpc>
            </a:pPr>
            <a:r>
              <a:rPr lang="en-US" sz="2759" spc="277">
                <a:solidFill>
                  <a:srgbClr val="8894A8"/>
                </a:solidFill>
                <a:latin typeface="Georgia"/>
                <a:ea typeface="Georgia"/>
                <a:cs typeface="Georgia"/>
                <a:sym typeface="Georgia"/>
              </a:rPr>
              <a:t>Lumelush Studio</a:t>
            </a:r>
          </a:p>
        </p:txBody>
      </p:sp>
      <p:sp>
        <p:nvSpPr>
          <p:cNvPr name="TextBox 36" id="36"/>
          <p:cNvSpPr txBox="true"/>
          <p:nvPr/>
        </p:nvSpPr>
        <p:spPr>
          <a:xfrm rot="0">
            <a:off x="11721941" y="27777948"/>
            <a:ext cx="8608047" cy="470840"/>
          </a:xfrm>
          <a:prstGeom prst="rect">
            <a:avLst/>
          </a:prstGeom>
        </p:spPr>
        <p:txBody>
          <a:bodyPr anchor="t" rtlCol="false" tIns="0" lIns="0" bIns="0" rIns="0">
            <a:spAutoFit/>
          </a:bodyPr>
          <a:lstStyle/>
          <a:p>
            <a:pPr algn="l">
              <a:lnSpc>
                <a:spcPts val="3310"/>
              </a:lnSpc>
            </a:pPr>
            <a:r>
              <a:rPr lang="en-US" sz="2759" spc="277">
                <a:solidFill>
                  <a:srgbClr val="8894A8"/>
                </a:solidFill>
                <a:latin typeface="Georgia"/>
                <a:ea typeface="Georgia"/>
                <a:cs typeface="Georgia"/>
                <a:sym typeface="Georgia"/>
              </a:rPr>
              <a:t>contact@lumelush.com · +91 81059 93165</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5131977" y="1674219"/>
            <a:ext cx="4857007"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COMMERCIAL PROPOSAL</a:t>
            </a:r>
          </a:p>
        </p:txBody>
      </p:sp>
      <p:sp>
        <p:nvSpPr>
          <p:cNvPr name="TextBox 6" id="6"/>
          <p:cNvSpPr txBox="true"/>
          <p:nvPr/>
        </p:nvSpPr>
        <p:spPr>
          <a:xfrm rot="0">
            <a:off x="1858232" y="3905079"/>
            <a:ext cx="666417"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01</a:t>
            </a:r>
          </a:p>
        </p:txBody>
      </p:sp>
      <p:sp>
        <p:nvSpPr>
          <p:cNvPr name="TextBox 7" id="7"/>
          <p:cNvSpPr txBox="true"/>
          <p:nvPr/>
        </p:nvSpPr>
        <p:spPr>
          <a:xfrm rot="0">
            <a:off x="2765679" y="3343646"/>
            <a:ext cx="4795399"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Engagement</a:t>
            </a:r>
          </a:p>
        </p:txBody>
      </p:sp>
      <p:sp>
        <p:nvSpPr>
          <p:cNvPr name="TextBox 8" id="8"/>
          <p:cNvSpPr txBox="true"/>
          <p:nvPr/>
        </p:nvSpPr>
        <p:spPr>
          <a:xfrm rot="0">
            <a:off x="1858232" y="5076644"/>
            <a:ext cx="18216648" cy="2121484"/>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This Commercial Proposal confirms the scope, commercials and implementation plan agreed between Lumelush Studio and the Client for the Business Growth System. The engagement is designed around two connected growth areas.</a:t>
            </a:r>
          </a:p>
        </p:txBody>
      </p:sp>
      <p:grpSp>
        <p:nvGrpSpPr>
          <p:cNvPr name="Group 9" id="9"/>
          <p:cNvGrpSpPr/>
          <p:nvPr/>
        </p:nvGrpSpPr>
        <p:grpSpPr>
          <a:xfrm rot="0">
            <a:off x="1832839" y="7708687"/>
            <a:ext cx="8571205" cy="6118441"/>
            <a:chOff x="0" y="0"/>
            <a:chExt cx="11428273" cy="8157921"/>
          </a:xfrm>
        </p:grpSpPr>
        <p:sp>
          <p:nvSpPr>
            <p:cNvPr name="Freeform 10" id="10"/>
            <p:cNvSpPr/>
            <p:nvPr/>
          </p:nvSpPr>
          <p:spPr>
            <a:xfrm flipH="false" flipV="false" rot="0">
              <a:off x="0" y="0"/>
              <a:ext cx="11428222" cy="8157972"/>
            </a:xfrm>
            <a:custGeom>
              <a:avLst/>
              <a:gdLst/>
              <a:ahLst/>
              <a:cxnLst/>
              <a:rect r="r" b="b" t="t" l="l"/>
              <a:pathLst>
                <a:path h="8157972" w="11428222">
                  <a:moveTo>
                    <a:pt x="0" y="0"/>
                  </a:moveTo>
                  <a:lnTo>
                    <a:pt x="11428222" y="0"/>
                  </a:lnTo>
                  <a:lnTo>
                    <a:pt x="11428222" y="8157972"/>
                  </a:lnTo>
                  <a:lnTo>
                    <a:pt x="0" y="8157972"/>
                  </a:lnTo>
                  <a:close/>
                </a:path>
              </a:pathLst>
            </a:custGeom>
            <a:solidFill>
              <a:srgbClr val="F4F7FE"/>
            </a:solidFill>
          </p:spPr>
        </p:sp>
      </p:grpSp>
      <p:grpSp>
        <p:nvGrpSpPr>
          <p:cNvPr name="Group 11" id="11"/>
          <p:cNvGrpSpPr/>
          <p:nvPr/>
        </p:nvGrpSpPr>
        <p:grpSpPr>
          <a:xfrm rot="0">
            <a:off x="1832839" y="7708687"/>
            <a:ext cx="8571205" cy="107813"/>
            <a:chOff x="0" y="0"/>
            <a:chExt cx="11428273" cy="143751"/>
          </a:xfrm>
        </p:grpSpPr>
        <p:sp>
          <p:nvSpPr>
            <p:cNvPr name="Freeform 12" id="12"/>
            <p:cNvSpPr/>
            <p:nvPr/>
          </p:nvSpPr>
          <p:spPr>
            <a:xfrm flipH="false" flipV="false" rot="0">
              <a:off x="0" y="0"/>
              <a:ext cx="11428222" cy="143764"/>
            </a:xfrm>
            <a:custGeom>
              <a:avLst/>
              <a:gdLst/>
              <a:ahLst/>
              <a:cxnLst/>
              <a:rect r="r" b="b" t="t" l="l"/>
              <a:pathLst>
                <a:path h="143764" w="11428222">
                  <a:moveTo>
                    <a:pt x="0" y="0"/>
                  </a:moveTo>
                  <a:lnTo>
                    <a:pt x="11428222" y="0"/>
                  </a:lnTo>
                  <a:lnTo>
                    <a:pt x="11428222" y="143764"/>
                  </a:lnTo>
                  <a:lnTo>
                    <a:pt x="0" y="143764"/>
                  </a:lnTo>
                  <a:close/>
                </a:path>
              </a:pathLst>
            </a:custGeom>
            <a:solidFill>
              <a:srgbClr val="1A56E8"/>
            </a:solidFill>
          </p:spPr>
        </p:sp>
      </p:grpSp>
      <p:sp>
        <p:nvSpPr>
          <p:cNvPr name="TextBox 13" id="13"/>
          <p:cNvSpPr txBox="true"/>
          <p:nvPr/>
        </p:nvSpPr>
        <p:spPr>
          <a:xfrm rot="0">
            <a:off x="2505123" y="8339633"/>
            <a:ext cx="7954385" cy="664378"/>
          </a:xfrm>
          <a:prstGeom prst="rect">
            <a:avLst/>
          </a:prstGeom>
        </p:spPr>
        <p:txBody>
          <a:bodyPr anchor="t" rtlCol="false" tIns="0" lIns="0" bIns="0" rIns="0">
            <a:spAutoFit/>
          </a:bodyPr>
          <a:lstStyle/>
          <a:p>
            <a:pPr algn="l">
              <a:lnSpc>
                <a:spcPts val="3911"/>
              </a:lnSpc>
            </a:pPr>
            <a:r>
              <a:rPr lang="en-US" sz="2546" spc="407">
                <a:solidFill>
                  <a:srgbClr val="1A56E8"/>
                </a:solidFill>
                <a:latin typeface="Georgia"/>
                <a:ea typeface="Georgia"/>
                <a:cs typeface="Georgia"/>
                <a:sym typeface="Georgia"/>
              </a:rPr>
              <a:t>EXISTING CUSTOMER GROWTH</a:t>
            </a:r>
          </a:p>
        </p:txBody>
      </p:sp>
      <p:grpSp>
        <p:nvGrpSpPr>
          <p:cNvPr name="Group 14" id="14"/>
          <p:cNvGrpSpPr/>
          <p:nvPr/>
        </p:nvGrpSpPr>
        <p:grpSpPr>
          <a:xfrm rot="0">
            <a:off x="2479719" y="9514570"/>
            <a:ext cx="134769" cy="134769"/>
            <a:chOff x="0" y="0"/>
            <a:chExt cx="179692" cy="179692"/>
          </a:xfrm>
        </p:grpSpPr>
        <p:sp>
          <p:nvSpPr>
            <p:cNvPr name="Freeform 15" id="15"/>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6" id="16"/>
          <p:cNvSpPr txBox="true"/>
          <p:nvPr/>
        </p:nvSpPr>
        <p:spPr>
          <a:xfrm rot="0">
            <a:off x="2909421" y="9210046"/>
            <a:ext cx="285511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Repeat business</a:t>
            </a:r>
          </a:p>
        </p:txBody>
      </p:sp>
      <p:grpSp>
        <p:nvGrpSpPr>
          <p:cNvPr name="Group 17" id="17"/>
          <p:cNvGrpSpPr/>
          <p:nvPr/>
        </p:nvGrpSpPr>
        <p:grpSpPr>
          <a:xfrm rot="0">
            <a:off x="2479719" y="10350132"/>
            <a:ext cx="134769" cy="134769"/>
            <a:chOff x="0" y="0"/>
            <a:chExt cx="179692" cy="179692"/>
          </a:xfrm>
        </p:grpSpPr>
        <p:sp>
          <p:nvSpPr>
            <p:cNvPr name="Freeform 18" id="18"/>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9" id="19"/>
          <p:cNvSpPr txBox="true"/>
          <p:nvPr/>
        </p:nvSpPr>
        <p:spPr>
          <a:xfrm rot="0">
            <a:off x="2909421" y="10045608"/>
            <a:ext cx="623428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AMC / maintenance opportunities</a:t>
            </a:r>
          </a:p>
        </p:txBody>
      </p:sp>
      <p:grpSp>
        <p:nvGrpSpPr>
          <p:cNvPr name="Group 20" id="20"/>
          <p:cNvGrpSpPr/>
          <p:nvPr/>
        </p:nvGrpSpPr>
        <p:grpSpPr>
          <a:xfrm rot="0">
            <a:off x="2479719" y="11185693"/>
            <a:ext cx="134769" cy="134769"/>
            <a:chOff x="0" y="0"/>
            <a:chExt cx="179692" cy="179692"/>
          </a:xfrm>
        </p:grpSpPr>
        <p:sp>
          <p:nvSpPr>
            <p:cNvPr name="Freeform 21" id="21"/>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2" id="22"/>
          <p:cNvSpPr txBox="true"/>
          <p:nvPr/>
        </p:nvSpPr>
        <p:spPr>
          <a:xfrm rot="0">
            <a:off x="2909421" y="10881160"/>
            <a:ext cx="168769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Referrals</a:t>
            </a:r>
          </a:p>
        </p:txBody>
      </p:sp>
      <p:grpSp>
        <p:nvGrpSpPr>
          <p:cNvPr name="Group 23" id="23"/>
          <p:cNvGrpSpPr/>
          <p:nvPr/>
        </p:nvGrpSpPr>
        <p:grpSpPr>
          <a:xfrm rot="0">
            <a:off x="2479719" y="12021245"/>
            <a:ext cx="134769" cy="134769"/>
            <a:chOff x="0" y="0"/>
            <a:chExt cx="179692" cy="179692"/>
          </a:xfrm>
        </p:grpSpPr>
        <p:sp>
          <p:nvSpPr>
            <p:cNvPr name="Freeform 24" id="24"/>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5" id="25"/>
          <p:cNvSpPr txBox="true"/>
          <p:nvPr/>
        </p:nvSpPr>
        <p:spPr>
          <a:xfrm rot="0">
            <a:off x="2909421" y="11716722"/>
            <a:ext cx="401989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Customer reactivation</a:t>
            </a:r>
          </a:p>
        </p:txBody>
      </p:sp>
      <p:grpSp>
        <p:nvGrpSpPr>
          <p:cNvPr name="Group 26" id="26"/>
          <p:cNvGrpSpPr/>
          <p:nvPr/>
        </p:nvGrpSpPr>
        <p:grpSpPr>
          <a:xfrm rot="0">
            <a:off x="2479719" y="12856807"/>
            <a:ext cx="134769" cy="134769"/>
            <a:chOff x="0" y="0"/>
            <a:chExt cx="179692" cy="179692"/>
          </a:xfrm>
        </p:grpSpPr>
        <p:sp>
          <p:nvSpPr>
            <p:cNvPr name="Freeform 27" id="27"/>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8" id="28"/>
          <p:cNvSpPr txBox="true"/>
          <p:nvPr/>
        </p:nvSpPr>
        <p:spPr>
          <a:xfrm rot="0">
            <a:off x="2909421" y="12552274"/>
            <a:ext cx="630794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Ongoing customer communication</a:t>
            </a:r>
          </a:p>
        </p:txBody>
      </p:sp>
      <p:grpSp>
        <p:nvGrpSpPr>
          <p:cNvPr name="Group 29" id="29"/>
          <p:cNvGrpSpPr/>
          <p:nvPr/>
        </p:nvGrpSpPr>
        <p:grpSpPr>
          <a:xfrm rot="0">
            <a:off x="10997013" y="7708687"/>
            <a:ext cx="8571205" cy="6118441"/>
            <a:chOff x="0" y="0"/>
            <a:chExt cx="11428273" cy="8157921"/>
          </a:xfrm>
        </p:grpSpPr>
        <p:sp>
          <p:nvSpPr>
            <p:cNvPr name="Freeform 30" id="30"/>
            <p:cNvSpPr/>
            <p:nvPr/>
          </p:nvSpPr>
          <p:spPr>
            <a:xfrm flipH="false" flipV="false" rot="0">
              <a:off x="0" y="0"/>
              <a:ext cx="11428222" cy="8157972"/>
            </a:xfrm>
            <a:custGeom>
              <a:avLst/>
              <a:gdLst/>
              <a:ahLst/>
              <a:cxnLst/>
              <a:rect r="r" b="b" t="t" l="l"/>
              <a:pathLst>
                <a:path h="8157972" w="11428222">
                  <a:moveTo>
                    <a:pt x="0" y="0"/>
                  </a:moveTo>
                  <a:lnTo>
                    <a:pt x="11428222" y="0"/>
                  </a:lnTo>
                  <a:lnTo>
                    <a:pt x="11428222" y="8157972"/>
                  </a:lnTo>
                  <a:lnTo>
                    <a:pt x="0" y="8157972"/>
                  </a:lnTo>
                  <a:close/>
                </a:path>
              </a:pathLst>
            </a:custGeom>
            <a:solidFill>
              <a:srgbClr val="F1FAF6"/>
            </a:solidFill>
          </p:spPr>
        </p:sp>
      </p:grpSp>
      <p:grpSp>
        <p:nvGrpSpPr>
          <p:cNvPr name="Group 31" id="31"/>
          <p:cNvGrpSpPr/>
          <p:nvPr/>
        </p:nvGrpSpPr>
        <p:grpSpPr>
          <a:xfrm rot="0">
            <a:off x="10997013" y="7708687"/>
            <a:ext cx="8571205" cy="107813"/>
            <a:chOff x="0" y="0"/>
            <a:chExt cx="11428273" cy="143751"/>
          </a:xfrm>
        </p:grpSpPr>
        <p:sp>
          <p:nvSpPr>
            <p:cNvPr name="Freeform 32" id="32"/>
            <p:cNvSpPr/>
            <p:nvPr/>
          </p:nvSpPr>
          <p:spPr>
            <a:xfrm flipH="false" flipV="false" rot="0">
              <a:off x="0" y="0"/>
              <a:ext cx="11428222" cy="143764"/>
            </a:xfrm>
            <a:custGeom>
              <a:avLst/>
              <a:gdLst/>
              <a:ahLst/>
              <a:cxnLst/>
              <a:rect r="r" b="b" t="t" l="l"/>
              <a:pathLst>
                <a:path h="143764" w="11428222">
                  <a:moveTo>
                    <a:pt x="0" y="0"/>
                  </a:moveTo>
                  <a:lnTo>
                    <a:pt x="11428222" y="0"/>
                  </a:lnTo>
                  <a:lnTo>
                    <a:pt x="11428222" y="143764"/>
                  </a:lnTo>
                  <a:lnTo>
                    <a:pt x="0" y="143764"/>
                  </a:lnTo>
                  <a:close/>
                </a:path>
              </a:pathLst>
            </a:custGeom>
            <a:solidFill>
              <a:srgbClr val="14543C"/>
            </a:solidFill>
          </p:spPr>
        </p:sp>
      </p:grpSp>
      <p:sp>
        <p:nvSpPr>
          <p:cNvPr name="TextBox 33" id="33"/>
          <p:cNvSpPr txBox="true"/>
          <p:nvPr/>
        </p:nvSpPr>
        <p:spPr>
          <a:xfrm rot="0">
            <a:off x="11669297" y="8339633"/>
            <a:ext cx="7954385" cy="664378"/>
          </a:xfrm>
          <a:prstGeom prst="rect">
            <a:avLst/>
          </a:prstGeom>
        </p:spPr>
        <p:txBody>
          <a:bodyPr anchor="t" rtlCol="false" tIns="0" lIns="0" bIns="0" rIns="0">
            <a:spAutoFit/>
          </a:bodyPr>
          <a:lstStyle/>
          <a:p>
            <a:pPr algn="l">
              <a:lnSpc>
                <a:spcPts val="3911"/>
              </a:lnSpc>
            </a:pPr>
            <a:r>
              <a:rPr lang="en-US" sz="2546" spc="407">
                <a:solidFill>
                  <a:srgbClr val="14543C"/>
                </a:solidFill>
                <a:latin typeface="Georgia"/>
                <a:ea typeface="Georgia"/>
                <a:cs typeface="Georgia"/>
                <a:sym typeface="Georgia"/>
              </a:rPr>
              <a:t>NEW COMMERCIAL GROWTH</a:t>
            </a:r>
          </a:p>
        </p:txBody>
      </p:sp>
      <p:grpSp>
        <p:nvGrpSpPr>
          <p:cNvPr name="Group 34" id="34"/>
          <p:cNvGrpSpPr/>
          <p:nvPr/>
        </p:nvGrpSpPr>
        <p:grpSpPr>
          <a:xfrm rot="0">
            <a:off x="11643893" y="9514570"/>
            <a:ext cx="134769" cy="134769"/>
            <a:chOff x="0" y="0"/>
            <a:chExt cx="179692" cy="179692"/>
          </a:xfrm>
        </p:grpSpPr>
        <p:sp>
          <p:nvSpPr>
            <p:cNvPr name="Freeform 35" id="35"/>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36" id="36"/>
          <p:cNvSpPr txBox="true"/>
          <p:nvPr/>
        </p:nvSpPr>
        <p:spPr>
          <a:xfrm rot="0">
            <a:off x="12073604" y="9210046"/>
            <a:ext cx="410419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ICP-based prospecting</a:t>
            </a:r>
          </a:p>
        </p:txBody>
      </p:sp>
      <p:grpSp>
        <p:nvGrpSpPr>
          <p:cNvPr name="Group 37" id="37"/>
          <p:cNvGrpSpPr/>
          <p:nvPr/>
        </p:nvGrpSpPr>
        <p:grpSpPr>
          <a:xfrm rot="0">
            <a:off x="11643893" y="10350132"/>
            <a:ext cx="134769" cy="134769"/>
            <a:chOff x="0" y="0"/>
            <a:chExt cx="179692" cy="179692"/>
          </a:xfrm>
        </p:grpSpPr>
        <p:sp>
          <p:nvSpPr>
            <p:cNvPr name="Freeform 38" id="38"/>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39" id="39"/>
          <p:cNvSpPr txBox="true"/>
          <p:nvPr/>
        </p:nvSpPr>
        <p:spPr>
          <a:xfrm rot="0">
            <a:off x="12073604" y="10045608"/>
            <a:ext cx="552549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Verified commercial prospects</a:t>
            </a:r>
          </a:p>
        </p:txBody>
      </p:sp>
      <p:grpSp>
        <p:nvGrpSpPr>
          <p:cNvPr name="Group 40" id="40"/>
          <p:cNvGrpSpPr/>
          <p:nvPr/>
        </p:nvGrpSpPr>
        <p:grpSpPr>
          <a:xfrm rot="0">
            <a:off x="11643893" y="11185693"/>
            <a:ext cx="134769" cy="134769"/>
            <a:chOff x="0" y="0"/>
            <a:chExt cx="179692" cy="179692"/>
          </a:xfrm>
        </p:grpSpPr>
        <p:sp>
          <p:nvSpPr>
            <p:cNvPr name="Freeform 41" id="41"/>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42" id="42"/>
          <p:cNvSpPr txBox="true"/>
          <p:nvPr/>
        </p:nvSpPr>
        <p:spPr>
          <a:xfrm rot="0">
            <a:off x="12073604" y="10881160"/>
            <a:ext cx="271234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outreach</a:t>
            </a:r>
          </a:p>
        </p:txBody>
      </p:sp>
      <p:grpSp>
        <p:nvGrpSpPr>
          <p:cNvPr name="Group 43" id="43"/>
          <p:cNvGrpSpPr/>
          <p:nvPr/>
        </p:nvGrpSpPr>
        <p:grpSpPr>
          <a:xfrm rot="0">
            <a:off x="11643893" y="12021245"/>
            <a:ext cx="134769" cy="134769"/>
            <a:chOff x="0" y="0"/>
            <a:chExt cx="179692" cy="179692"/>
          </a:xfrm>
        </p:grpSpPr>
        <p:sp>
          <p:nvSpPr>
            <p:cNvPr name="Freeform 44" id="44"/>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45" id="45"/>
          <p:cNvSpPr txBox="true"/>
          <p:nvPr/>
        </p:nvSpPr>
        <p:spPr>
          <a:xfrm rot="0">
            <a:off x="12073604" y="11716722"/>
            <a:ext cx="388785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Follow-up campaigns</a:t>
            </a:r>
          </a:p>
        </p:txBody>
      </p:sp>
      <p:grpSp>
        <p:nvGrpSpPr>
          <p:cNvPr name="Group 46" id="46"/>
          <p:cNvGrpSpPr/>
          <p:nvPr/>
        </p:nvGrpSpPr>
        <p:grpSpPr>
          <a:xfrm rot="0">
            <a:off x="11643893" y="12856807"/>
            <a:ext cx="134769" cy="134769"/>
            <a:chOff x="0" y="0"/>
            <a:chExt cx="179692" cy="179692"/>
          </a:xfrm>
        </p:grpSpPr>
        <p:sp>
          <p:nvSpPr>
            <p:cNvPr name="Freeform 47" id="47"/>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48" id="48"/>
          <p:cNvSpPr txBox="true"/>
          <p:nvPr/>
        </p:nvSpPr>
        <p:spPr>
          <a:xfrm rot="0">
            <a:off x="12073604" y="12552274"/>
            <a:ext cx="576360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Commercial enquiry generation</a:t>
            </a:r>
          </a:p>
        </p:txBody>
      </p:sp>
      <p:sp>
        <p:nvSpPr>
          <p:cNvPr name="TextBox 49" id="49"/>
          <p:cNvSpPr txBox="true"/>
          <p:nvPr/>
        </p:nvSpPr>
        <p:spPr>
          <a:xfrm rot="0">
            <a:off x="1858232" y="14429499"/>
            <a:ext cx="18216648" cy="147460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one-time implementation builds and configures the agreed growth system. The optional Care Plan provides the ongoing execution, operation and maintenance of that system.</a:t>
            </a:r>
          </a:p>
        </p:txBody>
      </p:sp>
      <p:grpSp>
        <p:nvGrpSpPr>
          <p:cNvPr name="Group 50" id="50"/>
          <p:cNvGrpSpPr/>
          <p:nvPr/>
        </p:nvGrpSpPr>
        <p:grpSpPr>
          <a:xfrm rot="0">
            <a:off x="1832839" y="27627301"/>
            <a:ext cx="17735379" cy="26956"/>
            <a:chOff x="0" y="0"/>
            <a:chExt cx="23647171" cy="35941"/>
          </a:xfrm>
        </p:grpSpPr>
        <p:sp>
          <p:nvSpPr>
            <p:cNvPr name="Freeform 51" id="51"/>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52" id="52"/>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53" id="53"/>
          <p:cNvSpPr txBox="true"/>
          <p:nvPr/>
        </p:nvSpPr>
        <p:spPr>
          <a:xfrm rot="0">
            <a:off x="19398205" y="28034713"/>
            <a:ext cx="360236"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4970681" y="1674219"/>
            <a:ext cx="5034439"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IMPLEMENTATION SCOPE</a:t>
            </a:r>
          </a:p>
        </p:txBody>
      </p:sp>
      <p:sp>
        <p:nvSpPr>
          <p:cNvPr name="TextBox 6" id="6"/>
          <p:cNvSpPr txBox="true"/>
          <p:nvPr/>
        </p:nvSpPr>
        <p:spPr>
          <a:xfrm rot="0">
            <a:off x="1858232" y="3905079"/>
            <a:ext cx="715270"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02</a:t>
            </a:r>
          </a:p>
        </p:txBody>
      </p:sp>
      <p:sp>
        <p:nvSpPr>
          <p:cNvPr name="TextBox 7" id="7"/>
          <p:cNvSpPr txBox="true"/>
          <p:nvPr/>
        </p:nvSpPr>
        <p:spPr>
          <a:xfrm rot="0">
            <a:off x="2814533" y="3343646"/>
            <a:ext cx="8491204"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Implementation scope</a:t>
            </a:r>
          </a:p>
        </p:txBody>
      </p:sp>
      <p:sp>
        <p:nvSpPr>
          <p:cNvPr name="TextBox 8" id="8"/>
          <p:cNvSpPr txBox="true"/>
          <p:nvPr/>
        </p:nvSpPr>
        <p:spPr>
          <a:xfrm rot="0">
            <a:off x="1858232" y="5105219"/>
            <a:ext cx="19458118" cy="664378"/>
          </a:xfrm>
          <a:prstGeom prst="rect">
            <a:avLst/>
          </a:prstGeom>
        </p:spPr>
        <p:txBody>
          <a:bodyPr anchor="t" rtlCol="false" tIns="0" lIns="0" bIns="0" rIns="0">
            <a:spAutoFit/>
          </a:bodyPr>
          <a:lstStyle/>
          <a:p>
            <a:pPr algn="l">
              <a:lnSpc>
                <a:spcPts val="3911"/>
              </a:lnSpc>
            </a:pPr>
            <a:r>
              <a:rPr lang="en-US" sz="2546" spc="407">
                <a:solidFill>
                  <a:srgbClr val="5A6577"/>
                </a:solidFill>
                <a:latin typeface="Georgia"/>
                <a:ea typeface="Georgia"/>
                <a:cs typeface="Georgia"/>
                <a:sym typeface="Georgia"/>
              </a:rPr>
              <a:t>WEBSITE CONVERSION &amp; ENQUIRY FOUNDATION</a:t>
            </a:r>
          </a:p>
        </p:txBody>
      </p:sp>
      <p:sp>
        <p:nvSpPr>
          <p:cNvPr name="TextBox 9" id="9"/>
          <p:cNvSpPr txBox="true"/>
          <p:nvPr/>
        </p:nvSpPr>
        <p:spPr>
          <a:xfrm rot="0">
            <a:off x="1858232" y="5912196"/>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0" id="10"/>
          <p:cNvSpPr txBox="true"/>
          <p:nvPr/>
        </p:nvSpPr>
        <p:spPr>
          <a:xfrm rot="0">
            <a:off x="2487006" y="5912196"/>
            <a:ext cx="6644192"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Website optimisation for conversion</a:t>
            </a:r>
          </a:p>
        </p:txBody>
      </p:sp>
      <p:sp>
        <p:nvSpPr>
          <p:cNvPr name="TextBox 11" id="11"/>
          <p:cNvSpPr txBox="true"/>
          <p:nvPr/>
        </p:nvSpPr>
        <p:spPr>
          <a:xfrm rot="0">
            <a:off x="1858232" y="6801660"/>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2" id="12"/>
          <p:cNvSpPr txBox="true"/>
          <p:nvPr/>
        </p:nvSpPr>
        <p:spPr>
          <a:xfrm rot="0">
            <a:off x="2487006" y="6801660"/>
            <a:ext cx="5431279"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Enquiry capture optimisation</a:t>
            </a:r>
          </a:p>
        </p:txBody>
      </p:sp>
      <p:sp>
        <p:nvSpPr>
          <p:cNvPr name="TextBox 13" id="13"/>
          <p:cNvSpPr txBox="true"/>
          <p:nvPr/>
        </p:nvSpPr>
        <p:spPr>
          <a:xfrm rot="0">
            <a:off x="1858232" y="7691123"/>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4" id="14"/>
          <p:cNvSpPr txBox="true"/>
          <p:nvPr/>
        </p:nvSpPr>
        <p:spPr>
          <a:xfrm rot="0">
            <a:off x="2487006" y="7691123"/>
            <a:ext cx="375806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Clear calls-to-action</a:t>
            </a:r>
          </a:p>
        </p:txBody>
      </p:sp>
      <p:sp>
        <p:nvSpPr>
          <p:cNvPr name="TextBox 15" id="15"/>
          <p:cNvSpPr txBox="true"/>
          <p:nvPr/>
        </p:nvSpPr>
        <p:spPr>
          <a:xfrm rot="0">
            <a:off x="1858232" y="8580596"/>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6" id="16"/>
          <p:cNvSpPr txBox="true"/>
          <p:nvPr/>
        </p:nvSpPr>
        <p:spPr>
          <a:xfrm rot="0">
            <a:off x="2487006" y="8580596"/>
            <a:ext cx="557657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Contact and enquiry pathways</a:t>
            </a:r>
          </a:p>
        </p:txBody>
      </p:sp>
      <p:sp>
        <p:nvSpPr>
          <p:cNvPr name="TextBox 17" id="17"/>
          <p:cNvSpPr txBox="true"/>
          <p:nvPr/>
        </p:nvSpPr>
        <p:spPr>
          <a:xfrm rot="0">
            <a:off x="1858232" y="9470060"/>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8" id="18"/>
          <p:cNvSpPr txBox="true"/>
          <p:nvPr/>
        </p:nvSpPr>
        <p:spPr>
          <a:xfrm rot="0">
            <a:off x="2487006" y="9470060"/>
            <a:ext cx="7235476"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WhatsApp integration where applicable</a:t>
            </a:r>
          </a:p>
        </p:txBody>
      </p:sp>
      <p:sp>
        <p:nvSpPr>
          <p:cNvPr name="TextBox 19" id="19"/>
          <p:cNvSpPr txBox="true"/>
          <p:nvPr/>
        </p:nvSpPr>
        <p:spPr>
          <a:xfrm rot="0">
            <a:off x="1858232" y="11640722"/>
            <a:ext cx="703050"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03</a:t>
            </a:r>
          </a:p>
        </p:txBody>
      </p:sp>
      <p:sp>
        <p:nvSpPr>
          <p:cNvPr name="TextBox 20" id="20"/>
          <p:cNvSpPr txBox="true"/>
          <p:nvPr/>
        </p:nvSpPr>
        <p:spPr>
          <a:xfrm rot="0">
            <a:off x="2802322" y="11079290"/>
            <a:ext cx="9145000"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Search &amp; local presence</a:t>
            </a:r>
          </a:p>
        </p:txBody>
      </p:sp>
      <p:sp>
        <p:nvSpPr>
          <p:cNvPr name="TextBox 21" id="21"/>
          <p:cNvSpPr txBox="true"/>
          <p:nvPr/>
        </p:nvSpPr>
        <p:spPr>
          <a:xfrm rot="0">
            <a:off x="1858232" y="12840862"/>
            <a:ext cx="19458118" cy="664378"/>
          </a:xfrm>
          <a:prstGeom prst="rect">
            <a:avLst/>
          </a:prstGeom>
        </p:spPr>
        <p:txBody>
          <a:bodyPr anchor="t" rtlCol="false" tIns="0" lIns="0" bIns="0" rIns="0">
            <a:spAutoFit/>
          </a:bodyPr>
          <a:lstStyle/>
          <a:p>
            <a:pPr algn="l">
              <a:lnSpc>
                <a:spcPts val="3911"/>
              </a:lnSpc>
            </a:pPr>
            <a:r>
              <a:rPr lang="en-US" sz="2546" spc="407">
                <a:solidFill>
                  <a:srgbClr val="5A6577"/>
                </a:solidFill>
                <a:latin typeface="Georgia"/>
                <a:ea typeface="Georgia"/>
                <a:cs typeface="Georgia"/>
                <a:sym typeface="Georgia"/>
              </a:rPr>
              <a:t>SEO &amp; GEO</a:t>
            </a:r>
          </a:p>
        </p:txBody>
      </p:sp>
      <p:sp>
        <p:nvSpPr>
          <p:cNvPr name="TextBox 22" id="22"/>
          <p:cNvSpPr txBox="true"/>
          <p:nvPr/>
        </p:nvSpPr>
        <p:spPr>
          <a:xfrm rot="0">
            <a:off x="1858232" y="13647839"/>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3" id="23"/>
          <p:cNvSpPr txBox="true"/>
          <p:nvPr/>
        </p:nvSpPr>
        <p:spPr>
          <a:xfrm rot="0">
            <a:off x="2487006" y="13647839"/>
            <a:ext cx="332933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SEO optimisation</a:t>
            </a:r>
          </a:p>
        </p:txBody>
      </p:sp>
      <p:sp>
        <p:nvSpPr>
          <p:cNvPr name="TextBox 24" id="24"/>
          <p:cNvSpPr txBox="true"/>
          <p:nvPr/>
        </p:nvSpPr>
        <p:spPr>
          <a:xfrm rot="0">
            <a:off x="1858232" y="14537312"/>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5" id="25"/>
          <p:cNvSpPr txBox="true"/>
          <p:nvPr/>
        </p:nvSpPr>
        <p:spPr>
          <a:xfrm rot="0">
            <a:off x="2487006" y="14537312"/>
            <a:ext cx="9929231"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GEO optimisation targeted to relevant service districts</a:t>
            </a:r>
          </a:p>
        </p:txBody>
      </p:sp>
      <p:sp>
        <p:nvSpPr>
          <p:cNvPr name="TextBox 26" id="26"/>
          <p:cNvSpPr txBox="true"/>
          <p:nvPr/>
        </p:nvSpPr>
        <p:spPr>
          <a:xfrm rot="0">
            <a:off x="1858232" y="15426776"/>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7" id="27"/>
          <p:cNvSpPr txBox="true"/>
          <p:nvPr/>
        </p:nvSpPr>
        <p:spPr>
          <a:xfrm rot="0">
            <a:off x="2487006" y="15426776"/>
            <a:ext cx="6247047"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Search structure and optimisation</a:t>
            </a:r>
          </a:p>
        </p:txBody>
      </p:sp>
      <p:sp>
        <p:nvSpPr>
          <p:cNvPr name="TextBox 28" id="28"/>
          <p:cNvSpPr txBox="true"/>
          <p:nvPr/>
        </p:nvSpPr>
        <p:spPr>
          <a:xfrm rot="0">
            <a:off x="1858232" y="16316239"/>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9" id="29"/>
          <p:cNvSpPr txBox="true"/>
          <p:nvPr/>
        </p:nvSpPr>
        <p:spPr>
          <a:xfrm rot="0">
            <a:off x="2487006" y="16316239"/>
            <a:ext cx="5445176"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Local visibility improvements</a:t>
            </a:r>
          </a:p>
        </p:txBody>
      </p:sp>
      <p:sp>
        <p:nvSpPr>
          <p:cNvPr name="TextBox 30" id="30"/>
          <p:cNvSpPr txBox="true"/>
          <p:nvPr/>
        </p:nvSpPr>
        <p:spPr>
          <a:xfrm rot="0">
            <a:off x="1858232" y="17638576"/>
            <a:ext cx="19458118" cy="664378"/>
          </a:xfrm>
          <a:prstGeom prst="rect">
            <a:avLst/>
          </a:prstGeom>
        </p:spPr>
        <p:txBody>
          <a:bodyPr anchor="t" rtlCol="false" tIns="0" lIns="0" bIns="0" rIns="0">
            <a:spAutoFit/>
          </a:bodyPr>
          <a:lstStyle/>
          <a:p>
            <a:pPr algn="l">
              <a:lnSpc>
                <a:spcPts val="3911"/>
              </a:lnSpc>
            </a:pPr>
            <a:r>
              <a:rPr lang="en-US" sz="2546" spc="407">
                <a:solidFill>
                  <a:srgbClr val="5A6577"/>
                </a:solidFill>
                <a:latin typeface="Georgia"/>
                <a:ea typeface="Georgia"/>
                <a:cs typeface="Georgia"/>
                <a:sym typeface="Georgia"/>
              </a:rPr>
              <a:t>GOOGLE BUSINESS PROFILE</a:t>
            </a:r>
          </a:p>
        </p:txBody>
      </p:sp>
      <p:sp>
        <p:nvSpPr>
          <p:cNvPr name="TextBox 31" id="31"/>
          <p:cNvSpPr txBox="true"/>
          <p:nvPr/>
        </p:nvSpPr>
        <p:spPr>
          <a:xfrm rot="0">
            <a:off x="1858232" y="18445563"/>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2" id="32"/>
          <p:cNvSpPr txBox="true"/>
          <p:nvPr/>
        </p:nvSpPr>
        <p:spPr>
          <a:xfrm rot="0">
            <a:off x="2487006" y="18445563"/>
            <a:ext cx="839798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Google Business Profile setup, where required</a:t>
            </a:r>
          </a:p>
        </p:txBody>
      </p:sp>
      <p:sp>
        <p:nvSpPr>
          <p:cNvPr name="TextBox 33" id="33"/>
          <p:cNvSpPr txBox="true"/>
          <p:nvPr/>
        </p:nvSpPr>
        <p:spPr>
          <a:xfrm rot="0">
            <a:off x="1858232" y="19335026"/>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4" id="34"/>
          <p:cNvSpPr txBox="true"/>
          <p:nvPr/>
        </p:nvSpPr>
        <p:spPr>
          <a:xfrm rot="0">
            <a:off x="2487006" y="19335026"/>
            <a:ext cx="372858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Profile optimisation</a:t>
            </a:r>
          </a:p>
        </p:txBody>
      </p:sp>
      <p:sp>
        <p:nvSpPr>
          <p:cNvPr name="TextBox 35" id="35"/>
          <p:cNvSpPr txBox="true"/>
          <p:nvPr/>
        </p:nvSpPr>
        <p:spPr>
          <a:xfrm rot="0">
            <a:off x="1858232" y="20224490"/>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6" id="36"/>
          <p:cNvSpPr txBox="true"/>
          <p:nvPr/>
        </p:nvSpPr>
        <p:spPr>
          <a:xfrm rot="0">
            <a:off x="2487006" y="20224490"/>
            <a:ext cx="6001522"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Service and location information</a:t>
            </a:r>
          </a:p>
        </p:txBody>
      </p:sp>
      <p:sp>
        <p:nvSpPr>
          <p:cNvPr name="TextBox 37" id="37"/>
          <p:cNvSpPr txBox="true"/>
          <p:nvPr/>
        </p:nvSpPr>
        <p:spPr>
          <a:xfrm rot="0">
            <a:off x="1858232" y="21113953"/>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8" id="38"/>
          <p:cNvSpPr txBox="true"/>
          <p:nvPr/>
        </p:nvSpPr>
        <p:spPr>
          <a:xfrm rot="0">
            <a:off x="2487006" y="21113953"/>
            <a:ext cx="5838949"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Ongoing-ready profile structure</a:t>
            </a:r>
          </a:p>
        </p:txBody>
      </p:sp>
      <p:sp>
        <p:nvSpPr>
          <p:cNvPr name="TextBox 39" id="39"/>
          <p:cNvSpPr txBox="true"/>
          <p:nvPr/>
        </p:nvSpPr>
        <p:spPr>
          <a:xfrm rot="0">
            <a:off x="1858232" y="22436299"/>
            <a:ext cx="19458118" cy="664378"/>
          </a:xfrm>
          <a:prstGeom prst="rect">
            <a:avLst/>
          </a:prstGeom>
        </p:spPr>
        <p:txBody>
          <a:bodyPr anchor="t" rtlCol="false" tIns="0" lIns="0" bIns="0" rIns="0">
            <a:spAutoFit/>
          </a:bodyPr>
          <a:lstStyle/>
          <a:p>
            <a:pPr algn="l">
              <a:lnSpc>
                <a:spcPts val="3911"/>
              </a:lnSpc>
            </a:pPr>
            <a:r>
              <a:rPr lang="en-US" sz="2546" spc="407">
                <a:solidFill>
                  <a:srgbClr val="5A6577"/>
                </a:solidFill>
                <a:latin typeface="Georgia"/>
                <a:ea typeface="Georgia"/>
                <a:cs typeface="Georgia"/>
                <a:sym typeface="Georgia"/>
              </a:rPr>
              <a:t>REPUTATION</a:t>
            </a:r>
          </a:p>
        </p:txBody>
      </p:sp>
      <p:sp>
        <p:nvSpPr>
          <p:cNvPr name="TextBox 40" id="40"/>
          <p:cNvSpPr txBox="true"/>
          <p:nvPr/>
        </p:nvSpPr>
        <p:spPr>
          <a:xfrm rot="0">
            <a:off x="1858232" y="23243276"/>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41" id="41"/>
          <p:cNvSpPr txBox="true"/>
          <p:nvPr/>
        </p:nvSpPr>
        <p:spPr>
          <a:xfrm rot="0">
            <a:off x="2487006" y="23243276"/>
            <a:ext cx="5881916"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Review generation system setup</a:t>
            </a:r>
          </a:p>
        </p:txBody>
      </p:sp>
      <p:sp>
        <p:nvSpPr>
          <p:cNvPr name="TextBox 42" id="42"/>
          <p:cNvSpPr txBox="true"/>
          <p:nvPr/>
        </p:nvSpPr>
        <p:spPr>
          <a:xfrm rot="0">
            <a:off x="1858232" y="24132740"/>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43" id="43"/>
          <p:cNvSpPr txBox="true"/>
          <p:nvPr/>
        </p:nvSpPr>
        <p:spPr>
          <a:xfrm rot="0">
            <a:off x="2487006" y="24132740"/>
            <a:ext cx="635611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Reputation management workflow</a:t>
            </a:r>
          </a:p>
        </p:txBody>
      </p:sp>
      <p:sp>
        <p:nvSpPr>
          <p:cNvPr name="TextBox 44" id="44"/>
          <p:cNvSpPr txBox="true"/>
          <p:nvPr/>
        </p:nvSpPr>
        <p:spPr>
          <a:xfrm rot="0">
            <a:off x="1858232" y="25022204"/>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45" id="45"/>
          <p:cNvSpPr txBox="true"/>
          <p:nvPr/>
        </p:nvSpPr>
        <p:spPr>
          <a:xfrm rot="0">
            <a:off x="2487006" y="25022204"/>
            <a:ext cx="466437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Review-request structure</a:t>
            </a:r>
          </a:p>
        </p:txBody>
      </p:sp>
      <p:grpSp>
        <p:nvGrpSpPr>
          <p:cNvPr name="Group 46" id="46"/>
          <p:cNvGrpSpPr/>
          <p:nvPr/>
        </p:nvGrpSpPr>
        <p:grpSpPr>
          <a:xfrm rot="0">
            <a:off x="1832839" y="27627301"/>
            <a:ext cx="17735379" cy="26956"/>
            <a:chOff x="0" y="0"/>
            <a:chExt cx="23647171" cy="35941"/>
          </a:xfrm>
        </p:grpSpPr>
        <p:sp>
          <p:nvSpPr>
            <p:cNvPr name="Freeform 47" id="47"/>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8" id="48"/>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49" id="49"/>
          <p:cNvSpPr txBox="true"/>
          <p:nvPr/>
        </p:nvSpPr>
        <p:spPr>
          <a:xfrm rot="0">
            <a:off x="19400310" y="28034713"/>
            <a:ext cx="358130"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5862668" y="1674219"/>
            <a:ext cx="4053240"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CUSTOMER SYSTEMS</a:t>
            </a:r>
          </a:p>
        </p:txBody>
      </p:sp>
      <p:sp>
        <p:nvSpPr>
          <p:cNvPr name="TextBox 6" id="6"/>
          <p:cNvSpPr txBox="true"/>
          <p:nvPr/>
        </p:nvSpPr>
        <p:spPr>
          <a:xfrm rot="0">
            <a:off x="1858232" y="3905079"/>
            <a:ext cx="716109"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04</a:t>
            </a:r>
          </a:p>
        </p:txBody>
      </p:sp>
      <p:sp>
        <p:nvSpPr>
          <p:cNvPr name="TextBox 7" id="7"/>
          <p:cNvSpPr txBox="true"/>
          <p:nvPr/>
        </p:nvSpPr>
        <p:spPr>
          <a:xfrm rot="0">
            <a:off x="2815371" y="3343646"/>
            <a:ext cx="10131609"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Customer database system</a:t>
            </a:r>
          </a:p>
        </p:txBody>
      </p:sp>
      <p:sp>
        <p:nvSpPr>
          <p:cNvPr name="TextBox 8" id="8"/>
          <p:cNvSpPr txBox="true"/>
          <p:nvPr/>
        </p:nvSpPr>
        <p:spPr>
          <a:xfrm rot="0">
            <a:off x="1858232" y="5076644"/>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9" id="9"/>
          <p:cNvSpPr txBox="true"/>
          <p:nvPr/>
        </p:nvSpPr>
        <p:spPr>
          <a:xfrm rot="0">
            <a:off x="2487006" y="5076644"/>
            <a:ext cx="5924864"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Customer database organisation</a:t>
            </a:r>
          </a:p>
        </p:txBody>
      </p:sp>
      <p:sp>
        <p:nvSpPr>
          <p:cNvPr name="TextBox 10" id="10"/>
          <p:cNvSpPr txBox="true"/>
          <p:nvPr/>
        </p:nvSpPr>
        <p:spPr>
          <a:xfrm rot="0">
            <a:off x="1858232" y="5966108"/>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1" id="11"/>
          <p:cNvSpPr txBox="true"/>
          <p:nvPr/>
        </p:nvSpPr>
        <p:spPr>
          <a:xfrm rot="0">
            <a:off x="2487006" y="5966108"/>
            <a:ext cx="3313747"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Database cleanup</a:t>
            </a:r>
          </a:p>
        </p:txBody>
      </p:sp>
      <p:sp>
        <p:nvSpPr>
          <p:cNvPr name="TextBox 12" id="12"/>
          <p:cNvSpPr txBox="true"/>
          <p:nvPr/>
        </p:nvSpPr>
        <p:spPr>
          <a:xfrm rot="0">
            <a:off x="1858232" y="6855571"/>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3" id="13"/>
          <p:cNvSpPr txBox="true"/>
          <p:nvPr/>
        </p:nvSpPr>
        <p:spPr>
          <a:xfrm rot="0">
            <a:off x="2487006" y="6855571"/>
            <a:ext cx="4428954"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Customer segmentation</a:t>
            </a:r>
          </a:p>
        </p:txBody>
      </p:sp>
      <p:sp>
        <p:nvSpPr>
          <p:cNvPr name="TextBox 14" id="14"/>
          <p:cNvSpPr txBox="true"/>
          <p:nvPr/>
        </p:nvSpPr>
        <p:spPr>
          <a:xfrm rot="0">
            <a:off x="1858232" y="7745035"/>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5" id="15"/>
          <p:cNvSpPr txBox="true"/>
          <p:nvPr/>
        </p:nvSpPr>
        <p:spPr>
          <a:xfrm rot="0">
            <a:off x="2487006" y="7745035"/>
            <a:ext cx="715378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Customer categorisation for campaigns</a:t>
            </a:r>
          </a:p>
        </p:txBody>
      </p:sp>
      <p:sp>
        <p:nvSpPr>
          <p:cNvPr name="TextBox 16" id="16"/>
          <p:cNvSpPr txBox="true"/>
          <p:nvPr/>
        </p:nvSpPr>
        <p:spPr>
          <a:xfrm rot="0">
            <a:off x="1858232" y="8634498"/>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17" id="17"/>
          <p:cNvSpPr txBox="true"/>
          <p:nvPr/>
        </p:nvSpPr>
        <p:spPr>
          <a:xfrm rot="0">
            <a:off x="2487006" y="8634498"/>
            <a:ext cx="6777695"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Communication-ready customer lists</a:t>
            </a:r>
          </a:p>
        </p:txBody>
      </p:sp>
      <p:sp>
        <p:nvSpPr>
          <p:cNvPr name="TextBox 18" id="18"/>
          <p:cNvSpPr txBox="true"/>
          <p:nvPr/>
        </p:nvSpPr>
        <p:spPr>
          <a:xfrm rot="0">
            <a:off x="1858232" y="9712633"/>
            <a:ext cx="18216648" cy="147460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 database is structured so that different customer groups can be approached with relevant communication instead of sending the same message to everyone.</a:t>
            </a:r>
          </a:p>
        </p:txBody>
      </p:sp>
      <p:sp>
        <p:nvSpPr>
          <p:cNvPr name="TextBox 19" id="19"/>
          <p:cNvSpPr txBox="true"/>
          <p:nvPr/>
        </p:nvSpPr>
        <p:spPr>
          <a:xfrm rot="0">
            <a:off x="1858232" y="12530185"/>
            <a:ext cx="691258"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05</a:t>
            </a:r>
          </a:p>
        </p:txBody>
      </p:sp>
      <p:sp>
        <p:nvSpPr>
          <p:cNvPr name="TextBox 20" id="20"/>
          <p:cNvSpPr txBox="true"/>
          <p:nvPr/>
        </p:nvSpPr>
        <p:spPr>
          <a:xfrm rot="0">
            <a:off x="2790530" y="11968753"/>
            <a:ext cx="10603516"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WhatsApp customer growth</a:t>
            </a:r>
          </a:p>
        </p:txBody>
      </p:sp>
      <p:sp>
        <p:nvSpPr>
          <p:cNvPr name="TextBox 21" id="21"/>
          <p:cNvSpPr txBox="true"/>
          <p:nvPr/>
        </p:nvSpPr>
        <p:spPr>
          <a:xfrm rot="0">
            <a:off x="1858232" y="13701751"/>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2" id="22"/>
          <p:cNvSpPr txBox="true"/>
          <p:nvPr/>
        </p:nvSpPr>
        <p:spPr>
          <a:xfrm rot="0">
            <a:off x="2487006" y="13701751"/>
            <a:ext cx="6298844"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WhatsApp broadcast system setup</a:t>
            </a:r>
          </a:p>
        </p:txBody>
      </p:sp>
      <p:sp>
        <p:nvSpPr>
          <p:cNvPr name="TextBox 23" id="23"/>
          <p:cNvSpPr txBox="true"/>
          <p:nvPr/>
        </p:nvSpPr>
        <p:spPr>
          <a:xfrm rot="0">
            <a:off x="1858232" y="14591214"/>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4" id="24"/>
          <p:cNvSpPr txBox="true"/>
          <p:nvPr/>
        </p:nvSpPr>
        <p:spPr>
          <a:xfrm rot="0">
            <a:off x="2487006" y="14591214"/>
            <a:ext cx="653679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Customer communication structure</a:t>
            </a:r>
          </a:p>
        </p:txBody>
      </p:sp>
      <p:sp>
        <p:nvSpPr>
          <p:cNvPr name="TextBox 25" id="25"/>
          <p:cNvSpPr txBox="true"/>
          <p:nvPr/>
        </p:nvSpPr>
        <p:spPr>
          <a:xfrm rot="0">
            <a:off x="1858232" y="15480678"/>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6" id="26"/>
          <p:cNvSpPr txBox="true"/>
          <p:nvPr/>
        </p:nvSpPr>
        <p:spPr>
          <a:xfrm rot="0">
            <a:off x="2487006" y="15480678"/>
            <a:ext cx="453129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Referral campaign setup</a:t>
            </a:r>
          </a:p>
        </p:txBody>
      </p:sp>
      <p:sp>
        <p:nvSpPr>
          <p:cNvPr name="TextBox 27" id="27"/>
          <p:cNvSpPr txBox="true"/>
          <p:nvPr/>
        </p:nvSpPr>
        <p:spPr>
          <a:xfrm rot="0">
            <a:off x="1858232" y="16370141"/>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28" id="28"/>
          <p:cNvSpPr txBox="true"/>
          <p:nvPr/>
        </p:nvSpPr>
        <p:spPr>
          <a:xfrm rot="0">
            <a:off x="2487006" y="16370141"/>
            <a:ext cx="8475631"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AMC / maintenance reminder campaign setup</a:t>
            </a:r>
          </a:p>
        </p:txBody>
      </p:sp>
      <p:sp>
        <p:nvSpPr>
          <p:cNvPr name="TextBox 29" id="29"/>
          <p:cNvSpPr txBox="true"/>
          <p:nvPr/>
        </p:nvSpPr>
        <p:spPr>
          <a:xfrm rot="0">
            <a:off x="1858232" y="17259605"/>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0" id="30"/>
          <p:cNvSpPr txBox="true"/>
          <p:nvPr/>
        </p:nvSpPr>
        <p:spPr>
          <a:xfrm rot="0">
            <a:off x="2487006" y="17259605"/>
            <a:ext cx="6666509"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Repeat-business campaign structure</a:t>
            </a:r>
          </a:p>
        </p:txBody>
      </p:sp>
      <p:sp>
        <p:nvSpPr>
          <p:cNvPr name="TextBox 31" id="31"/>
          <p:cNvSpPr txBox="true"/>
          <p:nvPr/>
        </p:nvSpPr>
        <p:spPr>
          <a:xfrm rot="0">
            <a:off x="1858232" y="18149068"/>
            <a:ext cx="470164" cy="827723"/>
          </a:xfrm>
          <a:prstGeom prst="rect">
            <a:avLst/>
          </a:prstGeom>
        </p:spPr>
        <p:txBody>
          <a:bodyPr anchor="t" rtlCol="false" tIns="0" lIns="0" bIns="0" rIns="0">
            <a:spAutoFit/>
          </a:bodyPr>
          <a:lstStyle/>
          <a:p>
            <a:pPr algn="l">
              <a:lnSpc>
                <a:spcPts val="5093"/>
              </a:lnSpc>
            </a:pPr>
            <a:r>
              <a:rPr lang="en-US" sz="3183">
                <a:solidFill>
                  <a:srgbClr val="4FA97F"/>
                </a:solidFill>
                <a:latin typeface="Georgia"/>
                <a:ea typeface="Georgia"/>
                <a:cs typeface="Georgia"/>
                <a:sym typeface="Georgia"/>
              </a:rPr>
              <a:t>✓</a:t>
            </a:r>
          </a:p>
        </p:txBody>
      </p:sp>
      <p:sp>
        <p:nvSpPr>
          <p:cNvPr name="TextBox 32" id="32"/>
          <p:cNvSpPr txBox="true"/>
          <p:nvPr/>
        </p:nvSpPr>
        <p:spPr>
          <a:xfrm rot="0">
            <a:off x="2487006" y="18149068"/>
            <a:ext cx="760589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Seasonal / offer communication structure</a:t>
            </a:r>
          </a:p>
        </p:txBody>
      </p:sp>
      <p:sp>
        <p:nvSpPr>
          <p:cNvPr name="TextBox 33" id="33"/>
          <p:cNvSpPr txBox="true"/>
          <p:nvPr/>
        </p:nvSpPr>
        <p:spPr>
          <a:xfrm rot="0">
            <a:off x="1858232" y="19227213"/>
            <a:ext cx="18216648" cy="147460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 system is designed to help the business remain visible to existing customers and create opportunities for repeat business, maintenance, AMC, referrals and additional requirements.</a:t>
            </a:r>
          </a:p>
        </p:txBody>
      </p:sp>
      <p:grpSp>
        <p:nvGrpSpPr>
          <p:cNvPr name="Group 34" id="34"/>
          <p:cNvGrpSpPr/>
          <p:nvPr/>
        </p:nvGrpSpPr>
        <p:grpSpPr>
          <a:xfrm rot="0">
            <a:off x="1832839" y="27627301"/>
            <a:ext cx="17735379" cy="26956"/>
            <a:chOff x="0" y="0"/>
            <a:chExt cx="23647171" cy="35941"/>
          </a:xfrm>
        </p:grpSpPr>
        <p:sp>
          <p:nvSpPr>
            <p:cNvPr name="Freeform 35" id="35"/>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36" id="36"/>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37" id="37"/>
          <p:cNvSpPr txBox="true"/>
          <p:nvPr/>
        </p:nvSpPr>
        <p:spPr>
          <a:xfrm rot="0">
            <a:off x="19396100" y="28034713"/>
            <a:ext cx="362341"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4659032" y="1674219"/>
            <a:ext cx="5377253"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OUTREACH &amp; AUTOMATION</a:t>
            </a:r>
          </a:p>
        </p:txBody>
      </p:sp>
      <p:sp>
        <p:nvSpPr>
          <p:cNvPr name="TextBox 6" id="6"/>
          <p:cNvSpPr txBox="true"/>
          <p:nvPr/>
        </p:nvSpPr>
        <p:spPr>
          <a:xfrm rot="0">
            <a:off x="1858232" y="3905079"/>
            <a:ext cx="729586"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06</a:t>
            </a:r>
          </a:p>
        </p:txBody>
      </p:sp>
      <p:sp>
        <p:nvSpPr>
          <p:cNvPr name="TextBox 7" id="7"/>
          <p:cNvSpPr txBox="true"/>
          <p:nvPr/>
        </p:nvSpPr>
        <p:spPr>
          <a:xfrm rot="0">
            <a:off x="2828849" y="3343646"/>
            <a:ext cx="10558872"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Commercial email outreach</a:t>
            </a:r>
          </a:p>
        </p:txBody>
      </p:sp>
      <p:sp>
        <p:nvSpPr>
          <p:cNvPr name="TextBox 8" id="8"/>
          <p:cNvSpPr txBox="true"/>
          <p:nvPr/>
        </p:nvSpPr>
        <p:spPr>
          <a:xfrm rot="0">
            <a:off x="1858232" y="5086169"/>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9" id="9"/>
          <p:cNvSpPr txBox="true"/>
          <p:nvPr/>
        </p:nvSpPr>
        <p:spPr>
          <a:xfrm rot="0">
            <a:off x="2466794" y="5086169"/>
            <a:ext cx="794835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Ideal Customer Profile targeting framework</a:t>
            </a:r>
          </a:p>
        </p:txBody>
      </p:sp>
      <p:sp>
        <p:nvSpPr>
          <p:cNvPr name="TextBox 10" id="10"/>
          <p:cNvSpPr txBox="true"/>
          <p:nvPr/>
        </p:nvSpPr>
        <p:spPr>
          <a:xfrm rot="0">
            <a:off x="11049371" y="5086169"/>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1" id="11"/>
          <p:cNvSpPr txBox="true"/>
          <p:nvPr/>
        </p:nvSpPr>
        <p:spPr>
          <a:xfrm rot="0">
            <a:off x="11657924" y="5086169"/>
            <a:ext cx="621066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Commercial prospecting structure</a:t>
            </a:r>
          </a:p>
        </p:txBody>
      </p:sp>
      <p:sp>
        <p:nvSpPr>
          <p:cNvPr name="TextBox 12" id="12"/>
          <p:cNvSpPr txBox="true"/>
          <p:nvPr/>
        </p:nvSpPr>
        <p:spPr>
          <a:xfrm rot="0">
            <a:off x="1858232" y="5921721"/>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3" id="13"/>
          <p:cNvSpPr txBox="true"/>
          <p:nvPr/>
        </p:nvSpPr>
        <p:spPr>
          <a:xfrm rot="0">
            <a:off x="2466794" y="5921721"/>
            <a:ext cx="412459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outreach system</a:t>
            </a:r>
          </a:p>
        </p:txBody>
      </p:sp>
      <p:sp>
        <p:nvSpPr>
          <p:cNvPr name="TextBox 14" id="14"/>
          <p:cNvSpPr txBox="true"/>
          <p:nvPr/>
        </p:nvSpPr>
        <p:spPr>
          <a:xfrm rot="0">
            <a:off x="11049371" y="5921721"/>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5" id="15"/>
          <p:cNvSpPr txBox="true"/>
          <p:nvPr/>
        </p:nvSpPr>
        <p:spPr>
          <a:xfrm rot="0">
            <a:off x="11657924" y="5921721"/>
            <a:ext cx="287828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templates</a:t>
            </a:r>
          </a:p>
        </p:txBody>
      </p:sp>
      <p:sp>
        <p:nvSpPr>
          <p:cNvPr name="TextBox 16" id="16"/>
          <p:cNvSpPr txBox="true"/>
          <p:nvPr/>
        </p:nvSpPr>
        <p:spPr>
          <a:xfrm rot="0">
            <a:off x="1858232" y="6757283"/>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7" id="17"/>
          <p:cNvSpPr txBox="true"/>
          <p:nvPr/>
        </p:nvSpPr>
        <p:spPr>
          <a:xfrm rot="0">
            <a:off x="2466794" y="6757283"/>
            <a:ext cx="293934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sequences</a:t>
            </a:r>
          </a:p>
        </p:txBody>
      </p:sp>
      <p:sp>
        <p:nvSpPr>
          <p:cNvPr name="TextBox 18" id="18"/>
          <p:cNvSpPr txBox="true"/>
          <p:nvPr/>
        </p:nvSpPr>
        <p:spPr>
          <a:xfrm rot="0">
            <a:off x="11049371" y="6757283"/>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9" id="19"/>
          <p:cNvSpPr txBox="true"/>
          <p:nvPr/>
        </p:nvSpPr>
        <p:spPr>
          <a:xfrm rot="0">
            <a:off x="11657924" y="6757283"/>
            <a:ext cx="378594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Follow-up sequences</a:t>
            </a:r>
          </a:p>
        </p:txBody>
      </p:sp>
      <p:sp>
        <p:nvSpPr>
          <p:cNvPr name="TextBox 20" id="20"/>
          <p:cNvSpPr txBox="true"/>
          <p:nvPr/>
        </p:nvSpPr>
        <p:spPr>
          <a:xfrm rot="0">
            <a:off x="1858232" y="7592835"/>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1" id="21"/>
          <p:cNvSpPr txBox="true"/>
          <p:nvPr/>
        </p:nvSpPr>
        <p:spPr>
          <a:xfrm rot="0">
            <a:off x="2466794" y="7592835"/>
            <a:ext cx="347294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structure</a:t>
            </a:r>
          </a:p>
        </p:txBody>
      </p:sp>
      <p:sp>
        <p:nvSpPr>
          <p:cNvPr name="TextBox 22" id="22"/>
          <p:cNvSpPr txBox="true"/>
          <p:nvPr/>
        </p:nvSpPr>
        <p:spPr>
          <a:xfrm rot="0">
            <a:off x="11049371" y="7592835"/>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3" id="23"/>
          <p:cNvSpPr txBox="true"/>
          <p:nvPr/>
        </p:nvSpPr>
        <p:spPr>
          <a:xfrm rot="0">
            <a:off x="11657924" y="7592835"/>
            <a:ext cx="387396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Outreach automation</a:t>
            </a:r>
          </a:p>
        </p:txBody>
      </p:sp>
      <p:sp>
        <p:nvSpPr>
          <p:cNvPr name="TextBox 24" id="24"/>
          <p:cNvSpPr txBox="true"/>
          <p:nvPr/>
        </p:nvSpPr>
        <p:spPr>
          <a:xfrm rot="0">
            <a:off x="1858232" y="8428396"/>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5" id="25"/>
          <p:cNvSpPr txBox="true"/>
          <p:nvPr/>
        </p:nvSpPr>
        <p:spPr>
          <a:xfrm rot="0">
            <a:off x="2466794" y="8428396"/>
            <a:ext cx="519982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tracking structure</a:t>
            </a:r>
          </a:p>
        </p:txBody>
      </p:sp>
      <p:sp>
        <p:nvSpPr>
          <p:cNvPr name="TextBox 26" id="26"/>
          <p:cNvSpPr txBox="true"/>
          <p:nvPr/>
        </p:nvSpPr>
        <p:spPr>
          <a:xfrm rot="0">
            <a:off x="1858232" y="9443104"/>
            <a:ext cx="18216648" cy="2121484"/>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ICP is defined according to the Client's actual commercial requirements — for example, a solar installation company may target manufacturing companies, factories, warehouses and other high-electricity-consumption businesses.</a:t>
            </a:r>
          </a:p>
        </p:txBody>
      </p:sp>
      <p:sp>
        <p:nvSpPr>
          <p:cNvPr name="TextBox 27" id="27"/>
          <p:cNvSpPr txBox="true"/>
          <p:nvPr/>
        </p:nvSpPr>
        <p:spPr>
          <a:xfrm rot="0">
            <a:off x="1858232" y="11599383"/>
            <a:ext cx="18216648" cy="827723"/>
          </a:xfrm>
          <a:prstGeom prst="rect">
            <a:avLst/>
          </a:prstGeom>
        </p:spPr>
        <p:txBody>
          <a:bodyPr anchor="t" rtlCol="false" tIns="0" lIns="0" bIns="0" rIns="0">
            <a:spAutoFit/>
          </a:bodyPr>
          <a:lstStyle/>
          <a:p>
            <a:pPr algn="l">
              <a:lnSpc>
                <a:spcPts val="5093"/>
              </a:lnSpc>
            </a:pPr>
            <a:r>
              <a:rPr lang="en-US" sz="3183" i="true">
                <a:solidFill>
                  <a:srgbClr val="5A6577"/>
                </a:solidFill>
                <a:latin typeface="Georgia Italics"/>
                <a:ea typeface="Georgia Italics"/>
                <a:cs typeface="Georgia Italics"/>
                <a:sym typeface="Georgia Italics"/>
              </a:rPr>
              <a:t>The actual ICP is determined during implementation.</a:t>
            </a:r>
          </a:p>
        </p:txBody>
      </p:sp>
      <p:sp>
        <p:nvSpPr>
          <p:cNvPr name="TextBox 28" id="28"/>
          <p:cNvSpPr txBox="true"/>
          <p:nvPr/>
        </p:nvSpPr>
        <p:spPr>
          <a:xfrm rot="0">
            <a:off x="1858232" y="13770045"/>
            <a:ext cx="689153"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07</a:t>
            </a:r>
          </a:p>
        </p:txBody>
      </p:sp>
      <p:sp>
        <p:nvSpPr>
          <p:cNvPr name="TextBox 29" id="29"/>
          <p:cNvSpPr txBox="true"/>
          <p:nvPr/>
        </p:nvSpPr>
        <p:spPr>
          <a:xfrm rot="0">
            <a:off x="2788425" y="13208613"/>
            <a:ext cx="8497367"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Marketing automation</a:t>
            </a:r>
          </a:p>
        </p:txBody>
      </p:sp>
      <p:sp>
        <p:nvSpPr>
          <p:cNvPr name="TextBox 30" id="30"/>
          <p:cNvSpPr txBox="true"/>
          <p:nvPr/>
        </p:nvSpPr>
        <p:spPr>
          <a:xfrm rot="0">
            <a:off x="1858232" y="14951135"/>
            <a:ext cx="449942" cy="1357265"/>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1" id="31"/>
          <p:cNvSpPr txBox="true"/>
          <p:nvPr/>
        </p:nvSpPr>
        <p:spPr>
          <a:xfrm rot="0">
            <a:off x="2466794" y="14951135"/>
            <a:ext cx="8122958"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Automation connecting the agreed growth systems</a:t>
            </a:r>
          </a:p>
        </p:txBody>
      </p:sp>
      <p:sp>
        <p:nvSpPr>
          <p:cNvPr name="TextBox 32" id="32"/>
          <p:cNvSpPr txBox="true"/>
          <p:nvPr/>
        </p:nvSpPr>
        <p:spPr>
          <a:xfrm rot="0">
            <a:off x="11049371" y="14951135"/>
            <a:ext cx="449942" cy="1357265"/>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3" id="33"/>
          <p:cNvSpPr txBox="true"/>
          <p:nvPr/>
        </p:nvSpPr>
        <p:spPr>
          <a:xfrm rot="0">
            <a:off x="11657924" y="14951135"/>
            <a:ext cx="6305169"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Customer communication workflows</a:t>
            </a:r>
          </a:p>
        </p:txBody>
      </p:sp>
      <p:sp>
        <p:nvSpPr>
          <p:cNvPr name="TextBox 34" id="34"/>
          <p:cNvSpPr txBox="true"/>
          <p:nvPr/>
        </p:nvSpPr>
        <p:spPr>
          <a:xfrm rot="0">
            <a:off x="1858232" y="16379666"/>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5" id="35"/>
          <p:cNvSpPr txBox="true"/>
          <p:nvPr/>
        </p:nvSpPr>
        <p:spPr>
          <a:xfrm rot="0">
            <a:off x="2466794" y="16379666"/>
            <a:ext cx="495939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Lead-generation workflows</a:t>
            </a:r>
          </a:p>
        </p:txBody>
      </p:sp>
      <p:sp>
        <p:nvSpPr>
          <p:cNvPr name="TextBox 36" id="36"/>
          <p:cNvSpPr txBox="true"/>
          <p:nvPr/>
        </p:nvSpPr>
        <p:spPr>
          <a:xfrm rot="0">
            <a:off x="11049371" y="16379666"/>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7" id="37"/>
          <p:cNvSpPr txBox="true"/>
          <p:nvPr/>
        </p:nvSpPr>
        <p:spPr>
          <a:xfrm rot="0">
            <a:off x="11657924" y="16379666"/>
            <a:ext cx="490889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campaign workflows</a:t>
            </a:r>
          </a:p>
        </p:txBody>
      </p:sp>
      <p:sp>
        <p:nvSpPr>
          <p:cNvPr name="TextBox 38" id="38"/>
          <p:cNvSpPr txBox="true"/>
          <p:nvPr/>
        </p:nvSpPr>
        <p:spPr>
          <a:xfrm rot="0">
            <a:off x="1858232" y="17215228"/>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9" id="39"/>
          <p:cNvSpPr txBox="true"/>
          <p:nvPr/>
        </p:nvSpPr>
        <p:spPr>
          <a:xfrm rot="0">
            <a:off x="2466794" y="17215228"/>
            <a:ext cx="380539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Follow-up workflows</a:t>
            </a:r>
          </a:p>
        </p:txBody>
      </p:sp>
      <p:sp>
        <p:nvSpPr>
          <p:cNvPr name="TextBox 40" id="40"/>
          <p:cNvSpPr txBox="true"/>
          <p:nvPr/>
        </p:nvSpPr>
        <p:spPr>
          <a:xfrm rot="0">
            <a:off x="11049371" y="17215228"/>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41" id="41"/>
          <p:cNvSpPr txBox="true"/>
          <p:nvPr/>
        </p:nvSpPr>
        <p:spPr>
          <a:xfrm rot="0">
            <a:off x="11657924" y="17215228"/>
            <a:ext cx="332638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tracking</a:t>
            </a:r>
          </a:p>
        </p:txBody>
      </p:sp>
      <p:sp>
        <p:nvSpPr>
          <p:cNvPr name="TextBox 42" id="42"/>
          <p:cNvSpPr txBox="true"/>
          <p:nvPr/>
        </p:nvSpPr>
        <p:spPr>
          <a:xfrm rot="0">
            <a:off x="1858232" y="18050780"/>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43" id="43"/>
          <p:cNvSpPr txBox="true"/>
          <p:nvPr/>
        </p:nvSpPr>
        <p:spPr>
          <a:xfrm rot="0">
            <a:off x="2466794" y="18050780"/>
            <a:ext cx="259316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System testing</a:t>
            </a:r>
          </a:p>
        </p:txBody>
      </p:sp>
      <p:sp>
        <p:nvSpPr>
          <p:cNvPr name="TextBox 44" id="44"/>
          <p:cNvSpPr txBox="true"/>
          <p:nvPr/>
        </p:nvSpPr>
        <p:spPr>
          <a:xfrm rot="0">
            <a:off x="1858232" y="19065488"/>
            <a:ext cx="18216648" cy="147460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 objective is to connect the different growth activities into a repeatable system rather than managing each activity independently.</a:t>
            </a:r>
          </a:p>
        </p:txBody>
      </p:sp>
      <p:grpSp>
        <p:nvGrpSpPr>
          <p:cNvPr name="Group 45" id="45"/>
          <p:cNvGrpSpPr/>
          <p:nvPr/>
        </p:nvGrpSpPr>
        <p:grpSpPr>
          <a:xfrm rot="0">
            <a:off x="1832839" y="27627301"/>
            <a:ext cx="17735379" cy="26956"/>
            <a:chOff x="0" y="0"/>
            <a:chExt cx="23647171" cy="35941"/>
          </a:xfrm>
        </p:grpSpPr>
        <p:sp>
          <p:nvSpPr>
            <p:cNvPr name="Freeform 46" id="46"/>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7" id="47"/>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48" id="48"/>
          <p:cNvSpPr txBox="true"/>
          <p:nvPr/>
        </p:nvSpPr>
        <p:spPr>
          <a:xfrm rot="0">
            <a:off x="19407045" y="28034713"/>
            <a:ext cx="351396"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5</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4584480" y="1674219"/>
            <a:ext cx="5459244"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BONUS &amp; INFRASTRUCTURE</a:t>
            </a:r>
          </a:p>
        </p:txBody>
      </p:sp>
      <p:sp>
        <p:nvSpPr>
          <p:cNvPr name="TextBox 6" id="6"/>
          <p:cNvSpPr txBox="true"/>
          <p:nvPr/>
        </p:nvSpPr>
        <p:spPr>
          <a:xfrm rot="0">
            <a:off x="1858232" y="3905079"/>
            <a:ext cx="730006"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08</a:t>
            </a:r>
          </a:p>
        </p:txBody>
      </p:sp>
      <p:sp>
        <p:nvSpPr>
          <p:cNvPr name="TextBox 7" id="7"/>
          <p:cNvSpPr txBox="true"/>
          <p:nvPr/>
        </p:nvSpPr>
        <p:spPr>
          <a:xfrm rot="0">
            <a:off x="2829268" y="3343646"/>
            <a:ext cx="10343493"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Bonus — digital foundation</a:t>
            </a:r>
          </a:p>
        </p:txBody>
      </p:sp>
      <p:grpSp>
        <p:nvGrpSpPr>
          <p:cNvPr name="Group 8" id="8"/>
          <p:cNvGrpSpPr/>
          <p:nvPr/>
        </p:nvGrpSpPr>
        <p:grpSpPr>
          <a:xfrm rot="0">
            <a:off x="1832839" y="5175066"/>
            <a:ext cx="17735379" cy="7546972"/>
            <a:chOff x="0" y="0"/>
            <a:chExt cx="23647171" cy="10062629"/>
          </a:xfrm>
        </p:grpSpPr>
        <p:sp>
          <p:nvSpPr>
            <p:cNvPr name="Freeform 9" id="9"/>
            <p:cNvSpPr/>
            <p:nvPr/>
          </p:nvSpPr>
          <p:spPr>
            <a:xfrm flipH="false" flipV="false" rot="0">
              <a:off x="0" y="0"/>
              <a:ext cx="23647146" cy="10062591"/>
            </a:xfrm>
            <a:custGeom>
              <a:avLst/>
              <a:gdLst/>
              <a:ahLst/>
              <a:cxnLst/>
              <a:rect r="r" b="b" t="t" l="l"/>
              <a:pathLst>
                <a:path h="10062591" w="23647146">
                  <a:moveTo>
                    <a:pt x="0" y="0"/>
                  </a:moveTo>
                  <a:lnTo>
                    <a:pt x="23647146" y="0"/>
                  </a:lnTo>
                  <a:lnTo>
                    <a:pt x="23647146" y="10062591"/>
                  </a:lnTo>
                  <a:lnTo>
                    <a:pt x="0" y="10062591"/>
                  </a:lnTo>
                  <a:close/>
                </a:path>
              </a:pathLst>
            </a:custGeom>
            <a:gradFill rotWithShape="true">
              <a:gsLst>
                <a:gs pos="0">
                  <a:srgbClr val="F4F7FE">
                    <a:alpha val="100000"/>
                  </a:srgbClr>
                </a:gs>
                <a:gs pos="100000">
                  <a:srgbClr val="F1FAF6">
                    <a:alpha val="100000"/>
                  </a:srgbClr>
                </a:gs>
              </a:gsLst>
              <a:lin ang="2700000"/>
            </a:gradFill>
          </p:spPr>
        </p:sp>
      </p:grpSp>
      <p:grpSp>
        <p:nvGrpSpPr>
          <p:cNvPr name="Group 10" id="10"/>
          <p:cNvGrpSpPr/>
          <p:nvPr/>
        </p:nvGrpSpPr>
        <p:grpSpPr>
          <a:xfrm rot="0">
            <a:off x="1832839" y="5175066"/>
            <a:ext cx="17735379" cy="107813"/>
            <a:chOff x="0" y="0"/>
            <a:chExt cx="23647171" cy="143751"/>
          </a:xfrm>
        </p:grpSpPr>
        <p:sp>
          <p:nvSpPr>
            <p:cNvPr name="Freeform 11" id="11"/>
            <p:cNvSpPr/>
            <p:nvPr/>
          </p:nvSpPr>
          <p:spPr>
            <a:xfrm flipH="false" flipV="false" rot="0">
              <a:off x="0" y="0"/>
              <a:ext cx="23647146" cy="143764"/>
            </a:xfrm>
            <a:custGeom>
              <a:avLst/>
              <a:gdLst/>
              <a:ahLst/>
              <a:cxnLst/>
              <a:rect r="r" b="b" t="t" l="l"/>
              <a:pathLst>
                <a:path h="143764" w="23647146">
                  <a:moveTo>
                    <a:pt x="0" y="0"/>
                  </a:moveTo>
                  <a:lnTo>
                    <a:pt x="23647146" y="0"/>
                  </a:lnTo>
                  <a:lnTo>
                    <a:pt x="23647146" y="143764"/>
                  </a:lnTo>
                  <a:lnTo>
                    <a:pt x="0" y="143764"/>
                  </a:lnTo>
                  <a:close/>
                </a:path>
              </a:pathLst>
            </a:custGeom>
            <a:solidFill>
              <a:srgbClr val="17B0A8"/>
            </a:solidFill>
          </p:spPr>
        </p:sp>
      </p:grpSp>
      <p:sp>
        <p:nvSpPr>
          <p:cNvPr name="TextBox 12" id="12"/>
          <p:cNvSpPr txBox="true"/>
          <p:nvPr/>
        </p:nvSpPr>
        <p:spPr>
          <a:xfrm rot="0">
            <a:off x="2559025" y="5859913"/>
            <a:ext cx="17916382" cy="664378"/>
          </a:xfrm>
          <a:prstGeom prst="rect">
            <a:avLst/>
          </a:prstGeom>
        </p:spPr>
        <p:txBody>
          <a:bodyPr anchor="t" rtlCol="false" tIns="0" lIns="0" bIns="0" rIns="0">
            <a:spAutoFit/>
          </a:bodyPr>
          <a:lstStyle/>
          <a:p>
            <a:pPr algn="l">
              <a:lnSpc>
                <a:spcPts val="3911"/>
              </a:lnSpc>
            </a:pPr>
            <a:r>
              <a:rPr lang="en-US" sz="2546" spc="407">
                <a:solidFill>
                  <a:srgbClr val="14543C"/>
                </a:solidFill>
                <a:latin typeface="Georgia"/>
                <a:ea typeface="Georgia"/>
                <a:cs typeface="Georgia"/>
                <a:sym typeface="Georgia"/>
              </a:rPr>
              <a:t>INCLUDED AT NO ADDITIONAL COST</a:t>
            </a:r>
          </a:p>
        </p:txBody>
      </p:sp>
      <p:sp>
        <p:nvSpPr>
          <p:cNvPr name="TextBox 13" id="13"/>
          <p:cNvSpPr txBox="true"/>
          <p:nvPr/>
        </p:nvSpPr>
        <p:spPr>
          <a:xfrm rot="0">
            <a:off x="2559025" y="6676425"/>
            <a:ext cx="16773020"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Where the Client does not have an appropriate digital foundation, or it requires a refresh, the following may be included within the implementation:</a:t>
            </a:r>
          </a:p>
        </p:txBody>
      </p:sp>
      <p:sp>
        <p:nvSpPr>
          <p:cNvPr name="TextBox 14" id="14"/>
          <p:cNvSpPr txBox="true"/>
          <p:nvPr/>
        </p:nvSpPr>
        <p:spPr>
          <a:xfrm rot="0">
            <a:off x="2559025" y="8293627"/>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5" id="15"/>
          <p:cNvSpPr txBox="true"/>
          <p:nvPr/>
        </p:nvSpPr>
        <p:spPr>
          <a:xfrm rot="0">
            <a:off x="3167586" y="8293627"/>
            <a:ext cx="663501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Professional website build or refresh</a:t>
            </a:r>
          </a:p>
        </p:txBody>
      </p:sp>
      <p:sp>
        <p:nvSpPr>
          <p:cNvPr name="TextBox 16" id="16"/>
          <p:cNvSpPr txBox="true"/>
          <p:nvPr/>
        </p:nvSpPr>
        <p:spPr>
          <a:xfrm rot="0">
            <a:off x="11049371" y="8293627"/>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7" id="17"/>
          <p:cNvSpPr txBox="true"/>
          <p:nvPr/>
        </p:nvSpPr>
        <p:spPr>
          <a:xfrm rot="0">
            <a:off x="11657924" y="8293627"/>
            <a:ext cx="282226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Branding basics</a:t>
            </a:r>
          </a:p>
        </p:txBody>
      </p:sp>
      <p:sp>
        <p:nvSpPr>
          <p:cNvPr name="TextBox 18" id="18"/>
          <p:cNvSpPr txBox="true"/>
          <p:nvPr/>
        </p:nvSpPr>
        <p:spPr>
          <a:xfrm rot="0">
            <a:off x="2559025" y="9129189"/>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19" id="19"/>
          <p:cNvSpPr txBox="true"/>
          <p:nvPr/>
        </p:nvSpPr>
        <p:spPr>
          <a:xfrm rot="0">
            <a:off x="3167586" y="9129189"/>
            <a:ext cx="536705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Google Business Profile setup</a:t>
            </a:r>
          </a:p>
        </p:txBody>
      </p:sp>
      <p:sp>
        <p:nvSpPr>
          <p:cNvPr name="TextBox 20" id="20"/>
          <p:cNvSpPr txBox="true"/>
          <p:nvPr/>
        </p:nvSpPr>
        <p:spPr>
          <a:xfrm rot="0">
            <a:off x="11049371" y="9129189"/>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1" id="21"/>
          <p:cNvSpPr txBox="true"/>
          <p:nvPr/>
        </p:nvSpPr>
        <p:spPr>
          <a:xfrm rot="0">
            <a:off x="11657924" y="9129189"/>
            <a:ext cx="457534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Project / portfolio gallery</a:t>
            </a:r>
          </a:p>
        </p:txBody>
      </p:sp>
      <p:sp>
        <p:nvSpPr>
          <p:cNvPr name="TextBox 22" id="22"/>
          <p:cNvSpPr txBox="true"/>
          <p:nvPr/>
        </p:nvSpPr>
        <p:spPr>
          <a:xfrm rot="0">
            <a:off x="2559025" y="9964741"/>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3" id="23"/>
          <p:cNvSpPr txBox="true"/>
          <p:nvPr/>
        </p:nvSpPr>
        <p:spPr>
          <a:xfrm rot="0">
            <a:off x="3167586" y="9964741"/>
            <a:ext cx="287617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Basic SEO setup</a:t>
            </a:r>
          </a:p>
        </p:txBody>
      </p:sp>
      <p:sp>
        <p:nvSpPr>
          <p:cNvPr name="TextBox 24" id="24"/>
          <p:cNvSpPr txBox="true"/>
          <p:nvPr/>
        </p:nvSpPr>
        <p:spPr>
          <a:xfrm rot="0">
            <a:off x="11049371" y="9964741"/>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5" id="25"/>
          <p:cNvSpPr txBox="true"/>
          <p:nvPr/>
        </p:nvSpPr>
        <p:spPr>
          <a:xfrm rot="0">
            <a:off x="11657924" y="9964741"/>
            <a:ext cx="340176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Lead capture forms</a:t>
            </a:r>
          </a:p>
        </p:txBody>
      </p:sp>
      <p:sp>
        <p:nvSpPr>
          <p:cNvPr name="TextBox 26" id="26"/>
          <p:cNvSpPr txBox="true"/>
          <p:nvPr/>
        </p:nvSpPr>
        <p:spPr>
          <a:xfrm rot="0">
            <a:off x="2559025" y="10800302"/>
            <a:ext cx="449942" cy="1357265"/>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7" id="27"/>
          <p:cNvSpPr txBox="true"/>
          <p:nvPr/>
        </p:nvSpPr>
        <p:spPr>
          <a:xfrm rot="0">
            <a:off x="3167586" y="10800302"/>
            <a:ext cx="5534882"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Customer database health check</a:t>
            </a:r>
          </a:p>
        </p:txBody>
      </p:sp>
      <p:sp>
        <p:nvSpPr>
          <p:cNvPr name="TextBox 28" id="28"/>
          <p:cNvSpPr txBox="true"/>
          <p:nvPr/>
        </p:nvSpPr>
        <p:spPr>
          <a:xfrm rot="0">
            <a:off x="11049371" y="10800302"/>
            <a:ext cx="449942" cy="1357265"/>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29" id="29"/>
          <p:cNvSpPr txBox="true"/>
          <p:nvPr/>
        </p:nvSpPr>
        <p:spPr>
          <a:xfrm rot="0">
            <a:off x="11657924" y="10800302"/>
            <a:ext cx="7401144"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Festive or seasonal WhatsApp broadcast template</a:t>
            </a:r>
          </a:p>
        </p:txBody>
      </p:sp>
      <p:sp>
        <p:nvSpPr>
          <p:cNvPr name="TextBox 30" id="30"/>
          <p:cNvSpPr txBox="true"/>
          <p:nvPr/>
        </p:nvSpPr>
        <p:spPr>
          <a:xfrm rot="0">
            <a:off x="1858232" y="13054870"/>
            <a:ext cx="18216648" cy="82772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These foundation components are included as a bonus and are not separately charged.</a:t>
            </a:r>
          </a:p>
        </p:txBody>
      </p:sp>
      <p:sp>
        <p:nvSpPr>
          <p:cNvPr name="TextBox 31" id="31"/>
          <p:cNvSpPr txBox="true"/>
          <p:nvPr/>
        </p:nvSpPr>
        <p:spPr>
          <a:xfrm rot="0">
            <a:off x="1858232" y="15225532"/>
            <a:ext cx="726643"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09</a:t>
            </a:r>
          </a:p>
        </p:txBody>
      </p:sp>
      <p:sp>
        <p:nvSpPr>
          <p:cNvPr name="TextBox 32" id="32"/>
          <p:cNvSpPr txBox="true"/>
          <p:nvPr/>
        </p:nvSpPr>
        <p:spPr>
          <a:xfrm rot="0">
            <a:off x="2825906" y="14664099"/>
            <a:ext cx="9166822"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Outreach infrastructure</a:t>
            </a:r>
          </a:p>
        </p:txBody>
      </p:sp>
      <p:sp>
        <p:nvSpPr>
          <p:cNvPr name="TextBox 33" id="33"/>
          <p:cNvSpPr txBox="true"/>
          <p:nvPr/>
        </p:nvSpPr>
        <p:spPr>
          <a:xfrm rot="0">
            <a:off x="1858232" y="16406622"/>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4" id="34"/>
          <p:cNvSpPr txBox="true"/>
          <p:nvPr/>
        </p:nvSpPr>
        <p:spPr>
          <a:xfrm rot="0">
            <a:off x="2466794" y="16406622"/>
            <a:ext cx="324131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Outreach domains</a:t>
            </a:r>
          </a:p>
        </p:txBody>
      </p:sp>
      <p:sp>
        <p:nvSpPr>
          <p:cNvPr name="TextBox 35" id="35"/>
          <p:cNvSpPr txBox="true"/>
          <p:nvPr/>
        </p:nvSpPr>
        <p:spPr>
          <a:xfrm rot="0">
            <a:off x="11049371" y="16406622"/>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6" id="36"/>
          <p:cNvSpPr txBox="true"/>
          <p:nvPr/>
        </p:nvSpPr>
        <p:spPr>
          <a:xfrm rot="0">
            <a:off x="11657924" y="16406622"/>
            <a:ext cx="844729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Required outreach email accounts / mailboxes</a:t>
            </a:r>
          </a:p>
        </p:txBody>
      </p:sp>
      <p:sp>
        <p:nvSpPr>
          <p:cNvPr name="TextBox 37" id="37"/>
          <p:cNvSpPr txBox="true"/>
          <p:nvPr/>
        </p:nvSpPr>
        <p:spPr>
          <a:xfrm rot="0">
            <a:off x="1858232" y="17242184"/>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38" id="38"/>
          <p:cNvSpPr txBox="true"/>
          <p:nvPr/>
        </p:nvSpPr>
        <p:spPr>
          <a:xfrm rot="0">
            <a:off x="2466794" y="17242184"/>
            <a:ext cx="626717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infrastructure configuration</a:t>
            </a:r>
          </a:p>
        </p:txBody>
      </p:sp>
      <p:sp>
        <p:nvSpPr>
          <p:cNvPr name="TextBox 39" id="39"/>
          <p:cNvSpPr txBox="true"/>
          <p:nvPr/>
        </p:nvSpPr>
        <p:spPr>
          <a:xfrm rot="0">
            <a:off x="11049371" y="17242184"/>
            <a:ext cx="449942" cy="764286"/>
          </a:xfrm>
          <a:prstGeom prst="rect">
            <a:avLst/>
          </a:prstGeom>
        </p:spPr>
        <p:txBody>
          <a:bodyPr anchor="t" rtlCol="false" tIns="0" lIns="0" bIns="0" rIns="0">
            <a:spAutoFit/>
          </a:bodyPr>
          <a:lstStyle/>
          <a:p>
            <a:pPr algn="l">
              <a:lnSpc>
                <a:spcPts val="4698"/>
              </a:lnSpc>
            </a:pPr>
            <a:r>
              <a:rPr lang="en-US" sz="2971">
                <a:solidFill>
                  <a:srgbClr val="4FA97F"/>
                </a:solidFill>
                <a:latin typeface="Georgia"/>
                <a:ea typeface="Georgia"/>
                <a:cs typeface="Georgia"/>
                <a:sym typeface="Georgia"/>
              </a:rPr>
              <a:t>✓</a:t>
            </a:r>
          </a:p>
        </p:txBody>
      </p:sp>
      <p:sp>
        <p:nvSpPr>
          <p:cNvPr name="TextBox 40" id="40"/>
          <p:cNvSpPr txBox="true"/>
          <p:nvPr/>
        </p:nvSpPr>
        <p:spPr>
          <a:xfrm rot="0">
            <a:off x="11657924" y="17242184"/>
            <a:ext cx="560053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Outreach system configuration</a:t>
            </a:r>
          </a:p>
        </p:txBody>
      </p:sp>
      <p:grpSp>
        <p:nvGrpSpPr>
          <p:cNvPr name="Group 41" id="41"/>
          <p:cNvGrpSpPr/>
          <p:nvPr/>
        </p:nvGrpSpPr>
        <p:grpSpPr>
          <a:xfrm rot="0">
            <a:off x="1832839" y="18517029"/>
            <a:ext cx="17735379" cy="2910973"/>
            <a:chOff x="0" y="0"/>
            <a:chExt cx="23647171" cy="3881298"/>
          </a:xfrm>
        </p:grpSpPr>
        <p:sp>
          <p:nvSpPr>
            <p:cNvPr name="Freeform 42" id="42"/>
            <p:cNvSpPr/>
            <p:nvPr/>
          </p:nvSpPr>
          <p:spPr>
            <a:xfrm flipH="false" flipV="false" rot="0">
              <a:off x="0" y="0"/>
              <a:ext cx="23647146" cy="3881247"/>
            </a:xfrm>
            <a:custGeom>
              <a:avLst/>
              <a:gdLst/>
              <a:ahLst/>
              <a:cxnLst/>
              <a:rect r="r" b="b" t="t" l="l"/>
              <a:pathLst>
                <a:path h="3881247" w="23647146">
                  <a:moveTo>
                    <a:pt x="0" y="0"/>
                  </a:moveTo>
                  <a:lnTo>
                    <a:pt x="23647146" y="0"/>
                  </a:lnTo>
                  <a:lnTo>
                    <a:pt x="23647146" y="3881247"/>
                  </a:lnTo>
                  <a:lnTo>
                    <a:pt x="0" y="3881247"/>
                  </a:lnTo>
                  <a:close/>
                </a:path>
              </a:pathLst>
            </a:custGeom>
            <a:solidFill>
              <a:srgbClr val="F4F7FE"/>
            </a:solidFill>
          </p:spPr>
        </p:sp>
      </p:grpSp>
      <p:grpSp>
        <p:nvGrpSpPr>
          <p:cNvPr name="Group 43" id="43"/>
          <p:cNvGrpSpPr/>
          <p:nvPr/>
        </p:nvGrpSpPr>
        <p:grpSpPr>
          <a:xfrm rot="0">
            <a:off x="1832839" y="18517029"/>
            <a:ext cx="17735379" cy="107813"/>
            <a:chOff x="0" y="0"/>
            <a:chExt cx="23647171" cy="143751"/>
          </a:xfrm>
        </p:grpSpPr>
        <p:sp>
          <p:nvSpPr>
            <p:cNvPr name="Freeform 44" id="44"/>
            <p:cNvSpPr/>
            <p:nvPr/>
          </p:nvSpPr>
          <p:spPr>
            <a:xfrm flipH="false" flipV="false" rot="0">
              <a:off x="0" y="0"/>
              <a:ext cx="23647146" cy="143764"/>
            </a:xfrm>
            <a:custGeom>
              <a:avLst/>
              <a:gdLst/>
              <a:ahLst/>
              <a:cxnLst/>
              <a:rect r="r" b="b" t="t" l="l"/>
              <a:pathLst>
                <a:path h="143764" w="23647146">
                  <a:moveTo>
                    <a:pt x="0" y="0"/>
                  </a:moveTo>
                  <a:lnTo>
                    <a:pt x="23647146" y="0"/>
                  </a:lnTo>
                  <a:lnTo>
                    <a:pt x="23647146" y="143764"/>
                  </a:lnTo>
                  <a:lnTo>
                    <a:pt x="0" y="143764"/>
                  </a:lnTo>
                  <a:close/>
                </a:path>
              </a:pathLst>
            </a:custGeom>
            <a:solidFill>
              <a:srgbClr val="1A56E8"/>
            </a:solidFill>
          </p:spPr>
        </p:sp>
      </p:grpSp>
      <p:sp>
        <p:nvSpPr>
          <p:cNvPr name="TextBox 45" id="45"/>
          <p:cNvSpPr txBox="true"/>
          <p:nvPr/>
        </p:nvSpPr>
        <p:spPr>
          <a:xfrm rot="0">
            <a:off x="2505123" y="19446488"/>
            <a:ext cx="2763307" cy="824074"/>
          </a:xfrm>
          <a:prstGeom prst="rect">
            <a:avLst/>
          </a:prstGeom>
        </p:spPr>
        <p:txBody>
          <a:bodyPr anchor="t" rtlCol="false" tIns="0" lIns="0" bIns="0" rIns="0">
            <a:spAutoFit/>
          </a:bodyPr>
          <a:lstStyle/>
          <a:p>
            <a:pPr algn="l">
              <a:lnSpc>
                <a:spcPts val="7072"/>
              </a:lnSpc>
            </a:pPr>
            <a:r>
              <a:rPr lang="en-US" sz="8064" b="true">
                <a:solidFill>
                  <a:srgbClr val="1A56E8"/>
                </a:solidFill>
                <a:latin typeface="Playfair Display Bold"/>
                <a:ea typeface="Playfair Display Bold"/>
                <a:cs typeface="Playfair Display Bold"/>
                <a:sym typeface="Playfair Display Bold"/>
              </a:rPr>
              <a:t>1,000</a:t>
            </a:r>
          </a:p>
        </p:txBody>
      </p:sp>
      <p:sp>
        <p:nvSpPr>
          <p:cNvPr name="TextBox 46" id="46"/>
          <p:cNvSpPr txBox="true"/>
          <p:nvPr/>
        </p:nvSpPr>
        <p:spPr>
          <a:xfrm rot="0">
            <a:off x="5642677" y="19614090"/>
            <a:ext cx="13652383" cy="1357265"/>
          </a:xfrm>
          <a:prstGeom prst="rect">
            <a:avLst/>
          </a:prstGeom>
        </p:spPr>
        <p:txBody>
          <a:bodyPr anchor="t" rtlCol="false" tIns="0" lIns="0" bIns="0" rIns="0">
            <a:spAutoFit/>
          </a:bodyPr>
          <a:lstStyle/>
          <a:p>
            <a:pPr algn="l">
              <a:lnSpc>
                <a:spcPts val="4698"/>
              </a:lnSpc>
            </a:pPr>
            <a:r>
              <a:rPr lang="en-US" sz="2971">
                <a:solidFill>
                  <a:srgbClr val="3B475C"/>
                </a:solidFill>
                <a:latin typeface="Georgia"/>
                <a:ea typeface="Georgia"/>
                <a:cs typeface="Georgia"/>
                <a:sym typeface="Georgia"/>
              </a:rPr>
              <a:t>verified ICP prospects per month — the outreach capacity the included infrastructure is designed around. Covered for the first 12 months.</a:t>
            </a:r>
          </a:p>
        </p:txBody>
      </p:sp>
      <p:grpSp>
        <p:nvGrpSpPr>
          <p:cNvPr name="Group 47" id="47"/>
          <p:cNvGrpSpPr/>
          <p:nvPr/>
        </p:nvGrpSpPr>
        <p:grpSpPr>
          <a:xfrm rot="0">
            <a:off x="1832839" y="27627301"/>
            <a:ext cx="17735379" cy="26956"/>
            <a:chOff x="0" y="0"/>
            <a:chExt cx="23647171" cy="35941"/>
          </a:xfrm>
        </p:grpSpPr>
        <p:sp>
          <p:nvSpPr>
            <p:cNvPr name="Freeform 48" id="48"/>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9" id="49"/>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50" id="50"/>
          <p:cNvSpPr txBox="true"/>
          <p:nvPr/>
        </p:nvSpPr>
        <p:spPr>
          <a:xfrm rot="0">
            <a:off x="19396100" y="28034713"/>
            <a:ext cx="362341"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4768522" y="1674219"/>
            <a:ext cx="5256800"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DELIVERABLE &amp; TIMELINE</a:t>
            </a:r>
          </a:p>
        </p:txBody>
      </p:sp>
      <p:sp>
        <p:nvSpPr>
          <p:cNvPr name="TextBox 6" id="6"/>
          <p:cNvSpPr txBox="true"/>
          <p:nvPr/>
        </p:nvSpPr>
        <p:spPr>
          <a:xfrm rot="0">
            <a:off x="1858232" y="3905079"/>
            <a:ext cx="666417"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10</a:t>
            </a:r>
          </a:p>
        </p:txBody>
      </p:sp>
      <p:sp>
        <p:nvSpPr>
          <p:cNvPr name="TextBox 7" id="7"/>
          <p:cNvSpPr txBox="true"/>
          <p:nvPr/>
        </p:nvSpPr>
        <p:spPr>
          <a:xfrm rot="0">
            <a:off x="2765679" y="3343646"/>
            <a:ext cx="10509733"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Implementation deliverable</a:t>
            </a:r>
          </a:p>
        </p:txBody>
      </p:sp>
      <p:sp>
        <p:nvSpPr>
          <p:cNvPr name="TextBox 8" id="8"/>
          <p:cNvSpPr txBox="true"/>
          <p:nvPr/>
        </p:nvSpPr>
        <p:spPr>
          <a:xfrm rot="0">
            <a:off x="1858232" y="5076644"/>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At completion, the Client receives the configured Business Growth System, including the agreed:</a:t>
            </a:r>
          </a:p>
        </p:txBody>
      </p:sp>
      <p:grpSp>
        <p:nvGrpSpPr>
          <p:cNvPr name="Group 9" id="9"/>
          <p:cNvGrpSpPr/>
          <p:nvPr/>
        </p:nvGrpSpPr>
        <p:grpSpPr>
          <a:xfrm rot="0">
            <a:off x="1832839" y="6468828"/>
            <a:ext cx="134769" cy="134769"/>
            <a:chOff x="0" y="0"/>
            <a:chExt cx="179692" cy="179692"/>
          </a:xfrm>
        </p:grpSpPr>
        <p:sp>
          <p:nvSpPr>
            <p:cNvPr name="Freeform 10" id="1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1" id="11"/>
          <p:cNvSpPr txBox="true"/>
          <p:nvPr/>
        </p:nvSpPr>
        <p:spPr>
          <a:xfrm rot="0">
            <a:off x="2262540" y="6164304"/>
            <a:ext cx="468559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Customer growth systems</a:t>
            </a:r>
          </a:p>
        </p:txBody>
      </p:sp>
      <p:grpSp>
        <p:nvGrpSpPr>
          <p:cNvPr name="Group 12" id="12"/>
          <p:cNvGrpSpPr/>
          <p:nvPr/>
        </p:nvGrpSpPr>
        <p:grpSpPr>
          <a:xfrm rot="0">
            <a:off x="11023968" y="6468828"/>
            <a:ext cx="134769" cy="134769"/>
            <a:chOff x="0" y="0"/>
            <a:chExt cx="179692" cy="179692"/>
          </a:xfrm>
        </p:grpSpPr>
        <p:sp>
          <p:nvSpPr>
            <p:cNvPr name="Freeform 13" id="1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4" id="14"/>
          <p:cNvSpPr txBox="true"/>
          <p:nvPr/>
        </p:nvSpPr>
        <p:spPr>
          <a:xfrm rot="0">
            <a:off x="11453670" y="6164304"/>
            <a:ext cx="526838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Commercial outreach system</a:t>
            </a:r>
          </a:p>
        </p:txBody>
      </p:sp>
      <p:grpSp>
        <p:nvGrpSpPr>
          <p:cNvPr name="Group 15" id="15"/>
          <p:cNvGrpSpPr/>
          <p:nvPr/>
        </p:nvGrpSpPr>
        <p:grpSpPr>
          <a:xfrm rot="0">
            <a:off x="1832839" y="7304389"/>
            <a:ext cx="134769" cy="134769"/>
            <a:chOff x="0" y="0"/>
            <a:chExt cx="179692" cy="179692"/>
          </a:xfrm>
        </p:grpSpPr>
        <p:sp>
          <p:nvSpPr>
            <p:cNvPr name="Freeform 16" id="1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7" id="17"/>
          <p:cNvSpPr txBox="true"/>
          <p:nvPr/>
        </p:nvSpPr>
        <p:spPr>
          <a:xfrm rot="0">
            <a:off x="2262540" y="6999865"/>
            <a:ext cx="240070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system</a:t>
            </a:r>
          </a:p>
        </p:txBody>
      </p:sp>
      <p:grpSp>
        <p:nvGrpSpPr>
          <p:cNvPr name="Group 18" id="18"/>
          <p:cNvGrpSpPr/>
          <p:nvPr/>
        </p:nvGrpSpPr>
        <p:grpSpPr>
          <a:xfrm rot="0">
            <a:off x="11023968" y="7304389"/>
            <a:ext cx="134769" cy="134769"/>
            <a:chOff x="0" y="0"/>
            <a:chExt cx="179692" cy="179692"/>
          </a:xfrm>
        </p:grpSpPr>
        <p:sp>
          <p:nvSpPr>
            <p:cNvPr name="Freeform 19" id="19"/>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0" id="20"/>
          <p:cNvSpPr txBox="true"/>
          <p:nvPr/>
        </p:nvSpPr>
        <p:spPr>
          <a:xfrm rot="0">
            <a:off x="11453670" y="6999865"/>
            <a:ext cx="316845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WhatsApp system</a:t>
            </a:r>
          </a:p>
        </p:txBody>
      </p:sp>
      <p:grpSp>
        <p:nvGrpSpPr>
          <p:cNvPr name="Group 21" id="21"/>
          <p:cNvGrpSpPr/>
          <p:nvPr/>
        </p:nvGrpSpPr>
        <p:grpSpPr>
          <a:xfrm rot="0">
            <a:off x="1832839" y="8139951"/>
            <a:ext cx="134769" cy="134769"/>
            <a:chOff x="0" y="0"/>
            <a:chExt cx="179692" cy="179692"/>
          </a:xfrm>
        </p:grpSpPr>
        <p:sp>
          <p:nvSpPr>
            <p:cNvPr name="Freeform 22" id="22"/>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3" id="23"/>
          <p:cNvSpPr txBox="true"/>
          <p:nvPr/>
        </p:nvSpPr>
        <p:spPr>
          <a:xfrm rot="0">
            <a:off x="2262540" y="7835417"/>
            <a:ext cx="331670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Database structure</a:t>
            </a:r>
          </a:p>
        </p:txBody>
      </p:sp>
      <p:grpSp>
        <p:nvGrpSpPr>
          <p:cNvPr name="Group 24" id="24"/>
          <p:cNvGrpSpPr/>
          <p:nvPr/>
        </p:nvGrpSpPr>
        <p:grpSpPr>
          <a:xfrm rot="0">
            <a:off x="11023968" y="8139951"/>
            <a:ext cx="134769" cy="134769"/>
            <a:chOff x="0" y="0"/>
            <a:chExt cx="179692" cy="179692"/>
          </a:xfrm>
        </p:grpSpPr>
        <p:sp>
          <p:nvSpPr>
            <p:cNvPr name="Freeform 25" id="25"/>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6" id="26"/>
          <p:cNvSpPr txBox="true"/>
          <p:nvPr/>
        </p:nvSpPr>
        <p:spPr>
          <a:xfrm rot="0">
            <a:off x="11453670" y="7835417"/>
            <a:ext cx="376741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structures</a:t>
            </a:r>
          </a:p>
        </p:txBody>
      </p:sp>
      <p:grpSp>
        <p:nvGrpSpPr>
          <p:cNvPr name="Group 27" id="27"/>
          <p:cNvGrpSpPr/>
          <p:nvPr/>
        </p:nvGrpSpPr>
        <p:grpSpPr>
          <a:xfrm rot="0">
            <a:off x="1832839" y="8975503"/>
            <a:ext cx="134769" cy="134769"/>
            <a:chOff x="0" y="0"/>
            <a:chExt cx="179692" cy="179692"/>
          </a:xfrm>
        </p:grpSpPr>
        <p:sp>
          <p:nvSpPr>
            <p:cNvPr name="Freeform 28" id="28"/>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9" id="29"/>
          <p:cNvSpPr txBox="true"/>
          <p:nvPr/>
        </p:nvSpPr>
        <p:spPr>
          <a:xfrm rot="0">
            <a:off x="2262540" y="8670979"/>
            <a:ext cx="215853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Automation</a:t>
            </a:r>
          </a:p>
        </p:txBody>
      </p:sp>
      <p:grpSp>
        <p:nvGrpSpPr>
          <p:cNvPr name="Group 30" id="30"/>
          <p:cNvGrpSpPr/>
          <p:nvPr/>
        </p:nvGrpSpPr>
        <p:grpSpPr>
          <a:xfrm rot="0">
            <a:off x="11023968" y="8975503"/>
            <a:ext cx="134769" cy="134769"/>
            <a:chOff x="0" y="0"/>
            <a:chExt cx="179692" cy="179692"/>
          </a:xfrm>
        </p:grpSpPr>
        <p:sp>
          <p:nvSpPr>
            <p:cNvPr name="Freeform 31" id="31"/>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32" id="32"/>
          <p:cNvSpPr txBox="true"/>
          <p:nvPr/>
        </p:nvSpPr>
        <p:spPr>
          <a:xfrm rot="0">
            <a:off x="11453670" y="8670979"/>
            <a:ext cx="650297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Digital foundation where applicable</a:t>
            </a:r>
          </a:p>
        </p:txBody>
      </p:sp>
      <p:grpSp>
        <p:nvGrpSpPr>
          <p:cNvPr name="Group 33" id="33"/>
          <p:cNvGrpSpPr/>
          <p:nvPr/>
        </p:nvGrpSpPr>
        <p:grpSpPr>
          <a:xfrm rot="0">
            <a:off x="1832839" y="9811064"/>
            <a:ext cx="134769" cy="134769"/>
            <a:chOff x="0" y="0"/>
            <a:chExt cx="179692" cy="179692"/>
          </a:xfrm>
        </p:grpSpPr>
        <p:sp>
          <p:nvSpPr>
            <p:cNvPr name="Freeform 34" id="34"/>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35" id="35"/>
          <p:cNvSpPr txBox="true"/>
          <p:nvPr/>
        </p:nvSpPr>
        <p:spPr>
          <a:xfrm rot="0">
            <a:off x="2262540" y="9506531"/>
            <a:ext cx="430433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Outreach infrastructure</a:t>
            </a:r>
          </a:p>
        </p:txBody>
      </p:sp>
      <p:grpSp>
        <p:nvGrpSpPr>
          <p:cNvPr name="Group 36" id="36"/>
          <p:cNvGrpSpPr/>
          <p:nvPr/>
        </p:nvGrpSpPr>
        <p:grpSpPr>
          <a:xfrm rot="0">
            <a:off x="11023968" y="9811064"/>
            <a:ext cx="134769" cy="134769"/>
            <a:chOff x="0" y="0"/>
            <a:chExt cx="179692" cy="179692"/>
          </a:xfrm>
        </p:grpSpPr>
        <p:sp>
          <p:nvSpPr>
            <p:cNvPr name="Freeform 37" id="37"/>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38" id="38"/>
          <p:cNvSpPr txBox="true"/>
          <p:nvPr/>
        </p:nvSpPr>
        <p:spPr>
          <a:xfrm rot="0">
            <a:off x="11453670" y="9506531"/>
            <a:ext cx="408567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Handover information</a:t>
            </a:r>
          </a:p>
        </p:txBody>
      </p:sp>
      <p:sp>
        <p:nvSpPr>
          <p:cNvPr name="TextBox 39" id="39"/>
          <p:cNvSpPr txBox="true"/>
          <p:nvPr/>
        </p:nvSpPr>
        <p:spPr>
          <a:xfrm rot="0">
            <a:off x="1858232" y="10521239"/>
            <a:ext cx="18216648" cy="82772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 Client can operate the completed system internally if it does not select the Care Plan.</a:t>
            </a:r>
          </a:p>
        </p:txBody>
      </p:sp>
      <p:sp>
        <p:nvSpPr>
          <p:cNvPr name="TextBox 40" id="40"/>
          <p:cNvSpPr txBox="true"/>
          <p:nvPr/>
        </p:nvSpPr>
        <p:spPr>
          <a:xfrm rot="0">
            <a:off x="1858232" y="12691910"/>
            <a:ext cx="571652"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11</a:t>
            </a:r>
          </a:p>
        </p:txBody>
      </p:sp>
      <p:sp>
        <p:nvSpPr>
          <p:cNvPr name="TextBox 41" id="41"/>
          <p:cNvSpPr txBox="true"/>
          <p:nvPr/>
        </p:nvSpPr>
        <p:spPr>
          <a:xfrm rot="0">
            <a:off x="2670924" y="12130478"/>
            <a:ext cx="9474479"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Implementation timeline</a:t>
            </a:r>
          </a:p>
        </p:txBody>
      </p:sp>
      <p:sp>
        <p:nvSpPr>
          <p:cNvPr name="TextBox 42" id="42"/>
          <p:cNvSpPr txBox="true"/>
          <p:nvPr/>
        </p:nvSpPr>
        <p:spPr>
          <a:xfrm rot="0">
            <a:off x="1858232" y="13755662"/>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Estimated implementation period: </a:t>
            </a:r>
            <a:r>
              <a:rPr lang="en-US" sz="3183" b="true">
                <a:solidFill>
                  <a:srgbClr val="1B2437"/>
                </a:solidFill>
                <a:latin typeface="Georgia Bold"/>
                <a:ea typeface="Georgia Bold"/>
                <a:cs typeface="Georgia Bold"/>
                <a:sym typeface="Georgia Bold"/>
              </a:rPr>
              <a:t>4–5 weeks</a:t>
            </a:r>
          </a:p>
        </p:txBody>
      </p:sp>
      <p:grpSp>
        <p:nvGrpSpPr>
          <p:cNvPr name="Group 43" id="43"/>
          <p:cNvGrpSpPr/>
          <p:nvPr/>
        </p:nvGrpSpPr>
        <p:grpSpPr>
          <a:xfrm rot="0">
            <a:off x="1832839" y="16212512"/>
            <a:ext cx="2884018" cy="26956"/>
            <a:chOff x="0" y="0"/>
            <a:chExt cx="3845357" cy="35941"/>
          </a:xfrm>
        </p:grpSpPr>
        <p:sp>
          <p:nvSpPr>
            <p:cNvPr name="Freeform 44" id="44"/>
            <p:cNvSpPr/>
            <p:nvPr/>
          </p:nvSpPr>
          <p:spPr>
            <a:xfrm flipH="false" flipV="false" rot="0">
              <a:off x="0" y="0"/>
              <a:ext cx="3845306" cy="35941"/>
            </a:xfrm>
            <a:custGeom>
              <a:avLst/>
              <a:gdLst/>
              <a:ahLst/>
              <a:cxnLst/>
              <a:rect r="r" b="b" t="t" l="l"/>
              <a:pathLst>
                <a:path h="35941" w="3845306">
                  <a:moveTo>
                    <a:pt x="0" y="0"/>
                  </a:moveTo>
                  <a:lnTo>
                    <a:pt x="3845306" y="0"/>
                  </a:lnTo>
                  <a:lnTo>
                    <a:pt x="3845306" y="35941"/>
                  </a:lnTo>
                  <a:lnTo>
                    <a:pt x="0" y="35941"/>
                  </a:lnTo>
                  <a:close/>
                </a:path>
              </a:pathLst>
            </a:custGeom>
            <a:solidFill>
              <a:srgbClr val="E3E7EE"/>
            </a:solidFill>
          </p:spPr>
        </p:sp>
      </p:grpSp>
      <p:sp>
        <p:nvSpPr>
          <p:cNvPr name="TextBox 45" id="45"/>
          <p:cNvSpPr txBox="true"/>
          <p:nvPr/>
        </p:nvSpPr>
        <p:spPr>
          <a:xfrm rot="0">
            <a:off x="1858232" y="15220674"/>
            <a:ext cx="2617594" cy="750818"/>
          </a:xfrm>
          <a:prstGeom prst="rect">
            <a:avLst/>
          </a:prstGeom>
        </p:spPr>
        <p:txBody>
          <a:bodyPr anchor="t" rtlCol="false" tIns="0" lIns="0" bIns="0" rIns="0">
            <a:spAutoFit/>
          </a:bodyPr>
          <a:lstStyle/>
          <a:p>
            <a:pPr algn="l">
              <a:lnSpc>
                <a:spcPts val="4698"/>
              </a:lnSpc>
            </a:pPr>
            <a:r>
              <a:rPr lang="en-US" sz="2971">
                <a:solidFill>
                  <a:srgbClr val="1A56E8"/>
                </a:solidFill>
                <a:latin typeface="Georgia"/>
                <a:ea typeface="Georgia"/>
                <a:cs typeface="Georgia"/>
                <a:sym typeface="Georgia"/>
              </a:rPr>
              <a:t>Week 1</a:t>
            </a:r>
          </a:p>
        </p:txBody>
      </p:sp>
      <p:grpSp>
        <p:nvGrpSpPr>
          <p:cNvPr name="Group 46" id="46"/>
          <p:cNvGrpSpPr/>
          <p:nvPr/>
        </p:nvGrpSpPr>
        <p:grpSpPr>
          <a:xfrm rot="0">
            <a:off x="4716856" y="16212512"/>
            <a:ext cx="14851361" cy="26956"/>
            <a:chOff x="0" y="0"/>
            <a:chExt cx="19801815" cy="35941"/>
          </a:xfrm>
        </p:grpSpPr>
        <p:sp>
          <p:nvSpPr>
            <p:cNvPr name="Freeform 47" id="47"/>
            <p:cNvSpPr/>
            <p:nvPr/>
          </p:nvSpPr>
          <p:spPr>
            <a:xfrm flipH="false" flipV="false" rot="0">
              <a:off x="0" y="0"/>
              <a:ext cx="19801839" cy="35941"/>
            </a:xfrm>
            <a:custGeom>
              <a:avLst/>
              <a:gdLst/>
              <a:ahLst/>
              <a:cxnLst/>
              <a:rect r="r" b="b" t="t" l="l"/>
              <a:pathLst>
                <a:path h="35941" w="19801839">
                  <a:moveTo>
                    <a:pt x="0" y="0"/>
                  </a:moveTo>
                  <a:lnTo>
                    <a:pt x="19801839" y="0"/>
                  </a:lnTo>
                  <a:lnTo>
                    <a:pt x="19801839" y="35941"/>
                  </a:lnTo>
                  <a:lnTo>
                    <a:pt x="0" y="35941"/>
                  </a:lnTo>
                  <a:close/>
                </a:path>
              </a:pathLst>
            </a:custGeom>
            <a:solidFill>
              <a:srgbClr val="E3E7EE"/>
            </a:solidFill>
          </p:spPr>
        </p:sp>
      </p:grpSp>
      <p:grpSp>
        <p:nvGrpSpPr>
          <p:cNvPr name="Group 48" id="48"/>
          <p:cNvGrpSpPr/>
          <p:nvPr/>
        </p:nvGrpSpPr>
        <p:grpSpPr>
          <a:xfrm rot="0">
            <a:off x="4716856" y="15309571"/>
            <a:ext cx="15296902" cy="687314"/>
            <a:chOff x="0" y="0"/>
            <a:chExt cx="20395870" cy="916419"/>
          </a:xfrm>
        </p:grpSpPr>
        <p:sp>
          <p:nvSpPr>
            <p:cNvPr name="Freeform 49" id="49"/>
            <p:cNvSpPr/>
            <p:nvPr/>
          </p:nvSpPr>
          <p:spPr>
            <a:xfrm flipH="false" flipV="false" rot="0">
              <a:off x="0" y="0"/>
              <a:ext cx="20395868" cy="916420"/>
            </a:xfrm>
            <a:custGeom>
              <a:avLst/>
              <a:gdLst/>
              <a:ahLst/>
              <a:cxnLst/>
              <a:rect r="r" b="b" t="t" l="l"/>
              <a:pathLst>
                <a:path h="916420" w="20395868">
                  <a:moveTo>
                    <a:pt x="0" y="0"/>
                  </a:moveTo>
                  <a:lnTo>
                    <a:pt x="20395868" y="0"/>
                  </a:lnTo>
                  <a:lnTo>
                    <a:pt x="20395868" y="916420"/>
                  </a:lnTo>
                  <a:lnTo>
                    <a:pt x="0" y="916420"/>
                  </a:lnTo>
                  <a:close/>
                </a:path>
              </a:pathLst>
            </a:custGeom>
            <a:blipFill>
              <a:blip r:embed="rId3">
                <a:alphaModFix amt="0"/>
              </a:blip>
              <a:stretch>
                <a:fillRect l="0" t="-383659" r="0" b="-383659"/>
              </a:stretch>
            </a:blipFill>
          </p:spPr>
        </p:sp>
        <p:sp>
          <p:nvSpPr>
            <p:cNvPr name="TextBox 50" id="50"/>
            <p:cNvSpPr txBox="true"/>
            <p:nvPr/>
          </p:nvSpPr>
          <p:spPr>
            <a:xfrm>
              <a:off x="0" y="-114300"/>
              <a:ext cx="20395870" cy="1030719"/>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Onboarding, business audit, customer database and ICP planning</a:t>
              </a:r>
            </a:p>
          </p:txBody>
        </p:sp>
      </p:grpSp>
      <p:grpSp>
        <p:nvGrpSpPr>
          <p:cNvPr name="Group 51" id="51"/>
          <p:cNvGrpSpPr/>
          <p:nvPr/>
        </p:nvGrpSpPr>
        <p:grpSpPr>
          <a:xfrm rot="0">
            <a:off x="1832839" y="17479327"/>
            <a:ext cx="2884018" cy="26956"/>
            <a:chOff x="0" y="0"/>
            <a:chExt cx="3845357" cy="35941"/>
          </a:xfrm>
        </p:grpSpPr>
        <p:sp>
          <p:nvSpPr>
            <p:cNvPr name="Freeform 52" id="52"/>
            <p:cNvSpPr/>
            <p:nvPr/>
          </p:nvSpPr>
          <p:spPr>
            <a:xfrm flipH="false" flipV="false" rot="0">
              <a:off x="0" y="0"/>
              <a:ext cx="3845306" cy="35941"/>
            </a:xfrm>
            <a:custGeom>
              <a:avLst/>
              <a:gdLst/>
              <a:ahLst/>
              <a:cxnLst/>
              <a:rect r="r" b="b" t="t" l="l"/>
              <a:pathLst>
                <a:path h="35941" w="3845306">
                  <a:moveTo>
                    <a:pt x="0" y="0"/>
                  </a:moveTo>
                  <a:lnTo>
                    <a:pt x="3845306" y="0"/>
                  </a:lnTo>
                  <a:lnTo>
                    <a:pt x="3845306" y="35941"/>
                  </a:lnTo>
                  <a:lnTo>
                    <a:pt x="0" y="35941"/>
                  </a:lnTo>
                  <a:close/>
                </a:path>
              </a:pathLst>
            </a:custGeom>
            <a:solidFill>
              <a:srgbClr val="E3E7EE"/>
            </a:solidFill>
          </p:spPr>
        </p:sp>
      </p:grpSp>
      <p:sp>
        <p:nvSpPr>
          <p:cNvPr name="TextBox 53" id="53"/>
          <p:cNvSpPr txBox="true"/>
          <p:nvPr/>
        </p:nvSpPr>
        <p:spPr>
          <a:xfrm rot="0">
            <a:off x="1858232" y="16474011"/>
            <a:ext cx="2617594" cy="764286"/>
          </a:xfrm>
          <a:prstGeom prst="rect">
            <a:avLst/>
          </a:prstGeom>
        </p:spPr>
        <p:txBody>
          <a:bodyPr anchor="t" rtlCol="false" tIns="0" lIns="0" bIns="0" rIns="0">
            <a:spAutoFit/>
          </a:bodyPr>
          <a:lstStyle/>
          <a:p>
            <a:pPr algn="l">
              <a:lnSpc>
                <a:spcPts val="4698"/>
              </a:lnSpc>
            </a:pPr>
            <a:r>
              <a:rPr lang="en-US" sz="2971">
                <a:solidFill>
                  <a:srgbClr val="1A56E8"/>
                </a:solidFill>
                <a:latin typeface="Georgia"/>
                <a:ea typeface="Georgia"/>
                <a:cs typeface="Georgia"/>
                <a:sym typeface="Georgia"/>
              </a:rPr>
              <a:t>Week 2</a:t>
            </a:r>
          </a:p>
        </p:txBody>
      </p:sp>
      <p:grpSp>
        <p:nvGrpSpPr>
          <p:cNvPr name="Group 54" id="54"/>
          <p:cNvGrpSpPr/>
          <p:nvPr/>
        </p:nvGrpSpPr>
        <p:grpSpPr>
          <a:xfrm rot="0">
            <a:off x="4716856" y="17479327"/>
            <a:ext cx="14851361" cy="26956"/>
            <a:chOff x="0" y="0"/>
            <a:chExt cx="19801815" cy="35941"/>
          </a:xfrm>
        </p:grpSpPr>
        <p:sp>
          <p:nvSpPr>
            <p:cNvPr name="Freeform 55" id="55"/>
            <p:cNvSpPr/>
            <p:nvPr/>
          </p:nvSpPr>
          <p:spPr>
            <a:xfrm flipH="false" flipV="false" rot="0">
              <a:off x="0" y="0"/>
              <a:ext cx="19801839" cy="35941"/>
            </a:xfrm>
            <a:custGeom>
              <a:avLst/>
              <a:gdLst/>
              <a:ahLst/>
              <a:cxnLst/>
              <a:rect r="r" b="b" t="t" l="l"/>
              <a:pathLst>
                <a:path h="35941" w="19801839">
                  <a:moveTo>
                    <a:pt x="0" y="0"/>
                  </a:moveTo>
                  <a:lnTo>
                    <a:pt x="19801839" y="0"/>
                  </a:lnTo>
                  <a:lnTo>
                    <a:pt x="19801839" y="35941"/>
                  </a:lnTo>
                  <a:lnTo>
                    <a:pt x="0" y="35941"/>
                  </a:lnTo>
                  <a:close/>
                </a:path>
              </a:pathLst>
            </a:custGeom>
            <a:solidFill>
              <a:srgbClr val="E3E7EE"/>
            </a:solidFill>
          </p:spPr>
        </p:sp>
      </p:grpSp>
      <p:grpSp>
        <p:nvGrpSpPr>
          <p:cNvPr name="Group 56" id="56"/>
          <p:cNvGrpSpPr/>
          <p:nvPr/>
        </p:nvGrpSpPr>
        <p:grpSpPr>
          <a:xfrm rot="0">
            <a:off x="4716856" y="16562908"/>
            <a:ext cx="15296902" cy="700792"/>
            <a:chOff x="0" y="0"/>
            <a:chExt cx="20395870" cy="934390"/>
          </a:xfrm>
        </p:grpSpPr>
        <p:sp>
          <p:nvSpPr>
            <p:cNvPr name="Freeform 57" id="57"/>
            <p:cNvSpPr/>
            <p:nvPr/>
          </p:nvSpPr>
          <p:spPr>
            <a:xfrm flipH="false" flipV="false" rot="0">
              <a:off x="0" y="0"/>
              <a:ext cx="20395868" cy="934387"/>
            </a:xfrm>
            <a:custGeom>
              <a:avLst/>
              <a:gdLst/>
              <a:ahLst/>
              <a:cxnLst/>
              <a:rect r="r" b="b" t="t" l="l"/>
              <a:pathLst>
                <a:path h="934387" w="20395868">
                  <a:moveTo>
                    <a:pt x="0" y="0"/>
                  </a:moveTo>
                  <a:lnTo>
                    <a:pt x="20395868" y="0"/>
                  </a:lnTo>
                  <a:lnTo>
                    <a:pt x="20395868" y="934387"/>
                  </a:lnTo>
                  <a:lnTo>
                    <a:pt x="0" y="934387"/>
                  </a:lnTo>
                  <a:close/>
                </a:path>
              </a:pathLst>
            </a:custGeom>
            <a:blipFill>
              <a:blip r:embed="rId3">
                <a:alphaModFix amt="0"/>
              </a:blip>
              <a:stretch>
                <a:fillRect l="0" t="-375320" r="0" b="-375321"/>
              </a:stretch>
            </a:blipFill>
          </p:spPr>
        </p:sp>
        <p:sp>
          <p:nvSpPr>
            <p:cNvPr name="TextBox 58" id="58"/>
            <p:cNvSpPr txBox="true"/>
            <p:nvPr/>
          </p:nvSpPr>
          <p:spPr>
            <a:xfrm>
              <a:off x="0" y="-114300"/>
              <a:ext cx="20395870"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Website / conversion, SEO / GEO, Google Business and reputation systems</a:t>
              </a:r>
            </a:p>
          </p:txBody>
        </p:sp>
      </p:grpSp>
      <p:grpSp>
        <p:nvGrpSpPr>
          <p:cNvPr name="Group 59" id="59"/>
          <p:cNvGrpSpPr/>
          <p:nvPr/>
        </p:nvGrpSpPr>
        <p:grpSpPr>
          <a:xfrm rot="0">
            <a:off x="1832839" y="18746143"/>
            <a:ext cx="2884018" cy="26956"/>
            <a:chOff x="0" y="0"/>
            <a:chExt cx="3845357" cy="35941"/>
          </a:xfrm>
        </p:grpSpPr>
        <p:sp>
          <p:nvSpPr>
            <p:cNvPr name="Freeform 60" id="60"/>
            <p:cNvSpPr/>
            <p:nvPr/>
          </p:nvSpPr>
          <p:spPr>
            <a:xfrm flipH="false" flipV="false" rot="0">
              <a:off x="0" y="0"/>
              <a:ext cx="3845306" cy="35941"/>
            </a:xfrm>
            <a:custGeom>
              <a:avLst/>
              <a:gdLst/>
              <a:ahLst/>
              <a:cxnLst/>
              <a:rect r="r" b="b" t="t" l="l"/>
              <a:pathLst>
                <a:path h="35941" w="3845306">
                  <a:moveTo>
                    <a:pt x="0" y="0"/>
                  </a:moveTo>
                  <a:lnTo>
                    <a:pt x="3845306" y="0"/>
                  </a:lnTo>
                  <a:lnTo>
                    <a:pt x="3845306" y="35941"/>
                  </a:lnTo>
                  <a:lnTo>
                    <a:pt x="0" y="35941"/>
                  </a:lnTo>
                  <a:close/>
                </a:path>
              </a:pathLst>
            </a:custGeom>
            <a:solidFill>
              <a:srgbClr val="E3E7EE"/>
            </a:solidFill>
          </p:spPr>
        </p:sp>
      </p:grpSp>
      <p:sp>
        <p:nvSpPr>
          <p:cNvPr name="TextBox 61" id="61"/>
          <p:cNvSpPr txBox="true"/>
          <p:nvPr/>
        </p:nvSpPr>
        <p:spPr>
          <a:xfrm rot="0">
            <a:off x="1858232" y="17740817"/>
            <a:ext cx="2617594" cy="764286"/>
          </a:xfrm>
          <a:prstGeom prst="rect">
            <a:avLst/>
          </a:prstGeom>
        </p:spPr>
        <p:txBody>
          <a:bodyPr anchor="t" rtlCol="false" tIns="0" lIns="0" bIns="0" rIns="0">
            <a:spAutoFit/>
          </a:bodyPr>
          <a:lstStyle/>
          <a:p>
            <a:pPr algn="l">
              <a:lnSpc>
                <a:spcPts val="4698"/>
              </a:lnSpc>
            </a:pPr>
            <a:r>
              <a:rPr lang="en-US" sz="2971">
                <a:solidFill>
                  <a:srgbClr val="1A56E8"/>
                </a:solidFill>
                <a:latin typeface="Georgia"/>
                <a:ea typeface="Georgia"/>
                <a:cs typeface="Georgia"/>
                <a:sym typeface="Georgia"/>
              </a:rPr>
              <a:t>Week 3</a:t>
            </a:r>
          </a:p>
        </p:txBody>
      </p:sp>
      <p:grpSp>
        <p:nvGrpSpPr>
          <p:cNvPr name="Group 62" id="62"/>
          <p:cNvGrpSpPr/>
          <p:nvPr/>
        </p:nvGrpSpPr>
        <p:grpSpPr>
          <a:xfrm rot="0">
            <a:off x="4716856" y="18746143"/>
            <a:ext cx="14851361" cy="26956"/>
            <a:chOff x="0" y="0"/>
            <a:chExt cx="19801815" cy="35941"/>
          </a:xfrm>
        </p:grpSpPr>
        <p:sp>
          <p:nvSpPr>
            <p:cNvPr name="Freeform 63" id="63"/>
            <p:cNvSpPr/>
            <p:nvPr/>
          </p:nvSpPr>
          <p:spPr>
            <a:xfrm flipH="false" flipV="false" rot="0">
              <a:off x="0" y="0"/>
              <a:ext cx="19801839" cy="35941"/>
            </a:xfrm>
            <a:custGeom>
              <a:avLst/>
              <a:gdLst/>
              <a:ahLst/>
              <a:cxnLst/>
              <a:rect r="r" b="b" t="t" l="l"/>
              <a:pathLst>
                <a:path h="35941" w="19801839">
                  <a:moveTo>
                    <a:pt x="0" y="0"/>
                  </a:moveTo>
                  <a:lnTo>
                    <a:pt x="19801839" y="0"/>
                  </a:lnTo>
                  <a:lnTo>
                    <a:pt x="19801839" y="35941"/>
                  </a:lnTo>
                  <a:lnTo>
                    <a:pt x="0" y="35941"/>
                  </a:lnTo>
                  <a:close/>
                </a:path>
              </a:pathLst>
            </a:custGeom>
            <a:solidFill>
              <a:srgbClr val="E3E7EE"/>
            </a:solidFill>
          </p:spPr>
        </p:sp>
      </p:grpSp>
      <p:grpSp>
        <p:nvGrpSpPr>
          <p:cNvPr name="Group 64" id="64"/>
          <p:cNvGrpSpPr/>
          <p:nvPr/>
        </p:nvGrpSpPr>
        <p:grpSpPr>
          <a:xfrm rot="0">
            <a:off x="4716856" y="17829724"/>
            <a:ext cx="15296902" cy="700792"/>
            <a:chOff x="0" y="0"/>
            <a:chExt cx="20395870" cy="934390"/>
          </a:xfrm>
        </p:grpSpPr>
        <p:sp>
          <p:nvSpPr>
            <p:cNvPr name="Freeform 65" id="65"/>
            <p:cNvSpPr/>
            <p:nvPr/>
          </p:nvSpPr>
          <p:spPr>
            <a:xfrm flipH="false" flipV="false" rot="0">
              <a:off x="0" y="0"/>
              <a:ext cx="20395868" cy="934387"/>
            </a:xfrm>
            <a:custGeom>
              <a:avLst/>
              <a:gdLst/>
              <a:ahLst/>
              <a:cxnLst/>
              <a:rect r="r" b="b" t="t" l="l"/>
              <a:pathLst>
                <a:path h="934387" w="20395868">
                  <a:moveTo>
                    <a:pt x="0" y="0"/>
                  </a:moveTo>
                  <a:lnTo>
                    <a:pt x="20395868" y="0"/>
                  </a:lnTo>
                  <a:lnTo>
                    <a:pt x="20395868" y="934387"/>
                  </a:lnTo>
                  <a:lnTo>
                    <a:pt x="0" y="934387"/>
                  </a:lnTo>
                  <a:close/>
                </a:path>
              </a:pathLst>
            </a:custGeom>
            <a:blipFill>
              <a:blip r:embed="rId3">
                <a:alphaModFix amt="0"/>
              </a:blip>
              <a:stretch>
                <a:fillRect l="0" t="-375320" r="0" b="-375321"/>
              </a:stretch>
            </a:blipFill>
          </p:spPr>
        </p:sp>
        <p:sp>
          <p:nvSpPr>
            <p:cNvPr name="TextBox 66" id="66"/>
            <p:cNvSpPr txBox="true"/>
            <p:nvPr/>
          </p:nvSpPr>
          <p:spPr>
            <a:xfrm>
              <a:off x="0" y="-114300"/>
              <a:ext cx="20395870"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WhatsApp and customer growth systems</a:t>
              </a:r>
            </a:p>
          </p:txBody>
        </p:sp>
      </p:grpSp>
      <p:grpSp>
        <p:nvGrpSpPr>
          <p:cNvPr name="Group 67" id="67"/>
          <p:cNvGrpSpPr/>
          <p:nvPr/>
        </p:nvGrpSpPr>
        <p:grpSpPr>
          <a:xfrm rot="0">
            <a:off x="1832839" y="20012949"/>
            <a:ext cx="2884018" cy="26956"/>
            <a:chOff x="0" y="0"/>
            <a:chExt cx="3845357" cy="35941"/>
          </a:xfrm>
        </p:grpSpPr>
        <p:sp>
          <p:nvSpPr>
            <p:cNvPr name="Freeform 68" id="68"/>
            <p:cNvSpPr/>
            <p:nvPr/>
          </p:nvSpPr>
          <p:spPr>
            <a:xfrm flipH="false" flipV="false" rot="0">
              <a:off x="0" y="0"/>
              <a:ext cx="3845306" cy="35941"/>
            </a:xfrm>
            <a:custGeom>
              <a:avLst/>
              <a:gdLst/>
              <a:ahLst/>
              <a:cxnLst/>
              <a:rect r="r" b="b" t="t" l="l"/>
              <a:pathLst>
                <a:path h="35941" w="3845306">
                  <a:moveTo>
                    <a:pt x="0" y="0"/>
                  </a:moveTo>
                  <a:lnTo>
                    <a:pt x="3845306" y="0"/>
                  </a:lnTo>
                  <a:lnTo>
                    <a:pt x="3845306" y="35941"/>
                  </a:lnTo>
                  <a:lnTo>
                    <a:pt x="0" y="35941"/>
                  </a:lnTo>
                  <a:close/>
                </a:path>
              </a:pathLst>
            </a:custGeom>
            <a:solidFill>
              <a:srgbClr val="E3E7EE"/>
            </a:solidFill>
          </p:spPr>
        </p:sp>
      </p:grpSp>
      <p:sp>
        <p:nvSpPr>
          <p:cNvPr name="TextBox 69" id="69"/>
          <p:cNvSpPr txBox="true"/>
          <p:nvPr/>
        </p:nvSpPr>
        <p:spPr>
          <a:xfrm rot="0">
            <a:off x="1858232" y="19007633"/>
            <a:ext cx="2617594" cy="764286"/>
          </a:xfrm>
          <a:prstGeom prst="rect">
            <a:avLst/>
          </a:prstGeom>
        </p:spPr>
        <p:txBody>
          <a:bodyPr anchor="t" rtlCol="false" tIns="0" lIns="0" bIns="0" rIns="0">
            <a:spAutoFit/>
          </a:bodyPr>
          <a:lstStyle/>
          <a:p>
            <a:pPr algn="l">
              <a:lnSpc>
                <a:spcPts val="4698"/>
              </a:lnSpc>
            </a:pPr>
            <a:r>
              <a:rPr lang="en-US" sz="2971">
                <a:solidFill>
                  <a:srgbClr val="1A56E8"/>
                </a:solidFill>
                <a:latin typeface="Georgia"/>
                <a:ea typeface="Georgia"/>
                <a:cs typeface="Georgia"/>
                <a:sym typeface="Georgia"/>
              </a:rPr>
              <a:t>Week 4</a:t>
            </a:r>
          </a:p>
        </p:txBody>
      </p:sp>
      <p:grpSp>
        <p:nvGrpSpPr>
          <p:cNvPr name="Group 70" id="70"/>
          <p:cNvGrpSpPr/>
          <p:nvPr/>
        </p:nvGrpSpPr>
        <p:grpSpPr>
          <a:xfrm rot="0">
            <a:off x="4716856" y="20012949"/>
            <a:ext cx="14851361" cy="26956"/>
            <a:chOff x="0" y="0"/>
            <a:chExt cx="19801815" cy="35941"/>
          </a:xfrm>
        </p:grpSpPr>
        <p:sp>
          <p:nvSpPr>
            <p:cNvPr name="Freeform 71" id="71"/>
            <p:cNvSpPr/>
            <p:nvPr/>
          </p:nvSpPr>
          <p:spPr>
            <a:xfrm flipH="false" flipV="false" rot="0">
              <a:off x="0" y="0"/>
              <a:ext cx="19801839" cy="35941"/>
            </a:xfrm>
            <a:custGeom>
              <a:avLst/>
              <a:gdLst/>
              <a:ahLst/>
              <a:cxnLst/>
              <a:rect r="r" b="b" t="t" l="l"/>
              <a:pathLst>
                <a:path h="35941" w="19801839">
                  <a:moveTo>
                    <a:pt x="0" y="0"/>
                  </a:moveTo>
                  <a:lnTo>
                    <a:pt x="19801839" y="0"/>
                  </a:lnTo>
                  <a:lnTo>
                    <a:pt x="19801839" y="35941"/>
                  </a:lnTo>
                  <a:lnTo>
                    <a:pt x="0" y="35941"/>
                  </a:lnTo>
                  <a:close/>
                </a:path>
              </a:pathLst>
            </a:custGeom>
            <a:solidFill>
              <a:srgbClr val="E3E7EE"/>
            </a:solidFill>
          </p:spPr>
        </p:sp>
      </p:grpSp>
      <p:grpSp>
        <p:nvGrpSpPr>
          <p:cNvPr name="Group 72" id="72"/>
          <p:cNvGrpSpPr/>
          <p:nvPr/>
        </p:nvGrpSpPr>
        <p:grpSpPr>
          <a:xfrm rot="0">
            <a:off x="4716856" y="19096530"/>
            <a:ext cx="15296902" cy="700792"/>
            <a:chOff x="0" y="0"/>
            <a:chExt cx="20395870" cy="934390"/>
          </a:xfrm>
        </p:grpSpPr>
        <p:sp>
          <p:nvSpPr>
            <p:cNvPr name="Freeform 73" id="73"/>
            <p:cNvSpPr/>
            <p:nvPr/>
          </p:nvSpPr>
          <p:spPr>
            <a:xfrm flipH="false" flipV="false" rot="0">
              <a:off x="0" y="0"/>
              <a:ext cx="20395868" cy="934387"/>
            </a:xfrm>
            <a:custGeom>
              <a:avLst/>
              <a:gdLst/>
              <a:ahLst/>
              <a:cxnLst/>
              <a:rect r="r" b="b" t="t" l="l"/>
              <a:pathLst>
                <a:path h="934387" w="20395868">
                  <a:moveTo>
                    <a:pt x="0" y="0"/>
                  </a:moveTo>
                  <a:lnTo>
                    <a:pt x="20395868" y="0"/>
                  </a:lnTo>
                  <a:lnTo>
                    <a:pt x="20395868" y="934387"/>
                  </a:lnTo>
                  <a:lnTo>
                    <a:pt x="0" y="934387"/>
                  </a:lnTo>
                  <a:close/>
                </a:path>
              </a:pathLst>
            </a:custGeom>
            <a:blipFill>
              <a:blip r:embed="rId3">
                <a:alphaModFix amt="0"/>
              </a:blip>
              <a:stretch>
                <a:fillRect l="0" t="-375320" r="0" b="-375321"/>
              </a:stretch>
            </a:blipFill>
          </p:spPr>
        </p:sp>
        <p:sp>
          <p:nvSpPr>
            <p:cNvPr name="TextBox 74" id="74"/>
            <p:cNvSpPr txBox="true"/>
            <p:nvPr/>
          </p:nvSpPr>
          <p:spPr>
            <a:xfrm>
              <a:off x="0" y="-114300"/>
              <a:ext cx="20395870"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Email outreach, ICP system, sequences and campaign setup</a:t>
              </a:r>
            </a:p>
          </p:txBody>
        </p:sp>
      </p:grpSp>
      <p:grpSp>
        <p:nvGrpSpPr>
          <p:cNvPr name="Group 75" id="75"/>
          <p:cNvGrpSpPr/>
          <p:nvPr/>
        </p:nvGrpSpPr>
        <p:grpSpPr>
          <a:xfrm rot="0">
            <a:off x="1832839" y="21279764"/>
            <a:ext cx="2884018" cy="26956"/>
            <a:chOff x="0" y="0"/>
            <a:chExt cx="3845357" cy="35941"/>
          </a:xfrm>
        </p:grpSpPr>
        <p:sp>
          <p:nvSpPr>
            <p:cNvPr name="Freeform 76" id="76"/>
            <p:cNvSpPr/>
            <p:nvPr/>
          </p:nvSpPr>
          <p:spPr>
            <a:xfrm flipH="false" flipV="false" rot="0">
              <a:off x="0" y="0"/>
              <a:ext cx="3845306" cy="35941"/>
            </a:xfrm>
            <a:custGeom>
              <a:avLst/>
              <a:gdLst/>
              <a:ahLst/>
              <a:cxnLst/>
              <a:rect r="r" b="b" t="t" l="l"/>
              <a:pathLst>
                <a:path h="35941" w="3845306">
                  <a:moveTo>
                    <a:pt x="0" y="0"/>
                  </a:moveTo>
                  <a:lnTo>
                    <a:pt x="3845306" y="0"/>
                  </a:lnTo>
                  <a:lnTo>
                    <a:pt x="3845306" y="35941"/>
                  </a:lnTo>
                  <a:lnTo>
                    <a:pt x="0" y="35941"/>
                  </a:lnTo>
                  <a:close/>
                </a:path>
              </a:pathLst>
            </a:custGeom>
            <a:solidFill>
              <a:srgbClr val="E3E7EE"/>
            </a:solidFill>
          </p:spPr>
        </p:sp>
      </p:grpSp>
      <p:sp>
        <p:nvSpPr>
          <p:cNvPr name="TextBox 77" id="77"/>
          <p:cNvSpPr txBox="true"/>
          <p:nvPr/>
        </p:nvSpPr>
        <p:spPr>
          <a:xfrm rot="0">
            <a:off x="1858232" y="20274448"/>
            <a:ext cx="2617594" cy="764286"/>
          </a:xfrm>
          <a:prstGeom prst="rect">
            <a:avLst/>
          </a:prstGeom>
        </p:spPr>
        <p:txBody>
          <a:bodyPr anchor="t" rtlCol="false" tIns="0" lIns="0" bIns="0" rIns="0">
            <a:spAutoFit/>
          </a:bodyPr>
          <a:lstStyle/>
          <a:p>
            <a:pPr algn="l">
              <a:lnSpc>
                <a:spcPts val="4698"/>
              </a:lnSpc>
            </a:pPr>
            <a:r>
              <a:rPr lang="en-US" sz="2971">
                <a:solidFill>
                  <a:srgbClr val="1A56E8"/>
                </a:solidFill>
                <a:latin typeface="Georgia"/>
                <a:ea typeface="Georgia"/>
                <a:cs typeface="Georgia"/>
                <a:sym typeface="Georgia"/>
              </a:rPr>
              <a:t>Week 5</a:t>
            </a:r>
          </a:p>
        </p:txBody>
      </p:sp>
      <p:grpSp>
        <p:nvGrpSpPr>
          <p:cNvPr name="Group 78" id="78"/>
          <p:cNvGrpSpPr/>
          <p:nvPr/>
        </p:nvGrpSpPr>
        <p:grpSpPr>
          <a:xfrm rot="0">
            <a:off x="4716856" y="21279764"/>
            <a:ext cx="14851361" cy="26956"/>
            <a:chOff x="0" y="0"/>
            <a:chExt cx="19801815" cy="35941"/>
          </a:xfrm>
        </p:grpSpPr>
        <p:sp>
          <p:nvSpPr>
            <p:cNvPr name="Freeform 79" id="79"/>
            <p:cNvSpPr/>
            <p:nvPr/>
          </p:nvSpPr>
          <p:spPr>
            <a:xfrm flipH="false" flipV="false" rot="0">
              <a:off x="0" y="0"/>
              <a:ext cx="19801839" cy="35941"/>
            </a:xfrm>
            <a:custGeom>
              <a:avLst/>
              <a:gdLst/>
              <a:ahLst/>
              <a:cxnLst/>
              <a:rect r="r" b="b" t="t" l="l"/>
              <a:pathLst>
                <a:path h="35941" w="19801839">
                  <a:moveTo>
                    <a:pt x="0" y="0"/>
                  </a:moveTo>
                  <a:lnTo>
                    <a:pt x="19801839" y="0"/>
                  </a:lnTo>
                  <a:lnTo>
                    <a:pt x="19801839" y="35941"/>
                  </a:lnTo>
                  <a:lnTo>
                    <a:pt x="0" y="35941"/>
                  </a:lnTo>
                  <a:close/>
                </a:path>
              </a:pathLst>
            </a:custGeom>
            <a:solidFill>
              <a:srgbClr val="E3E7EE"/>
            </a:solidFill>
          </p:spPr>
        </p:sp>
      </p:grpSp>
      <p:grpSp>
        <p:nvGrpSpPr>
          <p:cNvPr name="Group 80" id="80"/>
          <p:cNvGrpSpPr/>
          <p:nvPr/>
        </p:nvGrpSpPr>
        <p:grpSpPr>
          <a:xfrm rot="0">
            <a:off x="4716856" y="20363345"/>
            <a:ext cx="15296902" cy="700792"/>
            <a:chOff x="0" y="0"/>
            <a:chExt cx="20395870" cy="934390"/>
          </a:xfrm>
        </p:grpSpPr>
        <p:sp>
          <p:nvSpPr>
            <p:cNvPr name="Freeform 81" id="81"/>
            <p:cNvSpPr/>
            <p:nvPr/>
          </p:nvSpPr>
          <p:spPr>
            <a:xfrm flipH="false" flipV="false" rot="0">
              <a:off x="0" y="0"/>
              <a:ext cx="20395868" cy="934387"/>
            </a:xfrm>
            <a:custGeom>
              <a:avLst/>
              <a:gdLst/>
              <a:ahLst/>
              <a:cxnLst/>
              <a:rect r="r" b="b" t="t" l="l"/>
              <a:pathLst>
                <a:path h="934387" w="20395868">
                  <a:moveTo>
                    <a:pt x="0" y="0"/>
                  </a:moveTo>
                  <a:lnTo>
                    <a:pt x="20395868" y="0"/>
                  </a:lnTo>
                  <a:lnTo>
                    <a:pt x="20395868" y="934387"/>
                  </a:lnTo>
                  <a:lnTo>
                    <a:pt x="0" y="934387"/>
                  </a:lnTo>
                  <a:close/>
                </a:path>
              </a:pathLst>
            </a:custGeom>
            <a:blipFill>
              <a:blip r:embed="rId3">
                <a:alphaModFix amt="0"/>
              </a:blip>
              <a:stretch>
                <a:fillRect l="0" t="-375320" r="0" b="-375321"/>
              </a:stretch>
            </a:blipFill>
          </p:spPr>
        </p:sp>
        <p:sp>
          <p:nvSpPr>
            <p:cNvPr name="TextBox 82" id="82"/>
            <p:cNvSpPr txBox="true"/>
            <p:nvPr/>
          </p:nvSpPr>
          <p:spPr>
            <a:xfrm>
              <a:off x="0" y="-114300"/>
              <a:ext cx="20395870"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Automation, testing, review, training and handover</a:t>
              </a:r>
            </a:p>
          </p:txBody>
        </p:sp>
      </p:grpSp>
      <p:sp>
        <p:nvSpPr>
          <p:cNvPr name="TextBox 83" id="83"/>
          <p:cNvSpPr txBox="true"/>
          <p:nvPr/>
        </p:nvSpPr>
        <p:spPr>
          <a:xfrm rot="0">
            <a:off x="1858232" y="21653021"/>
            <a:ext cx="18216648" cy="1258976"/>
          </a:xfrm>
          <a:prstGeom prst="rect">
            <a:avLst/>
          </a:prstGeom>
        </p:spPr>
        <p:txBody>
          <a:bodyPr anchor="t" rtlCol="false" tIns="0" lIns="0" bIns="0" rIns="0">
            <a:spAutoFit/>
          </a:bodyPr>
          <a:lstStyle/>
          <a:p>
            <a:pPr algn="l">
              <a:lnSpc>
                <a:spcPts val="4591"/>
              </a:lnSpc>
            </a:pPr>
            <a:r>
              <a:rPr lang="en-US" sz="2759">
                <a:solidFill>
                  <a:srgbClr val="8894A8"/>
                </a:solidFill>
                <a:latin typeface="Georgia"/>
                <a:ea typeface="Georgia"/>
                <a:cs typeface="Georgia"/>
                <a:sym typeface="Georgia"/>
              </a:rPr>
              <a:t>The exact sequence may be adjusted during onboarding. Client delays in providing information, access or approvals may extend the timeline.</a:t>
            </a:r>
          </a:p>
        </p:txBody>
      </p:sp>
      <p:grpSp>
        <p:nvGrpSpPr>
          <p:cNvPr name="Group 84" id="84"/>
          <p:cNvGrpSpPr/>
          <p:nvPr/>
        </p:nvGrpSpPr>
        <p:grpSpPr>
          <a:xfrm rot="0">
            <a:off x="1832839" y="27627301"/>
            <a:ext cx="17735379" cy="26956"/>
            <a:chOff x="0" y="0"/>
            <a:chExt cx="23647171" cy="35941"/>
          </a:xfrm>
        </p:grpSpPr>
        <p:sp>
          <p:nvSpPr>
            <p:cNvPr name="Freeform 85" id="85"/>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86" id="86"/>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87" id="87"/>
          <p:cNvSpPr txBox="true"/>
          <p:nvPr/>
        </p:nvSpPr>
        <p:spPr>
          <a:xfrm rot="0">
            <a:off x="19414627" y="28034713"/>
            <a:ext cx="343814"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7</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5851295" y="1674219"/>
            <a:ext cx="4065756"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GROWTH CARE PLAN</a:t>
            </a:r>
          </a:p>
        </p:txBody>
      </p:sp>
      <p:sp>
        <p:nvSpPr>
          <p:cNvPr name="TextBox 6" id="6"/>
          <p:cNvSpPr txBox="true"/>
          <p:nvPr/>
        </p:nvSpPr>
        <p:spPr>
          <a:xfrm rot="0">
            <a:off x="1858232" y="3905079"/>
            <a:ext cx="620506"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12</a:t>
            </a:r>
          </a:p>
        </p:txBody>
      </p:sp>
      <p:sp>
        <p:nvSpPr>
          <p:cNvPr name="TextBox 7" id="7"/>
          <p:cNvSpPr txBox="true"/>
          <p:nvPr/>
        </p:nvSpPr>
        <p:spPr>
          <a:xfrm rot="0">
            <a:off x="2719778" y="3343646"/>
            <a:ext cx="6783276"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Growth Care Plan</a:t>
            </a:r>
          </a:p>
        </p:txBody>
      </p:sp>
      <p:grpSp>
        <p:nvGrpSpPr>
          <p:cNvPr name="Group 8" id="8"/>
          <p:cNvGrpSpPr/>
          <p:nvPr/>
        </p:nvGrpSpPr>
        <p:grpSpPr>
          <a:xfrm rot="0">
            <a:off x="1832839" y="5175066"/>
            <a:ext cx="17735379" cy="2506675"/>
            <a:chOff x="0" y="0"/>
            <a:chExt cx="23647171" cy="3342234"/>
          </a:xfrm>
        </p:grpSpPr>
        <p:sp>
          <p:nvSpPr>
            <p:cNvPr name="Freeform 9" id="9"/>
            <p:cNvSpPr/>
            <p:nvPr/>
          </p:nvSpPr>
          <p:spPr>
            <a:xfrm flipH="false" flipV="false" rot="0">
              <a:off x="0" y="0"/>
              <a:ext cx="23647146" cy="3342259"/>
            </a:xfrm>
            <a:custGeom>
              <a:avLst/>
              <a:gdLst/>
              <a:ahLst/>
              <a:cxnLst/>
              <a:rect r="r" b="b" t="t" l="l"/>
              <a:pathLst>
                <a:path h="3342259" w="23647146">
                  <a:moveTo>
                    <a:pt x="0" y="0"/>
                  </a:moveTo>
                  <a:lnTo>
                    <a:pt x="23647146" y="0"/>
                  </a:lnTo>
                  <a:lnTo>
                    <a:pt x="23647146" y="3342259"/>
                  </a:lnTo>
                  <a:lnTo>
                    <a:pt x="0" y="3342259"/>
                  </a:lnTo>
                  <a:close/>
                </a:path>
              </a:pathLst>
            </a:custGeom>
            <a:gradFill rotWithShape="true">
              <a:gsLst>
                <a:gs pos="0">
                  <a:srgbClr val="F1FAF6">
                    <a:alpha val="100000"/>
                  </a:srgbClr>
                </a:gs>
                <a:gs pos="100000">
                  <a:srgbClr val="F4F7FE">
                    <a:alpha val="100000"/>
                  </a:srgbClr>
                </a:gs>
              </a:gsLst>
              <a:lin ang="2700000"/>
            </a:gradFill>
          </p:spPr>
        </p:sp>
      </p:grpSp>
      <p:grpSp>
        <p:nvGrpSpPr>
          <p:cNvPr name="Group 10" id="10"/>
          <p:cNvGrpSpPr/>
          <p:nvPr/>
        </p:nvGrpSpPr>
        <p:grpSpPr>
          <a:xfrm rot="0">
            <a:off x="1832839" y="5175066"/>
            <a:ext cx="17735379" cy="107813"/>
            <a:chOff x="0" y="0"/>
            <a:chExt cx="23647171" cy="143751"/>
          </a:xfrm>
        </p:grpSpPr>
        <p:sp>
          <p:nvSpPr>
            <p:cNvPr name="Freeform 11" id="11"/>
            <p:cNvSpPr/>
            <p:nvPr/>
          </p:nvSpPr>
          <p:spPr>
            <a:xfrm flipH="false" flipV="false" rot="0">
              <a:off x="0" y="0"/>
              <a:ext cx="23647146" cy="143764"/>
            </a:xfrm>
            <a:custGeom>
              <a:avLst/>
              <a:gdLst/>
              <a:ahLst/>
              <a:cxnLst/>
              <a:rect r="r" b="b" t="t" l="l"/>
              <a:pathLst>
                <a:path h="143764" w="23647146">
                  <a:moveTo>
                    <a:pt x="0" y="0"/>
                  </a:moveTo>
                  <a:lnTo>
                    <a:pt x="23647146" y="0"/>
                  </a:lnTo>
                  <a:lnTo>
                    <a:pt x="23647146" y="143764"/>
                  </a:lnTo>
                  <a:lnTo>
                    <a:pt x="0" y="143764"/>
                  </a:lnTo>
                  <a:close/>
                </a:path>
              </a:pathLst>
            </a:custGeom>
            <a:solidFill>
              <a:srgbClr val="14543C"/>
            </a:solidFill>
          </p:spPr>
        </p:sp>
      </p:grpSp>
      <p:sp>
        <p:nvSpPr>
          <p:cNvPr name="TextBox 12" id="12"/>
          <p:cNvSpPr txBox="true"/>
          <p:nvPr/>
        </p:nvSpPr>
        <p:spPr>
          <a:xfrm rot="0">
            <a:off x="2559025" y="6177477"/>
            <a:ext cx="4689767" cy="912838"/>
          </a:xfrm>
          <a:prstGeom prst="rect">
            <a:avLst/>
          </a:prstGeom>
        </p:spPr>
        <p:txBody>
          <a:bodyPr anchor="t" rtlCol="false" tIns="0" lIns="0" bIns="0" rIns="0">
            <a:spAutoFit/>
          </a:bodyPr>
          <a:lstStyle/>
          <a:p>
            <a:pPr algn="l">
              <a:lnSpc>
                <a:spcPts val="7881"/>
              </a:lnSpc>
            </a:pPr>
            <a:r>
              <a:rPr lang="en-US" sz="8913" b="true">
                <a:solidFill>
                  <a:srgbClr val="14543C"/>
                </a:solidFill>
                <a:latin typeface="Playfair Display Bold"/>
                <a:ea typeface="Playfair Display Bold"/>
                <a:cs typeface="Playfair Display Bold"/>
                <a:sym typeface="Playfair Display Bold"/>
              </a:rPr>
              <a:t>₹30,000</a:t>
            </a:r>
          </a:p>
        </p:txBody>
      </p:sp>
      <p:sp>
        <p:nvSpPr>
          <p:cNvPr name="TextBox 13" id="13"/>
          <p:cNvSpPr txBox="true"/>
          <p:nvPr/>
        </p:nvSpPr>
        <p:spPr>
          <a:xfrm rot="0">
            <a:off x="7407697" y="6406886"/>
            <a:ext cx="6087428" cy="764286"/>
          </a:xfrm>
          <a:prstGeom prst="rect">
            <a:avLst/>
          </a:prstGeom>
        </p:spPr>
        <p:txBody>
          <a:bodyPr anchor="t" rtlCol="false" tIns="0" lIns="0" bIns="0" rIns="0">
            <a:spAutoFit/>
          </a:bodyPr>
          <a:lstStyle/>
          <a:p>
            <a:pPr algn="l">
              <a:lnSpc>
                <a:spcPts val="4698"/>
              </a:lnSpc>
            </a:pPr>
            <a:r>
              <a:rPr lang="en-US" sz="2971" spc="415">
                <a:solidFill>
                  <a:srgbClr val="5A6577"/>
                </a:solidFill>
                <a:latin typeface="Georgia"/>
                <a:ea typeface="Georgia"/>
                <a:cs typeface="Georgia"/>
                <a:sym typeface="Georgia"/>
              </a:rPr>
              <a:t>PER MONTH · OPTIONAL</a:t>
            </a:r>
          </a:p>
        </p:txBody>
      </p:sp>
      <p:sp>
        <p:nvSpPr>
          <p:cNvPr name="TextBox 14" id="14"/>
          <p:cNvSpPr txBox="true"/>
          <p:nvPr/>
        </p:nvSpPr>
        <p:spPr>
          <a:xfrm rot="0">
            <a:off x="1858232" y="8014573"/>
            <a:ext cx="18216648" cy="147460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Care Plan provides the ongoing execution, operation and maintenance of the Business Growth System.</a:t>
            </a:r>
          </a:p>
        </p:txBody>
      </p:sp>
      <p:sp>
        <p:nvSpPr>
          <p:cNvPr name="TextBox 15" id="15"/>
          <p:cNvSpPr txBox="true"/>
          <p:nvPr/>
        </p:nvSpPr>
        <p:spPr>
          <a:xfrm rot="0">
            <a:off x="1858232" y="10056752"/>
            <a:ext cx="9288580" cy="941822"/>
          </a:xfrm>
          <a:prstGeom prst="rect">
            <a:avLst/>
          </a:prstGeom>
        </p:spPr>
        <p:txBody>
          <a:bodyPr anchor="t" rtlCol="false" tIns="0" lIns="0" bIns="0" rIns="0">
            <a:spAutoFit/>
          </a:bodyPr>
          <a:lstStyle/>
          <a:p>
            <a:pPr algn="l">
              <a:lnSpc>
                <a:spcPts val="5657"/>
              </a:lnSpc>
            </a:pPr>
            <a:r>
              <a:rPr lang="en-US" sz="4032" b="true">
                <a:solidFill>
                  <a:srgbClr val="1B2437"/>
                </a:solidFill>
                <a:latin typeface="Playfair Display Bold"/>
                <a:ea typeface="Playfair Display Bold"/>
                <a:cs typeface="Playfair Display Bold"/>
                <a:sym typeface="Playfair Display Bold"/>
              </a:rPr>
              <a:t>Commercial lead generation</a:t>
            </a:r>
          </a:p>
        </p:txBody>
      </p:sp>
      <p:sp>
        <p:nvSpPr>
          <p:cNvPr name="TextBox 16" id="16"/>
          <p:cNvSpPr txBox="true"/>
          <p:nvPr/>
        </p:nvSpPr>
        <p:spPr>
          <a:xfrm rot="0">
            <a:off x="1858232" y="11087262"/>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17" id="17"/>
          <p:cNvSpPr txBox="true"/>
          <p:nvPr/>
        </p:nvSpPr>
        <p:spPr>
          <a:xfrm rot="0">
            <a:off x="2402776" y="11087262"/>
            <a:ext cx="7987274"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Up to 1,000 verified ICP prospects per month</a:t>
            </a:r>
          </a:p>
        </p:txBody>
      </p:sp>
      <p:sp>
        <p:nvSpPr>
          <p:cNvPr name="TextBox 18" id="18"/>
          <p:cNvSpPr txBox="true"/>
          <p:nvPr/>
        </p:nvSpPr>
        <p:spPr>
          <a:xfrm rot="0">
            <a:off x="1858232" y="11841966"/>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19" id="19"/>
          <p:cNvSpPr txBox="true"/>
          <p:nvPr/>
        </p:nvSpPr>
        <p:spPr>
          <a:xfrm rot="0">
            <a:off x="2402776" y="11841966"/>
            <a:ext cx="5395322"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ICP-based prospect generation</a:t>
            </a:r>
          </a:p>
        </p:txBody>
      </p:sp>
      <p:sp>
        <p:nvSpPr>
          <p:cNvPr name="TextBox 20" id="20"/>
          <p:cNvSpPr txBox="true"/>
          <p:nvPr/>
        </p:nvSpPr>
        <p:spPr>
          <a:xfrm rot="0">
            <a:off x="1858232" y="12596660"/>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21" id="21"/>
          <p:cNvSpPr txBox="true"/>
          <p:nvPr/>
        </p:nvSpPr>
        <p:spPr>
          <a:xfrm rot="0">
            <a:off x="2402776" y="12596660"/>
            <a:ext cx="3480949"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Prospect verification</a:t>
            </a:r>
          </a:p>
        </p:txBody>
      </p:sp>
      <p:sp>
        <p:nvSpPr>
          <p:cNvPr name="TextBox 22" id="22"/>
          <p:cNvSpPr txBox="true"/>
          <p:nvPr/>
        </p:nvSpPr>
        <p:spPr>
          <a:xfrm rot="0">
            <a:off x="1858232" y="13351354"/>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23" id="23"/>
          <p:cNvSpPr txBox="true"/>
          <p:nvPr/>
        </p:nvSpPr>
        <p:spPr>
          <a:xfrm rot="0">
            <a:off x="2402776" y="13351354"/>
            <a:ext cx="4820412"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Relevant prospect targeting</a:t>
            </a:r>
          </a:p>
        </p:txBody>
      </p:sp>
      <p:sp>
        <p:nvSpPr>
          <p:cNvPr name="TextBox 24" id="24"/>
          <p:cNvSpPr txBox="true"/>
          <p:nvPr/>
        </p:nvSpPr>
        <p:spPr>
          <a:xfrm rot="0">
            <a:off x="1858232" y="14106049"/>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25" id="25"/>
          <p:cNvSpPr txBox="true"/>
          <p:nvPr/>
        </p:nvSpPr>
        <p:spPr>
          <a:xfrm rot="0">
            <a:off x="2402776" y="14106049"/>
            <a:ext cx="5320732"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Commercial prospect research</a:t>
            </a:r>
          </a:p>
        </p:txBody>
      </p:sp>
      <p:sp>
        <p:nvSpPr>
          <p:cNvPr name="TextBox 26" id="26"/>
          <p:cNvSpPr txBox="true"/>
          <p:nvPr/>
        </p:nvSpPr>
        <p:spPr>
          <a:xfrm rot="0">
            <a:off x="11103273" y="10056752"/>
            <a:ext cx="9288580" cy="941822"/>
          </a:xfrm>
          <a:prstGeom prst="rect">
            <a:avLst/>
          </a:prstGeom>
        </p:spPr>
        <p:txBody>
          <a:bodyPr anchor="t" rtlCol="false" tIns="0" lIns="0" bIns="0" rIns="0">
            <a:spAutoFit/>
          </a:bodyPr>
          <a:lstStyle/>
          <a:p>
            <a:pPr algn="l">
              <a:lnSpc>
                <a:spcPts val="5657"/>
              </a:lnSpc>
            </a:pPr>
            <a:r>
              <a:rPr lang="en-US" sz="4032" b="true">
                <a:solidFill>
                  <a:srgbClr val="1B2437"/>
                </a:solidFill>
                <a:latin typeface="Playfair Display Bold"/>
                <a:ea typeface="Playfair Display Bold"/>
                <a:cs typeface="Playfair Display Bold"/>
                <a:sym typeface="Playfair Display Bold"/>
              </a:rPr>
              <a:t>Email campaign execution</a:t>
            </a:r>
          </a:p>
        </p:txBody>
      </p:sp>
      <p:sp>
        <p:nvSpPr>
          <p:cNvPr name="TextBox 27" id="27"/>
          <p:cNvSpPr txBox="true"/>
          <p:nvPr/>
        </p:nvSpPr>
        <p:spPr>
          <a:xfrm rot="0">
            <a:off x="11103273" y="11087262"/>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28" id="28"/>
          <p:cNvSpPr txBox="true"/>
          <p:nvPr/>
        </p:nvSpPr>
        <p:spPr>
          <a:xfrm rot="0">
            <a:off x="11647818" y="11087262"/>
            <a:ext cx="462259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Email campaign execution</a:t>
            </a:r>
          </a:p>
        </p:txBody>
      </p:sp>
      <p:sp>
        <p:nvSpPr>
          <p:cNvPr name="TextBox 29" id="29"/>
          <p:cNvSpPr txBox="true"/>
          <p:nvPr/>
        </p:nvSpPr>
        <p:spPr>
          <a:xfrm rot="0">
            <a:off x="11103273" y="11841966"/>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30" id="30"/>
          <p:cNvSpPr txBox="true"/>
          <p:nvPr/>
        </p:nvSpPr>
        <p:spPr>
          <a:xfrm rot="0">
            <a:off x="11647818" y="11841966"/>
            <a:ext cx="2468928"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Email sending</a:t>
            </a:r>
          </a:p>
        </p:txBody>
      </p:sp>
      <p:sp>
        <p:nvSpPr>
          <p:cNvPr name="TextBox 31" id="31"/>
          <p:cNvSpPr txBox="true"/>
          <p:nvPr/>
        </p:nvSpPr>
        <p:spPr>
          <a:xfrm rot="0">
            <a:off x="11103273" y="12596660"/>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32" id="32"/>
          <p:cNvSpPr txBox="true"/>
          <p:nvPr/>
        </p:nvSpPr>
        <p:spPr>
          <a:xfrm rot="0">
            <a:off x="11647818" y="12596660"/>
            <a:ext cx="352811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Follow-up sequences</a:t>
            </a:r>
          </a:p>
        </p:txBody>
      </p:sp>
      <p:sp>
        <p:nvSpPr>
          <p:cNvPr name="TextBox 33" id="33"/>
          <p:cNvSpPr txBox="true"/>
          <p:nvPr/>
        </p:nvSpPr>
        <p:spPr>
          <a:xfrm rot="0">
            <a:off x="11103273" y="13351354"/>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34" id="34"/>
          <p:cNvSpPr txBox="true"/>
          <p:nvPr/>
        </p:nvSpPr>
        <p:spPr>
          <a:xfrm rot="0">
            <a:off x="11647818" y="13351354"/>
            <a:ext cx="3842918"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Campaign monitoring</a:t>
            </a:r>
          </a:p>
        </p:txBody>
      </p:sp>
      <p:sp>
        <p:nvSpPr>
          <p:cNvPr name="TextBox 35" id="35"/>
          <p:cNvSpPr txBox="true"/>
          <p:nvPr/>
        </p:nvSpPr>
        <p:spPr>
          <a:xfrm rot="0">
            <a:off x="11103273" y="14106049"/>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36" id="36"/>
          <p:cNvSpPr txBox="true"/>
          <p:nvPr/>
        </p:nvSpPr>
        <p:spPr>
          <a:xfrm rot="0">
            <a:off x="11647818" y="14106049"/>
            <a:ext cx="4747679"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Deliverability management</a:t>
            </a:r>
          </a:p>
        </p:txBody>
      </p:sp>
      <p:sp>
        <p:nvSpPr>
          <p:cNvPr name="TextBox 37" id="37"/>
          <p:cNvSpPr txBox="true"/>
          <p:nvPr/>
        </p:nvSpPr>
        <p:spPr>
          <a:xfrm rot="0">
            <a:off x="11103273" y="14860753"/>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38" id="38"/>
          <p:cNvSpPr txBox="true"/>
          <p:nvPr/>
        </p:nvSpPr>
        <p:spPr>
          <a:xfrm rot="0">
            <a:off x="11647818" y="14860753"/>
            <a:ext cx="2679506"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Email warm-up</a:t>
            </a:r>
          </a:p>
        </p:txBody>
      </p:sp>
      <p:sp>
        <p:nvSpPr>
          <p:cNvPr name="TextBox 39" id="39"/>
          <p:cNvSpPr txBox="true"/>
          <p:nvPr/>
        </p:nvSpPr>
        <p:spPr>
          <a:xfrm rot="0">
            <a:off x="11103273" y="15615447"/>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40" id="40"/>
          <p:cNvSpPr txBox="true"/>
          <p:nvPr/>
        </p:nvSpPr>
        <p:spPr>
          <a:xfrm rot="0">
            <a:off x="11647818" y="15615447"/>
            <a:ext cx="409725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Campaign optimisation</a:t>
            </a:r>
          </a:p>
        </p:txBody>
      </p:sp>
      <p:sp>
        <p:nvSpPr>
          <p:cNvPr name="TextBox 41" id="41"/>
          <p:cNvSpPr txBox="true"/>
          <p:nvPr/>
        </p:nvSpPr>
        <p:spPr>
          <a:xfrm rot="0">
            <a:off x="1858232" y="16929887"/>
            <a:ext cx="9288580" cy="941822"/>
          </a:xfrm>
          <a:prstGeom prst="rect">
            <a:avLst/>
          </a:prstGeom>
        </p:spPr>
        <p:txBody>
          <a:bodyPr anchor="t" rtlCol="false" tIns="0" lIns="0" bIns="0" rIns="0">
            <a:spAutoFit/>
          </a:bodyPr>
          <a:lstStyle/>
          <a:p>
            <a:pPr algn="l">
              <a:lnSpc>
                <a:spcPts val="5657"/>
              </a:lnSpc>
            </a:pPr>
            <a:r>
              <a:rPr lang="en-US" sz="4032" b="true">
                <a:solidFill>
                  <a:srgbClr val="1B2437"/>
                </a:solidFill>
                <a:latin typeface="Playfair Display Bold"/>
                <a:ea typeface="Playfair Display Bold"/>
                <a:cs typeface="Playfair Display Bold"/>
                <a:sym typeface="Playfair Display Bold"/>
              </a:rPr>
              <a:t>WhatsApp campaign execution</a:t>
            </a:r>
          </a:p>
        </p:txBody>
      </p:sp>
      <p:sp>
        <p:nvSpPr>
          <p:cNvPr name="TextBox 42" id="42"/>
          <p:cNvSpPr txBox="true"/>
          <p:nvPr/>
        </p:nvSpPr>
        <p:spPr>
          <a:xfrm rot="0">
            <a:off x="1858232" y="17960397"/>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43" id="43"/>
          <p:cNvSpPr txBox="true"/>
          <p:nvPr/>
        </p:nvSpPr>
        <p:spPr>
          <a:xfrm rot="0">
            <a:off x="2402776" y="17960397"/>
            <a:ext cx="5443499"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WhatsApp broadcast execution</a:t>
            </a:r>
          </a:p>
        </p:txBody>
      </p:sp>
      <p:sp>
        <p:nvSpPr>
          <p:cNvPr name="TextBox 44" id="44"/>
          <p:cNvSpPr txBox="true"/>
          <p:nvPr/>
        </p:nvSpPr>
        <p:spPr>
          <a:xfrm rot="0">
            <a:off x="1858232" y="18715091"/>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45" id="45"/>
          <p:cNvSpPr txBox="true"/>
          <p:nvPr/>
        </p:nvSpPr>
        <p:spPr>
          <a:xfrm rot="0">
            <a:off x="2402776" y="18715091"/>
            <a:ext cx="3288478"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Referral campaigns</a:t>
            </a:r>
          </a:p>
        </p:txBody>
      </p:sp>
      <p:sp>
        <p:nvSpPr>
          <p:cNvPr name="TextBox 46" id="46"/>
          <p:cNvSpPr txBox="true"/>
          <p:nvPr/>
        </p:nvSpPr>
        <p:spPr>
          <a:xfrm rot="0">
            <a:off x="1858232" y="19469795"/>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47" id="47"/>
          <p:cNvSpPr txBox="true"/>
          <p:nvPr/>
        </p:nvSpPr>
        <p:spPr>
          <a:xfrm rot="0">
            <a:off x="2402776" y="19469795"/>
            <a:ext cx="5509746"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AMC / maintenance campaigns</a:t>
            </a:r>
          </a:p>
        </p:txBody>
      </p:sp>
      <p:sp>
        <p:nvSpPr>
          <p:cNvPr name="TextBox 48" id="48"/>
          <p:cNvSpPr txBox="true"/>
          <p:nvPr/>
        </p:nvSpPr>
        <p:spPr>
          <a:xfrm rot="0">
            <a:off x="1858232" y="20224490"/>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49" id="49"/>
          <p:cNvSpPr txBox="true"/>
          <p:nvPr/>
        </p:nvSpPr>
        <p:spPr>
          <a:xfrm rot="0">
            <a:off x="2402776" y="20224490"/>
            <a:ext cx="484959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Repeat-business campaigns</a:t>
            </a:r>
          </a:p>
        </p:txBody>
      </p:sp>
      <p:sp>
        <p:nvSpPr>
          <p:cNvPr name="TextBox 50" id="50"/>
          <p:cNvSpPr txBox="true"/>
          <p:nvPr/>
        </p:nvSpPr>
        <p:spPr>
          <a:xfrm rot="0">
            <a:off x="1858232" y="20979184"/>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51" id="51"/>
          <p:cNvSpPr txBox="true"/>
          <p:nvPr/>
        </p:nvSpPr>
        <p:spPr>
          <a:xfrm rot="0">
            <a:off x="2402776" y="20979184"/>
            <a:ext cx="586830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Customer reactivation campaigns</a:t>
            </a:r>
          </a:p>
        </p:txBody>
      </p:sp>
      <p:sp>
        <p:nvSpPr>
          <p:cNvPr name="TextBox 52" id="52"/>
          <p:cNvSpPr txBox="true"/>
          <p:nvPr/>
        </p:nvSpPr>
        <p:spPr>
          <a:xfrm rot="0">
            <a:off x="1858232" y="21733888"/>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53" id="53"/>
          <p:cNvSpPr txBox="true"/>
          <p:nvPr/>
        </p:nvSpPr>
        <p:spPr>
          <a:xfrm rot="0">
            <a:off x="2402776" y="21733888"/>
            <a:ext cx="6049442"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Promotional / seasonal campaigns</a:t>
            </a:r>
          </a:p>
        </p:txBody>
      </p:sp>
      <p:sp>
        <p:nvSpPr>
          <p:cNvPr name="TextBox 54" id="54"/>
          <p:cNvSpPr txBox="true"/>
          <p:nvPr/>
        </p:nvSpPr>
        <p:spPr>
          <a:xfrm rot="0">
            <a:off x="11103273" y="16929887"/>
            <a:ext cx="9288580" cy="941822"/>
          </a:xfrm>
          <a:prstGeom prst="rect">
            <a:avLst/>
          </a:prstGeom>
        </p:spPr>
        <p:txBody>
          <a:bodyPr anchor="t" rtlCol="false" tIns="0" lIns="0" bIns="0" rIns="0">
            <a:spAutoFit/>
          </a:bodyPr>
          <a:lstStyle/>
          <a:p>
            <a:pPr algn="l">
              <a:lnSpc>
                <a:spcPts val="5657"/>
              </a:lnSpc>
            </a:pPr>
            <a:r>
              <a:rPr lang="en-US" sz="4032" b="true">
                <a:solidFill>
                  <a:srgbClr val="1B2437"/>
                </a:solidFill>
                <a:latin typeface="Playfair Display Bold"/>
                <a:ea typeface="Playfair Display Bold"/>
                <a:cs typeface="Playfair Display Bold"/>
                <a:sym typeface="Playfair Display Bold"/>
              </a:rPr>
              <a:t>Digital growth execution</a:t>
            </a:r>
          </a:p>
        </p:txBody>
      </p:sp>
      <p:sp>
        <p:nvSpPr>
          <p:cNvPr name="TextBox 55" id="55"/>
          <p:cNvSpPr txBox="true"/>
          <p:nvPr/>
        </p:nvSpPr>
        <p:spPr>
          <a:xfrm rot="0">
            <a:off x="11103273" y="17960397"/>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56" id="56"/>
          <p:cNvSpPr txBox="true"/>
          <p:nvPr/>
        </p:nvSpPr>
        <p:spPr>
          <a:xfrm rot="0">
            <a:off x="11647818" y="17960397"/>
            <a:ext cx="233963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Ongoing SEO</a:t>
            </a:r>
          </a:p>
        </p:txBody>
      </p:sp>
      <p:sp>
        <p:nvSpPr>
          <p:cNvPr name="TextBox 57" id="57"/>
          <p:cNvSpPr txBox="true"/>
          <p:nvPr/>
        </p:nvSpPr>
        <p:spPr>
          <a:xfrm rot="0">
            <a:off x="11103273" y="18715091"/>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58" id="58"/>
          <p:cNvSpPr txBox="true"/>
          <p:nvPr/>
        </p:nvSpPr>
        <p:spPr>
          <a:xfrm rot="0">
            <a:off x="11647818" y="18715091"/>
            <a:ext cx="475554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Ongoing GEO optimisation</a:t>
            </a:r>
          </a:p>
        </p:txBody>
      </p:sp>
      <p:sp>
        <p:nvSpPr>
          <p:cNvPr name="TextBox 59" id="59"/>
          <p:cNvSpPr txBox="true"/>
          <p:nvPr/>
        </p:nvSpPr>
        <p:spPr>
          <a:xfrm rot="0">
            <a:off x="11103273" y="19469795"/>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60" id="60"/>
          <p:cNvSpPr txBox="true"/>
          <p:nvPr/>
        </p:nvSpPr>
        <p:spPr>
          <a:xfrm rot="0">
            <a:off x="11647818" y="19469795"/>
            <a:ext cx="6520586"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Google Business Profile management</a:t>
            </a:r>
          </a:p>
        </p:txBody>
      </p:sp>
      <p:sp>
        <p:nvSpPr>
          <p:cNvPr name="TextBox 61" id="61"/>
          <p:cNvSpPr txBox="true"/>
          <p:nvPr/>
        </p:nvSpPr>
        <p:spPr>
          <a:xfrm rot="0">
            <a:off x="11103273" y="20224490"/>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62" id="62"/>
          <p:cNvSpPr txBox="true"/>
          <p:nvPr/>
        </p:nvSpPr>
        <p:spPr>
          <a:xfrm rot="0">
            <a:off x="11647818" y="20224490"/>
            <a:ext cx="351589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Review management</a:t>
            </a:r>
          </a:p>
        </p:txBody>
      </p:sp>
      <p:sp>
        <p:nvSpPr>
          <p:cNvPr name="TextBox 63" id="63"/>
          <p:cNvSpPr txBox="true"/>
          <p:nvPr/>
        </p:nvSpPr>
        <p:spPr>
          <a:xfrm rot="0">
            <a:off x="11103273" y="20979184"/>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64" id="64"/>
          <p:cNvSpPr txBox="true"/>
          <p:nvPr/>
        </p:nvSpPr>
        <p:spPr>
          <a:xfrm rot="0">
            <a:off x="11647818" y="20979184"/>
            <a:ext cx="6296368"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Website updates and improvements</a:t>
            </a:r>
          </a:p>
        </p:txBody>
      </p:sp>
      <p:sp>
        <p:nvSpPr>
          <p:cNvPr name="TextBox 65" id="65"/>
          <p:cNvSpPr txBox="true"/>
          <p:nvPr/>
        </p:nvSpPr>
        <p:spPr>
          <a:xfrm rot="0">
            <a:off x="11103273" y="21733888"/>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66" id="66"/>
          <p:cNvSpPr txBox="true"/>
          <p:nvPr/>
        </p:nvSpPr>
        <p:spPr>
          <a:xfrm rot="0">
            <a:off x="11647818" y="21733888"/>
            <a:ext cx="4913986"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Local presence optimisation</a:t>
            </a:r>
          </a:p>
        </p:txBody>
      </p:sp>
      <p:sp>
        <p:nvSpPr>
          <p:cNvPr name="TextBox 67" id="67"/>
          <p:cNvSpPr txBox="true"/>
          <p:nvPr/>
        </p:nvSpPr>
        <p:spPr>
          <a:xfrm rot="0">
            <a:off x="1858232" y="23048319"/>
            <a:ext cx="9288580" cy="941822"/>
          </a:xfrm>
          <a:prstGeom prst="rect">
            <a:avLst/>
          </a:prstGeom>
        </p:spPr>
        <p:txBody>
          <a:bodyPr anchor="t" rtlCol="false" tIns="0" lIns="0" bIns="0" rIns="0">
            <a:spAutoFit/>
          </a:bodyPr>
          <a:lstStyle/>
          <a:p>
            <a:pPr algn="l">
              <a:lnSpc>
                <a:spcPts val="5657"/>
              </a:lnSpc>
            </a:pPr>
            <a:r>
              <a:rPr lang="en-US" sz="4032" b="true">
                <a:solidFill>
                  <a:srgbClr val="1B2437"/>
                </a:solidFill>
                <a:latin typeface="Playfair Display Bold"/>
                <a:ea typeface="Playfair Display Bold"/>
                <a:cs typeface="Playfair Display Bold"/>
                <a:sym typeface="Playfair Display Bold"/>
              </a:rPr>
              <a:t>Growth system maintenance</a:t>
            </a:r>
          </a:p>
        </p:txBody>
      </p:sp>
      <p:sp>
        <p:nvSpPr>
          <p:cNvPr name="TextBox 68" id="68"/>
          <p:cNvSpPr txBox="true"/>
          <p:nvPr/>
        </p:nvSpPr>
        <p:spPr>
          <a:xfrm rot="0">
            <a:off x="1858232" y="24078838"/>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69" id="69"/>
          <p:cNvSpPr txBox="true"/>
          <p:nvPr/>
        </p:nvSpPr>
        <p:spPr>
          <a:xfrm rot="0">
            <a:off x="2402776" y="24078838"/>
            <a:ext cx="415840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Automation monitoring</a:t>
            </a:r>
          </a:p>
        </p:txBody>
      </p:sp>
      <p:sp>
        <p:nvSpPr>
          <p:cNvPr name="TextBox 70" id="70"/>
          <p:cNvSpPr txBox="true"/>
          <p:nvPr/>
        </p:nvSpPr>
        <p:spPr>
          <a:xfrm rot="0">
            <a:off x="1858232" y="24833532"/>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71" id="71"/>
          <p:cNvSpPr txBox="true"/>
          <p:nvPr/>
        </p:nvSpPr>
        <p:spPr>
          <a:xfrm rot="0">
            <a:off x="2402776" y="24833532"/>
            <a:ext cx="591000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Integration / API troubleshooting</a:t>
            </a:r>
          </a:p>
        </p:txBody>
      </p:sp>
      <p:sp>
        <p:nvSpPr>
          <p:cNvPr name="TextBox 72" id="72"/>
          <p:cNvSpPr txBox="true"/>
          <p:nvPr/>
        </p:nvSpPr>
        <p:spPr>
          <a:xfrm rot="0">
            <a:off x="1858232" y="25588227"/>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73" id="73"/>
          <p:cNvSpPr txBox="true"/>
          <p:nvPr/>
        </p:nvSpPr>
        <p:spPr>
          <a:xfrm rot="0">
            <a:off x="2402776" y="25588227"/>
            <a:ext cx="465872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Campaign troubleshooting</a:t>
            </a:r>
          </a:p>
        </p:txBody>
      </p:sp>
      <p:sp>
        <p:nvSpPr>
          <p:cNvPr name="TextBox 74" id="74"/>
          <p:cNvSpPr txBox="true"/>
          <p:nvPr/>
        </p:nvSpPr>
        <p:spPr>
          <a:xfrm rot="0">
            <a:off x="1858232" y="26342931"/>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75" id="75"/>
          <p:cNvSpPr txBox="true"/>
          <p:nvPr/>
        </p:nvSpPr>
        <p:spPr>
          <a:xfrm rot="0">
            <a:off x="2402776" y="26342931"/>
            <a:ext cx="3496532"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System maintenance</a:t>
            </a:r>
          </a:p>
        </p:txBody>
      </p:sp>
      <p:sp>
        <p:nvSpPr>
          <p:cNvPr name="TextBox 76" id="76"/>
          <p:cNvSpPr txBox="true"/>
          <p:nvPr/>
        </p:nvSpPr>
        <p:spPr>
          <a:xfrm rot="0">
            <a:off x="1858232" y="27097625"/>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77" id="77"/>
          <p:cNvSpPr txBox="true"/>
          <p:nvPr/>
        </p:nvSpPr>
        <p:spPr>
          <a:xfrm rot="0">
            <a:off x="2402776" y="27097625"/>
            <a:ext cx="4097255"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Campaign optimisation</a:t>
            </a:r>
          </a:p>
        </p:txBody>
      </p:sp>
      <p:sp>
        <p:nvSpPr>
          <p:cNvPr name="TextBox 78" id="78"/>
          <p:cNvSpPr txBox="true"/>
          <p:nvPr/>
        </p:nvSpPr>
        <p:spPr>
          <a:xfrm rot="0">
            <a:off x="1858232" y="27852319"/>
            <a:ext cx="439836" cy="746865"/>
          </a:xfrm>
          <a:prstGeom prst="rect">
            <a:avLst/>
          </a:prstGeom>
        </p:spPr>
        <p:txBody>
          <a:bodyPr anchor="t" rtlCol="false" tIns="0" lIns="0" bIns="0" rIns="0">
            <a:spAutoFit/>
          </a:bodyPr>
          <a:lstStyle/>
          <a:p>
            <a:pPr algn="l">
              <a:lnSpc>
                <a:spcPts val="4643"/>
              </a:lnSpc>
            </a:pPr>
            <a:r>
              <a:rPr lang="en-US" sz="2866">
                <a:solidFill>
                  <a:srgbClr val="4FA97F"/>
                </a:solidFill>
                <a:latin typeface="Georgia"/>
                <a:ea typeface="Georgia"/>
                <a:cs typeface="Georgia"/>
                <a:sym typeface="Georgia"/>
              </a:rPr>
              <a:t>✓</a:t>
            </a:r>
          </a:p>
        </p:txBody>
      </p:sp>
      <p:sp>
        <p:nvSpPr>
          <p:cNvPr name="TextBox 79" id="79"/>
          <p:cNvSpPr txBox="true"/>
          <p:nvPr/>
        </p:nvSpPr>
        <p:spPr>
          <a:xfrm rot="0">
            <a:off x="2402776" y="27852319"/>
            <a:ext cx="7710707" cy="746865"/>
          </a:xfrm>
          <a:prstGeom prst="rect">
            <a:avLst/>
          </a:prstGeom>
        </p:spPr>
        <p:txBody>
          <a:bodyPr anchor="t" rtlCol="false" tIns="0" lIns="0" bIns="0" rIns="0">
            <a:spAutoFit/>
          </a:bodyPr>
          <a:lstStyle/>
          <a:p>
            <a:pPr algn="l">
              <a:lnSpc>
                <a:spcPts val="4643"/>
              </a:lnSpc>
            </a:pPr>
            <a:r>
              <a:rPr lang="en-US" sz="2866">
                <a:solidFill>
                  <a:srgbClr val="2A3242"/>
                </a:solidFill>
                <a:latin typeface="Georgia"/>
                <a:ea typeface="Georgia"/>
                <a:cs typeface="Georgia"/>
                <a:sym typeface="Georgia"/>
              </a:rPr>
              <a:t>Monthly reporting on activity and outcomes</a:t>
            </a:r>
          </a:p>
        </p:txBody>
      </p:sp>
      <p:grpSp>
        <p:nvGrpSpPr>
          <p:cNvPr name="Group 80" id="80"/>
          <p:cNvGrpSpPr/>
          <p:nvPr/>
        </p:nvGrpSpPr>
        <p:grpSpPr>
          <a:xfrm rot="0">
            <a:off x="1832839" y="28516774"/>
            <a:ext cx="17735379" cy="26956"/>
            <a:chOff x="0" y="0"/>
            <a:chExt cx="23647171" cy="35941"/>
          </a:xfrm>
        </p:grpSpPr>
        <p:sp>
          <p:nvSpPr>
            <p:cNvPr name="Freeform 81" id="81"/>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82" id="82"/>
          <p:cNvSpPr txBox="true"/>
          <p:nvPr/>
        </p:nvSpPr>
        <p:spPr>
          <a:xfrm rot="0">
            <a:off x="1858232" y="28924177"/>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83" id="83"/>
          <p:cNvSpPr txBox="true"/>
          <p:nvPr/>
        </p:nvSpPr>
        <p:spPr>
          <a:xfrm rot="0">
            <a:off x="19386833" y="28924177"/>
            <a:ext cx="371608"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3079720" y="1674219"/>
            <a:ext cx="7114480"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INCLUSIONS, CAPACITY &amp; RENEWAL</a:t>
            </a:r>
          </a:p>
        </p:txBody>
      </p:sp>
      <p:sp>
        <p:nvSpPr>
          <p:cNvPr name="TextBox 6" id="6"/>
          <p:cNvSpPr txBox="true"/>
          <p:nvPr/>
        </p:nvSpPr>
        <p:spPr>
          <a:xfrm rot="0">
            <a:off x="1858232" y="3905079"/>
            <a:ext cx="604085"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13</a:t>
            </a:r>
          </a:p>
        </p:txBody>
      </p:sp>
      <p:sp>
        <p:nvSpPr>
          <p:cNvPr name="TextBox 7" id="7"/>
          <p:cNvSpPr txBox="true"/>
          <p:nvPr/>
        </p:nvSpPr>
        <p:spPr>
          <a:xfrm rot="0">
            <a:off x="2703347" y="3343646"/>
            <a:ext cx="10706957"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What the Care Plan includes</a:t>
            </a:r>
          </a:p>
        </p:txBody>
      </p:sp>
      <p:sp>
        <p:nvSpPr>
          <p:cNvPr name="TextBox 8" id="8"/>
          <p:cNvSpPr txBox="true"/>
          <p:nvPr/>
        </p:nvSpPr>
        <p:spPr>
          <a:xfrm rot="0">
            <a:off x="1858232" y="5022733"/>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For the agreed scope, the Client does not need to separately purchase:</a:t>
            </a:r>
          </a:p>
        </p:txBody>
      </p:sp>
      <p:grpSp>
        <p:nvGrpSpPr>
          <p:cNvPr name="Group 9" id="9"/>
          <p:cNvGrpSpPr/>
          <p:nvPr/>
        </p:nvGrpSpPr>
        <p:grpSpPr>
          <a:xfrm rot="0">
            <a:off x="1832839" y="6361014"/>
            <a:ext cx="134769" cy="134769"/>
            <a:chOff x="0" y="0"/>
            <a:chExt cx="179692" cy="179692"/>
          </a:xfrm>
        </p:grpSpPr>
        <p:sp>
          <p:nvSpPr>
            <p:cNvPr name="Freeform 10" id="1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1" id="11"/>
          <p:cNvSpPr txBox="true"/>
          <p:nvPr/>
        </p:nvSpPr>
        <p:spPr>
          <a:xfrm rot="0">
            <a:off x="2262540" y="6056490"/>
            <a:ext cx="467726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Lead-generation platform</a:t>
            </a:r>
          </a:p>
        </p:txBody>
      </p:sp>
      <p:grpSp>
        <p:nvGrpSpPr>
          <p:cNvPr name="Group 12" id="12"/>
          <p:cNvGrpSpPr/>
          <p:nvPr/>
        </p:nvGrpSpPr>
        <p:grpSpPr>
          <a:xfrm rot="0">
            <a:off x="11023968" y="6361014"/>
            <a:ext cx="134769" cy="134769"/>
            <a:chOff x="0" y="0"/>
            <a:chExt cx="179692" cy="179692"/>
          </a:xfrm>
        </p:grpSpPr>
        <p:sp>
          <p:nvSpPr>
            <p:cNvPr name="Freeform 13" id="1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4" id="14"/>
          <p:cNvSpPr txBox="true"/>
          <p:nvPr/>
        </p:nvSpPr>
        <p:spPr>
          <a:xfrm rot="0">
            <a:off x="11453670" y="6056490"/>
            <a:ext cx="445443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outreach platform</a:t>
            </a:r>
          </a:p>
        </p:txBody>
      </p:sp>
      <p:grpSp>
        <p:nvGrpSpPr>
          <p:cNvPr name="Group 15" id="15"/>
          <p:cNvGrpSpPr/>
          <p:nvPr/>
        </p:nvGrpSpPr>
        <p:grpSpPr>
          <a:xfrm rot="0">
            <a:off x="1832839" y="7196576"/>
            <a:ext cx="134769" cy="134769"/>
            <a:chOff x="0" y="0"/>
            <a:chExt cx="179692" cy="179692"/>
          </a:xfrm>
        </p:grpSpPr>
        <p:sp>
          <p:nvSpPr>
            <p:cNvPr name="Freeform 16" id="1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7" id="17"/>
          <p:cNvSpPr txBox="true"/>
          <p:nvPr/>
        </p:nvSpPr>
        <p:spPr>
          <a:xfrm rot="0">
            <a:off x="2262540" y="6892052"/>
            <a:ext cx="523178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sending infrastructure</a:t>
            </a:r>
          </a:p>
        </p:txBody>
      </p:sp>
      <p:grpSp>
        <p:nvGrpSpPr>
          <p:cNvPr name="Group 18" id="18"/>
          <p:cNvGrpSpPr/>
          <p:nvPr/>
        </p:nvGrpSpPr>
        <p:grpSpPr>
          <a:xfrm rot="0">
            <a:off x="11023968" y="7196576"/>
            <a:ext cx="134769" cy="134769"/>
            <a:chOff x="0" y="0"/>
            <a:chExt cx="179692" cy="179692"/>
          </a:xfrm>
        </p:grpSpPr>
        <p:sp>
          <p:nvSpPr>
            <p:cNvPr name="Freeform 19" id="19"/>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0" id="20"/>
          <p:cNvSpPr txBox="true"/>
          <p:nvPr/>
        </p:nvSpPr>
        <p:spPr>
          <a:xfrm rot="0">
            <a:off x="11453670" y="6892052"/>
            <a:ext cx="418480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warm-up service</a:t>
            </a:r>
          </a:p>
        </p:txBody>
      </p:sp>
      <p:grpSp>
        <p:nvGrpSpPr>
          <p:cNvPr name="Group 21" id="21"/>
          <p:cNvGrpSpPr/>
          <p:nvPr/>
        </p:nvGrpSpPr>
        <p:grpSpPr>
          <a:xfrm rot="0">
            <a:off x="1832839" y="8032137"/>
            <a:ext cx="134769" cy="134769"/>
            <a:chOff x="0" y="0"/>
            <a:chExt cx="179692" cy="179692"/>
          </a:xfrm>
        </p:grpSpPr>
        <p:sp>
          <p:nvSpPr>
            <p:cNvPr name="Freeform 22" id="22"/>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3" id="23"/>
          <p:cNvSpPr txBox="true"/>
          <p:nvPr/>
        </p:nvSpPr>
        <p:spPr>
          <a:xfrm rot="0">
            <a:off x="2262540" y="7727604"/>
            <a:ext cx="505435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execution service</a:t>
            </a:r>
          </a:p>
        </p:txBody>
      </p:sp>
      <p:sp>
        <p:nvSpPr>
          <p:cNvPr name="TextBox 24" id="24"/>
          <p:cNvSpPr txBox="true"/>
          <p:nvPr/>
        </p:nvSpPr>
        <p:spPr>
          <a:xfrm rot="0">
            <a:off x="1858232" y="8634498"/>
            <a:ext cx="18216648" cy="82772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These are managed within the Care Plan, subject to the agreed capacity and usage limits.</a:t>
            </a:r>
          </a:p>
        </p:txBody>
      </p:sp>
      <p:sp>
        <p:nvSpPr>
          <p:cNvPr name="TextBox 25" id="25"/>
          <p:cNvSpPr txBox="true"/>
          <p:nvPr/>
        </p:nvSpPr>
        <p:spPr>
          <a:xfrm rot="0">
            <a:off x="1858232" y="10751258"/>
            <a:ext cx="623459"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14</a:t>
            </a:r>
          </a:p>
        </p:txBody>
      </p:sp>
      <p:sp>
        <p:nvSpPr>
          <p:cNvPr name="TextBox 26" id="26"/>
          <p:cNvSpPr txBox="true"/>
          <p:nvPr/>
        </p:nvSpPr>
        <p:spPr>
          <a:xfrm rot="0">
            <a:off x="2722721" y="10189826"/>
            <a:ext cx="5249675"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Lead capacity</a:t>
            </a:r>
          </a:p>
        </p:txBody>
      </p:sp>
      <p:sp>
        <p:nvSpPr>
          <p:cNvPr name="TextBox 27" id="27"/>
          <p:cNvSpPr txBox="true"/>
          <p:nvPr/>
        </p:nvSpPr>
        <p:spPr>
          <a:xfrm rot="0">
            <a:off x="1858232" y="11868912"/>
            <a:ext cx="18216648" cy="2121484"/>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Care Plan includes up to </a:t>
            </a:r>
            <a:r>
              <a:rPr lang="en-US" sz="3183" b="true">
                <a:solidFill>
                  <a:srgbClr val="1B2437"/>
                </a:solidFill>
                <a:latin typeface="Georgia Bold"/>
                <a:ea typeface="Georgia Bold"/>
                <a:cs typeface="Georgia Bold"/>
                <a:sym typeface="Georgia Bold"/>
              </a:rPr>
              <a:t>1,000 verified ICP prospects per month </a:t>
            </a:r>
            <a:r>
              <a:rPr lang="en-US" sz="3183">
                <a:solidFill>
                  <a:srgbClr val="2A3242"/>
                </a:solidFill>
                <a:latin typeface="Georgia"/>
                <a:ea typeface="Georgia"/>
                <a:cs typeface="Georgia"/>
                <a:sym typeface="Georgia"/>
              </a:rPr>
              <a:t>. This represents the agreed prospect-generation capacity. It does not represent a guarantee of replies, enquiries, meetings, sales or revenue.</a:t>
            </a:r>
          </a:p>
        </p:txBody>
      </p:sp>
      <p:sp>
        <p:nvSpPr>
          <p:cNvPr name="TextBox 28" id="28"/>
          <p:cNvSpPr txBox="true"/>
          <p:nvPr/>
        </p:nvSpPr>
        <p:spPr>
          <a:xfrm rot="0">
            <a:off x="1858232" y="14079103"/>
            <a:ext cx="18216648" cy="147460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Results depend on the market, ICP, offer, targeting, prospect behaviour, sales process and other external factors.</a:t>
            </a:r>
          </a:p>
        </p:txBody>
      </p:sp>
      <p:sp>
        <p:nvSpPr>
          <p:cNvPr name="TextBox 29" id="29"/>
          <p:cNvSpPr txBox="true"/>
          <p:nvPr/>
        </p:nvSpPr>
        <p:spPr>
          <a:xfrm rot="0">
            <a:off x="1858232" y="16842743"/>
            <a:ext cx="592293"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15</a:t>
            </a:r>
          </a:p>
        </p:txBody>
      </p:sp>
      <p:sp>
        <p:nvSpPr>
          <p:cNvPr name="TextBox 30" id="30"/>
          <p:cNvSpPr txBox="true"/>
          <p:nvPr/>
        </p:nvSpPr>
        <p:spPr>
          <a:xfrm rot="0">
            <a:off x="2691555" y="16281311"/>
            <a:ext cx="9012574"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Email outreach renewal</a:t>
            </a:r>
          </a:p>
        </p:txBody>
      </p:sp>
      <p:sp>
        <p:nvSpPr>
          <p:cNvPr name="TextBox 31" id="31"/>
          <p:cNvSpPr txBox="true"/>
          <p:nvPr/>
        </p:nvSpPr>
        <p:spPr>
          <a:xfrm rot="0">
            <a:off x="1858232" y="17960397"/>
            <a:ext cx="18216648" cy="2121484"/>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Outreach domains and email accounts included in the implementation are covered for the first 12 months. After that period, domain and mailbox renewal costs are payable separately if the Client wishes to continue using the same infrastructure. The Client will be informed in advance.</a:t>
            </a:r>
          </a:p>
        </p:txBody>
      </p:sp>
      <p:grpSp>
        <p:nvGrpSpPr>
          <p:cNvPr name="Group 32" id="32"/>
          <p:cNvGrpSpPr/>
          <p:nvPr/>
        </p:nvGrpSpPr>
        <p:grpSpPr>
          <a:xfrm rot="0">
            <a:off x="1832839" y="20430725"/>
            <a:ext cx="17735379" cy="3584810"/>
            <a:chOff x="0" y="0"/>
            <a:chExt cx="23647171" cy="4779747"/>
          </a:xfrm>
        </p:grpSpPr>
        <p:sp>
          <p:nvSpPr>
            <p:cNvPr name="Freeform 33" id="33"/>
            <p:cNvSpPr/>
            <p:nvPr/>
          </p:nvSpPr>
          <p:spPr>
            <a:xfrm flipH="false" flipV="false" rot="0">
              <a:off x="0" y="0"/>
              <a:ext cx="23647146" cy="4779772"/>
            </a:xfrm>
            <a:custGeom>
              <a:avLst/>
              <a:gdLst/>
              <a:ahLst/>
              <a:cxnLst/>
              <a:rect r="r" b="b" t="t" l="l"/>
              <a:pathLst>
                <a:path h="4779772" w="23647146">
                  <a:moveTo>
                    <a:pt x="0" y="0"/>
                  </a:moveTo>
                  <a:lnTo>
                    <a:pt x="23647146" y="0"/>
                  </a:lnTo>
                  <a:lnTo>
                    <a:pt x="23647146" y="4779772"/>
                  </a:lnTo>
                  <a:lnTo>
                    <a:pt x="0" y="4779772"/>
                  </a:lnTo>
                  <a:close/>
                </a:path>
              </a:pathLst>
            </a:custGeom>
            <a:solidFill>
              <a:srgbClr val="F7F8FA"/>
            </a:solidFill>
          </p:spPr>
        </p:sp>
      </p:grpSp>
      <p:grpSp>
        <p:nvGrpSpPr>
          <p:cNvPr name="Group 34" id="34"/>
          <p:cNvGrpSpPr/>
          <p:nvPr/>
        </p:nvGrpSpPr>
        <p:grpSpPr>
          <a:xfrm rot="0">
            <a:off x="1832839" y="20430725"/>
            <a:ext cx="17735379" cy="107813"/>
            <a:chOff x="0" y="0"/>
            <a:chExt cx="23647171" cy="143751"/>
          </a:xfrm>
        </p:grpSpPr>
        <p:sp>
          <p:nvSpPr>
            <p:cNvPr name="Freeform 35" id="35"/>
            <p:cNvSpPr/>
            <p:nvPr/>
          </p:nvSpPr>
          <p:spPr>
            <a:xfrm flipH="false" flipV="false" rot="0">
              <a:off x="0" y="0"/>
              <a:ext cx="23647146" cy="143764"/>
            </a:xfrm>
            <a:custGeom>
              <a:avLst/>
              <a:gdLst/>
              <a:ahLst/>
              <a:cxnLst/>
              <a:rect r="r" b="b" t="t" l="l"/>
              <a:pathLst>
                <a:path h="143764" w="23647146">
                  <a:moveTo>
                    <a:pt x="0" y="0"/>
                  </a:moveTo>
                  <a:lnTo>
                    <a:pt x="23647146" y="0"/>
                  </a:lnTo>
                  <a:lnTo>
                    <a:pt x="23647146" y="143764"/>
                  </a:lnTo>
                  <a:lnTo>
                    <a:pt x="0" y="143764"/>
                  </a:lnTo>
                  <a:close/>
                </a:path>
              </a:pathLst>
            </a:custGeom>
            <a:solidFill>
              <a:srgbClr val="22314F"/>
            </a:solidFill>
          </p:spPr>
        </p:sp>
      </p:grpSp>
      <p:sp>
        <p:nvSpPr>
          <p:cNvPr name="TextBox 36" id="36"/>
          <p:cNvSpPr txBox="true"/>
          <p:nvPr/>
        </p:nvSpPr>
        <p:spPr>
          <a:xfrm rot="0">
            <a:off x="2451211" y="20953857"/>
            <a:ext cx="18153574" cy="664378"/>
          </a:xfrm>
          <a:prstGeom prst="rect">
            <a:avLst/>
          </a:prstGeom>
        </p:spPr>
        <p:txBody>
          <a:bodyPr anchor="t" rtlCol="false" tIns="0" lIns="0" bIns="0" rIns="0">
            <a:spAutoFit/>
          </a:bodyPr>
          <a:lstStyle/>
          <a:p>
            <a:pPr algn="l">
              <a:lnSpc>
                <a:spcPts val="3911"/>
              </a:lnSpc>
            </a:pPr>
            <a:r>
              <a:rPr lang="en-US" sz="2546" spc="407">
                <a:solidFill>
                  <a:srgbClr val="22314F"/>
                </a:solidFill>
                <a:latin typeface="Georgia"/>
                <a:ea typeface="Georgia"/>
                <a:cs typeface="Georgia"/>
                <a:sym typeface="Georgia"/>
              </a:rPr>
              <a:t>IMPORTANT</a:t>
            </a:r>
          </a:p>
        </p:txBody>
      </p:sp>
      <p:sp>
        <p:nvSpPr>
          <p:cNvPr name="TextBox 37" id="37"/>
          <p:cNvSpPr txBox="true"/>
          <p:nvPr/>
        </p:nvSpPr>
        <p:spPr>
          <a:xfrm rot="0">
            <a:off x="2451211" y="21662546"/>
            <a:ext cx="16995115" cy="1950244"/>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The Care Plan covers ongoing operation — warm-up, deliverability, campaign execution and maintenance. Annual renewal of the underlying domains and email accounts after the initial 12 months is separate.</a:t>
            </a:r>
          </a:p>
        </p:txBody>
      </p:sp>
      <p:grpSp>
        <p:nvGrpSpPr>
          <p:cNvPr name="Group 38" id="38"/>
          <p:cNvGrpSpPr/>
          <p:nvPr/>
        </p:nvGrpSpPr>
        <p:grpSpPr>
          <a:xfrm rot="0">
            <a:off x="1832839" y="27627301"/>
            <a:ext cx="17735379" cy="26956"/>
            <a:chOff x="0" y="0"/>
            <a:chExt cx="23647171" cy="35941"/>
          </a:xfrm>
        </p:grpSpPr>
        <p:sp>
          <p:nvSpPr>
            <p:cNvPr name="Freeform 39" id="39"/>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0" id="40"/>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41" id="41"/>
          <p:cNvSpPr txBox="true"/>
          <p:nvPr/>
        </p:nvSpPr>
        <p:spPr>
          <a:xfrm rot="0">
            <a:off x="19396100" y="28034713"/>
            <a:ext cx="362341"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6923963" y="1674219"/>
            <a:ext cx="2834488"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COMMERCIALS</a:t>
            </a:r>
          </a:p>
        </p:txBody>
      </p:sp>
      <p:sp>
        <p:nvSpPr>
          <p:cNvPr name="TextBox 6" id="6"/>
          <p:cNvSpPr txBox="true"/>
          <p:nvPr/>
        </p:nvSpPr>
        <p:spPr>
          <a:xfrm rot="0">
            <a:off x="1858232" y="3905079"/>
            <a:ext cx="634832"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16</a:t>
            </a:r>
          </a:p>
        </p:txBody>
      </p:sp>
      <p:sp>
        <p:nvSpPr>
          <p:cNvPr name="TextBox 7" id="7"/>
          <p:cNvSpPr txBox="true"/>
          <p:nvPr/>
        </p:nvSpPr>
        <p:spPr>
          <a:xfrm rot="0">
            <a:off x="2734094" y="3343646"/>
            <a:ext cx="15016848"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If the Client does not take the Care Plan</a:t>
            </a:r>
          </a:p>
        </p:txBody>
      </p:sp>
      <p:sp>
        <p:nvSpPr>
          <p:cNvPr name="TextBox 8" id="8"/>
          <p:cNvSpPr txBox="true"/>
          <p:nvPr/>
        </p:nvSpPr>
        <p:spPr>
          <a:xfrm rot="0">
            <a:off x="1858232" y="5022733"/>
            <a:ext cx="18216648" cy="147460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implementation remains complete and handover-ready. Without the Care Plan, the Client becomes responsible for:</a:t>
            </a:r>
          </a:p>
        </p:txBody>
      </p:sp>
      <p:grpSp>
        <p:nvGrpSpPr>
          <p:cNvPr name="Group 9" id="9"/>
          <p:cNvGrpSpPr/>
          <p:nvPr/>
        </p:nvGrpSpPr>
        <p:grpSpPr>
          <a:xfrm rot="0">
            <a:off x="1832839" y="7007904"/>
            <a:ext cx="134769" cy="134769"/>
            <a:chOff x="0" y="0"/>
            <a:chExt cx="179692" cy="179692"/>
          </a:xfrm>
        </p:grpSpPr>
        <p:sp>
          <p:nvSpPr>
            <p:cNvPr name="Freeform 10" id="1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1" id="11"/>
          <p:cNvSpPr txBox="true"/>
          <p:nvPr/>
        </p:nvSpPr>
        <p:spPr>
          <a:xfrm rot="0">
            <a:off x="2262540" y="6703371"/>
            <a:ext cx="286480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Lead generation</a:t>
            </a:r>
          </a:p>
        </p:txBody>
      </p:sp>
      <p:grpSp>
        <p:nvGrpSpPr>
          <p:cNvPr name="Group 12" id="12"/>
          <p:cNvGrpSpPr/>
          <p:nvPr/>
        </p:nvGrpSpPr>
        <p:grpSpPr>
          <a:xfrm rot="0">
            <a:off x="11023968" y="7007904"/>
            <a:ext cx="134769" cy="134769"/>
            <a:chOff x="0" y="0"/>
            <a:chExt cx="179692" cy="179692"/>
          </a:xfrm>
        </p:grpSpPr>
        <p:sp>
          <p:nvSpPr>
            <p:cNvPr name="Freeform 13" id="1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4" id="14"/>
          <p:cNvSpPr txBox="true"/>
          <p:nvPr/>
        </p:nvSpPr>
        <p:spPr>
          <a:xfrm rot="0">
            <a:off x="11453670" y="6703371"/>
            <a:ext cx="479585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campaign execution</a:t>
            </a:r>
          </a:p>
        </p:txBody>
      </p:sp>
      <p:grpSp>
        <p:nvGrpSpPr>
          <p:cNvPr name="Group 15" id="15"/>
          <p:cNvGrpSpPr/>
          <p:nvPr/>
        </p:nvGrpSpPr>
        <p:grpSpPr>
          <a:xfrm rot="0">
            <a:off x="1832839" y="7843456"/>
            <a:ext cx="134769" cy="134769"/>
            <a:chOff x="0" y="0"/>
            <a:chExt cx="179692" cy="179692"/>
          </a:xfrm>
        </p:grpSpPr>
        <p:sp>
          <p:nvSpPr>
            <p:cNvPr name="Freeform 16" id="1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7" id="17"/>
          <p:cNvSpPr txBox="true"/>
          <p:nvPr/>
        </p:nvSpPr>
        <p:spPr>
          <a:xfrm rot="0">
            <a:off x="2262540" y="7538933"/>
            <a:ext cx="277257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Email warm-up</a:t>
            </a:r>
          </a:p>
        </p:txBody>
      </p:sp>
      <p:grpSp>
        <p:nvGrpSpPr>
          <p:cNvPr name="Group 18" id="18"/>
          <p:cNvGrpSpPr/>
          <p:nvPr/>
        </p:nvGrpSpPr>
        <p:grpSpPr>
          <a:xfrm rot="0">
            <a:off x="11023968" y="7843456"/>
            <a:ext cx="134769" cy="134769"/>
            <a:chOff x="0" y="0"/>
            <a:chExt cx="179692" cy="179692"/>
          </a:xfrm>
        </p:grpSpPr>
        <p:sp>
          <p:nvSpPr>
            <p:cNvPr name="Freeform 19" id="19"/>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0" id="20"/>
          <p:cNvSpPr txBox="true"/>
          <p:nvPr/>
        </p:nvSpPr>
        <p:spPr>
          <a:xfrm rot="0">
            <a:off x="11453670" y="7538933"/>
            <a:ext cx="241965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Deliverability</a:t>
            </a:r>
          </a:p>
        </p:txBody>
      </p:sp>
      <p:grpSp>
        <p:nvGrpSpPr>
          <p:cNvPr name="Group 21" id="21"/>
          <p:cNvGrpSpPr/>
          <p:nvPr/>
        </p:nvGrpSpPr>
        <p:grpSpPr>
          <a:xfrm rot="0">
            <a:off x="1832839" y="8679018"/>
            <a:ext cx="134769" cy="134769"/>
            <a:chOff x="0" y="0"/>
            <a:chExt cx="179692" cy="179692"/>
          </a:xfrm>
        </p:grpSpPr>
        <p:sp>
          <p:nvSpPr>
            <p:cNvPr name="Freeform 22" id="22"/>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3" id="23"/>
          <p:cNvSpPr txBox="true"/>
          <p:nvPr/>
        </p:nvSpPr>
        <p:spPr>
          <a:xfrm rot="0">
            <a:off x="2262540" y="8374485"/>
            <a:ext cx="564038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WhatsApp campaign execution</a:t>
            </a:r>
          </a:p>
        </p:txBody>
      </p:sp>
      <p:grpSp>
        <p:nvGrpSpPr>
          <p:cNvPr name="Group 24" id="24"/>
          <p:cNvGrpSpPr/>
          <p:nvPr/>
        </p:nvGrpSpPr>
        <p:grpSpPr>
          <a:xfrm rot="0">
            <a:off x="11023968" y="8679018"/>
            <a:ext cx="134769" cy="134769"/>
            <a:chOff x="0" y="0"/>
            <a:chExt cx="179692" cy="179692"/>
          </a:xfrm>
        </p:grpSpPr>
        <p:sp>
          <p:nvSpPr>
            <p:cNvPr name="Freeform 25" id="25"/>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6" id="26"/>
          <p:cNvSpPr txBox="true"/>
          <p:nvPr/>
        </p:nvSpPr>
        <p:spPr>
          <a:xfrm rot="0">
            <a:off x="11453670" y="8374485"/>
            <a:ext cx="425105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Campaign optimisation</a:t>
            </a:r>
          </a:p>
        </p:txBody>
      </p:sp>
      <p:grpSp>
        <p:nvGrpSpPr>
          <p:cNvPr name="Group 27" id="27"/>
          <p:cNvGrpSpPr/>
          <p:nvPr/>
        </p:nvGrpSpPr>
        <p:grpSpPr>
          <a:xfrm rot="0">
            <a:off x="1832839" y="9514570"/>
            <a:ext cx="134769" cy="134769"/>
            <a:chOff x="0" y="0"/>
            <a:chExt cx="179692" cy="179692"/>
          </a:xfrm>
        </p:grpSpPr>
        <p:sp>
          <p:nvSpPr>
            <p:cNvPr name="Freeform 28" id="28"/>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29" id="29"/>
          <p:cNvSpPr txBox="true"/>
          <p:nvPr/>
        </p:nvSpPr>
        <p:spPr>
          <a:xfrm rot="0">
            <a:off x="2262540" y="9210046"/>
            <a:ext cx="536428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Ongoing system maintenance</a:t>
            </a:r>
          </a:p>
        </p:txBody>
      </p:sp>
      <p:grpSp>
        <p:nvGrpSpPr>
          <p:cNvPr name="Group 30" id="30"/>
          <p:cNvGrpSpPr/>
          <p:nvPr/>
        </p:nvGrpSpPr>
        <p:grpSpPr>
          <a:xfrm rot="0">
            <a:off x="11023968" y="9514570"/>
            <a:ext cx="134769" cy="134769"/>
            <a:chOff x="0" y="0"/>
            <a:chExt cx="179692" cy="179692"/>
          </a:xfrm>
        </p:grpSpPr>
        <p:sp>
          <p:nvSpPr>
            <p:cNvPr name="Freeform 31" id="31"/>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32" id="32"/>
          <p:cNvSpPr txBox="true"/>
          <p:nvPr/>
        </p:nvSpPr>
        <p:spPr>
          <a:xfrm rot="0">
            <a:off x="11453670" y="9210046"/>
            <a:ext cx="6868030"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Relevant tool / platform management</a:t>
            </a:r>
          </a:p>
        </p:txBody>
      </p:sp>
      <p:sp>
        <p:nvSpPr>
          <p:cNvPr name="TextBox 33" id="33"/>
          <p:cNvSpPr txBox="true"/>
          <p:nvPr/>
        </p:nvSpPr>
        <p:spPr>
          <a:xfrm rot="0">
            <a:off x="1858232" y="11263379"/>
            <a:ext cx="594398"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17</a:t>
            </a:r>
          </a:p>
        </p:txBody>
      </p:sp>
      <p:sp>
        <p:nvSpPr>
          <p:cNvPr name="TextBox 34" id="34"/>
          <p:cNvSpPr txBox="true"/>
          <p:nvPr/>
        </p:nvSpPr>
        <p:spPr>
          <a:xfrm rot="0">
            <a:off x="2693660" y="10701947"/>
            <a:ext cx="7433300"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Implementation fee</a:t>
            </a:r>
          </a:p>
        </p:txBody>
      </p:sp>
      <p:grpSp>
        <p:nvGrpSpPr>
          <p:cNvPr name="Group 35" id="35"/>
          <p:cNvGrpSpPr/>
          <p:nvPr/>
        </p:nvGrpSpPr>
        <p:grpSpPr>
          <a:xfrm rot="0">
            <a:off x="1832839" y="12479455"/>
            <a:ext cx="17735379" cy="2506675"/>
            <a:chOff x="0" y="0"/>
            <a:chExt cx="23647171" cy="3342234"/>
          </a:xfrm>
        </p:grpSpPr>
        <p:sp>
          <p:nvSpPr>
            <p:cNvPr name="Freeform 36" id="36"/>
            <p:cNvSpPr/>
            <p:nvPr/>
          </p:nvSpPr>
          <p:spPr>
            <a:xfrm flipH="false" flipV="false" rot="0">
              <a:off x="0" y="0"/>
              <a:ext cx="23647146" cy="3342259"/>
            </a:xfrm>
            <a:custGeom>
              <a:avLst/>
              <a:gdLst/>
              <a:ahLst/>
              <a:cxnLst/>
              <a:rect r="r" b="b" t="t" l="l"/>
              <a:pathLst>
                <a:path h="3342259" w="23647146">
                  <a:moveTo>
                    <a:pt x="0" y="0"/>
                  </a:moveTo>
                  <a:lnTo>
                    <a:pt x="23647146" y="0"/>
                  </a:lnTo>
                  <a:lnTo>
                    <a:pt x="23647146" y="3342259"/>
                  </a:lnTo>
                  <a:lnTo>
                    <a:pt x="0" y="3342259"/>
                  </a:lnTo>
                  <a:close/>
                </a:path>
              </a:pathLst>
            </a:custGeom>
            <a:gradFill rotWithShape="true">
              <a:gsLst>
                <a:gs pos="0">
                  <a:srgbClr val="F4F7FE">
                    <a:alpha val="100000"/>
                  </a:srgbClr>
                </a:gs>
                <a:gs pos="100000">
                  <a:srgbClr val="F1FAF6">
                    <a:alpha val="100000"/>
                  </a:srgbClr>
                </a:gs>
              </a:gsLst>
              <a:lin ang="2700000"/>
            </a:gradFill>
          </p:spPr>
        </p:sp>
      </p:grpSp>
      <p:grpSp>
        <p:nvGrpSpPr>
          <p:cNvPr name="Group 37" id="37"/>
          <p:cNvGrpSpPr/>
          <p:nvPr/>
        </p:nvGrpSpPr>
        <p:grpSpPr>
          <a:xfrm rot="0">
            <a:off x="1832839" y="12479455"/>
            <a:ext cx="17735379" cy="107813"/>
            <a:chOff x="0" y="0"/>
            <a:chExt cx="23647171" cy="143751"/>
          </a:xfrm>
        </p:grpSpPr>
        <p:sp>
          <p:nvSpPr>
            <p:cNvPr name="Freeform 38" id="38"/>
            <p:cNvSpPr/>
            <p:nvPr/>
          </p:nvSpPr>
          <p:spPr>
            <a:xfrm flipH="false" flipV="false" rot="0">
              <a:off x="0" y="0"/>
              <a:ext cx="23647146" cy="143764"/>
            </a:xfrm>
            <a:custGeom>
              <a:avLst/>
              <a:gdLst/>
              <a:ahLst/>
              <a:cxnLst/>
              <a:rect r="r" b="b" t="t" l="l"/>
              <a:pathLst>
                <a:path h="143764" w="23647146">
                  <a:moveTo>
                    <a:pt x="0" y="0"/>
                  </a:moveTo>
                  <a:lnTo>
                    <a:pt x="23647146" y="0"/>
                  </a:lnTo>
                  <a:lnTo>
                    <a:pt x="23647146" y="143764"/>
                  </a:lnTo>
                  <a:lnTo>
                    <a:pt x="0" y="143764"/>
                  </a:lnTo>
                  <a:close/>
                </a:path>
              </a:pathLst>
            </a:custGeom>
            <a:solidFill>
              <a:srgbClr val="1A56E8"/>
            </a:solidFill>
          </p:spPr>
        </p:sp>
      </p:grpSp>
      <p:sp>
        <p:nvSpPr>
          <p:cNvPr name="TextBox 39" id="39"/>
          <p:cNvSpPr txBox="true"/>
          <p:nvPr/>
        </p:nvSpPr>
        <p:spPr>
          <a:xfrm rot="0">
            <a:off x="2559025" y="13481875"/>
            <a:ext cx="5305444" cy="912838"/>
          </a:xfrm>
          <a:prstGeom prst="rect">
            <a:avLst/>
          </a:prstGeom>
        </p:spPr>
        <p:txBody>
          <a:bodyPr anchor="t" rtlCol="false" tIns="0" lIns="0" bIns="0" rIns="0">
            <a:spAutoFit/>
          </a:bodyPr>
          <a:lstStyle/>
          <a:p>
            <a:pPr algn="l">
              <a:lnSpc>
                <a:spcPts val="7881"/>
              </a:lnSpc>
            </a:pPr>
            <a:r>
              <a:rPr lang="en-US" sz="8913" b="true">
                <a:solidFill>
                  <a:srgbClr val="1A56E8"/>
                </a:solidFill>
                <a:latin typeface="Playfair Display Bold"/>
                <a:ea typeface="Playfair Display Bold"/>
                <a:cs typeface="Playfair Display Bold"/>
                <a:sym typeface="Playfair Display Bold"/>
              </a:rPr>
              <a:t>₹1,25,000</a:t>
            </a:r>
          </a:p>
        </p:txBody>
      </p:sp>
      <p:sp>
        <p:nvSpPr>
          <p:cNvPr name="TextBox 40" id="40"/>
          <p:cNvSpPr txBox="true"/>
          <p:nvPr/>
        </p:nvSpPr>
        <p:spPr>
          <a:xfrm rot="0">
            <a:off x="7967405" y="13711276"/>
            <a:ext cx="2522410" cy="764286"/>
          </a:xfrm>
          <a:prstGeom prst="rect">
            <a:avLst/>
          </a:prstGeom>
        </p:spPr>
        <p:txBody>
          <a:bodyPr anchor="t" rtlCol="false" tIns="0" lIns="0" bIns="0" rIns="0">
            <a:spAutoFit/>
          </a:bodyPr>
          <a:lstStyle/>
          <a:p>
            <a:pPr algn="l">
              <a:lnSpc>
                <a:spcPts val="4698"/>
              </a:lnSpc>
            </a:pPr>
            <a:r>
              <a:rPr lang="en-US" sz="2971" spc="415">
                <a:solidFill>
                  <a:srgbClr val="5A6577"/>
                </a:solidFill>
                <a:latin typeface="Georgia"/>
                <a:ea typeface="Georgia"/>
                <a:cs typeface="Georgia"/>
                <a:sym typeface="Georgia"/>
              </a:rPr>
              <a:t>ONE-TIME</a:t>
            </a:r>
          </a:p>
        </p:txBody>
      </p:sp>
      <p:grpSp>
        <p:nvGrpSpPr>
          <p:cNvPr name="Group 41" id="41"/>
          <p:cNvGrpSpPr/>
          <p:nvPr/>
        </p:nvGrpSpPr>
        <p:grpSpPr>
          <a:xfrm rot="0">
            <a:off x="1832839" y="16603332"/>
            <a:ext cx="5365842" cy="53912"/>
            <a:chOff x="0" y="0"/>
            <a:chExt cx="7154456" cy="71882"/>
          </a:xfrm>
        </p:grpSpPr>
        <p:sp>
          <p:nvSpPr>
            <p:cNvPr name="Freeform 42" id="42"/>
            <p:cNvSpPr/>
            <p:nvPr/>
          </p:nvSpPr>
          <p:spPr>
            <a:xfrm flipH="false" flipV="false" rot="0">
              <a:off x="0" y="0"/>
              <a:ext cx="7154418" cy="71882"/>
            </a:xfrm>
            <a:custGeom>
              <a:avLst/>
              <a:gdLst/>
              <a:ahLst/>
              <a:cxnLst/>
              <a:rect r="r" b="b" t="t" l="l"/>
              <a:pathLst>
                <a:path h="71882" w="7154418">
                  <a:moveTo>
                    <a:pt x="0" y="0"/>
                  </a:moveTo>
                  <a:lnTo>
                    <a:pt x="7154418" y="0"/>
                  </a:lnTo>
                  <a:lnTo>
                    <a:pt x="7154418" y="71882"/>
                  </a:lnTo>
                  <a:lnTo>
                    <a:pt x="0" y="71882"/>
                  </a:lnTo>
                  <a:close/>
                </a:path>
              </a:pathLst>
            </a:custGeom>
            <a:solidFill>
              <a:srgbClr val="22314F"/>
            </a:solidFill>
          </p:spPr>
        </p:sp>
      </p:grpSp>
      <p:grpSp>
        <p:nvGrpSpPr>
          <p:cNvPr name="Group 43" id="43"/>
          <p:cNvGrpSpPr/>
          <p:nvPr/>
        </p:nvGrpSpPr>
        <p:grpSpPr>
          <a:xfrm rot="0">
            <a:off x="1832839" y="15848638"/>
            <a:ext cx="5204127" cy="592979"/>
            <a:chOff x="0" y="0"/>
            <a:chExt cx="6938836" cy="790638"/>
          </a:xfrm>
        </p:grpSpPr>
        <p:sp>
          <p:nvSpPr>
            <p:cNvPr name="Freeform 44" id="44"/>
            <p:cNvSpPr/>
            <p:nvPr/>
          </p:nvSpPr>
          <p:spPr>
            <a:xfrm flipH="false" flipV="false" rot="0">
              <a:off x="0" y="0"/>
              <a:ext cx="6938833" cy="790635"/>
            </a:xfrm>
            <a:custGeom>
              <a:avLst/>
              <a:gdLst/>
              <a:ahLst/>
              <a:cxnLst/>
              <a:rect r="r" b="b" t="t" l="l"/>
              <a:pathLst>
                <a:path h="790635" w="6938833">
                  <a:moveTo>
                    <a:pt x="0" y="0"/>
                  </a:moveTo>
                  <a:lnTo>
                    <a:pt x="6938833" y="0"/>
                  </a:lnTo>
                  <a:lnTo>
                    <a:pt x="6938833" y="790635"/>
                  </a:lnTo>
                  <a:lnTo>
                    <a:pt x="0" y="790635"/>
                  </a:lnTo>
                  <a:close/>
                </a:path>
              </a:pathLst>
            </a:custGeom>
            <a:blipFill>
              <a:blip r:embed="rId3">
                <a:alphaModFix amt="0"/>
              </a:blip>
              <a:stretch>
                <a:fillRect l="0" t="-121005" r="0" b="-121006"/>
              </a:stretch>
            </a:blipFill>
          </p:spPr>
        </p:sp>
        <p:sp>
          <p:nvSpPr>
            <p:cNvPr name="TextBox 45" id="45"/>
            <p:cNvSpPr txBox="true"/>
            <p:nvPr/>
          </p:nvSpPr>
          <p:spPr>
            <a:xfrm>
              <a:off x="0" y="-95250"/>
              <a:ext cx="6938836" cy="885888"/>
            </a:xfrm>
            <a:prstGeom prst="rect">
              <a:avLst/>
            </a:prstGeom>
          </p:spPr>
          <p:txBody>
            <a:bodyPr anchor="ctr" rtlCol="false" tIns="0" lIns="0" bIns="0" rIns="0"/>
            <a:lstStyle/>
            <a:p>
              <a:pPr algn="l">
                <a:lnSpc>
                  <a:spcPts val="3911"/>
                </a:lnSpc>
              </a:pPr>
              <a:r>
                <a:rPr lang="en-US" sz="2546" spc="356">
                  <a:solidFill>
                    <a:srgbClr val="5A6577"/>
                  </a:solidFill>
                  <a:latin typeface="Georgia"/>
                  <a:ea typeface="Georgia"/>
                  <a:cs typeface="Georgia"/>
                  <a:sym typeface="Georgia"/>
                </a:rPr>
                <a:t>PAYMENT</a:t>
              </a:r>
            </a:p>
          </p:txBody>
        </p:sp>
      </p:grpSp>
      <p:grpSp>
        <p:nvGrpSpPr>
          <p:cNvPr name="Group 46" id="46"/>
          <p:cNvGrpSpPr/>
          <p:nvPr/>
        </p:nvGrpSpPr>
        <p:grpSpPr>
          <a:xfrm rot="0">
            <a:off x="7198681" y="16603332"/>
            <a:ext cx="4366041" cy="53912"/>
            <a:chOff x="0" y="0"/>
            <a:chExt cx="5821388" cy="71882"/>
          </a:xfrm>
        </p:grpSpPr>
        <p:sp>
          <p:nvSpPr>
            <p:cNvPr name="Freeform 47" id="47"/>
            <p:cNvSpPr/>
            <p:nvPr/>
          </p:nvSpPr>
          <p:spPr>
            <a:xfrm flipH="false" flipV="false" rot="0">
              <a:off x="0" y="0"/>
              <a:ext cx="5821426" cy="71882"/>
            </a:xfrm>
            <a:custGeom>
              <a:avLst/>
              <a:gdLst/>
              <a:ahLst/>
              <a:cxnLst/>
              <a:rect r="r" b="b" t="t" l="l"/>
              <a:pathLst>
                <a:path h="71882" w="5821426">
                  <a:moveTo>
                    <a:pt x="0" y="0"/>
                  </a:moveTo>
                  <a:lnTo>
                    <a:pt x="5821426" y="0"/>
                  </a:lnTo>
                  <a:lnTo>
                    <a:pt x="5821426" y="71882"/>
                  </a:lnTo>
                  <a:lnTo>
                    <a:pt x="0" y="71882"/>
                  </a:lnTo>
                  <a:close/>
                </a:path>
              </a:pathLst>
            </a:custGeom>
            <a:solidFill>
              <a:srgbClr val="22314F"/>
            </a:solidFill>
          </p:spPr>
        </p:sp>
      </p:grpSp>
      <p:grpSp>
        <p:nvGrpSpPr>
          <p:cNvPr name="Group 48" id="48"/>
          <p:cNvGrpSpPr/>
          <p:nvPr/>
        </p:nvGrpSpPr>
        <p:grpSpPr>
          <a:xfrm rot="0">
            <a:off x="7576033" y="15848638"/>
            <a:ext cx="3826974" cy="592979"/>
            <a:chOff x="0" y="0"/>
            <a:chExt cx="5102631" cy="790638"/>
          </a:xfrm>
        </p:grpSpPr>
        <p:sp>
          <p:nvSpPr>
            <p:cNvPr name="Freeform 49" id="49"/>
            <p:cNvSpPr/>
            <p:nvPr/>
          </p:nvSpPr>
          <p:spPr>
            <a:xfrm flipH="false" flipV="false" rot="0">
              <a:off x="0" y="0"/>
              <a:ext cx="5102628" cy="790635"/>
            </a:xfrm>
            <a:custGeom>
              <a:avLst/>
              <a:gdLst/>
              <a:ahLst/>
              <a:cxnLst/>
              <a:rect r="r" b="b" t="t" l="l"/>
              <a:pathLst>
                <a:path h="790635" w="5102628">
                  <a:moveTo>
                    <a:pt x="0" y="0"/>
                  </a:moveTo>
                  <a:lnTo>
                    <a:pt x="5102628" y="0"/>
                  </a:lnTo>
                  <a:lnTo>
                    <a:pt x="5102628" y="790635"/>
                  </a:lnTo>
                  <a:lnTo>
                    <a:pt x="0" y="790635"/>
                  </a:lnTo>
                  <a:close/>
                </a:path>
              </a:pathLst>
            </a:custGeom>
            <a:blipFill>
              <a:blip r:embed="rId3">
                <a:alphaModFix amt="0"/>
              </a:blip>
              <a:stretch>
                <a:fillRect l="0" t="-75753" r="0" b="-75753"/>
              </a:stretch>
            </a:blipFill>
          </p:spPr>
        </p:sp>
        <p:sp>
          <p:nvSpPr>
            <p:cNvPr name="TextBox 50" id="50"/>
            <p:cNvSpPr txBox="true"/>
            <p:nvPr/>
          </p:nvSpPr>
          <p:spPr>
            <a:xfrm>
              <a:off x="0" y="-95250"/>
              <a:ext cx="5102631" cy="885888"/>
            </a:xfrm>
            <a:prstGeom prst="rect">
              <a:avLst/>
            </a:prstGeom>
          </p:spPr>
          <p:txBody>
            <a:bodyPr anchor="ctr" rtlCol="false" tIns="0" lIns="0" bIns="0" rIns="0"/>
            <a:lstStyle/>
            <a:p>
              <a:pPr algn="l">
                <a:lnSpc>
                  <a:spcPts val="3911"/>
                </a:lnSpc>
              </a:pPr>
              <a:r>
                <a:rPr lang="en-US" sz="2546" spc="356">
                  <a:solidFill>
                    <a:srgbClr val="5A6577"/>
                  </a:solidFill>
                  <a:latin typeface="Georgia"/>
                  <a:ea typeface="Georgia"/>
                  <a:cs typeface="Georgia"/>
                  <a:sym typeface="Georgia"/>
                </a:rPr>
                <a:t>AMOUNT</a:t>
              </a:r>
            </a:p>
          </p:txBody>
        </p:sp>
      </p:grpSp>
      <p:grpSp>
        <p:nvGrpSpPr>
          <p:cNvPr name="Group 51" id="51"/>
          <p:cNvGrpSpPr/>
          <p:nvPr/>
        </p:nvGrpSpPr>
        <p:grpSpPr>
          <a:xfrm rot="0">
            <a:off x="11564722" y="16603332"/>
            <a:ext cx="8004334" cy="53912"/>
            <a:chOff x="0" y="0"/>
            <a:chExt cx="10672445" cy="71882"/>
          </a:xfrm>
        </p:grpSpPr>
        <p:sp>
          <p:nvSpPr>
            <p:cNvPr name="Freeform 52" id="52"/>
            <p:cNvSpPr/>
            <p:nvPr/>
          </p:nvSpPr>
          <p:spPr>
            <a:xfrm flipH="false" flipV="false" rot="0">
              <a:off x="0" y="0"/>
              <a:ext cx="10672445" cy="71882"/>
            </a:xfrm>
            <a:custGeom>
              <a:avLst/>
              <a:gdLst/>
              <a:ahLst/>
              <a:cxnLst/>
              <a:rect r="r" b="b" t="t" l="l"/>
              <a:pathLst>
                <a:path h="71882" w="10672445">
                  <a:moveTo>
                    <a:pt x="0" y="0"/>
                  </a:moveTo>
                  <a:lnTo>
                    <a:pt x="10672445" y="0"/>
                  </a:lnTo>
                  <a:lnTo>
                    <a:pt x="10672445" y="71882"/>
                  </a:lnTo>
                  <a:lnTo>
                    <a:pt x="0" y="71882"/>
                  </a:lnTo>
                  <a:close/>
                </a:path>
              </a:pathLst>
            </a:custGeom>
            <a:solidFill>
              <a:srgbClr val="22314F"/>
            </a:solidFill>
          </p:spPr>
        </p:sp>
      </p:grpSp>
      <p:grpSp>
        <p:nvGrpSpPr>
          <p:cNvPr name="Group 53" id="53"/>
          <p:cNvGrpSpPr/>
          <p:nvPr/>
        </p:nvGrpSpPr>
        <p:grpSpPr>
          <a:xfrm rot="0">
            <a:off x="11564722" y="15848638"/>
            <a:ext cx="8244469" cy="592979"/>
            <a:chOff x="0" y="0"/>
            <a:chExt cx="10992625" cy="790638"/>
          </a:xfrm>
        </p:grpSpPr>
        <p:sp>
          <p:nvSpPr>
            <p:cNvPr name="Freeform 54" id="54"/>
            <p:cNvSpPr/>
            <p:nvPr/>
          </p:nvSpPr>
          <p:spPr>
            <a:xfrm flipH="false" flipV="false" rot="0">
              <a:off x="0" y="0"/>
              <a:ext cx="10992623" cy="790635"/>
            </a:xfrm>
            <a:custGeom>
              <a:avLst/>
              <a:gdLst/>
              <a:ahLst/>
              <a:cxnLst/>
              <a:rect r="r" b="b" t="t" l="l"/>
              <a:pathLst>
                <a:path h="790635" w="10992623">
                  <a:moveTo>
                    <a:pt x="0" y="0"/>
                  </a:moveTo>
                  <a:lnTo>
                    <a:pt x="10992623" y="0"/>
                  </a:lnTo>
                  <a:lnTo>
                    <a:pt x="10992623" y="790635"/>
                  </a:lnTo>
                  <a:lnTo>
                    <a:pt x="0" y="790635"/>
                  </a:lnTo>
                  <a:close/>
                </a:path>
              </a:pathLst>
            </a:custGeom>
            <a:blipFill>
              <a:blip r:embed="rId3">
                <a:alphaModFix amt="0"/>
              </a:blip>
              <a:stretch>
                <a:fillRect l="0" t="-220910" r="0" b="-220911"/>
              </a:stretch>
            </a:blipFill>
          </p:spPr>
        </p:sp>
        <p:sp>
          <p:nvSpPr>
            <p:cNvPr name="TextBox 55" id="55"/>
            <p:cNvSpPr txBox="true"/>
            <p:nvPr/>
          </p:nvSpPr>
          <p:spPr>
            <a:xfrm>
              <a:off x="0" y="-95250"/>
              <a:ext cx="10992625" cy="885888"/>
            </a:xfrm>
            <a:prstGeom prst="rect">
              <a:avLst/>
            </a:prstGeom>
          </p:spPr>
          <p:txBody>
            <a:bodyPr anchor="ctr" rtlCol="false" tIns="0" lIns="0" bIns="0" rIns="0"/>
            <a:lstStyle/>
            <a:p>
              <a:pPr algn="l">
                <a:lnSpc>
                  <a:spcPts val="3911"/>
                </a:lnSpc>
              </a:pPr>
              <a:r>
                <a:rPr lang="en-US" sz="2546" spc="356">
                  <a:solidFill>
                    <a:srgbClr val="5A6577"/>
                  </a:solidFill>
                  <a:latin typeface="Georgia"/>
                  <a:ea typeface="Georgia"/>
                  <a:cs typeface="Georgia"/>
                  <a:sym typeface="Georgia"/>
                </a:rPr>
                <a:t>DUE</a:t>
              </a:r>
            </a:p>
          </p:txBody>
        </p:sp>
      </p:grpSp>
      <p:grpSp>
        <p:nvGrpSpPr>
          <p:cNvPr name="Group 56" id="56"/>
          <p:cNvGrpSpPr/>
          <p:nvPr/>
        </p:nvGrpSpPr>
        <p:grpSpPr>
          <a:xfrm rot="0">
            <a:off x="1832839" y="17910581"/>
            <a:ext cx="5365842" cy="26956"/>
            <a:chOff x="0" y="0"/>
            <a:chExt cx="7154456" cy="35941"/>
          </a:xfrm>
        </p:grpSpPr>
        <p:sp>
          <p:nvSpPr>
            <p:cNvPr name="Freeform 57" id="57"/>
            <p:cNvSpPr/>
            <p:nvPr/>
          </p:nvSpPr>
          <p:spPr>
            <a:xfrm flipH="false" flipV="false" rot="0">
              <a:off x="0" y="0"/>
              <a:ext cx="7154418" cy="35941"/>
            </a:xfrm>
            <a:custGeom>
              <a:avLst/>
              <a:gdLst/>
              <a:ahLst/>
              <a:cxnLst/>
              <a:rect r="r" b="b" t="t" l="l"/>
              <a:pathLst>
                <a:path h="35941" w="7154418">
                  <a:moveTo>
                    <a:pt x="0" y="0"/>
                  </a:moveTo>
                  <a:lnTo>
                    <a:pt x="7154418" y="0"/>
                  </a:lnTo>
                  <a:lnTo>
                    <a:pt x="7154418" y="35941"/>
                  </a:lnTo>
                  <a:lnTo>
                    <a:pt x="0" y="35941"/>
                  </a:lnTo>
                  <a:close/>
                </a:path>
              </a:pathLst>
            </a:custGeom>
            <a:solidFill>
              <a:srgbClr val="E3E7EE"/>
            </a:solidFill>
          </p:spPr>
        </p:sp>
      </p:grpSp>
      <p:grpSp>
        <p:nvGrpSpPr>
          <p:cNvPr name="Group 58" id="58"/>
          <p:cNvGrpSpPr/>
          <p:nvPr/>
        </p:nvGrpSpPr>
        <p:grpSpPr>
          <a:xfrm rot="0">
            <a:off x="1832839" y="16980684"/>
            <a:ext cx="5204127" cy="714270"/>
            <a:chOff x="0" y="0"/>
            <a:chExt cx="6938836" cy="952360"/>
          </a:xfrm>
        </p:grpSpPr>
        <p:sp>
          <p:nvSpPr>
            <p:cNvPr name="Freeform 59" id="59"/>
            <p:cNvSpPr/>
            <p:nvPr/>
          </p:nvSpPr>
          <p:spPr>
            <a:xfrm flipH="false" flipV="false" rot="0">
              <a:off x="0" y="0"/>
              <a:ext cx="6938833" cy="952358"/>
            </a:xfrm>
            <a:custGeom>
              <a:avLst/>
              <a:gdLst/>
              <a:ahLst/>
              <a:cxnLst/>
              <a:rect r="r" b="b" t="t" l="l"/>
              <a:pathLst>
                <a:path h="952358" w="6938833">
                  <a:moveTo>
                    <a:pt x="0" y="0"/>
                  </a:moveTo>
                  <a:lnTo>
                    <a:pt x="6938833" y="0"/>
                  </a:lnTo>
                  <a:lnTo>
                    <a:pt x="6938833" y="952358"/>
                  </a:lnTo>
                  <a:lnTo>
                    <a:pt x="0" y="952358"/>
                  </a:lnTo>
                  <a:close/>
                </a:path>
              </a:pathLst>
            </a:custGeom>
            <a:blipFill>
              <a:blip r:embed="rId3">
                <a:alphaModFix amt="0"/>
              </a:blip>
              <a:stretch>
                <a:fillRect l="0" t="-91966" r="0" b="-91967"/>
              </a:stretch>
            </a:blipFill>
          </p:spPr>
        </p:sp>
        <p:sp>
          <p:nvSpPr>
            <p:cNvPr name="TextBox 60" id="60"/>
            <p:cNvSpPr txBox="true"/>
            <p:nvPr/>
          </p:nvSpPr>
          <p:spPr>
            <a:xfrm>
              <a:off x="0" y="-114300"/>
              <a:ext cx="6938836" cy="106666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Advance — 60%</a:t>
              </a:r>
            </a:p>
          </p:txBody>
        </p:sp>
      </p:grpSp>
      <p:grpSp>
        <p:nvGrpSpPr>
          <p:cNvPr name="Group 61" id="61"/>
          <p:cNvGrpSpPr/>
          <p:nvPr/>
        </p:nvGrpSpPr>
        <p:grpSpPr>
          <a:xfrm rot="0">
            <a:off x="7198681" y="17910581"/>
            <a:ext cx="4366041" cy="26956"/>
            <a:chOff x="0" y="0"/>
            <a:chExt cx="5821388" cy="35941"/>
          </a:xfrm>
        </p:grpSpPr>
        <p:sp>
          <p:nvSpPr>
            <p:cNvPr name="Freeform 62" id="62"/>
            <p:cNvSpPr/>
            <p:nvPr/>
          </p:nvSpPr>
          <p:spPr>
            <a:xfrm flipH="false" flipV="false" rot="0">
              <a:off x="0" y="0"/>
              <a:ext cx="5821426" cy="35941"/>
            </a:xfrm>
            <a:custGeom>
              <a:avLst/>
              <a:gdLst/>
              <a:ahLst/>
              <a:cxnLst/>
              <a:rect r="r" b="b" t="t" l="l"/>
              <a:pathLst>
                <a:path h="35941" w="5821426">
                  <a:moveTo>
                    <a:pt x="0" y="0"/>
                  </a:moveTo>
                  <a:lnTo>
                    <a:pt x="5821426" y="0"/>
                  </a:lnTo>
                  <a:lnTo>
                    <a:pt x="5821426" y="35941"/>
                  </a:lnTo>
                  <a:lnTo>
                    <a:pt x="0" y="35941"/>
                  </a:lnTo>
                  <a:close/>
                </a:path>
              </a:pathLst>
            </a:custGeom>
            <a:solidFill>
              <a:srgbClr val="E3E7EE"/>
            </a:solidFill>
          </p:spPr>
        </p:sp>
      </p:grpSp>
      <p:grpSp>
        <p:nvGrpSpPr>
          <p:cNvPr name="Group 63" id="63"/>
          <p:cNvGrpSpPr/>
          <p:nvPr/>
        </p:nvGrpSpPr>
        <p:grpSpPr>
          <a:xfrm rot="0">
            <a:off x="7576033" y="16980684"/>
            <a:ext cx="3826974" cy="714270"/>
            <a:chOff x="0" y="0"/>
            <a:chExt cx="5102631" cy="952360"/>
          </a:xfrm>
        </p:grpSpPr>
        <p:sp>
          <p:nvSpPr>
            <p:cNvPr name="Freeform 64" id="64"/>
            <p:cNvSpPr/>
            <p:nvPr/>
          </p:nvSpPr>
          <p:spPr>
            <a:xfrm flipH="false" flipV="false" rot="0">
              <a:off x="0" y="0"/>
              <a:ext cx="5102628" cy="952358"/>
            </a:xfrm>
            <a:custGeom>
              <a:avLst/>
              <a:gdLst/>
              <a:ahLst/>
              <a:cxnLst/>
              <a:rect r="r" b="b" t="t" l="l"/>
              <a:pathLst>
                <a:path h="952358" w="5102628">
                  <a:moveTo>
                    <a:pt x="0" y="0"/>
                  </a:moveTo>
                  <a:lnTo>
                    <a:pt x="5102628" y="0"/>
                  </a:lnTo>
                  <a:lnTo>
                    <a:pt x="5102628" y="952358"/>
                  </a:lnTo>
                  <a:lnTo>
                    <a:pt x="0" y="952358"/>
                  </a:lnTo>
                  <a:close/>
                </a:path>
              </a:pathLst>
            </a:custGeom>
            <a:blipFill>
              <a:blip r:embed="rId3">
                <a:alphaModFix amt="0"/>
              </a:blip>
              <a:stretch>
                <a:fillRect l="0" t="-54398" r="0" b="-54398"/>
              </a:stretch>
            </a:blipFill>
          </p:spPr>
        </p:sp>
        <p:sp>
          <p:nvSpPr>
            <p:cNvPr name="TextBox 65" id="65"/>
            <p:cNvSpPr txBox="true"/>
            <p:nvPr/>
          </p:nvSpPr>
          <p:spPr>
            <a:xfrm>
              <a:off x="0" y="-114300"/>
              <a:ext cx="5102631" cy="1066660"/>
            </a:xfrm>
            <a:prstGeom prst="rect">
              <a:avLst/>
            </a:prstGeom>
          </p:spPr>
          <p:txBody>
            <a:bodyPr anchor="ctr" rtlCol="false" tIns="0" lIns="0" bIns="0" rIns="0"/>
            <a:lstStyle/>
            <a:p>
              <a:pPr algn="l">
                <a:lnSpc>
                  <a:spcPts val="4698"/>
                </a:lnSpc>
              </a:pPr>
              <a:r>
                <a:rPr lang="en-US" sz="2971">
                  <a:solidFill>
                    <a:srgbClr val="1B2437"/>
                  </a:solidFill>
                  <a:latin typeface="Playfair Display Bold"/>
                  <a:ea typeface="Playfair Display Bold"/>
                  <a:cs typeface="Playfair Display Bold"/>
                  <a:sym typeface="Playfair Display Bold"/>
                </a:rPr>
                <a:t>₹</a:t>
              </a:r>
              <a:r>
                <a:rPr lang="en-US" sz="2971">
                  <a:solidFill>
                    <a:srgbClr val="1B2437"/>
                  </a:solidFill>
                  <a:latin typeface="Georgia"/>
                  <a:ea typeface="Georgia"/>
                  <a:cs typeface="Georgia"/>
                  <a:sym typeface="Georgia"/>
                </a:rPr>
                <a:t>75,000</a:t>
              </a:r>
            </a:p>
          </p:txBody>
        </p:sp>
      </p:grpSp>
      <p:grpSp>
        <p:nvGrpSpPr>
          <p:cNvPr name="Group 66" id="66"/>
          <p:cNvGrpSpPr/>
          <p:nvPr/>
        </p:nvGrpSpPr>
        <p:grpSpPr>
          <a:xfrm rot="0">
            <a:off x="11564722" y="17910581"/>
            <a:ext cx="8004334" cy="26956"/>
            <a:chOff x="0" y="0"/>
            <a:chExt cx="10672445" cy="35941"/>
          </a:xfrm>
        </p:grpSpPr>
        <p:sp>
          <p:nvSpPr>
            <p:cNvPr name="Freeform 67" id="67"/>
            <p:cNvSpPr/>
            <p:nvPr/>
          </p:nvSpPr>
          <p:spPr>
            <a:xfrm flipH="false" flipV="false" rot="0">
              <a:off x="0" y="0"/>
              <a:ext cx="10672445" cy="35941"/>
            </a:xfrm>
            <a:custGeom>
              <a:avLst/>
              <a:gdLst/>
              <a:ahLst/>
              <a:cxnLst/>
              <a:rect r="r" b="b" t="t" l="l"/>
              <a:pathLst>
                <a:path h="35941" w="10672445">
                  <a:moveTo>
                    <a:pt x="0" y="0"/>
                  </a:moveTo>
                  <a:lnTo>
                    <a:pt x="10672445" y="0"/>
                  </a:lnTo>
                  <a:lnTo>
                    <a:pt x="10672445" y="35941"/>
                  </a:lnTo>
                  <a:lnTo>
                    <a:pt x="0" y="35941"/>
                  </a:lnTo>
                  <a:close/>
                </a:path>
              </a:pathLst>
            </a:custGeom>
            <a:solidFill>
              <a:srgbClr val="E3E7EE"/>
            </a:solidFill>
          </p:spPr>
        </p:sp>
      </p:grpSp>
      <p:grpSp>
        <p:nvGrpSpPr>
          <p:cNvPr name="Group 68" id="68"/>
          <p:cNvGrpSpPr/>
          <p:nvPr/>
        </p:nvGrpSpPr>
        <p:grpSpPr>
          <a:xfrm rot="0">
            <a:off x="11564722" y="16980684"/>
            <a:ext cx="8244469" cy="714270"/>
            <a:chOff x="0" y="0"/>
            <a:chExt cx="10992625" cy="952360"/>
          </a:xfrm>
        </p:grpSpPr>
        <p:sp>
          <p:nvSpPr>
            <p:cNvPr name="Freeform 69" id="69"/>
            <p:cNvSpPr/>
            <p:nvPr/>
          </p:nvSpPr>
          <p:spPr>
            <a:xfrm flipH="false" flipV="false" rot="0">
              <a:off x="0" y="0"/>
              <a:ext cx="10992623" cy="952358"/>
            </a:xfrm>
            <a:custGeom>
              <a:avLst/>
              <a:gdLst/>
              <a:ahLst/>
              <a:cxnLst/>
              <a:rect r="r" b="b" t="t" l="l"/>
              <a:pathLst>
                <a:path h="952358" w="10992623">
                  <a:moveTo>
                    <a:pt x="0" y="0"/>
                  </a:moveTo>
                  <a:lnTo>
                    <a:pt x="10992623" y="0"/>
                  </a:lnTo>
                  <a:lnTo>
                    <a:pt x="10992623" y="952358"/>
                  </a:lnTo>
                  <a:lnTo>
                    <a:pt x="0" y="952358"/>
                  </a:lnTo>
                  <a:close/>
                </a:path>
              </a:pathLst>
            </a:custGeom>
            <a:blipFill>
              <a:blip r:embed="rId3">
                <a:alphaModFix amt="0"/>
              </a:blip>
              <a:stretch>
                <a:fillRect l="0" t="-174906" r="0" b="-174906"/>
              </a:stretch>
            </a:blipFill>
          </p:spPr>
        </p:sp>
        <p:sp>
          <p:nvSpPr>
            <p:cNvPr name="TextBox 70" id="70"/>
            <p:cNvSpPr txBox="true"/>
            <p:nvPr/>
          </p:nvSpPr>
          <p:spPr>
            <a:xfrm>
              <a:off x="0" y="-114300"/>
              <a:ext cx="10992625" cy="106666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At project confirmation</a:t>
              </a:r>
            </a:p>
          </p:txBody>
        </p:sp>
      </p:grpSp>
      <p:grpSp>
        <p:nvGrpSpPr>
          <p:cNvPr name="Group 71" id="71"/>
          <p:cNvGrpSpPr/>
          <p:nvPr/>
        </p:nvGrpSpPr>
        <p:grpSpPr>
          <a:xfrm rot="0">
            <a:off x="1832839" y="19177397"/>
            <a:ext cx="5365842" cy="26956"/>
            <a:chOff x="0" y="0"/>
            <a:chExt cx="7154456" cy="35941"/>
          </a:xfrm>
        </p:grpSpPr>
        <p:sp>
          <p:nvSpPr>
            <p:cNvPr name="Freeform 72" id="72"/>
            <p:cNvSpPr/>
            <p:nvPr/>
          </p:nvSpPr>
          <p:spPr>
            <a:xfrm flipH="false" flipV="false" rot="0">
              <a:off x="0" y="0"/>
              <a:ext cx="7154418" cy="35941"/>
            </a:xfrm>
            <a:custGeom>
              <a:avLst/>
              <a:gdLst/>
              <a:ahLst/>
              <a:cxnLst/>
              <a:rect r="r" b="b" t="t" l="l"/>
              <a:pathLst>
                <a:path h="35941" w="7154418">
                  <a:moveTo>
                    <a:pt x="0" y="0"/>
                  </a:moveTo>
                  <a:lnTo>
                    <a:pt x="7154418" y="0"/>
                  </a:lnTo>
                  <a:lnTo>
                    <a:pt x="7154418" y="35941"/>
                  </a:lnTo>
                  <a:lnTo>
                    <a:pt x="0" y="35941"/>
                  </a:lnTo>
                  <a:close/>
                </a:path>
              </a:pathLst>
            </a:custGeom>
            <a:solidFill>
              <a:srgbClr val="E3E7EE"/>
            </a:solidFill>
          </p:spPr>
        </p:sp>
      </p:grpSp>
      <p:grpSp>
        <p:nvGrpSpPr>
          <p:cNvPr name="Group 73" id="73"/>
          <p:cNvGrpSpPr/>
          <p:nvPr/>
        </p:nvGrpSpPr>
        <p:grpSpPr>
          <a:xfrm rot="0">
            <a:off x="1832839" y="18260978"/>
            <a:ext cx="5204127" cy="700792"/>
            <a:chOff x="0" y="0"/>
            <a:chExt cx="6938836" cy="934390"/>
          </a:xfrm>
        </p:grpSpPr>
        <p:sp>
          <p:nvSpPr>
            <p:cNvPr name="Freeform 74" id="74"/>
            <p:cNvSpPr/>
            <p:nvPr/>
          </p:nvSpPr>
          <p:spPr>
            <a:xfrm flipH="false" flipV="false" rot="0">
              <a:off x="0" y="0"/>
              <a:ext cx="6938833" cy="934387"/>
            </a:xfrm>
            <a:custGeom>
              <a:avLst/>
              <a:gdLst/>
              <a:ahLst/>
              <a:cxnLst/>
              <a:rect r="r" b="b" t="t" l="l"/>
              <a:pathLst>
                <a:path h="934387" w="6938833">
                  <a:moveTo>
                    <a:pt x="0" y="0"/>
                  </a:moveTo>
                  <a:lnTo>
                    <a:pt x="6938833" y="0"/>
                  </a:lnTo>
                  <a:lnTo>
                    <a:pt x="6938833" y="934387"/>
                  </a:lnTo>
                  <a:lnTo>
                    <a:pt x="0" y="934387"/>
                  </a:lnTo>
                  <a:close/>
                </a:path>
              </a:pathLst>
            </a:custGeom>
            <a:blipFill>
              <a:blip r:embed="rId3">
                <a:alphaModFix amt="0"/>
              </a:blip>
              <a:stretch>
                <a:fillRect l="0" t="-94697" r="0" b="-94697"/>
              </a:stretch>
            </a:blipFill>
          </p:spPr>
        </p:sp>
        <p:sp>
          <p:nvSpPr>
            <p:cNvPr name="TextBox 75" id="75"/>
            <p:cNvSpPr txBox="true"/>
            <p:nvPr/>
          </p:nvSpPr>
          <p:spPr>
            <a:xfrm>
              <a:off x="0" y="-114300"/>
              <a:ext cx="6938836"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Final — 40%</a:t>
              </a:r>
            </a:p>
          </p:txBody>
        </p:sp>
      </p:grpSp>
      <p:grpSp>
        <p:nvGrpSpPr>
          <p:cNvPr name="Group 76" id="76"/>
          <p:cNvGrpSpPr/>
          <p:nvPr/>
        </p:nvGrpSpPr>
        <p:grpSpPr>
          <a:xfrm rot="0">
            <a:off x="7198681" y="19177397"/>
            <a:ext cx="4366041" cy="26956"/>
            <a:chOff x="0" y="0"/>
            <a:chExt cx="5821388" cy="35941"/>
          </a:xfrm>
        </p:grpSpPr>
        <p:sp>
          <p:nvSpPr>
            <p:cNvPr name="Freeform 77" id="77"/>
            <p:cNvSpPr/>
            <p:nvPr/>
          </p:nvSpPr>
          <p:spPr>
            <a:xfrm flipH="false" flipV="false" rot="0">
              <a:off x="0" y="0"/>
              <a:ext cx="5821426" cy="35941"/>
            </a:xfrm>
            <a:custGeom>
              <a:avLst/>
              <a:gdLst/>
              <a:ahLst/>
              <a:cxnLst/>
              <a:rect r="r" b="b" t="t" l="l"/>
              <a:pathLst>
                <a:path h="35941" w="5821426">
                  <a:moveTo>
                    <a:pt x="0" y="0"/>
                  </a:moveTo>
                  <a:lnTo>
                    <a:pt x="5821426" y="0"/>
                  </a:lnTo>
                  <a:lnTo>
                    <a:pt x="5821426" y="35941"/>
                  </a:lnTo>
                  <a:lnTo>
                    <a:pt x="0" y="35941"/>
                  </a:lnTo>
                  <a:close/>
                </a:path>
              </a:pathLst>
            </a:custGeom>
            <a:solidFill>
              <a:srgbClr val="E3E7EE"/>
            </a:solidFill>
          </p:spPr>
        </p:sp>
      </p:grpSp>
      <p:grpSp>
        <p:nvGrpSpPr>
          <p:cNvPr name="Group 78" id="78"/>
          <p:cNvGrpSpPr/>
          <p:nvPr/>
        </p:nvGrpSpPr>
        <p:grpSpPr>
          <a:xfrm rot="0">
            <a:off x="7576033" y="18260978"/>
            <a:ext cx="3826974" cy="700792"/>
            <a:chOff x="0" y="0"/>
            <a:chExt cx="5102631" cy="934390"/>
          </a:xfrm>
        </p:grpSpPr>
        <p:sp>
          <p:nvSpPr>
            <p:cNvPr name="Freeform 79" id="79"/>
            <p:cNvSpPr/>
            <p:nvPr/>
          </p:nvSpPr>
          <p:spPr>
            <a:xfrm flipH="false" flipV="false" rot="0">
              <a:off x="0" y="0"/>
              <a:ext cx="5102628" cy="934387"/>
            </a:xfrm>
            <a:custGeom>
              <a:avLst/>
              <a:gdLst/>
              <a:ahLst/>
              <a:cxnLst/>
              <a:rect r="r" b="b" t="t" l="l"/>
              <a:pathLst>
                <a:path h="934387" w="5102628">
                  <a:moveTo>
                    <a:pt x="0" y="0"/>
                  </a:moveTo>
                  <a:lnTo>
                    <a:pt x="5102628" y="0"/>
                  </a:lnTo>
                  <a:lnTo>
                    <a:pt x="5102628" y="934387"/>
                  </a:lnTo>
                  <a:lnTo>
                    <a:pt x="0" y="934387"/>
                  </a:lnTo>
                  <a:close/>
                </a:path>
              </a:pathLst>
            </a:custGeom>
            <a:blipFill>
              <a:blip r:embed="rId3">
                <a:alphaModFix amt="0"/>
              </a:blip>
              <a:stretch>
                <a:fillRect l="0" t="-56406" r="0" b="-56406"/>
              </a:stretch>
            </a:blipFill>
          </p:spPr>
        </p:sp>
        <p:sp>
          <p:nvSpPr>
            <p:cNvPr name="TextBox 80" id="80"/>
            <p:cNvSpPr txBox="true"/>
            <p:nvPr/>
          </p:nvSpPr>
          <p:spPr>
            <a:xfrm>
              <a:off x="0" y="-114300"/>
              <a:ext cx="5102631" cy="1048690"/>
            </a:xfrm>
            <a:prstGeom prst="rect">
              <a:avLst/>
            </a:prstGeom>
          </p:spPr>
          <p:txBody>
            <a:bodyPr anchor="ctr" rtlCol="false" tIns="0" lIns="0" bIns="0" rIns="0"/>
            <a:lstStyle/>
            <a:p>
              <a:pPr algn="l">
                <a:lnSpc>
                  <a:spcPts val="4698"/>
                </a:lnSpc>
              </a:pPr>
              <a:r>
                <a:rPr lang="en-US" sz="2971">
                  <a:solidFill>
                    <a:srgbClr val="1B2437"/>
                  </a:solidFill>
                  <a:latin typeface="Playfair Display Bold"/>
                  <a:ea typeface="Playfair Display Bold"/>
                  <a:cs typeface="Playfair Display Bold"/>
                  <a:sym typeface="Playfair Display Bold"/>
                </a:rPr>
                <a:t>₹</a:t>
              </a:r>
              <a:r>
                <a:rPr lang="en-US" sz="2971">
                  <a:solidFill>
                    <a:srgbClr val="1B2437"/>
                  </a:solidFill>
                  <a:latin typeface="Georgia"/>
                  <a:ea typeface="Georgia"/>
                  <a:cs typeface="Georgia"/>
                  <a:sym typeface="Georgia"/>
                </a:rPr>
                <a:t>50,000</a:t>
              </a:r>
            </a:p>
          </p:txBody>
        </p:sp>
      </p:grpSp>
      <p:grpSp>
        <p:nvGrpSpPr>
          <p:cNvPr name="Group 81" id="81"/>
          <p:cNvGrpSpPr/>
          <p:nvPr/>
        </p:nvGrpSpPr>
        <p:grpSpPr>
          <a:xfrm rot="0">
            <a:off x="11564722" y="19177397"/>
            <a:ext cx="8004334" cy="26956"/>
            <a:chOff x="0" y="0"/>
            <a:chExt cx="10672445" cy="35941"/>
          </a:xfrm>
        </p:grpSpPr>
        <p:sp>
          <p:nvSpPr>
            <p:cNvPr name="Freeform 82" id="82"/>
            <p:cNvSpPr/>
            <p:nvPr/>
          </p:nvSpPr>
          <p:spPr>
            <a:xfrm flipH="false" flipV="false" rot="0">
              <a:off x="0" y="0"/>
              <a:ext cx="10672445" cy="35941"/>
            </a:xfrm>
            <a:custGeom>
              <a:avLst/>
              <a:gdLst/>
              <a:ahLst/>
              <a:cxnLst/>
              <a:rect r="r" b="b" t="t" l="l"/>
              <a:pathLst>
                <a:path h="35941" w="10672445">
                  <a:moveTo>
                    <a:pt x="0" y="0"/>
                  </a:moveTo>
                  <a:lnTo>
                    <a:pt x="10672445" y="0"/>
                  </a:lnTo>
                  <a:lnTo>
                    <a:pt x="10672445" y="35941"/>
                  </a:lnTo>
                  <a:lnTo>
                    <a:pt x="0" y="35941"/>
                  </a:lnTo>
                  <a:close/>
                </a:path>
              </a:pathLst>
            </a:custGeom>
            <a:solidFill>
              <a:srgbClr val="E3E7EE"/>
            </a:solidFill>
          </p:spPr>
        </p:sp>
      </p:grpSp>
      <p:grpSp>
        <p:nvGrpSpPr>
          <p:cNvPr name="Group 83" id="83"/>
          <p:cNvGrpSpPr/>
          <p:nvPr/>
        </p:nvGrpSpPr>
        <p:grpSpPr>
          <a:xfrm rot="0">
            <a:off x="11564722" y="18260978"/>
            <a:ext cx="8244469" cy="700792"/>
            <a:chOff x="0" y="0"/>
            <a:chExt cx="10992625" cy="934390"/>
          </a:xfrm>
        </p:grpSpPr>
        <p:sp>
          <p:nvSpPr>
            <p:cNvPr name="Freeform 84" id="84"/>
            <p:cNvSpPr/>
            <p:nvPr/>
          </p:nvSpPr>
          <p:spPr>
            <a:xfrm flipH="false" flipV="false" rot="0">
              <a:off x="0" y="0"/>
              <a:ext cx="10992623" cy="934387"/>
            </a:xfrm>
            <a:custGeom>
              <a:avLst/>
              <a:gdLst/>
              <a:ahLst/>
              <a:cxnLst/>
              <a:rect r="r" b="b" t="t" l="l"/>
              <a:pathLst>
                <a:path h="934387" w="10992623">
                  <a:moveTo>
                    <a:pt x="0" y="0"/>
                  </a:moveTo>
                  <a:lnTo>
                    <a:pt x="10992623" y="0"/>
                  </a:lnTo>
                  <a:lnTo>
                    <a:pt x="10992623" y="934387"/>
                  </a:lnTo>
                  <a:lnTo>
                    <a:pt x="0" y="934387"/>
                  </a:lnTo>
                  <a:close/>
                </a:path>
              </a:pathLst>
            </a:custGeom>
            <a:blipFill>
              <a:blip r:embed="rId3">
                <a:alphaModFix amt="0"/>
              </a:blip>
              <a:stretch>
                <a:fillRect l="0" t="-179232" r="0" b="-179232"/>
              </a:stretch>
            </a:blipFill>
          </p:spPr>
        </p:sp>
        <p:sp>
          <p:nvSpPr>
            <p:cNvPr name="TextBox 85" id="85"/>
            <p:cNvSpPr txBox="true"/>
            <p:nvPr/>
          </p:nvSpPr>
          <p:spPr>
            <a:xfrm>
              <a:off x="0" y="-114300"/>
              <a:ext cx="10992625"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On completion and sign-off</a:t>
              </a:r>
            </a:p>
          </p:txBody>
        </p:sp>
      </p:grpSp>
      <p:grpSp>
        <p:nvGrpSpPr>
          <p:cNvPr name="Group 86" id="86"/>
          <p:cNvGrpSpPr/>
          <p:nvPr/>
        </p:nvGrpSpPr>
        <p:grpSpPr>
          <a:xfrm rot="0">
            <a:off x="1832839" y="20444203"/>
            <a:ext cx="5365842" cy="26956"/>
            <a:chOff x="0" y="0"/>
            <a:chExt cx="7154456" cy="35941"/>
          </a:xfrm>
        </p:grpSpPr>
        <p:sp>
          <p:nvSpPr>
            <p:cNvPr name="Freeform 87" id="87"/>
            <p:cNvSpPr/>
            <p:nvPr/>
          </p:nvSpPr>
          <p:spPr>
            <a:xfrm flipH="false" flipV="false" rot="0">
              <a:off x="0" y="0"/>
              <a:ext cx="7154418" cy="35941"/>
            </a:xfrm>
            <a:custGeom>
              <a:avLst/>
              <a:gdLst/>
              <a:ahLst/>
              <a:cxnLst/>
              <a:rect r="r" b="b" t="t" l="l"/>
              <a:pathLst>
                <a:path h="35941" w="7154418">
                  <a:moveTo>
                    <a:pt x="0" y="0"/>
                  </a:moveTo>
                  <a:lnTo>
                    <a:pt x="7154418" y="0"/>
                  </a:lnTo>
                  <a:lnTo>
                    <a:pt x="7154418" y="35941"/>
                  </a:lnTo>
                  <a:lnTo>
                    <a:pt x="0" y="35941"/>
                  </a:lnTo>
                  <a:close/>
                </a:path>
              </a:pathLst>
            </a:custGeom>
            <a:solidFill>
              <a:srgbClr val="22314F"/>
            </a:solidFill>
          </p:spPr>
        </p:sp>
      </p:grpSp>
      <p:grpSp>
        <p:nvGrpSpPr>
          <p:cNvPr name="Group 88" id="88"/>
          <p:cNvGrpSpPr/>
          <p:nvPr/>
        </p:nvGrpSpPr>
        <p:grpSpPr>
          <a:xfrm rot="0">
            <a:off x="1832839" y="19527793"/>
            <a:ext cx="5204127" cy="700792"/>
            <a:chOff x="0" y="0"/>
            <a:chExt cx="6938836" cy="934390"/>
          </a:xfrm>
        </p:grpSpPr>
        <p:sp>
          <p:nvSpPr>
            <p:cNvPr name="Freeform 89" id="89"/>
            <p:cNvSpPr/>
            <p:nvPr/>
          </p:nvSpPr>
          <p:spPr>
            <a:xfrm flipH="false" flipV="false" rot="0">
              <a:off x="0" y="0"/>
              <a:ext cx="6938833" cy="934387"/>
            </a:xfrm>
            <a:custGeom>
              <a:avLst/>
              <a:gdLst/>
              <a:ahLst/>
              <a:cxnLst/>
              <a:rect r="r" b="b" t="t" l="l"/>
              <a:pathLst>
                <a:path h="934387" w="6938833">
                  <a:moveTo>
                    <a:pt x="0" y="0"/>
                  </a:moveTo>
                  <a:lnTo>
                    <a:pt x="6938833" y="0"/>
                  </a:lnTo>
                  <a:lnTo>
                    <a:pt x="6938833" y="934387"/>
                  </a:lnTo>
                  <a:lnTo>
                    <a:pt x="0" y="934387"/>
                  </a:lnTo>
                  <a:close/>
                </a:path>
              </a:pathLst>
            </a:custGeom>
            <a:blipFill>
              <a:blip r:embed="rId3">
                <a:alphaModFix amt="0"/>
              </a:blip>
              <a:stretch>
                <a:fillRect l="0" t="-94697" r="0" b="-94697"/>
              </a:stretch>
            </a:blipFill>
          </p:spPr>
        </p:sp>
        <p:sp>
          <p:nvSpPr>
            <p:cNvPr name="TextBox 90" id="90"/>
            <p:cNvSpPr txBox="true"/>
            <p:nvPr/>
          </p:nvSpPr>
          <p:spPr>
            <a:xfrm>
              <a:off x="0" y="-114300"/>
              <a:ext cx="6938836" cy="1048690"/>
            </a:xfrm>
            <a:prstGeom prst="rect">
              <a:avLst/>
            </a:prstGeom>
          </p:spPr>
          <p:txBody>
            <a:bodyPr anchor="ctr" rtlCol="false" tIns="0" lIns="0" bIns="0" rIns="0"/>
            <a:lstStyle/>
            <a:p>
              <a:pPr algn="l">
                <a:lnSpc>
                  <a:spcPts val="4698"/>
                </a:lnSpc>
              </a:pPr>
              <a:r>
                <a:rPr lang="en-US" sz="2971">
                  <a:solidFill>
                    <a:srgbClr val="1B2437"/>
                  </a:solidFill>
                  <a:latin typeface="Georgia"/>
                  <a:ea typeface="Georgia"/>
                  <a:cs typeface="Georgia"/>
                  <a:sym typeface="Georgia"/>
                </a:rPr>
                <a:t>Total</a:t>
              </a:r>
            </a:p>
          </p:txBody>
        </p:sp>
      </p:grpSp>
      <p:grpSp>
        <p:nvGrpSpPr>
          <p:cNvPr name="Group 91" id="91"/>
          <p:cNvGrpSpPr/>
          <p:nvPr/>
        </p:nvGrpSpPr>
        <p:grpSpPr>
          <a:xfrm rot="0">
            <a:off x="7198681" y="20444203"/>
            <a:ext cx="4366041" cy="26956"/>
            <a:chOff x="0" y="0"/>
            <a:chExt cx="5821388" cy="35941"/>
          </a:xfrm>
        </p:grpSpPr>
        <p:sp>
          <p:nvSpPr>
            <p:cNvPr name="Freeform 92" id="92"/>
            <p:cNvSpPr/>
            <p:nvPr/>
          </p:nvSpPr>
          <p:spPr>
            <a:xfrm flipH="false" flipV="false" rot="0">
              <a:off x="0" y="0"/>
              <a:ext cx="5821426" cy="35941"/>
            </a:xfrm>
            <a:custGeom>
              <a:avLst/>
              <a:gdLst/>
              <a:ahLst/>
              <a:cxnLst/>
              <a:rect r="r" b="b" t="t" l="l"/>
              <a:pathLst>
                <a:path h="35941" w="5821426">
                  <a:moveTo>
                    <a:pt x="0" y="0"/>
                  </a:moveTo>
                  <a:lnTo>
                    <a:pt x="5821426" y="0"/>
                  </a:lnTo>
                  <a:lnTo>
                    <a:pt x="5821426" y="35941"/>
                  </a:lnTo>
                  <a:lnTo>
                    <a:pt x="0" y="35941"/>
                  </a:lnTo>
                  <a:close/>
                </a:path>
              </a:pathLst>
            </a:custGeom>
            <a:solidFill>
              <a:srgbClr val="22314F"/>
            </a:solidFill>
          </p:spPr>
        </p:sp>
      </p:grpSp>
      <p:grpSp>
        <p:nvGrpSpPr>
          <p:cNvPr name="Group 93" id="93"/>
          <p:cNvGrpSpPr/>
          <p:nvPr/>
        </p:nvGrpSpPr>
        <p:grpSpPr>
          <a:xfrm rot="0">
            <a:off x="7576033" y="19527793"/>
            <a:ext cx="3826974" cy="700792"/>
            <a:chOff x="0" y="0"/>
            <a:chExt cx="5102631" cy="934390"/>
          </a:xfrm>
        </p:grpSpPr>
        <p:sp>
          <p:nvSpPr>
            <p:cNvPr name="Freeform 94" id="94"/>
            <p:cNvSpPr/>
            <p:nvPr/>
          </p:nvSpPr>
          <p:spPr>
            <a:xfrm flipH="false" flipV="false" rot="0">
              <a:off x="0" y="0"/>
              <a:ext cx="5102628" cy="934387"/>
            </a:xfrm>
            <a:custGeom>
              <a:avLst/>
              <a:gdLst/>
              <a:ahLst/>
              <a:cxnLst/>
              <a:rect r="r" b="b" t="t" l="l"/>
              <a:pathLst>
                <a:path h="934387" w="5102628">
                  <a:moveTo>
                    <a:pt x="0" y="0"/>
                  </a:moveTo>
                  <a:lnTo>
                    <a:pt x="5102628" y="0"/>
                  </a:lnTo>
                  <a:lnTo>
                    <a:pt x="5102628" y="934387"/>
                  </a:lnTo>
                  <a:lnTo>
                    <a:pt x="0" y="934387"/>
                  </a:lnTo>
                  <a:close/>
                </a:path>
              </a:pathLst>
            </a:custGeom>
            <a:blipFill>
              <a:blip r:embed="rId3">
                <a:alphaModFix amt="0"/>
              </a:blip>
              <a:stretch>
                <a:fillRect l="0" t="-56406" r="0" b="-56406"/>
              </a:stretch>
            </a:blipFill>
          </p:spPr>
        </p:sp>
        <p:sp>
          <p:nvSpPr>
            <p:cNvPr name="TextBox 95" id="95"/>
            <p:cNvSpPr txBox="true"/>
            <p:nvPr/>
          </p:nvSpPr>
          <p:spPr>
            <a:xfrm>
              <a:off x="0" y="-114300"/>
              <a:ext cx="5102631" cy="1048690"/>
            </a:xfrm>
            <a:prstGeom prst="rect">
              <a:avLst/>
            </a:prstGeom>
          </p:spPr>
          <p:txBody>
            <a:bodyPr anchor="ctr" rtlCol="false" tIns="0" lIns="0" bIns="0" rIns="0"/>
            <a:lstStyle/>
            <a:p>
              <a:pPr algn="l">
                <a:lnSpc>
                  <a:spcPts val="4698"/>
                </a:lnSpc>
              </a:pPr>
              <a:r>
                <a:rPr lang="en-US" sz="2971">
                  <a:solidFill>
                    <a:srgbClr val="1B2437"/>
                  </a:solidFill>
                  <a:latin typeface="Playfair Display Bold"/>
                  <a:ea typeface="Playfair Display Bold"/>
                  <a:cs typeface="Playfair Display Bold"/>
                  <a:sym typeface="Playfair Display Bold"/>
                </a:rPr>
                <a:t>₹</a:t>
              </a:r>
              <a:r>
                <a:rPr lang="en-US" sz="2971">
                  <a:solidFill>
                    <a:srgbClr val="1B2437"/>
                  </a:solidFill>
                  <a:latin typeface="Georgia"/>
                  <a:ea typeface="Georgia"/>
                  <a:cs typeface="Georgia"/>
                  <a:sym typeface="Georgia"/>
                </a:rPr>
                <a:t>1,25,000</a:t>
              </a:r>
            </a:p>
          </p:txBody>
        </p:sp>
      </p:grpSp>
      <p:grpSp>
        <p:nvGrpSpPr>
          <p:cNvPr name="Group 96" id="96"/>
          <p:cNvGrpSpPr/>
          <p:nvPr/>
        </p:nvGrpSpPr>
        <p:grpSpPr>
          <a:xfrm rot="0">
            <a:off x="11564722" y="20444203"/>
            <a:ext cx="8004334" cy="26956"/>
            <a:chOff x="0" y="0"/>
            <a:chExt cx="10672445" cy="35941"/>
          </a:xfrm>
        </p:grpSpPr>
        <p:sp>
          <p:nvSpPr>
            <p:cNvPr name="Freeform 97" id="97"/>
            <p:cNvSpPr/>
            <p:nvPr/>
          </p:nvSpPr>
          <p:spPr>
            <a:xfrm flipH="false" flipV="false" rot="0">
              <a:off x="0" y="0"/>
              <a:ext cx="10672445" cy="35941"/>
            </a:xfrm>
            <a:custGeom>
              <a:avLst/>
              <a:gdLst/>
              <a:ahLst/>
              <a:cxnLst/>
              <a:rect r="r" b="b" t="t" l="l"/>
              <a:pathLst>
                <a:path h="35941" w="10672445">
                  <a:moveTo>
                    <a:pt x="0" y="0"/>
                  </a:moveTo>
                  <a:lnTo>
                    <a:pt x="10672445" y="0"/>
                  </a:lnTo>
                  <a:lnTo>
                    <a:pt x="10672445" y="35941"/>
                  </a:lnTo>
                  <a:lnTo>
                    <a:pt x="0" y="35941"/>
                  </a:lnTo>
                  <a:close/>
                </a:path>
              </a:pathLst>
            </a:custGeom>
            <a:solidFill>
              <a:srgbClr val="22314F"/>
            </a:solidFill>
          </p:spPr>
        </p:sp>
      </p:grpSp>
      <p:sp>
        <p:nvSpPr>
          <p:cNvPr name="TextBox 98" id="98"/>
          <p:cNvSpPr txBox="true"/>
          <p:nvPr/>
        </p:nvSpPr>
        <p:spPr>
          <a:xfrm rot="0">
            <a:off x="1858232" y="20817469"/>
            <a:ext cx="19458118" cy="719909"/>
          </a:xfrm>
          <a:prstGeom prst="rect">
            <a:avLst/>
          </a:prstGeom>
        </p:spPr>
        <p:txBody>
          <a:bodyPr anchor="t" rtlCol="false" tIns="0" lIns="0" bIns="0" rIns="0">
            <a:spAutoFit/>
          </a:bodyPr>
          <a:lstStyle/>
          <a:p>
            <a:pPr algn="l">
              <a:lnSpc>
                <a:spcPts val="4591"/>
              </a:lnSpc>
            </a:pPr>
            <a:r>
              <a:rPr lang="en-US" sz="2759">
                <a:solidFill>
                  <a:srgbClr val="8894A8"/>
                </a:solidFill>
                <a:latin typeface="Georgia"/>
                <a:ea typeface="Georgia"/>
                <a:cs typeface="Georgia"/>
                <a:sym typeface="Georgia"/>
              </a:rPr>
              <a:t>Implementation begins after receipt of the advance and required Client inputs / access.</a:t>
            </a:r>
          </a:p>
        </p:txBody>
      </p:sp>
      <p:grpSp>
        <p:nvGrpSpPr>
          <p:cNvPr name="Group 99" id="99"/>
          <p:cNvGrpSpPr/>
          <p:nvPr/>
        </p:nvGrpSpPr>
        <p:grpSpPr>
          <a:xfrm rot="0">
            <a:off x="1832839" y="27627301"/>
            <a:ext cx="17735379" cy="26956"/>
            <a:chOff x="0" y="0"/>
            <a:chExt cx="23647171" cy="35941"/>
          </a:xfrm>
        </p:grpSpPr>
        <p:sp>
          <p:nvSpPr>
            <p:cNvPr name="Freeform 100" id="100"/>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101" id="101"/>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102" id="102"/>
          <p:cNvSpPr txBox="true"/>
          <p:nvPr/>
        </p:nvSpPr>
        <p:spPr>
          <a:xfrm rot="0">
            <a:off x="19224698" y="28034713"/>
            <a:ext cx="533752"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5113870" y="1674219"/>
            <a:ext cx="4876924"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TERMS OF ENGAGEMENT</a:t>
            </a:r>
          </a:p>
        </p:txBody>
      </p:sp>
      <p:sp>
        <p:nvSpPr>
          <p:cNvPr name="TextBox 6" id="6"/>
          <p:cNvSpPr txBox="true"/>
          <p:nvPr/>
        </p:nvSpPr>
        <p:spPr>
          <a:xfrm rot="0">
            <a:off x="1858232" y="3905079"/>
            <a:ext cx="635251"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18</a:t>
            </a:r>
          </a:p>
        </p:txBody>
      </p:sp>
      <p:sp>
        <p:nvSpPr>
          <p:cNvPr name="TextBox 7" id="7"/>
          <p:cNvSpPr txBox="true"/>
          <p:nvPr/>
        </p:nvSpPr>
        <p:spPr>
          <a:xfrm rot="0">
            <a:off x="2734513" y="3343646"/>
            <a:ext cx="8775878"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Care Plan commercials</a:t>
            </a:r>
          </a:p>
        </p:txBody>
      </p:sp>
      <p:sp>
        <p:nvSpPr>
          <p:cNvPr name="TextBox 8" id="8"/>
          <p:cNvSpPr txBox="true"/>
          <p:nvPr/>
        </p:nvSpPr>
        <p:spPr>
          <a:xfrm rot="0">
            <a:off x="1858232" y="5022733"/>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Care Plan is </a:t>
            </a:r>
            <a:r>
              <a:rPr lang="en-US" sz="3183">
                <a:solidFill>
                  <a:srgbClr val="2A3242"/>
                </a:solidFill>
                <a:latin typeface="Playfair Display Bold"/>
                <a:ea typeface="Playfair Display Bold"/>
                <a:cs typeface="Playfair Display Bold"/>
                <a:sym typeface="Playfair Display Bold"/>
              </a:rPr>
              <a:t>₹</a:t>
            </a:r>
            <a:r>
              <a:rPr lang="en-US" sz="3183">
                <a:solidFill>
                  <a:srgbClr val="2A3242"/>
                </a:solidFill>
                <a:latin typeface="Georgia"/>
                <a:ea typeface="Georgia"/>
                <a:cs typeface="Georgia"/>
                <a:sym typeface="Georgia"/>
              </a:rPr>
              <a:t>30,000 per month and is:</a:t>
            </a:r>
          </a:p>
        </p:txBody>
      </p:sp>
      <p:grpSp>
        <p:nvGrpSpPr>
          <p:cNvPr name="Group 9" id="9"/>
          <p:cNvGrpSpPr/>
          <p:nvPr/>
        </p:nvGrpSpPr>
        <p:grpSpPr>
          <a:xfrm rot="0">
            <a:off x="1832839" y="6361014"/>
            <a:ext cx="134769" cy="134769"/>
            <a:chOff x="0" y="0"/>
            <a:chExt cx="179692" cy="179692"/>
          </a:xfrm>
        </p:grpSpPr>
        <p:sp>
          <p:nvSpPr>
            <p:cNvPr name="Freeform 10" id="1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11" id="11"/>
          <p:cNvSpPr txBox="true"/>
          <p:nvPr/>
        </p:nvSpPr>
        <p:spPr>
          <a:xfrm rot="0">
            <a:off x="2262540" y="6056490"/>
            <a:ext cx="162663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Optional</a:t>
            </a:r>
          </a:p>
        </p:txBody>
      </p:sp>
      <p:grpSp>
        <p:nvGrpSpPr>
          <p:cNvPr name="Group 12" id="12"/>
          <p:cNvGrpSpPr/>
          <p:nvPr/>
        </p:nvGrpSpPr>
        <p:grpSpPr>
          <a:xfrm rot="0">
            <a:off x="11023968" y="6361014"/>
            <a:ext cx="134769" cy="134769"/>
            <a:chOff x="0" y="0"/>
            <a:chExt cx="179692" cy="179692"/>
          </a:xfrm>
        </p:grpSpPr>
        <p:sp>
          <p:nvSpPr>
            <p:cNvPr name="Freeform 13" id="1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14" id="14"/>
          <p:cNvSpPr txBox="true"/>
          <p:nvPr/>
        </p:nvSpPr>
        <p:spPr>
          <a:xfrm rot="0">
            <a:off x="11453670" y="6056490"/>
            <a:ext cx="4725905"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Billed monthly in advance</a:t>
            </a:r>
          </a:p>
        </p:txBody>
      </p:sp>
      <p:grpSp>
        <p:nvGrpSpPr>
          <p:cNvPr name="Group 15" id="15"/>
          <p:cNvGrpSpPr/>
          <p:nvPr/>
        </p:nvGrpSpPr>
        <p:grpSpPr>
          <a:xfrm rot="0">
            <a:off x="1832839" y="7196576"/>
            <a:ext cx="134769" cy="134769"/>
            <a:chOff x="0" y="0"/>
            <a:chExt cx="179692" cy="179692"/>
          </a:xfrm>
        </p:grpSpPr>
        <p:sp>
          <p:nvSpPr>
            <p:cNvPr name="Freeform 16" id="1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17" id="17"/>
          <p:cNvSpPr txBox="true"/>
          <p:nvPr/>
        </p:nvSpPr>
        <p:spPr>
          <a:xfrm rot="0">
            <a:off x="2262540" y="6892052"/>
            <a:ext cx="301557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Month-to-month</a:t>
            </a:r>
          </a:p>
        </p:txBody>
      </p:sp>
      <p:grpSp>
        <p:nvGrpSpPr>
          <p:cNvPr name="Group 18" id="18"/>
          <p:cNvGrpSpPr/>
          <p:nvPr/>
        </p:nvGrpSpPr>
        <p:grpSpPr>
          <a:xfrm rot="0">
            <a:off x="11023968" y="7196576"/>
            <a:ext cx="134769" cy="134769"/>
            <a:chOff x="0" y="0"/>
            <a:chExt cx="179692" cy="179692"/>
          </a:xfrm>
        </p:grpSpPr>
        <p:sp>
          <p:nvSpPr>
            <p:cNvPr name="Freeform 19" id="19"/>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4543C"/>
            </a:solidFill>
          </p:spPr>
        </p:sp>
      </p:grpSp>
      <p:sp>
        <p:nvSpPr>
          <p:cNvPr name="TextBox 20" id="20"/>
          <p:cNvSpPr txBox="true"/>
          <p:nvPr/>
        </p:nvSpPr>
        <p:spPr>
          <a:xfrm rot="0">
            <a:off x="11453670" y="6892052"/>
            <a:ext cx="6829577"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No fixed 6- or 12-month commitment</a:t>
            </a:r>
          </a:p>
        </p:txBody>
      </p:sp>
      <p:sp>
        <p:nvSpPr>
          <p:cNvPr name="TextBox 21" id="21"/>
          <p:cNvSpPr txBox="true"/>
          <p:nvPr/>
        </p:nvSpPr>
        <p:spPr>
          <a:xfrm rot="0">
            <a:off x="1858232" y="7798937"/>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Either party may discontinue the Care Plan with </a:t>
            </a:r>
            <a:r>
              <a:rPr lang="en-US" sz="3183" b="true">
                <a:solidFill>
                  <a:srgbClr val="1B2437"/>
                </a:solidFill>
                <a:latin typeface="Georgia Bold"/>
                <a:ea typeface="Georgia Bold"/>
                <a:cs typeface="Georgia Bold"/>
                <a:sym typeface="Georgia Bold"/>
              </a:rPr>
              <a:t>30 days' written notice</a:t>
            </a:r>
            <a:r>
              <a:rPr lang="en-US" sz="3183">
                <a:solidFill>
                  <a:srgbClr val="2A3242"/>
                </a:solidFill>
                <a:latin typeface="Georgia"/>
                <a:ea typeface="Georgia"/>
                <a:cs typeface="Georgia"/>
                <a:sym typeface="Georgia"/>
              </a:rPr>
              <a:t>.</a:t>
            </a:r>
          </a:p>
        </p:txBody>
      </p:sp>
      <p:sp>
        <p:nvSpPr>
          <p:cNvPr name="TextBox 22" id="22"/>
          <p:cNvSpPr txBox="true"/>
          <p:nvPr/>
        </p:nvSpPr>
        <p:spPr>
          <a:xfrm rot="0">
            <a:off x="1858232" y="9915696"/>
            <a:ext cx="631879"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19</a:t>
            </a:r>
          </a:p>
        </p:txBody>
      </p:sp>
      <p:sp>
        <p:nvSpPr>
          <p:cNvPr name="TextBox 23" id="23"/>
          <p:cNvSpPr txBox="true"/>
          <p:nvPr/>
        </p:nvSpPr>
        <p:spPr>
          <a:xfrm rot="0">
            <a:off x="2731141" y="9354274"/>
            <a:ext cx="4192991"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Exclusions</a:t>
            </a:r>
          </a:p>
        </p:txBody>
      </p:sp>
      <p:sp>
        <p:nvSpPr>
          <p:cNvPr name="TextBox 24" id="24"/>
          <p:cNvSpPr txBox="true"/>
          <p:nvPr/>
        </p:nvSpPr>
        <p:spPr>
          <a:xfrm rot="0">
            <a:off x="1858232" y="11033360"/>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Unless expressly included in this proposal, the following are outside the agreed scope:</a:t>
            </a:r>
          </a:p>
        </p:txBody>
      </p:sp>
      <p:sp>
        <p:nvSpPr>
          <p:cNvPr name="TextBox 25" id="25"/>
          <p:cNvSpPr txBox="true"/>
          <p:nvPr/>
        </p:nvSpPr>
        <p:spPr>
          <a:xfrm rot="0">
            <a:off x="1858232" y="12067118"/>
            <a:ext cx="407832" cy="764286"/>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26" id="26"/>
          <p:cNvSpPr txBox="true"/>
          <p:nvPr/>
        </p:nvSpPr>
        <p:spPr>
          <a:xfrm rot="0">
            <a:off x="2424684" y="12067118"/>
            <a:ext cx="411949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Paid advertising spend</a:t>
            </a:r>
          </a:p>
        </p:txBody>
      </p:sp>
      <p:sp>
        <p:nvSpPr>
          <p:cNvPr name="TextBox 27" id="27"/>
          <p:cNvSpPr txBox="true"/>
          <p:nvPr/>
        </p:nvSpPr>
        <p:spPr>
          <a:xfrm rot="0">
            <a:off x="11049371" y="12067118"/>
            <a:ext cx="407832" cy="764286"/>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28" id="28"/>
          <p:cNvSpPr txBox="true"/>
          <p:nvPr/>
        </p:nvSpPr>
        <p:spPr>
          <a:xfrm rot="0">
            <a:off x="11615814" y="12067118"/>
            <a:ext cx="731137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Professional photography / videography</a:t>
            </a:r>
          </a:p>
        </p:txBody>
      </p:sp>
      <p:sp>
        <p:nvSpPr>
          <p:cNvPr name="TextBox 29" id="29"/>
          <p:cNvSpPr txBox="true"/>
          <p:nvPr/>
        </p:nvSpPr>
        <p:spPr>
          <a:xfrm rot="0">
            <a:off x="1858232" y="12902670"/>
            <a:ext cx="407832" cy="1357265"/>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30" id="30"/>
          <p:cNvSpPr txBox="true"/>
          <p:nvPr/>
        </p:nvSpPr>
        <p:spPr>
          <a:xfrm rot="0">
            <a:off x="2424684" y="12902670"/>
            <a:ext cx="8166344"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Major website redesigns outside the agreed implementation</a:t>
            </a:r>
          </a:p>
        </p:txBody>
      </p:sp>
      <p:sp>
        <p:nvSpPr>
          <p:cNvPr name="TextBox 31" id="31"/>
          <p:cNvSpPr txBox="true"/>
          <p:nvPr/>
        </p:nvSpPr>
        <p:spPr>
          <a:xfrm rot="0">
            <a:off x="11049371" y="12902670"/>
            <a:ext cx="407832" cy="1357265"/>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32" id="32"/>
          <p:cNvSpPr txBox="true"/>
          <p:nvPr/>
        </p:nvSpPr>
        <p:spPr>
          <a:xfrm rot="0">
            <a:off x="11615814" y="12902670"/>
            <a:ext cx="4874524"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Major new software systems</a:t>
            </a:r>
          </a:p>
        </p:txBody>
      </p:sp>
      <p:sp>
        <p:nvSpPr>
          <p:cNvPr name="TextBox 33" id="33"/>
          <p:cNvSpPr txBox="true"/>
          <p:nvPr/>
        </p:nvSpPr>
        <p:spPr>
          <a:xfrm rot="0">
            <a:off x="1858232" y="14331201"/>
            <a:ext cx="407832" cy="1357265"/>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34" id="34"/>
          <p:cNvSpPr txBox="true"/>
          <p:nvPr/>
        </p:nvSpPr>
        <p:spPr>
          <a:xfrm rot="0">
            <a:off x="2424684" y="14331201"/>
            <a:ext cx="8166344"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New automation systems outside the agreed implementation</a:t>
            </a:r>
          </a:p>
        </p:txBody>
      </p:sp>
      <p:sp>
        <p:nvSpPr>
          <p:cNvPr name="TextBox 35" id="35"/>
          <p:cNvSpPr txBox="true"/>
          <p:nvPr/>
        </p:nvSpPr>
        <p:spPr>
          <a:xfrm rot="0">
            <a:off x="11049371" y="14331201"/>
            <a:ext cx="407832" cy="1357265"/>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36" id="36"/>
          <p:cNvSpPr txBox="true"/>
          <p:nvPr/>
        </p:nvSpPr>
        <p:spPr>
          <a:xfrm rot="0">
            <a:off x="11615814" y="14331201"/>
            <a:ext cx="8166344" cy="1357265"/>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Additional prospect capacity beyond the agreed limit</a:t>
            </a:r>
          </a:p>
        </p:txBody>
      </p:sp>
      <p:sp>
        <p:nvSpPr>
          <p:cNvPr name="TextBox 37" id="37"/>
          <p:cNvSpPr txBox="true"/>
          <p:nvPr/>
        </p:nvSpPr>
        <p:spPr>
          <a:xfrm rot="0">
            <a:off x="1858232" y="15759741"/>
            <a:ext cx="407832" cy="764286"/>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38" id="38"/>
          <p:cNvSpPr txBox="true"/>
          <p:nvPr/>
        </p:nvSpPr>
        <p:spPr>
          <a:xfrm rot="0">
            <a:off x="2424684" y="15759741"/>
            <a:ext cx="755597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Materially increased AI / API / tool usage</a:t>
            </a:r>
          </a:p>
        </p:txBody>
      </p:sp>
      <p:sp>
        <p:nvSpPr>
          <p:cNvPr name="TextBox 39" id="39"/>
          <p:cNvSpPr txBox="true"/>
          <p:nvPr/>
        </p:nvSpPr>
        <p:spPr>
          <a:xfrm rot="0">
            <a:off x="11049371" y="15759741"/>
            <a:ext cx="407832" cy="764286"/>
          </a:xfrm>
          <a:prstGeom prst="rect">
            <a:avLst/>
          </a:prstGeom>
        </p:spPr>
        <p:txBody>
          <a:bodyPr anchor="t" rtlCol="false" tIns="0" lIns="0" bIns="0" rIns="0">
            <a:spAutoFit/>
          </a:bodyPr>
          <a:lstStyle/>
          <a:p>
            <a:pPr algn="l">
              <a:lnSpc>
                <a:spcPts val="4698"/>
              </a:lnSpc>
            </a:pPr>
            <a:r>
              <a:rPr lang="en-US" sz="2971">
                <a:solidFill>
                  <a:srgbClr val="B0553F"/>
                </a:solidFill>
                <a:latin typeface="Georgia"/>
                <a:ea typeface="Georgia"/>
                <a:cs typeface="Georgia"/>
                <a:sym typeface="Georgia"/>
              </a:rPr>
              <a:t>×</a:t>
            </a:r>
          </a:p>
        </p:txBody>
      </p:sp>
      <p:sp>
        <p:nvSpPr>
          <p:cNvPr name="TextBox 40" id="40"/>
          <p:cNvSpPr txBox="true"/>
          <p:nvPr/>
        </p:nvSpPr>
        <p:spPr>
          <a:xfrm rot="0">
            <a:off x="11615814" y="15759741"/>
            <a:ext cx="801599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Services not expressly listed in this proposal</a:t>
            </a:r>
          </a:p>
        </p:txBody>
      </p:sp>
      <p:sp>
        <p:nvSpPr>
          <p:cNvPr name="TextBox 41" id="41"/>
          <p:cNvSpPr txBox="true"/>
          <p:nvPr/>
        </p:nvSpPr>
        <p:spPr>
          <a:xfrm rot="0">
            <a:off x="1858232" y="16666635"/>
            <a:ext cx="18216648" cy="82772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Any additional requirement will be separately scoped and approved before implementation.</a:t>
            </a:r>
          </a:p>
        </p:txBody>
      </p:sp>
      <p:sp>
        <p:nvSpPr>
          <p:cNvPr name="TextBox 42" id="42"/>
          <p:cNvSpPr txBox="true"/>
          <p:nvPr/>
        </p:nvSpPr>
        <p:spPr>
          <a:xfrm rot="0">
            <a:off x="1858232" y="18783395"/>
            <a:ext cx="715270"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20</a:t>
            </a:r>
          </a:p>
        </p:txBody>
      </p:sp>
      <p:sp>
        <p:nvSpPr>
          <p:cNvPr name="TextBox 43" id="43"/>
          <p:cNvSpPr txBox="true"/>
          <p:nvPr/>
        </p:nvSpPr>
        <p:spPr>
          <a:xfrm rot="0">
            <a:off x="2814533" y="18221963"/>
            <a:ext cx="8369779"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Client responsibilities</a:t>
            </a:r>
          </a:p>
        </p:txBody>
      </p:sp>
      <p:grpSp>
        <p:nvGrpSpPr>
          <p:cNvPr name="Group 44" id="44"/>
          <p:cNvGrpSpPr/>
          <p:nvPr/>
        </p:nvGrpSpPr>
        <p:grpSpPr>
          <a:xfrm rot="0">
            <a:off x="1832839" y="20215098"/>
            <a:ext cx="134769" cy="134769"/>
            <a:chOff x="0" y="0"/>
            <a:chExt cx="179692" cy="179692"/>
          </a:xfrm>
        </p:grpSpPr>
        <p:sp>
          <p:nvSpPr>
            <p:cNvPr name="Freeform 45" id="45"/>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46" id="46"/>
          <p:cNvSpPr txBox="true"/>
          <p:nvPr/>
        </p:nvSpPr>
        <p:spPr>
          <a:xfrm rot="0">
            <a:off x="2262540" y="19910574"/>
            <a:ext cx="3869798"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Business information</a:t>
            </a:r>
          </a:p>
        </p:txBody>
      </p:sp>
      <p:grpSp>
        <p:nvGrpSpPr>
          <p:cNvPr name="Group 47" id="47"/>
          <p:cNvGrpSpPr/>
          <p:nvPr/>
        </p:nvGrpSpPr>
        <p:grpSpPr>
          <a:xfrm rot="0">
            <a:off x="11023968" y="20215098"/>
            <a:ext cx="134769" cy="134769"/>
            <a:chOff x="0" y="0"/>
            <a:chExt cx="179692" cy="179692"/>
          </a:xfrm>
        </p:grpSpPr>
        <p:sp>
          <p:nvSpPr>
            <p:cNvPr name="Freeform 48" id="48"/>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49" id="49"/>
          <p:cNvSpPr txBox="true"/>
          <p:nvPr/>
        </p:nvSpPr>
        <p:spPr>
          <a:xfrm rot="0">
            <a:off x="11453670" y="19910574"/>
            <a:ext cx="5941971"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Services and pricing information</a:t>
            </a:r>
          </a:p>
        </p:txBody>
      </p:sp>
      <p:grpSp>
        <p:nvGrpSpPr>
          <p:cNvPr name="Group 50" id="50"/>
          <p:cNvGrpSpPr/>
          <p:nvPr/>
        </p:nvGrpSpPr>
        <p:grpSpPr>
          <a:xfrm rot="0">
            <a:off x="1832839" y="21050660"/>
            <a:ext cx="134769" cy="134769"/>
            <a:chOff x="0" y="0"/>
            <a:chExt cx="179692" cy="179692"/>
          </a:xfrm>
        </p:grpSpPr>
        <p:sp>
          <p:nvSpPr>
            <p:cNvPr name="Freeform 51" id="51"/>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52" id="52"/>
          <p:cNvSpPr txBox="true"/>
          <p:nvPr/>
        </p:nvSpPr>
        <p:spPr>
          <a:xfrm rot="0">
            <a:off x="2262540" y="20746126"/>
            <a:ext cx="344220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Project information</a:t>
            </a:r>
          </a:p>
        </p:txBody>
      </p:sp>
      <p:grpSp>
        <p:nvGrpSpPr>
          <p:cNvPr name="Group 53" id="53"/>
          <p:cNvGrpSpPr/>
          <p:nvPr/>
        </p:nvGrpSpPr>
        <p:grpSpPr>
          <a:xfrm rot="0">
            <a:off x="11023968" y="21050660"/>
            <a:ext cx="134769" cy="134769"/>
            <a:chOff x="0" y="0"/>
            <a:chExt cx="179692" cy="179692"/>
          </a:xfrm>
        </p:grpSpPr>
        <p:sp>
          <p:nvSpPr>
            <p:cNvPr name="Freeform 54" id="54"/>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55" id="55"/>
          <p:cNvSpPr txBox="true"/>
          <p:nvPr/>
        </p:nvSpPr>
        <p:spPr>
          <a:xfrm rot="0">
            <a:off x="11453670" y="20746126"/>
            <a:ext cx="4352973"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Required customer data</a:t>
            </a:r>
          </a:p>
        </p:txBody>
      </p:sp>
      <p:grpSp>
        <p:nvGrpSpPr>
          <p:cNvPr name="Group 56" id="56"/>
          <p:cNvGrpSpPr/>
          <p:nvPr/>
        </p:nvGrpSpPr>
        <p:grpSpPr>
          <a:xfrm rot="0">
            <a:off x="1832839" y="21886212"/>
            <a:ext cx="134769" cy="134769"/>
            <a:chOff x="0" y="0"/>
            <a:chExt cx="179692" cy="179692"/>
          </a:xfrm>
        </p:grpSpPr>
        <p:sp>
          <p:nvSpPr>
            <p:cNvPr name="Freeform 57" id="57"/>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58" id="58"/>
          <p:cNvSpPr txBox="true"/>
          <p:nvPr/>
        </p:nvSpPr>
        <p:spPr>
          <a:xfrm rot="0">
            <a:off x="2262540" y="21581688"/>
            <a:ext cx="4438679"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Relevant images / assets</a:t>
            </a:r>
          </a:p>
        </p:txBody>
      </p:sp>
      <p:grpSp>
        <p:nvGrpSpPr>
          <p:cNvPr name="Group 59" id="59"/>
          <p:cNvGrpSpPr/>
          <p:nvPr/>
        </p:nvGrpSpPr>
        <p:grpSpPr>
          <a:xfrm rot="0">
            <a:off x="11023968" y="21886212"/>
            <a:ext cx="134769" cy="134769"/>
            <a:chOff x="0" y="0"/>
            <a:chExt cx="179692" cy="179692"/>
          </a:xfrm>
        </p:grpSpPr>
        <p:sp>
          <p:nvSpPr>
            <p:cNvPr name="Freeform 60" id="6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61" id="61"/>
          <p:cNvSpPr txBox="true"/>
          <p:nvPr/>
        </p:nvSpPr>
        <p:spPr>
          <a:xfrm rot="0">
            <a:off x="11453670" y="21581688"/>
            <a:ext cx="4426172"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Required account access</a:t>
            </a:r>
          </a:p>
        </p:txBody>
      </p:sp>
      <p:grpSp>
        <p:nvGrpSpPr>
          <p:cNvPr name="Group 62" id="62"/>
          <p:cNvGrpSpPr/>
          <p:nvPr/>
        </p:nvGrpSpPr>
        <p:grpSpPr>
          <a:xfrm rot="0">
            <a:off x="1832839" y="22721773"/>
            <a:ext cx="134769" cy="134769"/>
            <a:chOff x="0" y="0"/>
            <a:chExt cx="179692" cy="179692"/>
          </a:xfrm>
        </p:grpSpPr>
        <p:sp>
          <p:nvSpPr>
            <p:cNvPr name="Freeform 63" id="6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64" id="64"/>
          <p:cNvSpPr txBox="true"/>
          <p:nvPr/>
        </p:nvSpPr>
        <p:spPr>
          <a:xfrm rot="0">
            <a:off x="2262540" y="22417249"/>
            <a:ext cx="3423666"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Required approvals</a:t>
            </a:r>
          </a:p>
        </p:txBody>
      </p:sp>
      <p:grpSp>
        <p:nvGrpSpPr>
          <p:cNvPr name="Group 65" id="65"/>
          <p:cNvGrpSpPr/>
          <p:nvPr/>
        </p:nvGrpSpPr>
        <p:grpSpPr>
          <a:xfrm rot="0">
            <a:off x="11023968" y="22721773"/>
            <a:ext cx="134769" cy="134769"/>
            <a:chOff x="0" y="0"/>
            <a:chExt cx="179692" cy="179692"/>
          </a:xfrm>
        </p:grpSpPr>
        <p:sp>
          <p:nvSpPr>
            <p:cNvPr name="Freeform 66" id="6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67" id="67"/>
          <p:cNvSpPr txBox="true"/>
          <p:nvPr/>
        </p:nvSpPr>
        <p:spPr>
          <a:xfrm rot="0">
            <a:off x="11453670" y="22417249"/>
            <a:ext cx="7042214" cy="764286"/>
          </a:xfrm>
          <a:prstGeom prst="rect">
            <a:avLst/>
          </a:prstGeom>
        </p:spPr>
        <p:txBody>
          <a:bodyPr anchor="t" rtlCol="false" tIns="0" lIns="0" bIns="0" rIns="0">
            <a:spAutoFit/>
          </a:bodyPr>
          <a:lstStyle/>
          <a:p>
            <a:pPr algn="l">
              <a:lnSpc>
                <a:spcPts val="4698"/>
              </a:lnSpc>
            </a:pPr>
            <a:r>
              <a:rPr lang="en-US" sz="2971">
                <a:solidFill>
                  <a:srgbClr val="2A3242"/>
                </a:solidFill>
                <a:latin typeface="Georgia"/>
                <a:ea typeface="Georgia"/>
                <a:cs typeface="Georgia"/>
                <a:sym typeface="Georgia"/>
              </a:rPr>
              <a:t>Information required to define the ICP</a:t>
            </a:r>
          </a:p>
        </p:txBody>
      </p:sp>
      <p:sp>
        <p:nvSpPr>
          <p:cNvPr name="TextBox 68" id="68"/>
          <p:cNvSpPr txBox="true"/>
          <p:nvPr/>
        </p:nvSpPr>
        <p:spPr>
          <a:xfrm rot="0">
            <a:off x="1858232" y="23324134"/>
            <a:ext cx="18216648" cy="82772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Client delays in providing required inputs or approvals may extend the implementation timeline.</a:t>
            </a:r>
          </a:p>
        </p:txBody>
      </p:sp>
      <p:grpSp>
        <p:nvGrpSpPr>
          <p:cNvPr name="Group 69" id="69"/>
          <p:cNvGrpSpPr/>
          <p:nvPr/>
        </p:nvGrpSpPr>
        <p:grpSpPr>
          <a:xfrm rot="0">
            <a:off x="1832839" y="27627301"/>
            <a:ext cx="17735379" cy="26956"/>
            <a:chOff x="0" y="0"/>
            <a:chExt cx="23647171" cy="35941"/>
          </a:xfrm>
        </p:grpSpPr>
        <p:sp>
          <p:nvSpPr>
            <p:cNvPr name="Freeform 70" id="70"/>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71" id="71"/>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72" id="72"/>
          <p:cNvSpPr txBox="true"/>
          <p:nvPr/>
        </p:nvSpPr>
        <p:spPr>
          <a:xfrm rot="0">
            <a:off x="19279438" y="28034713"/>
            <a:ext cx="479003"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 id="4"/>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5" id="5"/>
          <p:cNvSpPr txBox="true"/>
          <p:nvPr/>
        </p:nvSpPr>
        <p:spPr>
          <a:xfrm rot="0">
            <a:off x="14635867" y="1674219"/>
            <a:ext cx="5402732"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OWNERSHIP &amp; AGREEMENT</a:t>
            </a:r>
          </a:p>
        </p:txBody>
      </p:sp>
      <p:sp>
        <p:nvSpPr>
          <p:cNvPr name="TextBox 6" id="6"/>
          <p:cNvSpPr txBox="true"/>
          <p:nvPr/>
        </p:nvSpPr>
        <p:spPr>
          <a:xfrm rot="0">
            <a:off x="1858232" y="3905079"/>
            <a:ext cx="620506"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21</a:t>
            </a:r>
          </a:p>
        </p:txBody>
      </p:sp>
      <p:sp>
        <p:nvSpPr>
          <p:cNvPr name="TextBox 7" id="7"/>
          <p:cNvSpPr txBox="true"/>
          <p:nvPr/>
        </p:nvSpPr>
        <p:spPr>
          <a:xfrm rot="0">
            <a:off x="2719778" y="3343646"/>
            <a:ext cx="8950452"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Ownership &amp; handover</a:t>
            </a:r>
          </a:p>
        </p:txBody>
      </p:sp>
      <p:sp>
        <p:nvSpPr>
          <p:cNvPr name="TextBox 8" id="8"/>
          <p:cNvSpPr txBox="true"/>
          <p:nvPr/>
        </p:nvSpPr>
        <p:spPr>
          <a:xfrm rot="0">
            <a:off x="1858232" y="5022733"/>
            <a:ext cx="18216648"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Upon receipt of all implementation payments due:</a:t>
            </a:r>
          </a:p>
        </p:txBody>
      </p:sp>
      <p:grpSp>
        <p:nvGrpSpPr>
          <p:cNvPr name="Group 9" id="9"/>
          <p:cNvGrpSpPr/>
          <p:nvPr/>
        </p:nvGrpSpPr>
        <p:grpSpPr>
          <a:xfrm rot="0">
            <a:off x="1832839" y="6361014"/>
            <a:ext cx="134769" cy="134769"/>
            <a:chOff x="0" y="0"/>
            <a:chExt cx="179692" cy="179692"/>
          </a:xfrm>
        </p:grpSpPr>
        <p:sp>
          <p:nvSpPr>
            <p:cNvPr name="Freeform 10" id="10"/>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1" id="11"/>
          <p:cNvSpPr txBox="true"/>
          <p:nvPr/>
        </p:nvSpPr>
        <p:spPr>
          <a:xfrm rot="0">
            <a:off x="2262540" y="6046965"/>
            <a:ext cx="9738370"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Final Client-specific deliverables belong to the Client.</a:t>
            </a:r>
          </a:p>
        </p:txBody>
      </p:sp>
      <p:grpSp>
        <p:nvGrpSpPr>
          <p:cNvPr name="Group 12" id="12"/>
          <p:cNvGrpSpPr/>
          <p:nvPr/>
        </p:nvGrpSpPr>
        <p:grpSpPr>
          <a:xfrm rot="0">
            <a:off x="1832839" y="7250487"/>
            <a:ext cx="134769" cy="134769"/>
            <a:chOff x="0" y="0"/>
            <a:chExt cx="179692" cy="179692"/>
          </a:xfrm>
        </p:grpSpPr>
        <p:sp>
          <p:nvSpPr>
            <p:cNvPr name="Freeform 13" id="13"/>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4" id="14"/>
          <p:cNvSpPr txBox="true"/>
          <p:nvPr/>
        </p:nvSpPr>
        <p:spPr>
          <a:xfrm rot="0">
            <a:off x="2262540" y="6936429"/>
            <a:ext cx="1230202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Relevant system access and handover information will be provided.</a:t>
            </a:r>
          </a:p>
        </p:txBody>
      </p:sp>
      <p:grpSp>
        <p:nvGrpSpPr>
          <p:cNvPr name="Group 15" id="15"/>
          <p:cNvGrpSpPr/>
          <p:nvPr/>
        </p:nvGrpSpPr>
        <p:grpSpPr>
          <a:xfrm rot="0">
            <a:off x="1832839" y="8139951"/>
            <a:ext cx="134769" cy="134769"/>
            <a:chOff x="0" y="0"/>
            <a:chExt cx="179692" cy="179692"/>
          </a:xfrm>
        </p:grpSpPr>
        <p:sp>
          <p:nvSpPr>
            <p:cNvPr name="Freeform 16" id="16"/>
            <p:cNvSpPr/>
            <p:nvPr/>
          </p:nvSpPr>
          <p:spPr>
            <a:xfrm flipH="false" flipV="false" rot="0">
              <a:off x="0" y="0"/>
              <a:ext cx="179578" cy="179578"/>
            </a:xfrm>
            <a:custGeom>
              <a:avLst/>
              <a:gdLst/>
              <a:ahLst/>
              <a:cxnLst/>
              <a:rect r="r" b="b" t="t" l="l"/>
              <a:pathLst>
                <a:path h="179578" w="179578">
                  <a:moveTo>
                    <a:pt x="0" y="89789"/>
                  </a:moveTo>
                  <a:cubicBezTo>
                    <a:pt x="0" y="40259"/>
                    <a:pt x="40259" y="0"/>
                    <a:pt x="89789" y="0"/>
                  </a:cubicBezTo>
                  <a:cubicBezTo>
                    <a:pt x="139319" y="0"/>
                    <a:pt x="179578" y="40259"/>
                    <a:pt x="179578" y="89789"/>
                  </a:cubicBezTo>
                  <a:cubicBezTo>
                    <a:pt x="179578" y="139319"/>
                    <a:pt x="139319" y="179578"/>
                    <a:pt x="89789" y="179578"/>
                  </a:cubicBezTo>
                  <a:cubicBezTo>
                    <a:pt x="40259" y="179578"/>
                    <a:pt x="0" y="139446"/>
                    <a:pt x="0" y="89789"/>
                  </a:cubicBezTo>
                  <a:close/>
                </a:path>
              </a:pathLst>
            </a:custGeom>
            <a:solidFill>
              <a:srgbClr val="1A56E8"/>
            </a:solidFill>
          </p:spPr>
        </p:sp>
      </p:grpSp>
      <p:sp>
        <p:nvSpPr>
          <p:cNvPr name="TextBox 17" id="17"/>
          <p:cNvSpPr txBox="true"/>
          <p:nvPr/>
        </p:nvSpPr>
        <p:spPr>
          <a:xfrm rot="0">
            <a:off x="2262540" y="7825892"/>
            <a:ext cx="13601633" cy="82772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Client-provided customer and business data remains the Client's property.</a:t>
            </a:r>
          </a:p>
        </p:txBody>
      </p:sp>
      <p:sp>
        <p:nvSpPr>
          <p:cNvPr name="TextBox 18" id="18"/>
          <p:cNvSpPr txBox="true"/>
          <p:nvPr/>
        </p:nvSpPr>
        <p:spPr>
          <a:xfrm rot="0">
            <a:off x="1858232" y="8796223"/>
            <a:ext cx="18216648" cy="1474603"/>
          </a:xfrm>
          <a:prstGeom prst="rect">
            <a:avLst/>
          </a:prstGeom>
        </p:spPr>
        <p:txBody>
          <a:bodyPr anchor="t" rtlCol="false" tIns="0" lIns="0" bIns="0" rIns="0">
            <a:spAutoFit/>
          </a:bodyPr>
          <a:lstStyle/>
          <a:p>
            <a:pPr algn="l">
              <a:lnSpc>
                <a:spcPts val="5093"/>
              </a:lnSpc>
            </a:pPr>
            <a:r>
              <a:rPr lang="en-US" sz="3183">
                <a:solidFill>
                  <a:srgbClr val="5A6577"/>
                </a:solidFill>
                <a:latin typeface="Georgia"/>
                <a:ea typeface="Georgia"/>
                <a:cs typeface="Georgia"/>
                <a:sym typeface="Georgia"/>
              </a:rPr>
              <a:t>Third-party platforms and services remain subject to their respective terms and licensing conditions.</a:t>
            </a:r>
          </a:p>
        </p:txBody>
      </p:sp>
      <p:sp>
        <p:nvSpPr>
          <p:cNvPr name="TextBox 19" id="19"/>
          <p:cNvSpPr txBox="true"/>
          <p:nvPr/>
        </p:nvSpPr>
        <p:spPr>
          <a:xfrm rot="0">
            <a:off x="1858232" y="11559864"/>
            <a:ext cx="669788"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22</a:t>
            </a:r>
          </a:p>
        </p:txBody>
      </p:sp>
      <p:sp>
        <p:nvSpPr>
          <p:cNvPr name="TextBox 20" id="20"/>
          <p:cNvSpPr txBox="true"/>
          <p:nvPr/>
        </p:nvSpPr>
        <p:spPr>
          <a:xfrm rot="0">
            <a:off x="2769051" y="10998432"/>
            <a:ext cx="10214734"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Master terms &amp; conditions</a:t>
            </a:r>
          </a:p>
        </p:txBody>
      </p:sp>
      <p:sp>
        <p:nvSpPr>
          <p:cNvPr name="TextBox 21" id="21"/>
          <p:cNvSpPr txBox="true"/>
          <p:nvPr/>
        </p:nvSpPr>
        <p:spPr>
          <a:xfrm rot="0">
            <a:off x="1858232" y="12677518"/>
            <a:ext cx="18216648" cy="2768375"/>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This Commercial Proposal is governed by the Lumelush Studio Master Terms &amp; Conditions, covering scope, payment, refunds, client responsibilities, timelines, revisions, Care Plans, tools and infrastructure, annual renewals, data handling, ownership, confidentiality, performance and results, termination, liability and governing law.</a:t>
            </a:r>
          </a:p>
        </p:txBody>
      </p:sp>
      <p:sp>
        <p:nvSpPr>
          <p:cNvPr name="TextBox 22" id="22"/>
          <p:cNvSpPr txBox="true"/>
          <p:nvPr/>
        </p:nvSpPr>
        <p:spPr>
          <a:xfrm rot="0">
            <a:off x="1858232" y="15642403"/>
            <a:ext cx="18216648" cy="827723"/>
          </a:xfrm>
          <a:prstGeom prst="rect">
            <a:avLst/>
          </a:prstGeom>
        </p:spPr>
        <p:txBody>
          <a:bodyPr anchor="t" rtlCol="false" tIns="0" lIns="0" bIns="0" rIns="0">
            <a:spAutoFit/>
          </a:bodyPr>
          <a:lstStyle/>
          <a:p>
            <a:pPr algn="l">
              <a:lnSpc>
                <a:spcPts val="5093"/>
              </a:lnSpc>
            </a:pPr>
            <a:r>
              <a:rPr lang="en-US" sz="3183" u="sng">
                <a:solidFill>
                  <a:srgbClr val="1A56E8"/>
                </a:solidFill>
                <a:latin typeface="Georgia"/>
                <a:ea typeface="Georgia"/>
                <a:cs typeface="Georgia"/>
                <a:sym typeface="Georgia"/>
                <a:hlinkClick xmlns:r="http://schemas.openxmlformats.org/officeDocument/2006/relationships" r:id="rId4"/>
              </a:rPr>
              <a:t>Master Terms &amp; Conditions</a:t>
            </a:r>
          </a:p>
        </p:txBody>
      </p:sp>
      <p:sp>
        <p:nvSpPr>
          <p:cNvPr name="TextBox 23" id="23"/>
          <p:cNvSpPr txBox="true"/>
          <p:nvPr/>
        </p:nvSpPr>
        <p:spPr>
          <a:xfrm rot="0">
            <a:off x="1858232" y="16666635"/>
            <a:ext cx="18216648" cy="2121484"/>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The Master Terms and this Commercial Proposal together constitute the agreement for this engagement. Where this proposal contains a package-specific provision that differs from the Master Terms, this proposal governs for that provision.</a:t>
            </a:r>
          </a:p>
        </p:txBody>
      </p:sp>
      <p:sp>
        <p:nvSpPr>
          <p:cNvPr name="TextBox 24" id="24"/>
          <p:cNvSpPr txBox="true"/>
          <p:nvPr/>
        </p:nvSpPr>
        <p:spPr>
          <a:xfrm rot="0">
            <a:off x="1858232" y="20077157"/>
            <a:ext cx="657149"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23</a:t>
            </a:r>
          </a:p>
        </p:txBody>
      </p:sp>
      <p:sp>
        <p:nvSpPr>
          <p:cNvPr name="TextBox 25" id="25"/>
          <p:cNvSpPr txBox="true"/>
          <p:nvPr/>
        </p:nvSpPr>
        <p:spPr>
          <a:xfrm rot="0">
            <a:off x="2756411" y="19515725"/>
            <a:ext cx="8488537"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Commercial summary</a:t>
            </a:r>
          </a:p>
        </p:txBody>
      </p:sp>
      <p:grpSp>
        <p:nvGrpSpPr>
          <p:cNvPr name="Group 26" id="26"/>
          <p:cNvGrpSpPr/>
          <p:nvPr/>
        </p:nvGrpSpPr>
        <p:grpSpPr>
          <a:xfrm rot="0">
            <a:off x="1832839" y="22573526"/>
            <a:ext cx="12383853" cy="26956"/>
            <a:chOff x="0" y="0"/>
            <a:chExt cx="16511803" cy="35941"/>
          </a:xfrm>
        </p:grpSpPr>
        <p:sp>
          <p:nvSpPr>
            <p:cNvPr name="Freeform 27" id="27"/>
            <p:cNvSpPr/>
            <p:nvPr/>
          </p:nvSpPr>
          <p:spPr>
            <a:xfrm flipH="false" flipV="false" rot="0">
              <a:off x="0" y="0"/>
              <a:ext cx="16511778" cy="35941"/>
            </a:xfrm>
            <a:custGeom>
              <a:avLst/>
              <a:gdLst/>
              <a:ahLst/>
              <a:cxnLst/>
              <a:rect r="r" b="b" t="t" l="l"/>
              <a:pathLst>
                <a:path h="35941" w="16511778">
                  <a:moveTo>
                    <a:pt x="0" y="0"/>
                  </a:moveTo>
                  <a:lnTo>
                    <a:pt x="16511778" y="0"/>
                  </a:lnTo>
                  <a:lnTo>
                    <a:pt x="16511778" y="35941"/>
                  </a:lnTo>
                  <a:lnTo>
                    <a:pt x="0" y="35941"/>
                  </a:lnTo>
                  <a:close/>
                </a:path>
              </a:pathLst>
            </a:custGeom>
            <a:solidFill>
              <a:srgbClr val="E3E7EE"/>
            </a:solidFill>
          </p:spPr>
        </p:sp>
      </p:grpSp>
      <p:grpSp>
        <p:nvGrpSpPr>
          <p:cNvPr name="Group 28" id="28"/>
          <p:cNvGrpSpPr/>
          <p:nvPr/>
        </p:nvGrpSpPr>
        <p:grpSpPr>
          <a:xfrm rot="0">
            <a:off x="1832839" y="21643638"/>
            <a:ext cx="12378023" cy="687314"/>
            <a:chOff x="0" y="0"/>
            <a:chExt cx="16504031" cy="916419"/>
          </a:xfrm>
        </p:grpSpPr>
        <p:sp>
          <p:nvSpPr>
            <p:cNvPr name="Freeform 29" id="29"/>
            <p:cNvSpPr/>
            <p:nvPr/>
          </p:nvSpPr>
          <p:spPr>
            <a:xfrm flipH="false" flipV="false" rot="0">
              <a:off x="0" y="0"/>
              <a:ext cx="16504030" cy="916420"/>
            </a:xfrm>
            <a:custGeom>
              <a:avLst/>
              <a:gdLst/>
              <a:ahLst/>
              <a:cxnLst/>
              <a:rect r="r" b="b" t="t" l="l"/>
              <a:pathLst>
                <a:path h="916420" w="16504030">
                  <a:moveTo>
                    <a:pt x="0" y="0"/>
                  </a:moveTo>
                  <a:lnTo>
                    <a:pt x="16504030" y="0"/>
                  </a:lnTo>
                  <a:lnTo>
                    <a:pt x="16504030" y="916420"/>
                  </a:lnTo>
                  <a:lnTo>
                    <a:pt x="0" y="916420"/>
                  </a:lnTo>
                  <a:close/>
                </a:path>
              </a:pathLst>
            </a:custGeom>
            <a:blipFill>
              <a:blip r:embed="rId3">
                <a:alphaModFix amt="0"/>
              </a:blip>
              <a:stretch>
                <a:fillRect l="0" t="-300910" r="0" b="-300910"/>
              </a:stretch>
            </a:blipFill>
          </p:spPr>
        </p:sp>
        <p:sp>
          <p:nvSpPr>
            <p:cNvPr name="TextBox 30" id="30"/>
            <p:cNvSpPr txBox="true"/>
            <p:nvPr/>
          </p:nvSpPr>
          <p:spPr>
            <a:xfrm>
              <a:off x="0" y="-114300"/>
              <a:ext cx="16504031" cy="1030719"/>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Business Growth System — Implementation</a:t>
              </a:r>
            </a:p>
          </p:txBody>
        </p:sp>
      </p:grpSp>
      <p:grpSp>
        <p:nvGrpSpPr>
          <p:cNvPr name="Group 31" id="31"/>
          <p:cNvGrpSpPr/>
          <p:nvPr/>
        </p:nvGrpSpPr>
        <p:grpSpPr>
          <a:xfrm rot="0">
            <a:off x="14216691" y="22573526"/>
            <a:ext cx="5351945" cy="26956"/>
            <a:chOff x="0" y="0"/>
            <a:chExt cx="7135927" cy="35941"/>
          </a:xfrm>
        </p:grpSpPr>
        <p:sp>
          <p:nvSpPr>
            <p:cNvPr name="Freeform 32" id="32"/>
            <p:cNvSpPr/>
            <p:nvPr/>
          </p:nvSpPr>
          <p:spPr>
            <a:xfrm flipH="false" flipV="false" rot="0">
              <a:off x="0" y="0"/>
              <a:ext cx="7135876" cy="35941"/>
            </a:xfrm>
            <a:custGeom>
              <a:avLst/>
              <a:gdLst/>
              <a:ahLst/>
              <a:cxnLst/>
              <a:rect r="r" b="b" t="t" l="l"/>
              <a:pathLst>
                <a:path h="35941" w="7135876">
                  <a:moveTo>
                    <a:pt x="0" y="0"/>
                  </a:moveTo>
                  <a:lnTo>
                    <a:pt x="7135876" y="0"/>
                  </a:lnTo>
                  <a:lnTo>
                    <a:pt x="7135876" y="35941"/>
                  </a:lnTo>
                  <a:lnTo>
                    <a:pt x="0" y="35941"/>
                  </a:lnTo>
                  <a:close/>
                </a:path>
              </a:pathLst>
            </a:custGeom>
            <a:solidFill>
              <a:srgbClr val="E3E7EE"/>
            </a:solidFill>
          </p:spPr>
        </p:sp>
      </p:grpSp>
      <p:grpSp>
        <p:nvGrpSpPr>
          <p:cNvPr name="Group 33" id="33"/>
          <p:cNvGrpSpPr/>
          <p:nvPr/>
        </p:nvGrpSpPr>
        <p:grpSpPr>
          <a:xfrm rot="0">
            <a:off x="14001064" y="21643638"/>
            <a:ext cx="5567572" cy="687314"/>
            <a:chOff x="0" y="0"/>
            <a:chExt cx="7423429" cy="916419"/>
          </a:xfrm>
        </p:grpSpPr>
        <p:sp>
          <p:nvSpPr>
            <p:cNvPr name="Freeform 34" id="34"/>
            <p:cNvSpPr/>
            <p:nvPr/>
          </p:nvSpPr>
          <p:spPr>
            <a:xfrm flipH="false" flipV="false" rot="0">
              <a:off x="0" y="0"/>
              <a:ext cx="7423435" cy="916420"/>
            </a:xfrm>
            <a:custGeom>
              <a:avLst/>
              <a:gdLst/>
              <a:ahLst/>
              <a:cxnLst/>
              <a:rect r="r" b="b" t="t" l="l"/>
              <a:pathLst>
                <a:path h="916420" w="7423435">
                  <a:moveTo>
                    <a:pt x="0" y="0"/>
                  </a:moveTo>
                  <a:lnTo>
                    <a:pt x="7423435" y="0"/>
                  </a:lnTo>
                  <a:lnTo>
                    <a:pt x="7423435" y="916420"/>
                  </a:lnTo>
                  <a:lnTo>
                    <a:pt x="0" y="916420"/>
                  </a:lnTo>
                  <a:close/>
                </a:path>
              </a:pathLst>
            </a:custGeom>
            <a:blipFill>
              <a:blip r:embed="rId3">
                <a:alphaModFix amt="0"/>
              </a:blip>
              <a:stretch>
                <a:fillRect l="0" t="-107837" r="0" b="-107837"/>
              </a:stretch>
            </a:blipFill>
          </p:spPr>
        </p:sp>
        <p:sp>
          <p:nvSpPr>
            <p:cNvPr name="TextBox 35" id="35"/>
            <p:cNvSpPr txBox="true"/>
            <p:nvPr/>
          </p:nvSpPr>
          <p:spPr>
            <a:xfrm>
              <a:off x="0" y="-114300"/>
              <a:ext cx="7423429" cy="1030719"/>
            </a:xfrm>
            <a:prstGeom prst="rect">
              <a:avLst/>
            </a:prstGeom>
          </p:spPr>
          <p:txBody>
            <a:bodyPr anchor="ctr" rtlCol="false" tIns="0" lIns="0" bIns="0" rIns="0"/>
            <a:lstStyle/>
            <a:p>
              <a:pPr algn="r">
                <a:lnSpc>
                  <a:spcPts val="4698"/>
                </a:lnSpc>
              </a:pPr>
              <a:r>
                <a:rPr lang="en-US" sz="2971">
                  <a:solidFill>
                    <a:srgbClr val="1B2437"/>
                  </a:solidFill>
                  <a:latin typeface="Playfair Display Bold"/>
                  <a:ea typeface="Playfair Display Bold"/>
                  <a:cs typeface="Playfair Display Bold"/>
                  <a:sym typeface="Playfair Display Bold"/>
                </a:rPr>
                <a:t>₹</a:t>
              </a:r>
              <a:r>
                <a:rPr lang="en-US" sz="2971">
                  <a:solidFill>
                    <a:srgbClr val="1B2437"/>
                  </a:solidFill>
                  <a:latin typeface="Georgia"/>
                  <a:ea typeface="Georgia"/>
                  <a:cs typeface="Georgia"/>
                  <a:sym typeface="Georgia"/>
                </a:rPr>
                <a:t>1,25,000 one-time</a:t>
              </a:r>
            </a:p>
          </p:txBody>
        </p:sp>
      </p:grpSp>
      <p:grpSp>
        <p:nvGrpSpPr>
          <p:cNvPr name="Group 36" id="36"/>
          <p:cNvGrpSpPr/>
          <p:nvPr/>
        </p:nvGrpSpPr>
        <p:grpSpPr>
          <a:xfrm rot="0">
            <a:off x="1832839" y="23894253"/>
            <a:ext cx="12383853" cy="26956"/>
            <a:chOff x="0" y="0"/>
            <a:chExt cx="16511803" cy="35941"/>
          </a:xfrm>
        </p:grpSpPr>
        <p:sp>
          <p:nvSpPr>
            <p:cNvPr name="Freeform 37" id="37"/>
            <p:cNvSpPr/>
            <p:nvPr/>
          </p:nvSpPr>
          <p:spPr>
            <a:xfrm flipH="false" flipV="false" rot="0">
              <a:off x="0" y="0"/>
              <a:ext cx="16511778" cy="35941"/>
            </a:xfrm>
            <a:custGeom>
              <a:avLst/>
              <a:gdLst/>
              <a:ahLst/>
              <a:cxnLst/>
              <a:rect r="r" b="b" t="t" l="l"/>
              <a:pathLst>
                <a:path h="35941" w="16511778">
                  <a:moveTo>
                    <a:pt x="0" y="0"/>
                  </a:moveTo>
                  <a:lnTo>
                    <a:pt x="16511778" y="0"/>
                  </a:lnTo>
                  <a:lnTo>
                    <a:pt x="16511778" y="35941"/>
                  </a:lnTo>
                  <a:lnTo>
                    <a:pt x="0" y="35941"/>
                  </a:lnTo>
                  <a:close/>
                </a:path>
              </a:pathLst>
            </a:custGeom>
            <a:solidFill>
              <a:srgbClr val="E3E7EE"/>
            </a:solidFill>
          </p:spPr>
        </p:sp>
      </p:grpSp>
      <p:grpSp>
        <p:nvGrpSpPr>
          <p:cNvPr name="Group 38" id="38"/>
          <p:cNvGrpSpPr/>
          <p:nvPr/>
        </p:nvGrpSpPr>
        <p:grpSpPr>
          <a:xfrm rot="0">
            <a:off x="1832839" y="22950878"/>
            <a:ext cx="12378023" cy="700792"/>
            <a:chOff x="0" y="0"/>
            <a:chExt cx="16504031" cy="934390"/>
          </a:xfrm>
        </p:grpSpPr>
        <p:sp>
          <p:nvSpPr>
            <p:cNvPr name="Freeform 39" id="39"/>
            <p:cNvSpPr/>
            <p:nvPr/>
          </p:nvSpPr>
          <p:spPr>
            <a:xfrm flipH="false" flipV="false" rot="0">
              <a:off x="0" y="0"/>
              <a:ext cx="16504030" cy="934387"/>
            </a:xfrm>
            <a:custGeom>
              <a:avLst/>
              <a:gdLst/>
              <a:ahLst/>
              <a:cxnLst/>
              <a:rect r="r" b="b" t="t" l="l"/>
              <a:pathLst>
                <a:path h="934387" w="16504030">
                  <a:moveTo>
                    <a:pt x="0" y="0"/>
                  </a:moveTo>
                  <a:lnTo>
                    <a:pt x="16504030" y="0"/>
                  </a:lnTo>
                  <a:lnTo>
                    <a:pt x="16504030" y="934387"/>
                  </a:lnTo>
                  <a:lnTo>
                    <a:pt x="0" y="934387"/>
                  </a:lnTo>
                  <a:close/>
                </a:path>
              </a:pathLst>
            </a:custGeom>
            <a:blipFill>
              <a:blip r:embed="rId3">
                <a:alphaModFix amt="0"/>
              </a:blip>
              <a:stretch>
                <a:fillRect l="0" t="-294163" r="0" b="-294163"/>
              </a:stretch>
            </a:blipFill>
          </p:spPr>
        </p:sp>
        <p:sp>
          <p:nvSpPr>
            <p:cNvPr name="TextBox 40" id="40"/>
            <p:cNvSpPr txBox="true"/>
            <p:nvPr/>
          </p:nvSpPr>
          <p:spPr>
            <a:xfrm>
              <a:off x="0" y="-114300"/>
              <a:ext cx="16504031" cy="1048690"/>
            </a:xfrm>
            <a:prstGeom prst="rect">
              <a:avLst/>
            </a:prstGeom>
          </p:spPr>
          <p:txBody>
            <a:bodyPr anchor="ctr" rtlCol="false" tIns="0" lIns="0" bIns="0" rIns="0"/>
            <a:lstStyle/>
            <a:p>
              <a:pPr algn="l">
                <a:lnSpc>
                  <a:spcPts val="4698"/>
                </a:lnSpc>
              </a:pPr>
              <a:r>
                <a:rPr lang="en-US" sz="2971">
                  <a:solidFill>
                    <a:srgbClr val="2A3242"/>
                  </a:solidFill>
                  <a:latin typeface="Georgia"/>
                  <a:ea typeface="Georgia"/>
                  <a:cs typeface="Georgia"/>
                  <a:sym typeface="Georgia"/>
                </a:rPr>
                <a:t>Growth Care Plan — Optional</a:t>
              </a:r>
            </a:p>
          </p:txBody>
        </p:sp>
      </p:grpSp>
      <p:grpSp>
        <p:nvGrpSpPr>
          <p:cNvPr name="Group 41" id="41"/>
          <p:cNvGrpSpPr/>
          <p:nvPr/>
        </p:nvGrpSpPr>
        <p:grpSpPr>
          <a:xfrm rot="0">
            <a:off x="14216691" y="23894253"/>
            <a:ext cx="5351945" cy="26956"/>
            <a:chOff x="0" y="0"/>
            <a:chExt cx="7135927" cy="35941"/>
          </a:xfrm>
        </p:grpSpPr>
        <p:sp>
          <p:nvSpPr>
            <p:cNvPr name="Freeform 42" id="42"/>
            <p:cNvSpPr/>
            <p:nvPr/>
          </p:nvSpPr>
          <p:spPr>
            <a:xfrm flipH="false" flipV="false" rot="0">
              <a:off x="0" y="0"/>
              <a:ext cx="7135876" cy="35941"/>
            </a:xfrm>
            <a:custGeom>
              <a:avLst/>
              <a:gdLst/>
              <a:ahLst/>
              <a:cxnLst/>
              <a:rect r="r" b="b" t="t" l="l"/>
              <a:pathLst>
                <a:path h="35941" w="7135876">
                  <a:moveTo>
                    <a:pt x="0" y="0"/>
                  </a:moveTo>
                  <a:lnTo>
                    <a:pt x="7135876" y="0"/>
                  </a:lnTo>
                  <a:lnTo>
                    <a:pt x="7135876" y="35941"/>
                  </a:lnTo>
                  <a:lnTo>
                    <a:pt x="0" y="35941"/>
                  </a:lnTo>
                  <a:close/>
                </a:path>
              </a:pathLst>
            </a:custGeom>
            <a:solidFill>
              <a:srgbClr val="E3E7EE"/>
            </a:solidFill>
          </p:spPr>
        </p:sp>
      </p:grpSp>
      <p:grpSp>
        <p:nvGrpSpPr>
          <p:cNvPr name="Group 43" id="43"/>
          <p:cNvGrpSpPr/>
          <p:nvPr/>
        </p:nvGrpSpPr>
        <p:grpSpPr>
          <a:xfrm rot="0">
            <a:off x="14001064" y="22950878"/>
            <a:ext cx="5567572" cy="700792"/>
            <a:chOff x="0" y="0"/>
            <a:chExt cx="7423429" cy="934390"/>
          </a:xfrm>
        </p:grpSpPr>
        <p:sp>
          <p:nvSpPr>
            <p:cNvPr name="Freeform 44" id="44"/>
            <p:cNvSpPr/>
            <p:nvPr/>
          </p:nvSpPr>
          <p:spPr>
            <a:xfrm flipH="false" flipV="false" rot="0">
              <a:off x="0" y="0"/>
              <a:ext cx="7423435" cy="934387"/>
            </a:xfrm>
            <a:custGeom>
              <a:avLst/>
              <a:gdLst/>
              <a:ahLst/>
              <a:cxnLst/>
              <a:rect r="r" b="b" t="t" l="l"/>
              <a:pathLst>
                <a:path h="934387" w="7423435">
                  <a:moveTo>
                    <a:pt x="0" y="0"/>
                  </a:moveTo>
                  <a:lnTo>
                    <a:pt x="7423435" y="0"/>
                  </a:lnTo>
                  <a:lnTo>
                    <a:pt x="7423435" y="934387"/>
                  </a:lnTo>
                  <a:lnTo>
                    <a:pt x="0" y="934387"/>
                  </a:lnTo>
                  <a:close/>
                </a:path>
              </a:pathLst>
            </a:custGeom>
            <a:blipFill>
              <a:blip r:embed="rId3">
                <a:alphaModFix amt="0"/>
              </a:blip>
              <a:stretch>
                <a:fillRect l="0" t="-104802" r="0" b="-104803"/>
              </a:stretch>
            </a:blipFill>
          </p:spPr>
        </p:sp>
        <p:sp>
          <p:nvSpPr>
            <p:cNvPr name="TextBox 45" id="45"/>
            <p:cNvSpPr txBox="true"/>
            <p:nvPr/>
          </p:nvSpPr>
          <p:spPr>
            <a:xfrm>
              <a:off x="0" y="-114300"/>
              <a:ext cx="7423429" cy="1048690"/>
            </a:xfrm>
            <a:prstGeom prst="rect">
              <a:avLst/>
            </a:prstGeom>
          </p:spPr>
          <p:txBody>
            <a:bodyPr anchor="ctr" rtlCol="false" tIns="0" lIns="0" bIns="0" rIns="0"/>
            <a:lstStyle/>
            <a:p>
              <a:pPr algn="r">
                <a:lnSpc>
                  <a:spcPts val="4698"/>
                </a:lnSpc>
              </a:pPr>
              <a:r>
                <a:rPr lang="en-US" sz="2971">
                  <a:solidFill>
                    <a:srgbClr val="1B2437"/>
                  </a:solidFill>
                  <a:latin typeface="Playfair Display Bold"/>
                  <a:ea typeface="Playfair Display Bold"/>
                  <a:cs typeface="Playfair Display Bold"/>
                  <a:sym typeface="Playfair Display Bold"/>
                </a:rPr>
                <a:t>₹</a:t>
              </a:r>
              <a:r>
                <a:rPr lang="en-US" sz="2971">
                  <a:solidFill>
                    <a:srgbClr val="1B2437"/>
                  </a:solidFill>
                  <a:latin typeface="Georgia"/>
                  <a:ea typeface="Georgia"/>
                  <a:cs typeface="Georgia"/>
                  <a:sym typeface="Georgia"/>
                </a:rPr>
                <a:t>30,000 / month</a:t>
              </a:r>
            </a:p>
          </p:txBody>
        </p:sp>
      </p:grpSp>
      <p:grpSp>
        <p:nvGrpSpPr>
          <p:cNvPr name="Group 46" id="46"/>
          <p:cNvGrpSpPr/>
          <p:nvPr/>
        </p:nvGrpSpPr>
        <p:grpSpPr>
          <a:xfrm rot="0">
            <a:off x="1832839" y="27627301"/>
            <a:ext cx="17735379" cy="26956"/>
            <a:chOff x="0" y="0"/>
            <a:chExt cx="23647171" cy="35941"/>
          </a:xfrm>
        </p:grpSpPr>
        <p:sp>
          <p:nvSpPr>
            <p:cNvPr name="Freeform 47" id="47"/>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sp>
        <p:nvSpPr>
          <p:cNvPr name="TextBox 48" id="48"/>
          <p:cNvSpPr txBox="true"/>
          <p:nvPr/>
        </p:nvSpPr>
        <p:spPr>
          <a:xfrm rot="0">
            <a:off x="1858232" y="28034713"/>
            <a:ext cx="3995337"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contact@lumelush.com</a:t>
            </a:r>
          </a:p>
        </p:txBody>
      </p:sp>
      <p:sp>
        <p:nvSpPr>
          <p:cNvPr name="TextBox 49" id="49"/>
          <p:cNvSpPr txBox="true"/>
          <p:nvPr/>
        </p:nvSpPr>
        <p:spPr>
          <a:xfrm rot="0">
            <a:off x="19241119" y="28034713"/>
            <a:ext cx="517331" cy="591426"/>
          </a:xfrm>
          <a:prstGeom prst="rect">
            <a:avLst/>
          </a:prstGeom>
        </p:spPr>
        <p:txBody>
          <a:bodyPr anchor="t" rtlCol="false" tIns="0" lIns="0" bIns="0" rIns="0">
            <a:spAutoFit/>
          </a:bodyPr>
          <a:lstStyle/>
          <a:p>
            <a:pPr algn="l">
              <a:lnSpc>
                <a:spcPts val="3521"/>
              </a:lnSpc>
            </a:pPr>
            <a:r>
              <a:rPr lang="en-US" sz="2334" spc="234">
                <a:solidFill>
                  <a:srgbClr val="8894A8"/>
                </a:solidFill>
                <a:latin typeface="Georgia"/>
                <a:ea typeface="Georgia"/>
                <a:cs typeface="Georgia"/>
                <a:sym typeface="Georgia"/>
              </a:rPr>
              <a:t>12</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32839" y="2452764"/>
            <a:ext cx="17735379" cy="26956"/>
            <a:chOff x="0" y="0"/>
            <a:chExt cx="23647171" cy="35941"/>
          </a:xfrm>
        </p:grpSpPr>
        <p:sp>
          <p:nvSpPr>
            <p:cNvPr name="Freeform 3" id="3"/>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grpSp>
        <p:nvGrpSpPr>
          <p:cNvPr name="Group 4" id="4"/>
          <p:cNvGrpSpPr/>
          <p:nvPr/>
        </p:nvGrpSpPr>
        <p:grpSpPr>
          <a:xfrm rot="0">
            <a:off x="1832839" y="7115718"/>
            <a:ext cx="8517293" cy="3746535"/>
            <a:chOff x="0" y="0"/>
            <a:chExt cx="11356391" cy="4995380"/>
          </a:xfrm>
        </p:grpSpPr>
        <p:sp>
          <p:nvSpPr>
            <p:cNvPr name="Freeform 5" id="5"/>
            <p:cNvSpPr/>
            <p:nvPr/>
          </p:nvSpPr>
          <p:spPr>
            <a:xfrm flipH="false" flipV="false" rot="0">
              <a:off x="0" y="0"/>
              <a:ext cx="11356340" cy="4995418"/>
            </a:xfrm>
            <a:custGeom>
              <a:avLst/>
              <a:gdLst/>
              <a:ahLst/>
              <a:cxnLst/>
              <a:rect r="r" b="b" t="t" l="l"/>
              <a:pathLst>
                <a:path h="4995418" w="11356340">
                  <a:moveTo>
                    <a:pt x="0" y="0"/>
                  </a:moveTo>
                  <a:lnTo>
                    <a:pt x="11356340" y="0"/>
                  </a:lnTo>
                  <a:lnTo>
                    <a:pt x="11356340" y="4995418"/>
                  </a:lnTo>
                  <a:lnTo>
                    <a:pt x="0" y="4995418"/>
                  </a:lnTo>
                  <a:close/>
                </a:path>
              </a:pathLst>
            </a:custGeom>
            <a:solidFill>
              <a:srgbClr val="F4F7FE"/>
            </a:solidFill>
          </p:spPr>
        </p:sp>
      </p:grpSp>
      <p:grpSp>
        <p:nvGrpSpPr>
          <p:cNvPr name="Group 6" id="6"/>
          <p:cNvGrpSpPr/>
          <p:nvPr/>
        </p:nvGrpSpPr>
        <p:grpSpPr>
          <a:xfrm rot="0">
            <a:off x="1832839" y="7115718"/>
            <a:ext cx="8517293" cy="107813"/>
            <a:chOff x="0" y="0"/>
            <a:chExt cx="11356391" cy="143751"/>
          </a:xfrm>
        </p:grpSpPr>
        <p:sp>
          <p:nvSpPr>
            <p:cNvPr name="Freeform 7" id="7"/>
            <p:cNvSpPr/>
            <p:nvPr/>
          </p:nvSpPr>
          <p:spPr>
            <a:xfrm flipH="false" flipV="false" rot="0">
              <a:off x="0" y="0"/>
              <a:ext cx="11356340" cy="143764"/>
            </a:xfrm>
            <a:custGeom>
              <a:avLst/>
              <a:gdLst/>
              <a:ahLst/>
              <a:cxnLst/>
              <a:rect r="r" b="b" t="t" l="l"/>
              <a:pathLst>
                <a:path h="143764" w="11356340">
                  <a:moveTo>
                    <a:pt x="0" y="0"/>
                  </a:moveTo>
                  <a:lnTo>
                    <a:pt x="11356340" y="0"/>
                  </a:lnTo>
                  <a:lnTo>
                    <a:pt x="11356340" y="143764"/>
                  </a:lnTo>
                  <a:lnTo>
                    <a:pt x="0" y="143764"/>
                  </a:lnTo>
                  <a:close/>
                </a:path>
              </a:pathLst>
            </a:custGeom>
            <a:solidFill>
              <a:srgbClr val="1A56E8"/>
            </a:solidFill>
          </p:spPr>
        </p:sp>
      </p:grpSp>
      <p:grpSp>
        <p:nvGrpSpPr>
          <p:cNvPr name="Group 8" id="8"/>
          <p:cNvGrpSpPr/>
          <p:nvPr/>
        </p:nvGrpSpPr>
        <p:grpSpPr>
          <a:xfrm rot="0">
            <a:off x="11050924" y="7115718"/>
            <a:ext cx="8517293" cy="3746535"/>
            <a:chOff x="0" y="0"/>
            <a:chExt cx="11356391" cy="4995380"/>
          </a:xfrm>
        </p:grpSpPr>
        <p:sp>
          <p:nvSpPr>
            <p:cNvPr name="Freeform 9" id="9"/>
            <p:cNvSpPr/>
            <p:nvPr/>
          </p:nvSpPr>
          <p:spPr>
            <a:xfrm flipH="false" flipV="false" rot="0">
              <a:off x="0" y="0"/>
              <a:ext cx="11356340" cy="4995418"/>
            </a:xfrm>
            <a:custGeom>
              <a:avLst/>
              <a:gdLst/>
              <a:ahLst/>
              <a:cxnLst/>
              <a:rect r="r" b="b" t="t" l="l"/>
              <a:pathLst>
                <a:path h="4995418" w="11356340">
                  <a:moveTo>
                    <a:pt x="0" y="0"/>
                  </a:moveTo>
                  <a:lnTo>
                    <a:pt x="11356340" y="0"/>
                  </a:lnTo>
                  <a:lnTo>
                    <a:pt x="11356340" y="4995418"/>
                  </a:lnTo>
                  <a:lnTo>
                    <a:pt x="0" y="4995418"/>
                  </a:lnTo>
                  <a:close/>
                </a:path>
              </a:pathLst>
            </a:custGeom>
            <a:solidFill>
              <a:srgbClr val="F1FAF6"/>
            </a:solidFill>
          </p:spPr>
        </p:sp>
      </p:grpSp>
      <p:grpSp>
        <p:nvGrpSpPr>
          <p:cNvPr name="Group 10" id="10"/>
          <p:cNvGrpSpPr/>
          <p:nvPr/>
        </p:nvGrpSpPr>
        <p:grpSpPr>
          <a:xfrm rot="0">
            <a:off x="11050924" y="7115718"/>
            <a:ext cx="8517293" cy="107813"/>
            <a:chOff x="0" y="0"/>
            <a:chExt cx="11356391" cy="143751"/>
          </a:xfrm>
        </p:grpSpPr>
        <p:sp>
          <p:nvSpPr>
            <p:cNvPr name="Freeform 11" id="11"/>
            <p:cNvSpPr/>
            <p:nvPr/>
          </p:nvSpPr>
          <p:spPr>
            <a:xfrm flipH="false" flipV="false" rot="0">
              <a:off x="0" y="0"/>
              <a:ext cx="11356340" cy="143764"/>
            </a:xfrm>
            <a:custGeom>
              <a:avLst/>
              <a:gdLst/>
              <a:ahLst/>
              <a:cxnLst/>
              <a:rect r="r" b="b" t="t" l="l"/>
              <a:pathLst>
                <a:path h="143764" w="11356340">
                  <a:moveTo>
                    <a:pt x="0" y="0"/>
                  </a:moveTo>
                  <a:lnTo>
                    <a:pt x="11356340" y="0"/>
                  </a:lnTo>
                  <a:lnTo>
                    <a:pt x="11356340" y="143764"/>
                  </a:lnTo>
                  <a:lnTo>
                    <a:pt x="0" y="143764"/>
                  </a:lnTo>
                  <a:close/>
                </a:path>
              </a:pathLst>
            </a:custGeom>
            <a:solidFill>
              <a:srgbClr val="14543C"/>
            </a:solidFill>
          </p:spPr>
        </p:sp>
      </p:grpSp>
      <p:grpSp>
        <p:nvGrpSpPr>
          <p:cNvPr name="Group 12" id="12"/>
          <p:cNvGrpSpPr/>
          <p:nvPr/>
        </p:nvGrpSpPr>
        <p:grpSpPr>
          <a:xfrm rot="0">
            <a:off x="11293507" y="13422830"/>
            <a:ext cx="8274710" cy="26956"/>
            <a:chOff x="0" y="0"/>
            <a:chExt cx="11032947" cy="35941"/>
          </a:xfrm>
        </p:grpSpPr>
        <p:sp>
          <p:nvSpPr>
            <p:cNvPr name="Freeform 13" id="13"/>
            <p:cNvSpPr/>
            <p:nvPr/>
          </p:nvSpPr>
          <p:spPr>
            <a:xfrm flipH="false" flipV="false" rot="0">
              <a:off x="0" y="0"/>
              <a:ext cx="11032998" cy="35941"/>
            </a:xfrm>
            <a:custGeom>
              <a:avLst/>
              <a:gdLst/>
              <a:ahLst/>
              <a:cxnLst/>
              <a:rect r="r" b="b" t="t" l="l"/>
              <a:pathLst>
                <a:path h="35941" w="11032998">
                  <a:moveTo>
                    <a:pt x="0" y="0"/>
                  </a:moveTo>
                  <a:lnTo>
                    <a:pt x="11032998" y="0"/>
                  </a:lnTo>
                  <a:lnTo>
                    <a:pt x="11032998" y="35941"/>
                  </a:lnTo>
                  <a:lnTo>
                    <a:pt x="0" y="35941"/>
                  </a:lnTo>
                  <a:close/>
                </a:path>
              </a:pathLst>
            </a:custGeom>
            <a:solidFill>
              <a:srgbClr val="22314F"/>
            </a:solidFill>
          </p:spPr>
        </p:sp>
      </p:grpSp>
      <p:grpSp>
        <p:nvGrpSpPr>
          <p:cNvPr name="Group 14" id="14"/>
          <p:cNvGrpSpPr/>
          <p:nvPr/>
        </p:nvGrpSpPr>
        <p:grpSpPr>
          <a:xfrm rot="0">
            <a:off x="1832839" y="16118176"/>
            <a:ext cx="8274710" cy="26956"/>
            <a:chOff x="0" y="0"/>
            <a:chExt cx="11032947" cy="35941"/>
          </a:xfrm>
        </p:grpSpPr>
        <p:sp>
          <p:nvSpPr>
            <p:cNvPr name="Freeform 15" id="15"/>
            <p:cNvSpPr/>
            <p:nvPr/>
          </p:nvSpPr>
          <p:spPr>
            <a:xfrm flipH="false" flipV="false" rot="0">
              <a:off x="0" y="0"/>
              <a:ext cx="11032998" cy="35941"/>
            </a:xfrm>
            <a:custGeom>
              <a:avLst/>
              <a:gdLst/>
              <a:ahLst/>
              <a:cxnLst/>
              <a:rect r="r" b="b" t="t" l="l"/>
              <a:pathLst>
                <a:path h="35941" w="11032998">
                  <a:moveTo>
                    <a:pt x="0" y="0"/>
                  </a:moveTo>
                  <a:lnTo>
                    <a:pt x="11032998" y="0"/>
                  </a:lnTo>
                  <a:lnTo>
                    <a:pt x="11032998" y="35941"/>
                  </a:lnTo>
                  <a:lnTo>
                    <a:pt x="0" y="35941"/>
                  </a:lnTo>
                  <a:close/>
                </a:path>
              </a:pathLst>
            </a:custGeom>
            <a:solidFill>
              <a:srgbClr val="22314F"/>
            </a:solidFill>
          </p:spPr>
        </p:sp>
      </p:grpSp>
      <p:grpSp>
        <p:nvGrpSpPr>
          <p:cNvPr name="Group 16" id="16"/>
          <p:cNvGrpSpPr/>
          <p:nvPr/>
        </p:nvGrpSpPr>
        <p:grpSpPr>
          <a:xfrm rot="0">
            <a:off x="11293507" y="16118176"/>
            <a:ext cx="8274710" cy="26956"/>
            <a:chOff x="0" y="0"/>
            <a:chExt cx="11032947" cy="35941"/>
          </a:xfrm>
        </p:grpSpPr>
        <p:sp>
          <p:nvSpPr>
            <p:cNvPr name="Freeform 17" id="17"/>
            <p:cNvSpPr/>
            <p:nvPr/>
          </p:nvSpPr>
          <p:spPr>
            <a:xfrm flipH="false" flipV="false" rot="0">
              <a:off x="0" y="0"/>
              <a:ext cx="11032998" cy="35941"/>
            </a:xfrm>
            <a:custGeom>
              <a:avLst/>
              <a:gdLst/>
              <a:ahLst/>
              <a:cxnLst/>
              <a:rect r="r" b="b" t="t" l="l"/>
              <a:pathLst>
                <a:path h="35941" w="11032998">
                  <a:moveTo>
                    <a:pt x="0" y="0"/>
                  </a:moveTo>
                  <a:lnTo>
                    <a:pt x="11032998" y="0"/>
                  </a:lnTo>
                  <a:lnTo>
                    <a:pt x="11032998" y="35941"/>
                  </a:lnTo>
                  <a:lnTo>
                    <a:pt x="0" y="35941"/>
                  </a:lnTo>
                  <a:close/>
                </a:path>
              </a:pathLst>
            </a:custGeom>
            <a:solidFill>
              <a:srgbClr val="22314F"/>
            </a:solidFill>
          </p:spPr>
        </p:sp>
      </p:grpSp>
      <p:grpSp>
        <p:nvGrpSpPr>
          <p:cNvPr name="Group 18" id="18"/>
          <p:cNvGrpSpPr/>
          <p:nvPr/>
        </p:nvGrpSpPr>
        <p:grpSpPr>
          <a:xfrm rot="0">
            <a:off x="1832839" y="25659702"/>
            <a:ext cx="17735379" cy="26956"/>
            <a:chOff x="0" y="0"/>
            <a:chExt cx="23647171" cy="35941"/>
          </a:xfrm>
        </p:grpSpPr>
        <p:sp>
          <p:nvSpPr>
            <p:cNvPr name="Freeform 19" id="19"/>
            <p:cNvSpPr/>
            <p:nvPr/>
          </p:nvSpPr>
          <p:spPr>
            <a:xfrm flipH="false" flipV="false" rot="0">
              <a:off x="0" y="0"/>
              <a:ext cx="23647146" cy="35941"/>
            </a:xfrm>
            <a:custGeom>
              <a:avLst/>
              <a:gdLst/>
              <a:ahLst/>
              <a:cxnLst/>
              <a:rect r="r" b="b" t="t" l="l"/>
              <a:pathLst>
                <a:path h="35941" w="23647146">
                  <a:moveTo>
                    <a:pt x="0" y="0"/>
                  </a:moveTo>
                  <a:lnTo>
                    <a:pt x="23647146" y="0"/>
                  </a:lnTo>
                  <a:lnTo>
                    <a:pt x="23647146" y="35941"/>
                  </a:lnTo>
                  <a:lnTo>
                    <a:pt x="0" y="35941"/>
                  </a:lnTo>
                  <a:close/>
                </a:path>
              </a:pathLst>
            </a:custGeom>
            <a:solidFill>
              <a:srgbClr val="E3E7EE"/>
            </a:solidFill>
          </p:spPr>
        </p:sp>
      </p:grpSp>
      <p:grpSp>
        <p:nvGrpSpPr>
          <p:cNvPr name="Group 20" id="20"/>
          <p:cNvGrpSpPr/>
          <p:nvPr/>
        </p:nvGrpSpPr>
        <p:grpSpPr>
          <a:xfrm rot="0">
            <a:off x="1832839" y="26387441"/>
            <a:ext cx="3773481" cy="134769"/>
            <a:chOff x="0" y="0"/>
            <a:chExt cx="5031308" cy="179692"/>
          </a:xfrm>
        </p:grpSpPr>
        <p:sp>
          <p:nvSpPr>
            <p:cNvPr name="Freeform 21" id="21"/>
            <p:cNvSpPr/>
            <p:nvPr/>
          </p:nvSpPr>
          <p:spPr>
            <a:xfrm flipH="false" flipV="false" rot="0">
              <a:off x="0" y="0"/>
              <a:ext cx="5031359" cy="179705"/>
            </a:xfrm>
            <a:custGeom>
              <a:avLst/>
              <a:gdLst/>
              <a:ahLst/>
              <a:cxnLst/>
              <a:rect r="r" b="b" t="t" l="l"/>
              <a:pathLst>
                <a:path h="179705" w="5031359">
                  <a:moveTo>
                    <a:pt x="0" y="0"/>
                  </a:moveTo>
                  <a:lnTo>
                    <a:pt x="5031359" y="0"/>
                  </a:lnTo>
                  <a:lnTo>
                    <a:pt x="5031359" y="179705"/>
                  </a:lnTo>
                  <a:lnTo>
                    <a:pt x="0" y="179705"/>
                  </a:lnTo>
                  <a:close/>
                </a:path>
              </a:pathLst>
            </a:custGeom>
            <a:gradFill rotWithShape="true">
              <a:gsLst>
                <a:gs pos="0">
                  <a:srgbClr val="1A56E8">
                    <a:alpha val="100000"/>
                  </a:srgbClr>
                </a:gs>
                <a:gs pos="42000">
                  <a:srgbClr val="17B0A8">
                    <a:alpha val="100000"/>
                  </a:srgbClr>
                </a:gs>
                <a:gs pos="72000">
                  <a:srgbClr val="6FBF8F">
                    <a:alpha val="100000"/>
                  </a:srgbClr>
                </a:gs>
                <a:gs pos="100000">
                  <a:srgbClr val="14543C">
                    <a:alpha val="100000"/>
                  </a:srgbClr>
                </a:gs>
              </a:gsLst>
              <a:lin ang="0"/>
            </a:gradFill>
          </p:spPr>
        </p:sp>
      </p:grpSp>
      <p:grpSp>
        <p:nvGrpSpPr>
          <p:cNvPr name="Group 22" id="22"/>
          <p:cNvGrpSpPr/>
          <p:nvPr/>
        </p:nvGrpSpPr>
        <p:grpSpPr>
          <a:xfrm rot="0">
            <a:off x="1015373" y="12707173"/>
            <a:ext cx="18986708" cy="6874000"/>
            <a:chOff x="0" y="0"/>
            <a:chExt cx="1425540" cy="516106"/>
          </a:xfrm>
        </p:grpSpPr>
        <p:sp>
          <p:nvSpPr>
            <p:cNvPr name="Freeform 23" id="23"/>
            <p:cNvSpPr/>
            <p:nvPr/>
          </p:nvSpPr>
          <p:spPr>
            <a:xfrm flipH="false" flipV="false" rot="0">
              <a:off x="0" y="0"/>
              <a:ext cx="1425540" cy="516106"/>
            </a:xfrm>
            <a:custGeom>
              <a:avLst/>
              <a:gdLst/>
              <a:ahLst/>
              <a:cxnLst/>
              <a:rect r="r" b="b" t="t" l="l"/>
              <a:pathLst>
                <a:path h="516106" w="1425540">
                  <a:moveTo>
                    <a:pt x="0" y="0"/>
                  </a:moveTo>
                  <a:lnTo>
                    <a:pt x="1425540" y="0"/>
                  </a:lnTo>
                  <a:lnTo>
                    <a:pt x="1425540" y="516106"/>
                  </a:lnTo>
                  <a:lnTo>
                    <a:pt x="0" y="516106"/>
                  </a:lnTo>
                  <a:close/>
                </a:path>
              </a:pathLst>
            </a:custGeom>
            <a:solidFill>
              <a:srgbClr val="FFFFFF"/>
            </a:solidFill>
          </p:spPr>
        </p:sp>
        <p:sp>
          <p:nvSpPr>
            <p:cNvPr name="TextBox 24" id="24"/>
            <p:cNvSpPr txBox="true"/>
            <p:nvPr/>
          </p:nvSpPr>
          <p:spPr>
            <a:xfrm>
              <a:off x="0" y="-123825"/>
              <a:ext cx="1425540" cy="639931"/>
            </a:xfrm>
            <a:prstGeom prst="rect">
              <a:avLst/>
            </a:prstGeom>
          </p:spPr>
          <p:txBody>
            <a:bodyPr anchor="ctr" rtlCol="false" tIns="50800" lIns="50800" bIns="50800" rIns="50800"/>
            <a:lstStyle/>
            <a:p>
              <a:pPr algn="ctr">
                <a:lnSpc>
                  <a:spcPts val="4643"/>
                </a:lnSpc>
              </a:pPr>
            </a:p>
          </p:txBody>
        </p:sp>
      </p:grpSp>
      <p:sp>
        <p:nvSpPr>
          <p:cNvPr name="TextBox 25" id="25"/>
          <p:cNvSpPr txBox="true"/>
          <p:nvPr/>
        </p:nvSpPr>
        <p:spPr>
          <a:xfrm rot="0">
            <a:off x="1858232" y="1674219"/>
            <a:ext cx="3809571"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LUMELUSH STUDIO</a:t>
            </a:r>
          </a:p>
        </p:txBody>
      </p:sp>
      <p:sp>
        <p:nvSpPr>
          <p:cNvPr name="TextBox 26" id="26"/>
          <p:cNvSpPr txBox="true"/>
          <p:nvPr/>
        </p:nvSpPr>
        <p:spPr>
          <a:xfrm rot="0">
            <a:off x="15000999" y="1674219"/>
            <a:ext cx="5001082" cy="591426"/>
          </a:xfrm>
          <a:prstGeom prst="rect">
            <a:avLst/>
          </a:prstGeom>
        </p:spPr>
        <p:txBody>
          <a:bodyPr anchor="t" rtlCol="false" tIns="0" lIns="0" bIns="0" rIns="0">
            <a:spAutoFit/>
          </a:bodyPr>
          <a:lstStyle/>
          <a:p>
            <a:pPr algn="l">
              <a:lnSpc>
                <a:spcPts val="3521"/>
              </a:lnSpc>
            </a:pPr>
            <a:r>
              <a:rPr lang="en-US" sz="2334" spc="328">
                <a:solidFill>
                  <a:srgbClr val="8894A8"/>
                </a:solidFill>
                <a:latin typeface="Georgia"/>
                <a:ea typeface="Georgia"/>
                <a:cs typeface="Georgia"/>
                <a:sym typeface="Georgia"/>
              </a:rPr>
              <a:t>PROJECT CONFIRMATION</a:t>
            </a:r>
          </a:p>
        </p:txBody>
      </p:sp>
      <p:sp>
        <p:nvSpPr>
          <p:cNvPr name="TextBox 27" id="27"/>
          <p:cNvSpPr txBox="true"/>
          <p:nvPr/>
        </p:nvSpPr>
        <p:spPr>
          <a:xfrm rot="0">
            <a:off x="1858232" y="3905079"/>
            <a:ext cx="672732" cy="678561"/>
          </a:xfrm>
          <a:prstGeom prst="rect">
            <a:avLst/>
          </a:prstGeom>
        </p:spPr>
        <p:txBody>
          <a:bodyPr anchor="t" rtlCol="false" tIns="0" lIns="0" bIns="0" rIns="0">
            <a:spAutoFit/>
          </a:bodyPr>
          <a:lstStyle/>
          <a:p>
            <a:pPr algn="l">
              <a:lnSpc>
                <a:spcPts val="3993"/>
              </a:lnSpc>
            </a:pPr>
            <a:r>
              <a:rPr lang="en-US" b="true" sz="2971" spc="475">
                <a:solidFill>
                  <a:srgbClr val="17A79C"/>
                </a:solidFill>
                <a:latin typeface="Playfair Display Bold"/>
                <a:ea typeface="Playfair Display Bold"/>
                <a:cs typeface="Playfair Display Bold"/>
                <a:sym typeface="Playfair Display Bold"/>
              </a:rPr>
              <a:t>24</a:t>
            </a:r>
          </a:p>
        </p:txBody>
      </p:sp>
      <p:sp>
        <p:nvSpPr>
          <p:cNvPr name="TextBox 28" id="28"/>
          <p:cNvSpPr txBox="true"/>
          <p:nvPr/>
        </p:nvSpPr>
        <p:spPr>
          <a:xfrm rot="0">
            <a:off x="2771994" y="3343646"/>
            <a:ext cx="7907874" cy="1346254"/>
          </a:xfrm>
          <a:prstGeom prst="rect">
            <a:avLst/>
          </a:prstGeom>
        </p:spPr>
        <p:txBody>
          <a:bodyPr anchor="t" rtlCol="false" tIns="0" lIns="0" bIns="0" rIns="0">
            <a:spAutoFit/>
          </a:bodyPr>
          <a:lstStyle/>
          <a:p>
            <a:pPr algn="l">
              <a:lnSpc>
                <a:spcPts val="8944"/>
              </a:lnSpc>
            </a:pPr>
            <a:r>
              <a:rPr lang="en-US" sz="6366" b="true">
                <a:solidFill>
                  <a:srgbClr val="1B2437"/>
                </a:solidFill>
                <a:latin typeface="Playfair Display Bold"/>
                <a:ea typeface="Playfair Display Bold"/>
                <a:cs typeface="Playfair Display Bold"/>
                <a:sym typeface="Playfair Display Bold"/>
              </a:rPr>
              <a:t>Project confirmation</a:t>
            </a:r>
          </a:p>
        </p:txBody>
      </p:sp>
      <p:sp>
        <p:nvSpPr>
          <p:cNvPr name="TextBox 29" id="29"/>
          <p:cNvSpPr txBox="true"/>
          <p:nvPr/>
        </p:nvSpPr>
        <p:spPr>
          <a:xfrm rot="0">
            <a:off x="1858232" y="5022733"/>
            <a:ext cx="18216648" cy="1474603"/>
          </a:xfrm>
          <a:prstGeom prst="rect">
            <a:avLst/>
          </a:prstGeom>
        </p:spPr>
        <p:txBody>
          <a:bodyPr anchor="t" rtlCol="false" tIns="0" lIns="0" bIns="0" rIns="0">
            <a:spAutoFit/>
          </a:bodyPr>
          <a:lstStyle/>
          <a:p>
            <a:pPr algn="l">
              <a:lnSpc>
                <a:spcPts val="5093"/>
              </a:lnSpc>
            </a:pPr>
            <a:r>
              <a:rPr lang="en-US" sz="3183">
                <a:solidFill>
                  <a:srgbClr val="2A3242"/>
                </a:solidFill>
                <a:latin typeface="Georgia"/>
                <a:ea typeface="Georgia"/>
                <a:cs typeface="Georgia"/>
                <a:sym typeface="Georgia"/>
              </a:rPr>
              <a:t>Upon acceptance of this Commercial Proposal and receipt of the implementation advance, Lumelush Studio will initiate onboarding and implementation.</a:t>
            </a:r>
          </a:p>
        </p:txBody>
      </p:sp>
      <p:sp>
        <p:nvSpPr>
          <p:cNvPr name="TextBox 30" id="30"/>
          <p:cNvSpPr txBox="true"/>
          <p:nvPr/>
        </p:nvSpPr>
        <p:spPr>
          <a:xfrm rot="0">
            <a:off x="2505123" y="7692752"/>
            <a:ext cx="7895082" cy="664378"/>
          </a:xfrm>
          <a:prstGeom prst="rect">
            <a:avLst/>
          </a:prstGeom>
        </p:spPr>
        <p:txBody>
          <a:bodyPr anchor="t" rtlCol="false" tIns="0" lIns="0" bIns="0" rIns="0">
            <a:spAutoFit/>
          </a:bodyPr>
          <a:lstStyle/>
          <a:p>
            <a:pPr algn="l">
              <a:lnSpc>
                <a:spcPts val="3911"/>
              </a:lnSpc>
            </a:pPr>
            <a:r>
              <a:rPr lang="en-US" sz="2546" spc="407">
                <a:solidFill>
                  <a:srgbClr val="1A56E8"/>
                </a:solidFill>
                <a:latin typeface="Georgia"/>
                <a:ea typeface="Georgia"/>
                <a:cs typeface="Georgia"/>
                <a:sym typeface="Georgia"/>
              </a:rPr>
              <a:t>IMPLEMENTATION PAYMENT</a:t>
            </a:r>
          </a:p>
        </p:txBody>
      </p:sp>
      <p:sp>
        <p:nvSpPr>
          <p:cNvPr name="TextBox 31" id="31"/>
          <p:cNvSpPr txBox="true"/>
          <p:nvPr/>
        </p:nvSpPr>
        <p:spPr>
          <a:xfrm rot="0">
            <a:off x="2505123" y="8455352"/>
            <a:ext cx="7895082" cy="764286"/>
          </a:xfrm>
          <a:prstGeom prst="rect">
            <a:avLst/>
          </a:prstGeom>
        </p:spPr>
        <p:txBody>
          <a:bodyPr anchor="t" rtlCol="false" tIns="0" lIns="0" bIns="0" rIns="0">
            <a:spAutoFit/>
          </a:bodyPr>
          <a:lstStyle/>
          <a:p>
            <a:pPr algn="l">
              <a:lnSpc>
                <a:spcPts val="4698"/>
              </a:lnSpc>
            </a:pPr>
            <a:r>
              <a:rPr lang="en-US" sz="2971">
                <a:solidFill>
                  <a:srgbClr val="2A3242"/>
                </a:solidFill>
                <a:latin typeface="Playfair Display Bold"/>
                <a:ea typeface="Playfair Display Bold"/>
                <a:cs typeface="Playfair Display Bold"/>
                <a:sym typeface="Playfair Display Bold"/>
              </a:rPr>
              <a:t>₹</a:t>
            </a:r>
            <a:r>
              <a:rPr lang="en-US" sz="2971">
                <a:solidFill>
                  <a:srgbClr val="2A3242"/>
                </a:solidFill>
                <a:latin typeface="Georgia"/>
                <a:ea typeface="Georgia"/>
                <a:cs typeface="Georgia"/>
                <a:sym typeface="Georgia"/>
              </a:rPr>
              <a:t>75,000 — 60% advance</a:t>
            </a:r>
          </a:p>
        </p:txBody>
      </p:sp>
      <p:sp>
        <p:nvSpPr>
          <p:cNvPr name="TextBox 32" id="32"/>
          <p:cNvSpPr txBox="true"/>
          <p:nvPr/>
        </p:nvSpPr>
        <p:spPr>
          <a:xfrm rot="0">
            <a:off x="2505123" y="9048321"/>
            <a:ext cx="7389438" cy="1357265"/>
          </a:xfrm>
          <a:prstGeom prst="rect">
            <a:avLst/>
          </a:prstGeom>
        </p:spPr>
        <p:txBody>
          <a:bodyPr anchor="t" rtlCol="false" tIns="0" lIns="0" bIns="0" rIns="0">
            <a:spAutoFit/>
          </a:bodyPr>
          <a:lstStyle/>
          <a:p>
            <a:pPr algn="l">
              <a:lnSpc>
                <a:spcPts val="4698"/>
              </a:lnSpc>
            </a:pPr>
            <a:r>
              <a:rPr lang="en-US" sz="2971">
                <a:solidFill>
                  <a:srgbClr val="2A3242"/>
                </a:solidFill>
                <a:latin typeface="Playfair Display Bold"/>
                <a:ea typeface="Playfair Display Bold"/>
                <a:cs typeface="Playfair Display Bold"/>
                <a:sym typeface="Playfair Display Bold"/>
              </a:rPr>
              <a:t>₹</a:t>
            </a:r>
            <a:r>
              <a:rPr lang="en-US" sz="2971">
                <a:solidFill>
                  <a:srgbClr val="2A3242"/>
                </a:solidFill>
                <a:latin typeface="Georgia"/>
                <a:ea typeface="Georgia"/>
                <a:cs typeface="Georgia"/>
                <a:sym typeface="Georgia"/>
              </a:rPr>
              <a:t>50,000 — 40% on completion and sign-off</a:t>
            </a:r>
          </a:p>
        </p:txBody>
      </p:sp>
      <p:sp>
        <p:nvSpPr>
          <p:cNvPr name="TextBox 33" id="33"/>
          <p:cNvSpPr txBox="true"/>
          <p:nvPr/>
        </p:nvSpPr>
        <p:spPr>
          <a:xfrm rot="0">
            <a:off x="11723208" y="7692752"/>
            <a:ext cx="7895082" cy="664378"/>
          </a:xfrm>
          <a:prstGeom prst="rect">
            <a:avLst/>
          </a:prstGeom>
        </p:spPr>
        <p:txBody>
          <a:bodyPr anchor="t" rtlCol="false" tIns="0" lIns="0" bIns="0" rIns="0">
            <a:spAutoFit/>
          </a:bodyPr>
          <a:lstStyle/>
          <a:p>
            <a:pPr algn="l">
              <a:lnSpc>
                <a:spcPts val="3911"/>
              </a:lnSpc>
            </a:pPr>
            <a:r>
              <a:rPr lang="en-US" sz="2546" spc="407">
                <a:solidFill>
                  <a:srgbClr val="14543C"/>
                </a:solidFill>
                <a:latin typeface="Georgia"/>
                <a:ea typeface="Georgia"/>
                <a:cs typeface="Georgia"/>
                <a:sym typeface="Georgia"/>
              </a:rPr>
              <a:t>OPTIONAL CARE PLAN</a:t>
            </a:r>
          </a:p>
        </p:txBody>
      </p:sp>
      <p:sp>
        <p:nvSpPr>
          <p:cNvPr name="TextBox 34" id="34"/>
          <p:cNvSpPr txBox="true"/>
          <p:nvPr/>
        </p:nvSpPr>
        <p:spPr>
          <a:xfrm rot="0">
            <a:off x="11723208" y="8455352"/>
            <a:ext cx="7895082" cy="764286"/>
          </a:xfrm>
          <a:prstGeom prst="rect">
            <a:avLst/>
          </a:prstGeom>
        </p:spPr>
        <p:txBody>
          <a:bodyPr anchor="t" rtlCol="false" tIns="0" lIns="0" bIns="0" rIns="0">
            <a:spAutoFit/>
          </a:bodyPr>
          <a:lstStyle/>
          <a:p>
            <a:pPr algn="l">
              <a:lnSpc>
                <a:spcPts val="4698"/>
              </a:lnSpc>
            </a:pPr>
            <a:r>
              <a:rPr lang="en-US" sz="2971">
                <a:solidFill>
                  <a:srgbClr val="2A3242"/>
                </a:solidFill>
                <a:latin typeface="Playfair Display Bold"/>
                <a:ea typeface="Playfair Display Bold"/>
                <a:cs typeface="Playfair Display Bold"/>
                <a:sym typeface="Playfair Display Bold"/>
              </a:rPr>
              <a:t>₹</a:t>
            </a:r>
            <a:r>
              <a:rPr lang="en-US" sz="2971">
                <a:solidFill>
                  <a:srgbClr val="2A3242"/>
                </a:solidFill>
                <a:latin typeface="Georgia"/>
                <a:ea typeface="Georgia"/>
                <a:cs typeface="Georgia"/>
                <a:sym typeface="Georgia"/>
              </a:rPr>
              <a:t>30,000 / month</a:t>
            </a:r>
          </a:p>
        </p:txBody>
      </p:sp>
      <p:sp>
        <p:nvSpPr>
          <p:cNvPr name="TextBox 35" id="35"/>
          <p:cNvSpPr txBox="true"/>
          <p:nvPr/>
        </p:nvSpPr>
        <p:spPr>
          <a:xfrm rot="0">
            <a:off x="11723208" y="9048321"/>
            <a:ext cx="7895082" cy="764286"/>
          </a:xfrm>
          <a:prstGeom prst="rect">
            <a:avLst/>
          </a:prstGeom>
        </p:spPr>
        <p:txBody>
          <a:bodyPr anchor="t" rtlCol="false" tIns="0" lIns="0" bIns="0" rIns="0">
            <a:spAutoFit/>
          </a:bodyPr>
          <a:lstStyle/>
          <a:p>
            <a:pPr algn="l">
              <a:lnSpc>
                <a:spcPts val="4698"/>
              </a:lnSpc>
            </a:pPr>
            <a:r>
              <a:rPr lang="en-US" sz="2971">
                <a:solidFill>
                  <a:srgbClr val="5A6577"/>
                </a:solidFill>
                <a:latin typeface="Georgia"/>
                <a:ea typeface="Georgia"/>
                <a:cs typeface="Georgia"/>
                <a:sym typeface="Georgia"/>
              </a:rPr>
              <a:t>Billed monthly in advance</a:t>
            </a:r>
          </a:p>
        </p:txBody>
      </p:sp>
      <p:sp>
        <p:nvSpPr>
          <p:cNvPr name="TextBox 36" id="36"/>
          <p:cNvSpPr txBox="true"/>
          <p:nvPr/>
        </p:nvSpPr>
        <p:spPr>
          <a:xfrm rot="0">
            <a:off x="1858232" y="26829715"/>
            <a:ext cx="7696343" cy="1095632"/>
          </a:xfrm>
          <a:prstGeom prst="rect">
            <a:avLst/>
          </a:prstGeom>
        </p:spPr>
        <p:txBody>
          <a:bodyPr anchor="t" rtlCol="false" tIns="0" lIns="0" bIns="0" rIns="0">
            <a:spAutoFit/>
          </a:bodyPr>
          <a:lstStyle/>
          <a:p>
            <a:pPr algn="l">
              <a:lnSpc>
                <a:spcPts val="6574"/>
              </a:lnSpc>
            </a:pPr>
            <a:r>
              <a:rPr lang="en-US" sz="4669" b="true">
                <a:solidFill>
                  <a:srgbClr val="1B2437"/>
                </a:solidFill>
                <a:latin typeface="Playfair Display Bold"/>
                <a:ea typeface="Playfair Display Bold"/>
                <a:cs typeface="Playfair Display Bold"/>
                <a:sym typeface="Playfair Display Bold"/>
              </a:rPr>
              <a:t>Lumelush Studio</a:t>
            </a:r>
          </a:p>
        </p:txBody>
      </p:sp>
      <p:sp>
        <p:nvSpPr>
          <p:cNvPr name="TextBox 37" id="37"/>
          <p:cNvSpPr txBox="true"/>
          <p:nvPr/>
        </p:nvSpPr>
        <p:spPr>
          <a:xfrm rot="0">
            <a:off x="1858232" y="27861844"/>
            <a:ext cx="7696343" cy="764286"/>
          </a:xfrm>
          <a:prstGeom prst="rect">
            <a:avLst/>
          </a:prstGeom>
        </p:spPr>
        <p:txBody>
          <a:bodyPr anchor="t" rtlCol="false" tIns="0" lIns="0" bIns="0" rIns="0">
            <a:spAutoFit/>
          </a:bodyPr>
          <a:lstStyle/>
          <a:p>
            <a:pPr algn="l">
              <a:lnSpc>
                <a:spcPts val="4698"/>
              </a:lnSpc>
            </a:pPr>
            <a:r>
              <a:rPr lang="en-US" sz="2971">
                <a:solidFill>
                  <a:srgbClr val="5A6577"/>
                </a:solidFill>
                <a:latin typeface="Georgia"/>
                <a:ea typeface="Georgia"/>
                <a:cs typeface="Georgia"/>
                <a:sym typeface="Georgia"/>
              </a:rPr>
              <a:t>contact@lumelush.com · +91 81059 93165</a:t>
            </a:r>
          </a:p>
        </p:txBody>
      </p:sp>
      <p:sp>
        <p:nvSpPr>
          <p:cNvPr name="TextBox 38" id="38"/>
          <p:cNvSpPr txBox="true"/>
          <p:nvPr/>
        </p:nvSpPr>
        <p:spPr>
          <a:xfrm rot="0">
            <a:off x="13556037" y="26937529"/>
            <a:ext cx="5986777" cy="1688611"/>
          </a:xfrm>
          <a:prstGeom prst="rect">
            <a:avLst/>
          </a:prstGeom>
        </p:spPr>
        <p:txBody>
          <a:bodyPr anchor="t" rtlCol="false" tIns="0" lIns="0" bIns="0" rIns="0">
            <a:spAutoFit/>
          </a:bodyPr>
          <a:lstStyle/>
          <a:p>
            <a:pPr algn="r">
              <a:lnSpc>
                <a:spcPts val="3911"/>
              </a:lnSpc>
            </a:pPr>
            <a:r>
              <a:rPr lang="en-US" sz="2546">
                <a:solidFill>
                  <a:srgbClr val="8894A8"/>
                </a:solidFill>
                <a:latin typeface="Georgia"/>
                <a:ea typeface="Georgia"/>
                <a:cs typeface="Georgia"/>
                <a:sym typeface="Georgia"/>
              </a:rPr>
              <a:t>This document confirms the commercial scope and terms agreed for the Business Growth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DAHTW86_ugo</dc:identifier>
  <dcterms:modified xsi:type="dcterms:W3CDTF">2011-08-01T06:04:30Z</dcterms:modified>
  <cp:revision>1</cp:revision>
  <dc:title>Lumelush_Commercial_Proposal_A4.pptx</dc:title>
</cp:coreProperties>
</file>